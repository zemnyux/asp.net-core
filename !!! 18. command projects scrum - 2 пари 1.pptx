
<file path=[Content_Types].xml><?xml version="1.0" encoding="utf-8"?>
<Types xmlns="http://schemas.openxmlformats.org/package/2006/content-types">
  <Default Extension="gif" ContentType="image/gif"/>
  <Default Extension="jpeg" ContentType="image/jpeg"/>
  <Default Extension="JPG" ContentType="image/.jpg"/>
  <Default Extension="png" ContentType="image/png"/>
  <Default Extension="rels" ContentType="application/vnd.openxmlformats-package.relationships+xml"/>
  <Default Extension="xml" ContentType="applicatio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Masters/slideMaster2.xml" ContentType="application/vnd.openxmlformats-officedocument.presentationml.slide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notesMasters/notesMaster1.xml" ContentType="application/vnd.openxmlformats-officedocument.presentationml.notesMaster+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5"/>
  </p:notesMasterIdLst>
  <p:sldIdLst>
    <p:sldId id="256" r:id="rId4"/>
    <p:sldId id="257" r:id="rId6"/>
    <p:sldId id="751" r:id="rId7"/>
    <p:sldId id="752" r:id="rId8"/>
    <p:sldId id="753" r:id="rId9"/>
    <p:sldId id="754" r:id="rId10"/>
    <p:sldId id="755" r:id="rId11"/>
    <p:sldId id="756" r:id="rId12"/>
    <p:sldId id="757" r:id="rId13"/>
    <p:sldId id="758" r:id="rId14"/>
    <p:sldId id="759" r:id="rId15"/>
    <p:sldId id="760" r:id="rId16"/>
    <p:sldId id="761" r:id="rId17"/>
    <p:sldId id="762" r:id="rId18"/>
    <p:sldId id="763" r:id="rId19"/>
    <p:sldId id="765" r:id="rId20"/>
    <p:sldId id="766" r:id="rId21"/>
    <p:sldId id="767" r:id="rId22"/>
    <p:sldId id="768" r:id="rId23"/>
    <p:sldId id="769" r:id="rId24"/>
    <p:sldId id="770" r:id="rId25"/>
    <p:sldId id="771" r:id="rId26"/>
    <p:sldId id="772" r:id="rId27"/>
    <p:sldId id="773" r:id="rId28"/>
    <p:sldId id="774" r:id="rId29"/>
    <p:sldId id="775" r:id="rId30"/>
    <p:sldId id="776" r:id="rId31"/>
    <p:sldId id="777" r:id="rId32"/>
    <p:sldId id="779" r:id="rId33"/>
    <p:sldId id="780" r:id="rId34"/>
    <p:sldId id="781" r:id="rId35"/>
    <p:sldId id="786" r:id="rId36"/>
    <p:sldId id="787" r:id="rId37"/>
    <p:sldId id="788" r:id="rId38"/>
    <p:sldId id="789" r:id="rId39"/>
    <p:sldId id="790" r:id="rId40"/>
    <p:sldId id="791" r:id="rId41"/>
    <p:sldId id="792" r:id="rId42"/>
    <p:sldId id="793" r:id="rId43"/>
    <p:sldId id="794" r:id="rId44"/>
    <p:sldId id="795" r:id="rId45"/>
    <p:sldId id="796" r:id="rId46"/>
    <p:sldId id="797" r:id="rId47"/>
    <p:sldId id="798" r:id="rId48"/>
    <p:sldId id="799" r:id="rId49"/>
    <p:sldId id="800" r:id="rId50"/>
    <p:sldId id="801" r:id="rId51"/>
    <p:sldId id="802" r:id="rId52"/>
    <p:sldId id="805" r:id="rId53"/>
  </p:sldIdLst>
  <p:sldSz cx="9144000" cy="6858000" type="screen4x3"/>
  <p:notesSz cx="6858000" cy="9144000"/>
  <p:defaultTextStyle>
    <a:defPPr>
      <a:defRPr lang="en-GB"/>
    </a:defPPr>
    <a:lvl1pPr marL="0" lvl="0" indent="0" algn="l" defTabSz="457200" rtl="0" eaLnBrk="1" fontAlgn="base" latinLnBrk="0" hangingPunct="1">
      <a:lnSpc>
        <a:spcPct val="100000"/>
      </a:lnSpc>
      <a:spcBef>
        <a:spcPct val="0"/>
      </a:spcBef>
      <a:spcAft>
        <a:spcPct val="0"/>
      </a:spcAft>
      <a:buSzPct val="100000"/>
      <a:buFont typeface="Times New Roman" panose="02020603050405020304" pitchFamily="16" charset="0"/>
      <a:buNone/>
      <a:defRPr b="0" i="0" u="none" kern="1200" baseline="0">
        <a:solidFill>
          <a:schemeClr val="bg1"/>
        </a:solidFill>
        <a:latin typeface="Arial" panose="020B0604020202020204" pitchFamily="34" charset="0"/>
        <a:ea typeface="Microsoft YaHei" panose="020B0503020204020204" charset="-122"/>
        <a:cs typeface="+mn-cs"/>
      </a:defRPr>
    </a:lvl1pPr>
    <a:lvl2pPr marL="742950" lvl="1" indent="-285750" algn="l" defTabSz="457200" rtl="0" eaLnBrk="1" fontAlgn="base" latinLnBrk="0" hangingPunct="1">
      <a:lnSpc>
        <a:spcPct val="100000"/>
      </a:lnSpc>
      <a:spcBef>
        <a:spcPct val="0"/>
      </a:spcBef>
      <a:spcAft>
        <a:spcPct val="0"/>
      </a:spcAft>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2pPr>
    <a:lvl3pPr marL="1143000" lvl="2" indent="-228600" algn="l" defTabSz="457200" rtl="0" eaLnBrk="1" fontAlgn="base" latinLnBrk="0" hangingPunct="1">
      <a:lnSpc>
        <a:spcPct val="100000"/>
      </a:lnSpc>
      <a:spcBef>
        <a:spcPct val="0"/>
      </a:spcBef>
      <a:spcAft>
        <a:spcPct val="0"/>
      </a:spcAft>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3pPr>
    <a:lvl4pPr marL="1600200" lvl="3" indent="-228600" algn="l" defTabSz="457200" rtl="0" eaLnBrk="1" fontAlgn="base" latinLnBrk="0" hangingPunct="1">
      <a:lnSpc>
        <a:spcPct val="100000"/>
      </a:lnSpc>
      <a:spcBef>
        <a:spcPct val="0"/>
      </a:spcBef>
      <a:spcAft>
        <a:spcPct val="0"/>
      </a:spcAft>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4pPr>
    <a:lvl5pPr marL="2057400" lvl="4" indent="-228600" algn="l" defTabSz="457200" rtl="0" eaLnBrk="1" fontAlgn="base" latinLnBrk="0" hangingPunct="1">
      <a:lnSpc>
        <a:spcPct val="100000"/>
      </a:lnSpc>
      <a:spcBef>
        <a:spcPct val="0"/>
      </a:spcBef>
      <a:spcAft>
        <a:spcPct val="0"/>
      </a:spcAft>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5pPr>
    <a:lvl6pPr marL="2286000" lvl="5" indent="-228600" algn="l" defTabSz="457200" rtl="0" eaLnBrk="1" fontAlgn="base" latinLnBrk="0" hangingPunct="1">
      <a:lnSpc>
        <a:spcPct val="100000"/>
      </a:lnSpc>
      <a:spcBef>
        <a:spcPct val="0"/>
      </a:spcBef>
      <a:spcAft>
        <a:spcPct val="0"/>
      </a:spcAft>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6pPr>
    <a:lvl7pPr marL="2743200" lvl="6" indent="-228600" algn="l" defTabSz="457200" rtl="0" eaLnBrk="1" fontAlgn="base" latinLnBrk="0" hangingPunct="1">
      <a:lnSpc>
        <a:spcPct val="100000"/>
      </a:lnSpc>
      <a:spcBef>
        <a:spcPct val="0"/>
      </a:spcBef>
      <a:spcAft>
        <a:spcPct val="0"/>
      </a:spcAft>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7pPr>
    <a:lvl8pPr marL="3200400" lvl="7" indent="-228600" algn="l" defTabSz="457200" rtl="0" eaLnBrk="1" fontAlgn="base" latinLnBrk="0" hangingPunct="1">
      <a:lnSpc>
        <a:spcPct val="100000"/>
      </a:lnSpc>
      <a:spcBef>
        <a:spcPct val="0"/>
      </a:spcBef>
      <a:spcAft>
        <a:spcPct val="0"/>
      </a:spcAft>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8pPr>
    <a:lvl9pPr marL="3657600" lvl="8" indent="-228600" algn="l" defTabSz="457200" rtl="0" eaLnBrk="1" fontAlgn="base" latinLnBrk="0" hangingPunct="1">
      <a:lnSpc>
        <a:spcPct val="100000"/>
      </a:lnSpc>
      <a:spcBef>
        <a:spcPct val="0"/>
      </a:spcBef>
      <a:spcAft>
        <a:spcPct val="0"/>
      </a:spcAft>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9pPr>
  </p:defaultTextStyle>
  <p:extLst>
    <p:ext uri="{EFAFB233-063F-42B5-8137-9DF3F51BA10A}">
      <p15:sldGuideLst xmlns:p15="http://schemas.microsoft.com/office/powerpoint/2012/main">
        <p15:guide id="1" orient="horz" pos="2265" userDrawn="1">
          <p15:clr>
            <a:srgbClr val="A4A3A4"/>
          </p15:clr>
        </p15:guide>
        <p15:guide id="2" pos="283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85" d="100"/>
          <a:sy n="85" d="100"/>
        </p:scale>
        <p:origin x="-780" y="-84"/>
      </p:cViewPr>
      <p:guideLst>
        <p:guide orient="horz" pos="2265"/>
        <p:guide pos="2834"/>
      </p:guideLst>
    </p:cSldViewPr>
  </p:slideViewPr>
  <p:outlineViewPr>
    <p:cViewPr varScale="1">
      <p:scale>
        <a:sx n="170" d="200"/>
        <a:sy n="170" d="200"/>
      </p:scale>
      <p:origin x="-780" y="-84"/>
    </p:cViewPr>
  </p:outlineViewPr>
  <p:gridSpacing cx="45005" cy="45005"/>
</p:viewPr>
</file>

<file path=ppt/_rels/presentation.xml.rels><?xml version="1.0" encoding="UTF-8" standalone="yes"?>
<Relationships xmlns="http://schemas.openxmlformats.org/package/2006/relationships"><Relationship Id="rId39" Type="http://schemas.openxmlformats.org/officeDocument/2006/relationships/slide" Target="slides/slide35.xml"/><Relationship Id="rId26" Type="http://schemas.openxmlformats.org/officeDocument/2006/relationships/slide" Target="slides/slide22.xml"/><Relationship Id="rId18" Type="http://schemas.openxmlformats.org/officeDocument/2006/relationships/slide" Target="slides/slide14.xml"/><Relationship Id="rId13" Type="http://schemas.openxmlformats.org/officeDocument/2006/relationships/slide" Target="slides/slide9.xml"/><Relationship Id="rId55" Type="http://schemas.openxmlformats.org/officeDocument/2006/relationships/viewProps" Target="viewProps.xml"/><Relationship Id="rId50" Type="http://schemas.openxmlformats.org/officeDocument/2006/relationships/slide" Target="slides/slide46.xml"/><Relationship Id="rId47" Type="http://schemas.openxmlformats.org/officeDocument/2006/relationships/slide" Target="slides/slide43.xml"/><Relationship Id="rId42" Type="http://schemas.openxmlformats.org/officeDocument/2006/relationships/slide" Target="slides/slide38.xml"/><Relationship Id="rId34" Type="http://schemas.openxmlformats.org/officeDocument/2006/relationships/slide" Target="slides/slide30.xml"/><Relationship Id="rId21" Type="http://schemas.openxmlformats.org/officeDocument/2006/relationships/slide" Target="slides/slide17.xml"/><Relationship Id="rId7" Type="http://schemas.openxmlformats.org/officeDocument/2006/relationships/slide" Target="slides/slide3.xml"/><Relationship Id="rId29" Type="http://schemas.openxmlformats.org/officeDocument/2006/relationships/slide" Target="slides/slide25.xml"/><Relationship Id="rId2" Type="http://schemas.openxmlformats.org/officeDocument/2006/relationships/theme" Target="theme/theme1.xml"/><Relationship Id="rId16" Type="http://schemas.openxmlformats.org/officeDocument/2006/relationships/slide" Target="slides/slide12.xml"/><Relationship Id="rId53" Type="http://schemas.openxmlformats.org/officeDocument/2006/relationships/slide" Target="slides/slide49.xml"/><Relationship Id="rId45" Type="http://schemas.openxmlformats.org/officeDocument/2006/relationships/slide" Target="slides/slide41.xml"/><Relationship Id="rId40" Type="http://schemas.openxmlformats.org/officeDocument/2006/relationships/slide" Target="slides/slide36.xml"/><Relationship Id="rId37" Type="http://schemas.openxmlformats.org/officeDocument/2006/relationships/slide" Target="slides/slide33.xml"/><Relationship Id="rId32" Type="http://schemas.openxmlformats.org/officeDocument/2006/relationships/slide" Target="slides/slide28.xml"/><Relationship Id="rId24" Type="http://schemas.openxmlformats.org/officeDocument/2006/relationships/slide" Target="slides/slide20.xml"/><Relationship Id="rId11" Type="http://schemas.openxmlformats.org/officeDocument/2006/relationships/slide" Target="slides/slide7.xml"/><Relationship Id="rId58" Type="http://schemas.openxmlformats.org/officeDocument/2006/relationships/customXml" Target="../customXml/item2.xml"/><Relationship Id="rId5" Type="http://schemas.openxmlformats.org/officeDocument/2006/relationships/notesMaster" Target="notesMasters/notesMaster1.xml"/><Relationship Id="rId19" Type="http://schemas.openxmlformats.org/officeDocument/2006/relationships/slide" Target="slides/slide15.xml"/><Relationship Id="rId9" Type="http://schemas.openxmlformats.org/officeDocument/2006/relationships/slide" Target="slides/slide5.xml"/><Relationship Id="rId56" Type="http://schemas.openxmlformats.org/officeDocument/2006/relationships/tableStyles" Target="tableStyles.xml"/><Relationship Id="rId48" Type="http://schemas.openxmlformats.org/officeDocument/2006/relationships/slide" Target="slides/slide44.xml"/><Relationship Id="rId43" Type="http://schemas.openxmlformats.org/officeDocument/2006/relationships/slide" Target="slides/slide39.xml"/><Relationship Id="rId4" Type="http://schemas.openxmlformats.org/officeDocument/2006/relationships/slide" Target="slides/slide1.xml"/><Relationship Id="rId35" Type="http://schemas.openxmlformats.org/officeDocument/2006/relationships/slide" Target="slides/slide31.xml"/><Relationship Id="rId30" Type="http://schemas.openxmlformats.org/officeDocument/2006/relationships/slide" Target="slides/slide26.xml"/><Relationship Id="rId27" Type="http://schemas.openxmlformats.org/officeDocument/2006/relationships/slide" Target="slides/slide23.xml"/><Relationship Id="rId22" Type="http://schemas.openxmlformats.org/officeDocument/2006/relationships/slide" Target="slides/slide18.xml"/><Relationship Id="rId14" Type="http://schemas.openxmlformats.org/officeDocument/2006/relationships/slide" Target="slides/slide10.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2.xml"/><Relationship Id="rId46" Type="http://schemas.openxmlformats.org/officeDocument/2006/relationships/slide" Target="slides/slide42.xml"/><Relationship Id="rId38" Type="http://schemas.openxmlformats.org/officeDocument/2006/relationships/slide" Target="slides/slide34.xml"/><Relationship Id="rId33" Type="http://schemas.openxmlformats.org/officeDocument/2006/relationships/slide" Target="slides/slide29.xml"/><Relationship Id="rId25" Type="http://schemas.openxmlformats.org/officeDocument/2006/relationships/slide" Target="slides/slide21.xml"/><Relationship Id="rId17" Type="http://schemas.openxmlformats.org/officeDocument/2006/relationships/slide" Target="slides/slide13.xml"/><Relationship Id="rId12" Type="http://schemas.openxmlformats.org/officeDocument/2006/relationships/slide" Target="slides/slide8.xml"/><Relationship Id="rId59" Type="http://schemas.openxmlformats.org/officeDocument/2006/relationships/customXml" Target="../customXml/item3.xml"/><Relationship Id="rId54" Type="http://schemas.openxmlformats.org/officeDocument/2006/relationships/presProps" Target="presProps.xml"/><Relationship Id="rId41" Type="http://schemas.openxmlformats.org/officeDocument/2006/relationships/slide" Target="slides/slide37.xml"/><Relationship Id="rId20" Type="http://schemas.openxmlformats.org/officeDocument/2006/relationships/slide" Target="slides/slide16.xml"/><Relationship Id="rId6" Type="http://schemas.openxmlformats.org/officeDocument/2006/relationships/slide" Target="slides/slide2.xml"/><Relationship Id="rId1" Type="http://schemas.openxmlformats.org/officeDocument/2006/relationships/slideMaster" Target="slideMasters/slideMaster1.xml"/><Relationship Id="rId49" Type="http://schemas.openxmlformats.org/officeDocument/2006/relationships/slide" Target="slides/slide45.xml"/><Relationship Id="rId36" Type="http://schemas.openxmlformats.org/officeDocument/2006/relationships/slide" Target="slides/slide32.xml"/><Relationship Id="rId28" Type="http://schemas.openxmlformats.org/officeDocument/2006/relationships/slide" Target="slides/slide24.xml"/><Relationship Id="rId23" Type="http://schemas.openxmlformats.org/officeDocument/2006/relationships/slide" Target="slides/slide19.xml"/><Relationship Id="rId15" Type="http://schemas.openxmlformats.org/officeDocument/2006/relationships/slide" Target="slides/slide11.xml"/><Relationship Id="rId57" Type="http://schemas.openxmlformats.org/officeDocument/2006/relationships/customXml" Target="../customXml/item1.xml"/><Relationship Id="rId52" Type="http://schemas.openxmlformats.org/officeDocument/2006/relationships/slide" Target="slides/slide48.xml"/><Relationship Id="rId44" Type="http://schemas.openxmlformats.org/officeDocument/2006/relationships/slide" Target="slides/slide40.xml"/><Relationship Id="rId31" Type="http://schemas.openxmlformats.org/officeDocument/2006/relationships/slide" Target="slides/slide27.xml"/><Relationship Id="rId10"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4098" name="Rounded Rectangle 3072"/>
          <p:cNvSpPr/>
          <p:nvPr/>
        </p:nvSpPr>
        <p:spPr>
          <a:xfrm>
            <a:off x="0" y="0"/>
            <a:ext cx="6858000" cy="9144000"/>
          </a:xfrm>
          <a:prstGeom prst="roundRect">
            <a:avLst>
              <a:gd name="adj" fmla="val 23"/>
            </a:avLst>
          </a:prstGeom>
          <a:solidFill>
            <a:srgbClr val="FFFFFF"/>
          </a:solidFill>
          <a:ln w="9360">
            <a:noFill/>
          </a:ln>
        </p:spPr>
        <p:txBody>
          <a:bodyPr anchor="t" anchorCtr="0"/>
          <a:p>
            <a:pPr lvl="0"/>
            <a:endParaRPr lang="en-US" altLang="zh-CN"/>
          </a:p>
        </p:txBody>
      </p:sp>
      <p:sp>
        <p:nvSpPr>
          <p:cNvPr id="4099" name="Rounded Rectangle 3073"/>
          <p:cNvSpPr/>
          <p:nvPr/>
        </p:nvSpPr>
        <p:spPr>
          <a:xfrm>
            <a:off x="0" y="0"/>
            <a:ext cx="6858000" cy="9144000"/>
          </a:xfrm>
          <a:prstGeom prst="roundRect">
            <a:avLst>
              <a:gd name="adj" fmla="val 23"/>
            </a:avLst>
          </a:prstGeom>
          <a:solidFill>
            <a:srgbClr val="FFFFFF"/>
          </a:solidFill>
          <a:ln w="9525">
            <a:noFill/>
          </a:ln>
        </p:spPr>
        <p:txBody>
          <a:bodyPr anchor="t" anchorCtr="0"/>
          <a:p>
            <a:pPr lvl="0"/>
            <a:endParaRPr lang="en-US" altLang="zh-CN"/>
          </a:p>
        </p:txBody>
      </p:sp>
      <p:sp>
        <p:nvSpPr>
          <p:cNvPr id="4100" name="Text Box 3074"/>
          <p:cNvSpPr txBox="1"/>
          <p:nvPr/>
        </p:nvSpPr>
        <p:spPr>
          <a:xfrm>
            <a:off x="0" y="0"/>
            <a:ext cx="2971800" cy="457200"/>
          </a:xfrm>
          <a:prstGeom prst="rect">
            <a:avLst/>
          </a:prstGeom>
          <a:noFill/>
          <a:ln w="9525">
            <a:noFill/>
          </a:ln>
        </p:spPr>
        <p:txBody>
          <a:bodyPr anchor="t" anchorCtr="0"/>
          <a:p>
            <a:pPr lvl="0"/>
            <a:endParaRPr lang="en-US" altLang="zh-CN"/>
          </a:p>
        </p:txBody>
      </p:sp>
      <p:sp>
        <p:nvSpPr>
          <p:cNvPr id="4101" name="Text Box 3075"/>
          <p:cNvSpPr txBox="1"/>
          <p:nvPr/>
        </p:nvSpPr>
        <p:spPr>
          <a:xfrm>
            <a:off x="3884613" y="0"/>
            <a:ext cx="2971800" cy="457200"/>
          </a:xfrm>
          <a:prstGeom prst="rect">
            <a:avLst/>
          </a:prstGeom>
          <a:noFill/>
          <a:ln w="9525">
            <a:noFill/>
          </a:ln>
        </p:spPr>
        <p:txBody>
          <a:bodyPr anchor="t" anchorCtr="0"/>
          <a:p>
            <a:pPr lvl="0"/>
            <a:endParaRPr lang="en-US" altLang="zh-CN"/>
          </a:p>
        </p:txBody>
      </p:sp>
      <p:sp>
        <p:nvSpPr>
          <p:cNvPr id="4102" name="Slide Image Placeholder 3076"/>
          <p:cNvSpPr>
            <a:spLocks noGrp="1"/>
          </p:cNvSpPr>
          <p:nvPr>
            <p:ph type="sldImg"/>
          </p:nvPr>
        </p:nvSpPr>
        <p:spPr>
          <a:xfrm>
            <a:off x="1143000" y="685800"/>
            <a:ext cx="4568825" cy="3425825"/>
          </a:xfrm>
          <a:prstGeom prst="rect">
            <a:avLst/>
          </a:prstGeom>
          <a:noFill/>
          <a:ln w="9360" cap="sq" cmpd="sng">
            <a:solidFill>
              <a:srgbClr val="000000"/>
            </a:solidFill>
            <a:prstDash val="solid"/>
            <a:miter/>
            <a:headEnd type="none" w="med" len="med"/>
            <a:tailEnd type="none" w="med" len="med"/>
          </a:ln>
        </p:spPr>
      </p:sp>
      <p:sp>
        <p:nvSpPr>
          <p:cNvPr id="4103" name="Text Placeholder 3077"/>
          <p:cNvSpPr>
            <a:spLocks noGrp="1"/>
          </p:cNvSpPr>
          <p:nvPr>
            <p:ph type="body"/>
          </p:nvPr>
        </p:nvSpPr>
        <p:spPr>
          <a:xfrm>
            <a:off x="685800" y="4343400"/>
            <a:ext cx="5483225" cy="4111625"/>
          </a:xfrm>
          <a:prstGeom prst="rect">
            <a:avLst/>
          </a:prstGeom>
          <a:noFill/>
          <a:ln w="9525">
            <a:noFill/>
          </a:ln>
        </p:spPr>
        <p:txBody>
          <a:bodyPr wrap="square" lIns="90000" tIns="46800" rIns="90000" bIns="46800" anchor="t" anchorCtr="0"/>
          <a:p>
            <a:pPr lvl="0"/>
            <a:endParaRPr lang="en-GB"/>
          </a:p>
        </p:txBody>
      </p:sp>
      <p:sp>
        <p:nvSpPr>
          <p:cNvPr id="4104" name="Text Box 3078"/>
          <p:cNvSpPr txBox="1"/>
          <p:nvPr/>
        </p:nvSpPr>
        <p:spPr>
          <a:xfrm>
            <a:off x="0" y="8685213"/>
            <a:ext cx="2971800" cy="457200"/>
          </a:xfrm>
          <a:prstGeom prst="rect">
            <a:avLst/>
          </a:prstGeom>
          <a:noFill/>
          <a:ln w="9525">
            <a:noFill/>
          </a:ln>
        </p:spPr>
        <p:txBody>
          <a:bodyPr anchor="t" anchorCtr="0"/>
          <a:p>
            <a:pPr lvl="0"/>
            <a:endParaRPr lang="en-US" altLang="zh-CN"/>
          </a:p>
        </p:txBody>
      </p:sp>
      <p:sp>
        <p:nvSpPr>
          <p:cNvPr id="3080" name="Slide Number Placeholder 3079"/>
          <p:cNvSpPr>
            <a:spLocks noGrp="1"/>
          </p:cNvSpPr>
          <p:nvPr>
            <p:ph type="sldNum"/>
          </p:nvPr>
        </p:nvSpPr>
        <p:spPr>
          <a:xfrm>
            <a:off x="3884613" y="8685213"/>
            <a:ext cx="2968625" cy="454025"/>
          </a:xfrm>
          <a:prstGeom prst="rect">
            <a:avLst/>
          </a:prstGeom>
          <a:noFill/>
          <a:ln w="9525">
            <a:noFill/>
          </a:ln>
        </p:spPr>
        <p:txBody>
          <a:bodyPr wrap="square" lIns="90000" tIns="46800" rIns="90000" bIns="46800" anchor="b" anchorCtr="0"/>
          <a:p>
            <a:pPr marL="215900" lvl="0" indent="-213995" algn="r" defTabSz="457200" eaLnBrk="1" fontAlgn="base"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strike="noStrike" noProof="1" dirty="0" err="1">
                <a:latin typeface="Times New Roman" panose="02020603050405020304" pitchFamily="16" charset="0"/>
                <a:ea typeface="Arial Unicode MS" charset="-122"/>
                <a:cs typeface="+mn-cs"/>
              </a:rPr>
            </a:fld>
            <a:endParaRPr lang="ru-RU" altLang="x-none" sz="1200" strike="noStrike" noProof="1" dirty="0" err="1">
              <a:latin typeface="Times New Roman" panose="02020603050405020304" pitchFamily="16" charset="0"/>
              <a:ea typeface="Arial Unicode MS" charset="-122"/>
            </a:endParaRPr>
          </a:p>
        </p:txBody>
      </p:sp>
    </p:spTree>
  </p:cSld>
  <p:clrMap bg1="lt1" tx1="dk1" bg2="lt2" tx2="dk2" accent1="accent1" accent2="accent2" accent3="accent3" accent4="accent4" accent5="accent5" accent6="accent6" hlink="hlink" folHlink="folHlink"/>
  <p:hf sldNum="0" hdr="0" ftr="0" dt="0"/>
  <p:notesStyle>
    <a:lvl1pPr marL="0" lvl="0" indent="0" algn="l" defTabSz="457200" rtl="0" eaLnBrk="0" fontAlgn="base" latinLnBrk="0" hangingPunct="0">
      <a:lnSpc>
        <a:spcPct val="100000"/>
      </a:lnSpc>
      <a:spcBef>
        <a:spcPct val="30000"/>
      </a:spcBef>
      <a:spcAft>
        <a:spcPct val="0"/>
      </a:spcAft>
      <a:buClr>
        <a:srgbClr val="000000"/>
      </a:buClr>
      <a:buSzPct val="100000"/>
      <a:buFont typeface="Times New Roman" panose="02020603050405020304" pitchFamily="16" charset="0"/>
      <a:buNone/>
      <a:defRPr sz="1200" b="0" i="0" u="none" kern="1200" baseline="0">
        <a:solidFill>
          <a:srgbClr val="000000"/>
        </a:solidFill>
        <a:latin typeface="Times New Roman" panose="02020603050405020304" pitchFamily="16" charset="0"/>
      </a:defRPr>
    </a:lvl1pPr>
    <a:lvl2pPr marL="742950" lvl="1" indent="-285750" algn="l" defTabSz="457200" rtl="0" eaLnBrk="0" fontAlgn="base" latinLnBrk="0" hangingPunct="0">
      <a:lnSpc>
        <a:spcPct val="100000"/>
      </a:lnSpc>
      <a:spcBef>
        <a:spcPct val="30000"/>
      </a:spcBef>
      <a:spcAft>
        <a:spcPct val="0"/>
      </a:spcAft>
      <a:buClr>
        <a:srgbClr val="000000"/>
      </a:buClr>
      <a:buSzPct val="100000"/>
      <a:buFont typeface="Times New Roman" panose="02020603050405020304" pitchFamily="16" charset="0"/>
      <a:buNone/>
      <a:defRPr sz="1200" b="0" i="0" u="none" kern="1200" baseline="0">
        <a:solidFill>
          <a:srgbClr val="000000"/>
        </a:solidFill>
        <a:latin typeface="Times New Roman" panose="02020603050405020304" pitchFamily="16" charset="0"/>
      </a:defRPr>
    </a:lvl2pPr>
    <a:lvl3pPr marL="1143000" lvl="2" indent="-228600" algn="l" defTabSz="457200" rtl="0" eaLnBrk="0" fontAlgn="base" latinLnBrk="0" hangingPunct="0">
      <a:lnSpc>
        <a:spcPct val="100000"/>
      </a:lnSpc>
      <a:spcBef>
        <a:spcPct val="30000"/>
      </a:spcBef>
      <a:spcAft>
        <a:spcPct val="0"/>
      </a:spcAft>
      <a:buClr>
        <a:srgbClr val="000000"/>
      </a:buClr>
      <a:buSzPct val="100000"/>
      <a:buFont typeface="Times New Roman" panose="02020603050405020304" pitchFamily="16" charset="0"/>
      <a:buNone/>
      <a:defRPr sz="1200" b="0" i="0" u="none" kern="1200" baseline="0">
        <a:solidFill>
          <a:srgbClr val="000000"/>
        </a:solidFill>
        <a:latin typeface="Times New Roman" panose="02020603050405020304" pitchFamily="16" charset="0"/>
      </a:defRPr>
    </a:lvl3pPr>
    <a:lvl4pPr marL="1600200" lvl="3" indent="-228600" algn="l" defTabSz="457200" rtl="0" eaLnBrk="0" fontAlgn="base" latinLnBrk="0" hangingPunct="0">
      <a:lnSpc>
        <a:spcPct val="100000"/>
      </a:lnSpc>
      <a:spcBef>
        <a:spcPct val="30000"/>
      </a:spcBef>
      <a:spcAft>
        <a:spcPct val="0"/>
      </a:spcAft>
      <a:buClr>
        <a:srgbClr val="000000"/>
      </a:buClr>
      <a:buSzPct val="100000"/>
      <a:buFont typeface="Times New Roman" panose="02020603050405020304" pitchFamily="16" charset="0"/>
      <a:buNone/>
      <a:defRPr sz="1200" b="0" i="0" u="none" kern="1200" baseline="0">
        <a:solidFill>
          <a:srgbClr val="000000"/>
        </a:solidFill>
        <a:latin typeface="Times New Roman" panose="02020603050405020304" pitchFamily="16" charset="0"/>
      </a:defRPr>
    </a:lvl4pPr>
    <a:lvl5pPr marL="2057400" lvl="4" indent="-228600" algn="l" defTabSz="457200" rtl="0" eaLnBrk="0" fontAlgn="base" latinLnBrk="0" hangingPunct="0">
      <a:lnSpc>
        <a:spcPct val="100000"/>
      </a:lnSpc>
      <a:spcBef>
        <a:spcPct val="30000"/>
      </a:spcBef>
      <a:spcAft>
        <a:spcPct val="0"/>
      </a:spcAft>
      <a:buClr>
        <a:srgbClr val="000000"/>
      </a:buClr>
      <a:buSzPct val="100000"/>
      <a:buFont typeface="Times New Roman" panose="02020603050405020304" pitchFamily="16" charset="0"/>
      <a:buNone/>
      <a:defRPr sz="1200" b="0" i="0" u="none" kern="1200" baseline="0">
        <a:solidFill>
          <a:srgbClr val="000000"/>
        </a:solidFill>
        <a:latin typeface="Times New Roman" panose="02020603050405020304" pitchFamily="16" charset="0"/>
      </a:defRPr>
    </a:lvl5pPr>
    <a:lvl6pPr marL="2286000" lvl="5" indent="-228600" algn="l" defTabSz="457200" rtl="0" eaLnBrk="0" fontAlgn="base" latinLnBrk="0" hangingPunct="0">
      <a:lnSpc>
        <a:spcPct val="100000"/>
      </a:lnSpc>
      <a:spcBef>
        <a:spcPct val="30000"/>
      </a:spcBef>
      <a:spcAft>
        <a:spcPct val="0"/>
      </a:spcAft>
      <a:buClr>
        <a:srgbClr val="000000"/>
      </a:buClr>
      <a:buSzPct val="100000"/>
      <a:buFont typeface="Times New Roman" panose="02020603050405020304" pitchFamily="16" charset="0"/>
      <a:buNone/>
      <a:defRPr sz="1200" b="0" i="0" u="none" kern="1200" baseline="0">
        <a:solidFill>
          <a:srgbClr val="000000"/>
        </a:solidFill>
        <a:latin typeface="Times New Roman" panose="02020603050405020304" pitchFamily="16" charset="0"/>
      </a:defRPr>
    </a:lvl6pPr>
    <a:lvl7pPr marL="2743200" lvl="6" indent="-228600" algn="l" defTabSz="457200" rtl="0" eaLnBrk="0" fontAlgn="base" latinLnBrk="0" hangingPunct="0">
      <a:lnSpc>
        <a:spcPct val="100000"/>
      </a:lnSpc>
      <a:spcBef>
        <a:spcPct val="30000"/>
      </a:spcBef>
      <a:spcAft>
        <a:spcPct val="0"/>
      </a:spcAft>
      <a:buClr>
        <a:srgbClr val="000000"/>
      </a:buClr>
      <a:buSzPct val="100000"/>
      <a:buFont typeface="Times New Roman" panose="02020603050405020304" pitchFamily="16" charset="0"/>
      <a:buNone/>
      <a:defRPr sz="1200" b="0" i="0" u="none" kern="1200" baseline="0">
        <a:solidFill>
          <a:srgbClr val="000000"/>
        </a:solidFill>
        <a:latin typeface="Times New Roman" panose="02020603050405020304" pitchFamily="16" charset="0"/>
      </a:defRPr>
    </a:lvl7pPr>
    <a:lvl8pPr marL="3200400" lvl="7" indent="-228600" algn="l" defTabSz="457200" rtl="0" eaLnBrk="0" fontAlgn="base" latinLnBrk="0" hangingPunct="0">
      <a:lnSpc>
        <a:spcPct val="100000"/>
      </a:lnSpc>
      <a:spcBef>
        <a:spcPct val="30000"/>
      </a:spcBef>
      <a:spcAft>
        <a:spcPct val="0"/>
      </a:spcAft>
      <a:buClr>
        <a:srgbClr val="000000"/>
      </a:buClr>
      <a:buSzPct val="100000"/>
      <a:buFont typeface="Times New Roman" panose="02020603050405020304" pitchFamily="16" charset="0"/>
      <a:buNone/>
      <a:defRPr sz="1200" b="0" i="0" u="none" kern="1200" baseline="0">
        <a:solidFill>
          <a:srgbClr val="000000"/>
        </a:solidFill>
        <a:latin typeface="Times New Roman" panose="02020603050405020304" pitchFamily="16" charset="0"/>
      </a:defRPr>
    </a:lvl8pPr>
    <a:lvl9pPr marL="3657600" lvl="8" indent="-228600" algn="l" defTabSz="457200" rtl="0" eaLnBrk="0" fontAlgn="base" latinLnBrk="0" hangingPunct="0">
      <a:lnSpc>
        <a:spcPct val="100000"/>
      </a:lnSpc>
      <a:spcBef>
        <a:spcPct val="30000"/>
      </a:spcBef>
      <a:spcAft>
        <a:spcPct val="0"/>
      </a:spcAft>
      <a:buClr>
        <a:srgbClr val="000000"/>
      </a:buClr>
      <a:buSzPct val="100000"/>
      <a:buFont typeface="Times New Roman" panose="02020603050405020304" pitchFamily="16" charset="0"/>
      <a:buNone/>
      <a:defRPr sz="1200" b="0" i="0" u="none" kern="1200" baseline="0">
        <a:solidFill>
          <a:srgbClr val="000000"/>
        </a:solidFill>
        <a:latin typeface="Times New Roman" panose="02020603050405020304" pitchFamily="16" charset="0"/>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6146" name="Slide Number Placeholder 1"/>
          <p:cNvSpPr/>
          <p:nvPr>
            <p:ph type="sldNum" sz="quarter"/>
          </p:nvPr>
        </p:nvSpPr>
        <p:spPr>
          <a:xfrm>
            <a:off x="3884613" y="8685213"/>
            <a:ext cx="2968625" cy="454025"/>
          </a:xfrm>
          <a:prstGeom prst="rect">
            <a:avLst/>
          </a:prstGeom>
          <a:noFill/>
          <a:ln w="9525">
            <a:noFill/>
          </a:ln>
        </p:spPr>
        <p:txBody>
          <a:bodyPr wrap="square" lIns="90000" tIns="46800" rIns="90000" bIns="46800" anchor="b" anchorCtr="0"/>
          <a:p>
            <a:pPr marL="215900" lvl="0" indent="-213995" algn="r" defTabSz="457200">
              <a:buClrTx/>
              <a:buSzPct val="45000"/>
              <a:buFontTx/>
              <a:tabLst>
                <a:tab pos="723900" algn="l"/>
                <a:tab pos="1447800" algn="l"/>
                <a:tab pos="2171700" algn="l"/>
                <a:tab pos="2895600" algn="l"/>
              </a:tabLst>
            </a:pPr>
            <a:fld id="{9A0DB2DC-4C9A-4742-B13C-FB6460FD3503}" type="slidenum">
              <a:rPr lang="ru-RU" altLang="x-none" sz="1200" dirty="0" err="1">
                <a:solidFill>
                  <a:srgbClr val="000000"/>
                </a:solidFill>
                <a:latin typeface="Times New Roman" panose="02020603050405020304" pitchFamily="16" charset="0"/>
                <a:ea typeface="Arial Unicode MS" charset="-122"/>
              </a:rPr>
            </a:fld>
            <a:endParaRPr lang="ru-RU" altLang="x-none" sz="1200" dirty="0" err="1">
              <a:solidFill>
                <a:srgbClr val="000000"/>
              </a:solidFill>
              <a:latin typeface="Times New Roman" panose="02020603050405020304" pitchFamily="16" charset="0"/>
              <a:ea typeface="Arial Unicode MS" charset="-122"/>
            </a:endParaRPr>
          </a:p>
        </p:txBody>
      </p:sp>
      <p:sp>
        <p:nvSpPr>
          <p:cNvPr id="6147" name="Slide Image Placeholder 38912"/>
          <p:cNvSpPr txBox="1">
            <a:spLocks noGrp="1"/>
          </p:cNvSpPr>
          <p:nvPr>
            <p:ph type="sldImg"/>
          </p:nvPr>
        </p:nvSpPr>
        <p:spPr>
          <a:xfrm>
            <a:off x="1143000" y="685800"/>
            <a:ext cx="4572000" cy="3429000"/>
          </a:xfrm>
          <a:solidFill>
            <a:srgbClr val="FFFFFF"/>
          </a:solidFill>
          <a:ln cap="flat"/>
        </p:spPr>
      </p:sp>
      <p:sp>
        <p:nvSpPr>
          <p:cNvPr id="6148" name="Text Placeholder 38913"/>
          <p:cNvSpPr txBox="1">
            <a:spLocks noGrp="1"/>
          </p:cNvSpPr>
          <p:nvPr>
            <p:ph type="body"/>
          </p:nvPr>
        </p:nvSpPr>
        <p:spPr>
          <a:xfrm>
            <a:off x="685800" y="4343400"/>
            <a:ext cx="5486400" cy="4114800"/>
          </a:xfrm>
        </p:spPr>
        <p:txBody>
          <a:bodyPr wrap="none" lIns="90000" tIns="46800" rIns="90000" bIns="46800" anchor="ctr" anchorCtr="0"/>
          <a:p>
            <a:pPr lvl="0"/>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8194" name="Slide Number Placeholder 1"/>
          <p:cNvSpPr/>
          <p:nvPr>
            <p:ph type="sldNum" sz="quarter"/>
          </p:nvPr>
        </p:nvSpPr>
        <p:spPr>
          <a:xfrm>
            <a:off x="3884613" y="8685213"/>
            <a:ext cx="2968625" cy="454025"/>
          </a:xfrm>
          <a:prstGeom prst="rect">
            <a:avLst/>
          </a:prstGeom>
          <a:noFill/>
          <a:ln w="9525">
            <a:noFill/>
          </a:ln>
        </p:spPr>
        <p:txBody>
          <a:bodyPr wrap="square" lIns="90000" tIns="46800" rIns="90000" bIns="46800" anchor="b" anchorCtr="0"/>
          <a:p>
            <a:pPr marL="215900" lvl="0" indent="-213995" algn="r" defTabSz="457200">
              <a:buClrTx/>
              <a:buSzPct val="45000"/>
              <a:buFontTx/>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ea typeface="Arial Unicode MS" charset="-122"/>
              </a:rPr>
            </a:fld>
            <a:endParaRPr lang="ru-RU" altLang="x-none" sz="1200" dirty="0" err="1">
              <a:latin typeface="Times New Roman" panose="02020603050405020304" pitchFamily="16" charset="0"/>
              <a:ea typeface="Arial Unicode MS" charset="-122"/>
            </a:endParaRPr>
          </a:p>
        </p:txBody>
      </p:sp>
      <p:sp>
        <p:nvSpPr>
          <p:cNvPr id="8195" name="Slide Image Placeholder 39936"/>
          <p:cNvSpPr txBox="1">
            <a:spLocks noGrp="1"/>
          </p:cNvSpPr>
          <p:nvPr>
            <p:ph type="sldImg"/>
          </p:nvPr>
        </p:nvSpPr>
        <p:spPr>
          <a:xfrm>
            <a:off x="1143000" y="685800"/>
            <a:ext cx="4572000" cy="3429000"/>
          </a:xfrm>
          <a:solidFill>
            <a:srgbClr val="FFFFFF"/>
          </a:solidFill>
          <a:ln cap="flat"/>
        </p:spPr>
      </p:sp>
      <p:sp>
        <p:nvSpPr>
          <p:cNvPr id="8196" name="Text Placeholder 39937"/>
          <p:cNvSpPr txBox="1">
            <a:spLocks noGrp="1"/>
          </p:cNvSpPr>
          <p:nvPr>
            <p:ph type="body"/>
          </p:nvPr>
        </p:nvSpPr>
        <p:spPr>
          <a:xfrm>
            <a:off x="685800" y="4343400"/>
            <a:ext cx="5486400" cy="4114800"/>
          </a:xfrm>
        </p:spPr>
        <p:txBody>
          <a:bodyPr wrap="none" lIns="90000" tIns="46800" rIns="90000" bIns="46800" anchor="ctr" anchorCtr="0"/>
          <a:p>
            <a:pPr lvl="0"/>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00025"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69633" name="Slide Image Placeholder 69632"/>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69634" name="Text Placeholder 69633"/>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00025"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70657" name="Slide Image Placeholder 70656"/>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70658" name="Text Placeholder 70657"/>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00025"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71681" name="Slide Image Placeholder 71680"/>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71682" name="Text Placeholder 71681"/>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00025"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72705" name="Slide Image Placeholder 72704"/>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72706" name="Text Placeholder 72705"/>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00025"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73729" name="Slide Image Placeholder 7372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73730" name="Text Placeholder 7372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00025"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74753" name="Slide Image Placeholder 74752"/>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74754" name="Text Placeholder 74753"/>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00025"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75777" name="Slide Image Placeholder 75776"/>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75778" name="Text Placeholder 75777"/>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00025"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76801" name="Slide Image Placeholder 76800"/>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76802" name="Text Placeholder 76801"/>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00025"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77825" name="Slide Image Placeholder 77824"/>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77826" name="Text Placeholder 77825"/>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00025"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78849" name="Slide Image Placeholder 7884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78850" name="Text Placeholder 7884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00025"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79873" name="Slide Image Placeholder 79872"/>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79874" name="Text Placeholder 79873"/>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00025"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80897" name="Slide Image Placeholder 80896"/>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80898" name="Text Placeholder 80897"/>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00025"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81921" name="Slide Image Placeholder 81920"/>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81922" name="Text Placeholder 81921"/>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00025"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83969" name="Slide Image Placeholder 8396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83970" name="Text Placeholder 8396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00025"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84993" name="Slide Image Placeholder 84992"/>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84994" name="Text Placeholder 84993"/>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00025"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86017" name="Slide Image Placeholder 86016"/>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86018" name="Text Placeholder 86017"/>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00025"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87041" name="Slide Image Placeholder 87040"/>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87042" name="Text Placeholder 87041"/>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00025"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88065" name="Slide Image Placeholder 88064"/>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88066" name="Text Placeholder 88065"/>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00025"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89089" name="Slide Image Placeholder 8908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89090" name="Text Placeholder 8908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00025"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90113" name="Slide Image Placeholder 90112"/>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90114" name="Text Placeholder 90113"/>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00025"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91137" name="Slide Image Placeholder 91136"/>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91138" name="Text Placeholder 91137"/>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00025"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92161" name="Slide Image Placeholder 92160"/>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92162" name="Text Placeholder 92161"/>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00025"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93185" name="Slide Image Placeholder 93184"/>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93186" name="Text Placeholder 93185"/>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00025"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94209" name="Slide Image Placeholder 9420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94210" name="Text Placeholder 9420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00025"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95233" name="Slide Image Placeholder 95232"/>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95234" name="Text Placeholder 95233"/>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00025"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96257" name="Slide Image Placeholder 96256"/>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96258" name="Text Placeholder 96257"/>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00025"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98305" name="Slide Image Placeholder 98304"/>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98306" name="Text Placeholder 98305"/>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00025"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99329" name="Slide Image Placeholder 9932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99330" name="Text Placeholder 9932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00025"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100353" name="Slide Image Placeholder 100352"/>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100354" name="Text Placeholder 100353"/>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00025"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106497" name="Slide Image Placeholder 106496"/>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106498" name="Text Placeholder 106497"/>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00025"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107521" name="Slide Image Placeholder 107520"/>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107522" name="Text Placeholder 107521"/>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00025"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108545" name="Slide Image Placeholder 108544"/>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108546" name="Text Placeholder 108545"/>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00025"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109569" name="Slide Image Placeholder 10956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109570" name="Text Placeholder 10956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00025"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110593" name="Slide Image Placeholder 110592"/>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110594" name="Text Placeholder 110593"/>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00025"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111617" name="Slide Image Placeholder 111616"/>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111618" name="Text Placeholder 111617"/>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00025"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112641" name="Slide Image Placeholder 112640"/>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112642" name="Text Placeholder 112641"/>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00025"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113665" name="Slide Image Placeholder 113664"/>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113666" name="Text Placeholder 113665"/>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00025"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114689" name="Slide Image Placeholder 11468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114690" name="Text Placeholder 11468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00025"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115713" name="Slide Image Placeholder 115712"/>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115714" name="Text Placeholder 115713"/>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00025"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116737" name="Slide Image Placeholder 116736"/>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116738" name="Text Placeholder 116737"/>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00025"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117761" name="Slide Image Placeholder 117760"/>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117762" name="Text Placeholder 117761"/>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00025"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118785" name="Slide Image Placeholder 118784"/>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118786" name="Text Placeholder 118785"/>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00025"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119809" name="Slide Image Placeholder 11980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119810" name="Text Placeholder 11980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00025"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120833" name="Slide Image Placeholder 120832"/>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120834" name="Text Placeholder 120833"/>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00025"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121857" name="Slide Image Placeholder 121856"/>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121858" name="Text Placeholder 121857"/>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00025"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122881" name="Slide Image Placeholder 122880"/>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122882" name="Text Placeholder 122881"/>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00025"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125953" name="Slide Image Placeholder 125952"/>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125954" name="Text Placeholder 125953"/>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pPr fontAlgn="base"/>
            <a:r>
              <a:rPr lang="en-US" strike="noStrike" noProof="1" smtClean="0"/>
              <a:t>Click to edit Master title style</a:t>
            </a:r>
            <a:endParaRPr lang="en-US" strike="noStrike" noProof="1"/>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en-US" strike="noStrike" noProof="1" smtClean="0"/>
              <a:t>Click to edit Master subtitle style</a:t>
            </a:r>
            <a:endParaRPr lang="en-US" strike="noStrike" noProof="1"/>
          </a:p>
        </p:txBody>
      </p:sp>
      <p:sp>
        <p:nvSpPr>
          <p:cNvPr id="4" name="Slide Number Placeholder 3"/>
          <p:cNvSpPr>
            <a:spLocks noGrp="1"/>
          </p:cNvSpPr>
          <p:nvPr>
            <p:ph type="sldNum" idx="10"/>
          </p:nvPr>
        </p:nvSpPr>
        <p:spPr/>
        <p:txBody>
          <a:bodyPr/>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Content Placeholder 2"/>
          <p:cNvSpPr>
            <a:spLocks noGrp="1"/>
          </p:cNvSpPr>
          <p:nvPr>
            <p:ph idx="1"/>
          </p:nvPr>
        </p:nvSpPr>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Slide Number Placeholder 3"/>
          <p:cNvSpPr>
            <a:spLocks noGrp="1"/>
          </p:cNvSpPr>
          <p:nvPr>
            <p:ph type="sldNum" idx="10"/>
          </p:nvPr>
        </p:nvSpPr>
        <p:spPr/>
        <p:txBody>
          <a:bodyPr/>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4500"/>
            </a:lvl1pPr>
          </a:lstStyle>
          <a:p>
            <a:pPr fontAlgn="base"/>
            <a:r>
              <a:rPr lang="en-US" strike="noStrike" noProof="1" smtClean="0"/>
              <a:t>Click to edit Master title style</a:t>
            </a:r>
            <a:endParaRPr lang="en-US" strike="noStrike" noProof="1"/>
          </a:p>
        </p:txBody>
      </p:sp>
      <p:sp>
        <p:nvSpPr>
          <p:cNvPr id="3" name="Text Placeholder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en-US" strike="noStrike" noProof="1" smtClean="0"/>
              <a:t>Click to edit Master text styles</a:t>
            </a:r>
            <a:endParaRPr lang="en-US" strike="noStrike" noProof="1" smtClean="0"/>
          </a:p>
        </p:txBody>
      </p:sp>
      <p:sp>
        <p:nvSpPr>
          <p:cNvPr id="4" name="Slide Number Placeholder 3"/>
          <p:cNvSpPr>
            <a:spLocks noGrp="1"/>
          </p:cNvSpPr>
          <p:nvPr>
            <p:ph type="sldNum" idx="10"/>
          </p:nvPr>
        </p:nvSpPr>
        <p:spPr/>
        <p:txBody>
          <a:bodyPr/>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Content Placeholder 2"/>
          <p:cNvSpPr>
            <a:spLocks noGrp="1"/>
          </p:cNvSpPr>
          <p:nvPr>
            <p:ph sz="half" idx="1"/>
          </p:nvPr>
        </p:nvSpPr>
        <p:spPr>
          <a:xfrm>
            <a:off x="609600" y="1600200"/>
            <a:ext cx="3881596" cy="4416425"/>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Content Placeholder 3"/>
          <p:cNvSpPr>
            <a:spLocks noGrp="1"/>
          </p:cNvSpPr>
          <p:nvPr>
            <p:ph sz="half" idx="2"/>
          </p:nvPr>
        </p:nvSpPr>
        <p:spPr>
          <a:xfrm>
            <a:off x="4649629" y="1600200"/>
            <a:ext cx="3881596" cy="4416425"/>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5" name="Slide Number Placeholder 4"/>
          <p:cNvSpPr>
            <a:spLocks noGrp="1"/>
          </p:cNvSpPr>
          <p:nvPr>
            <p:ph type="sldNum" idx="10"/>
          </p:nvPr>
        </p:nvSpPr>
        <p:spPr/>
        <p:txBody>
          <a:bodyPr/>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1325563"/>
          </a:xfrm>
        </p:spPr>
        <p:txBody>
          <a:bodyPr/>
          <a:lstStyle/>
          <a:p>
            <a:pPr fontAlgn="base"/>
            <a:r>
              <a:rPr lang="en-US" strike="noStrike" noProof="1" smtClean="0"/>
              <a:t>Click to edit Master title style</a:t>
            </a:r>
            <a:endParaRPr lang="en-US" strike="noStrike" noProof="1"/>
          </a:p>
        </p:txBody>
      </p:sp>
      <p:sp>
        <p:nvSpPr>
          <p:cNvPr id="3" name="Text Placeholder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en-US" strike="noStrike" noProof="1" smtClean="0"/>
              <a:t>Click to edit Master text styles</a:t>
            </a:r>
            <a:endParaRPr lang="en-US" strike="noStrike" noProof="1" smtClean="0"/>
          </a:p>
        </p:txBody>
      </p:sp>
      <p:sp>
        <p:nvSpPr>
          <p:cNvPr id="4" name="Content Placeholder 3"/>
          <p:cNvSpPr>
            <a:spLocks noGrp="1"/>
          </p:cNvSpPr>
          <p:nvPr>
            <p:ph sz="half" idx="2"/>
          </p:nvPr>
        </p:nvSpPr>
        <p:spPr>
          <a:xfrm>
            <a:off x="629841" y="2505075"/>
            <a:ext cx="3868340" cy="3684588"/>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en-US" strike="noStrike" noProof="1" smtClean="0"/>
              <a:t>Click to edit Master text styles</a:t>
            </a:r>
            <a:endParaRPr lang="en-US" strike="noStrike" noProof="1" smtClean="0"/>
          </a:p>
        </p:txBody>
      </p:sp>
      <p:sp>
        <p:nvSpPr>
          <p:cNvPr id="6" name="Content Placeholder 5"/>
          <p:cNvSpPr>
            <a:spLocks noGrp="1"/>
          </p:cNvSpPr>
          <p:nvPr>
            <p:ph sz="quarter" idx="4"/>
          </p:nvPr>
        </p:nvSpPr>
        <p:spPr>
          <a:xfrm>
            <a:off x="4629150" y="2505075"/>
            <a:ext cx="3887391" cy="3684588"/>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7" name="Slide Number Placeholder 6"/>
          <p:cNvSpPr>
            <a:spLocks noGrp="1"/>
          </p:cNvSpPr>
          <p:nvPr>
            <p:ph type="sldNum" idx="10"/>
          </p:nvPr>
        </p:nvSpPr>
        <p:spPr/>
        <p:txBody>
          <a:bodyPr/>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Slide Number Placeholder 2"/>
          <p:cNvSpPr>
            <a:spLocks noGrp="1"/>
          </p:cNvSpPr>
          <p:nvPr>
            <p:ph type="sldNum" idx="10"/>
          </p:nvPr>
        </p:nvSpPr>
        <p:spPr/>
        <p:txBody>
          <a:bodyPr/>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idx="10"/>
          </p:nvPr>
        </p:nvSpPr>
        <p:spPr/>
        <p:txBody>
          <a:bodyPr/>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pPr fontAlgn="base"/>
            <a:r>
              <a:rPr lang="en-US" strike="noStrike" noProof="1" smtClean="0"/>
              <a:t>Click to edit Master title style</a:t>
            </a:r>
            <a:endParaRPr lang="en-US" strike="noStrike" noProof="1"/>
          </a:p>
        </p:txBody>
      </p:sp>
      <p:sp>
        <p:nvSpPr>
          <p:cNvPr id="3" name="Content Placeholder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en-US" strike="noStrike" noProof="1" smtClean="0"/>
              <a:t>Click to edit Master text styles</a:t>
            </a:r>
            <a:endParaRPr lang="en-US" strike="noStrike" noProof="1" smtClean="0"/>
          </a:p>
        </p:txBody>
      </p:sp>
      <p:sp>
        <p:nvSpPr>
          <p:cNvPr id="5" name="Slide Number Placeholder 4"/>
          <p:cNvSpPr>
            <a:spLocks noGrp="1"/>
          </p:cNvSpPr>
          <p:nvPr>
            <p:ph type="sldNum" idx="10"/>
          </p:nvPr>
        </p:nvSpPr>
        <p:spPr/>
        <p:txBody>
          <a:bodyPr/>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pPr fontAlgn="base"/>
            <a:r>
              <a:rPr lang="en-US" strike="noStrike" noProof="1" smtClean="0"/>
              <a:t>Click to edit Master title style</a:t>
            </a:r>
            <a:endParaRPr lang="en-US" strike="noStrike" noProof="1"/>
          </a:p>
        </p:txBody>
      </p:sp>
      <p:sp>
        <p:nvSpPr>
          <p:cNvPr id="3" name="Picture Placeholder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en-US" strike="noStrike" noProof="1"/>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en-US" strike="noStrike" noProof="1" smtClean="0"/>
              <a:t>Click to edit Master text styles</a:t>
            </a:r>
            <a:endParaRPr lang="en-US" strike="noStrike" noProof="1" smtClean="0"/>
          </a:p>
        </p:txBody>
      </p:sp>
      <p:sp>
        <p:nvSpPr>
          <p:cNvPr id="5" name="Slide Number Placeholder 4"/>
          <p:cNvSpPr>
            <a:spLocks noGrp="1"/>
          </p:cNvSpPr>
          <p:nvPr>
            <p:ph type="sldNum" idx="10"/>
          </p:nvPr>
        </p:nvSpPr>
        <p:spPr/>
        <p:txBody>
          <a:bodyPr/>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Vertical Text Placeholder 2"/>
          <p:cNvSpPr>
            <a:spLocks noGrp="1"/>
          </p:cNvSpPr>
          <p:nvPr>
            <p:ph type="body" orient="vert" idx="1"/>
          </p:nvPr>
        </p:nvSpPr>
        <p:spPr/>
        <p:txBody>
          <a:bodyPr vert="eaVert"/>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Slide Number Placeholder 3"/>
          <p:cNvSpPr>
            <a:spLocks noGrp="1"/>
          </p:cNvSpPr>
          <p:nvPr>
            <p:ph type="sldNum" idx="10"/>
          </p:nvPr>
        </p:nvSpPr>
        <p:spPr/>
        <p:txBody>
          <a:bodyPr/>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47235" y="228600"/>
            <a:ext cx="2083991" cy="5788025"/>
          </a:xfrm>
        </p:spPr>
        <p:txBody>
          <a:bodyPr vert="eaVert"/>
          <a:lstStyle/>
          <a:p>
            <a:pPr fontAlgn="base"/>
            <a:r>
              <a:rPr lang="en-US" strike="noStrike" noProof="1" smtClean="0"/>
              <a:t>Click to edit Master title style</a:t>
            </a:r>
            <a:endParaRPr lang="en-US" strike="noStrike" noProof="1"/>
          </a:p>
        </p:txBody>
      </p:sp>
      <p:sp>
        <p:nvSpPr>
          <p:cNvPr id="3" name="Vertical Text Placeholder 2"/>
          <p:cNvSpPr>
            <a:spLocks noGrp="1"/>
          </p:cNvSpPr>
          <p:nvPr>
            <p:ph type="body" orient="vert" idx="1"/>
          </p:nvPr>
        </p:nvSpPr>
        <p:spPr>
          <a:xfrm>
            <a:off x="195263" y="228600"/>
            <a:ext cx="6131160" cy="5788025"/>
          </a:xfrm>
        </p:spPr>
        <p:txBody>
          <a:bodyPr vert="eaVert"/>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Slide Number Placeholder 3"/>
          <p:cNvSpPr>
            <a:spLocks noGrp="1"/>
          </p:cNvSpPr>
          <p:nvPr>
            <p:ph type="sldNum" idx="10"/>
          </p:nvPr>
        </p:nvSpPr>
        <p:spPr/>
        <p:txBody>
          <a:bodyPr/>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type="body" idx="1"/>
          </p:nvPr>
        </p:nvSpPr>
        <p:spPr>
          <a:xfrm>
            <a:off x="311700" y="1536633"/>
            <a:ext cx="8520600" cy="45552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19" name="Google Shape;19;p4"/>
          <p:cNvSpPr txBox="1"/>
          <p:nvPr>
            <p:ph type="sldNum" idx="12"/>
          </p:nvPr>
        </p:nvSpPr>
        <p:spPr>
          <a:xfrm>
            <a:off x="8472458" y="6217623"/>
            <a:ext cx="5487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pPr fontAlgn="base"/>
            <a:r>
              <a:rPr lang="en-US" strike="noStrike" noProof="1" smtClean="0"/>
              <a:t>Click to edit Master title style</a:t>
            </a:r>
            <a:endParaRPr lang="en-US" strike="noStrike" noProof="1"/>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en-US" strike="noStrike" noProof="1" smtClean="0"/>
              <a:t>Click to edit Master subtitle style</a:t>
            </a:r>
            <a:endParaRPr lang="en-US" strike="noStrike" noProof="1"/>
          </a:p>
        </p:txBody>
      </p:sp>
      <p:sp>
        <p:nvSpPr>
          <p:cNvPr id="4" name="Slide Number Placeholder 3"/>
          <p:cNvSpPr>
            <a:spLocks noGrp="1"/>
          </p:cNvSpPr>
          <p:nvPr>
            <p:ph type="sldNum" idx="10"/>
          </p:nvPr>
        </p:nvSpPr>
        <p:spPr/>
        <p:txBody>
          <a:bodyPr/>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Content Placeholder 2"/>
          <p:cNvSpPr>
            <a:spLocks noGrp="1"/>
          </p:cNvSpPr>
          <p:nvPr>
            <p:ph idx="1"/>
          </p:nvPr>
        </p:nvSpPr>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Slide Number Placeholder 3"/>
          <p:cNvSpPr>
            <a:spLocks noGrp="1"/>
          </p:cNvSpPr>
          <p:nvPr>
            <p:ph type="sldNum" idx="10"/>
          </p:nvPr>
        </p:nvSpPr>
        <p:spPr/>
        <p:txBody>
          <a:bodyPr/>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4500"/>
            </a:lvl1pPr>
          </a:lstStyle>
          <a:p>
            <a:pPr fontAlgn="base"/>
            <a:r>
              <a:rPr lang="en-US" strike="noStrike" noProof="1" smtClean="0"/>
              <a:t>Click to edit Master title style</a:t>
            </a:r>
            <a:endParaRPr lang="en-US" strike="noStrike" noProof="1"/>
          </a:p>
        </p:txBody>
      </p:sp>
      <p:sp>
        <p:nvSpPr>
          <p:cNvPr id="3" name="Text Placeholder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en-US" strike="noStrike" noProof="1" smtClean="0"/>
              <a:t>Click to edit Master text styles</a:t>
            </a:r>
            <a:endParaRPr lang="en-US" strike="noStrike" noProof="1" smtClean="0"/>
          </a:p>
        </p:txBody>
      </p:sp>
      <p:sp>
        <p:nvSpPr>
          <p:cNvPr id="4" name="Slide Number Placeholder 3"/>
          <p:cNvSpPr>
            <a:spLocks noGrp="1"/>
          </p:cNvSpPr>
          <p:nvPr>
            <p:ph type="sldNum" idx="10"/>
          </p:nvPr>
        </p:nvSpPr>
        <p:spPr/>
        <p:txBody>
          <a:bodyPr/>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Content Placeholder 2"/>
          <p:cNvSpPr>
            <a:spLocks noGrp="1"/>
          </p:cNvSpPr>
          <p:nvPr>
            <p:ph sz="half" idx="1"/>
          </p:nvPr>
        </p:nvSpPr>
        <p:spPr>
          <a:xfrm>
            <a:off x="609600" y="1600200"/>
            <a:ext cx="3881596" cy="4416425"/>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Content Placeholder 3"/>
          <p:cNvSpPr>
            <a:spLocks noGrp="1"/>
          </p:cNvSpPr>
          <p:nvPr>
            <p:ph sz="half" idx="2"/>
          </p:nvPr>
        </p:nvSpPr>
        <p:spPr>
          <a:xfrm>
            <a:off x="4649629" y="1600200"/>
            <a:ext cx="3881596" cy="4416425"/>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5" name="Slide Number Placeholder 4"/>
          <p:cNvSpPr>
            <a:spLocks noGrp="1"/>
          </p:cNvSpPr>
          <p:nvPr>
            <p:ph type="sldNum" idx="10"/>
          </p:nvPr>
        </p:nvSpPr>
        <p:spPr/>
        <p:txBody>
          <a:bodyPr/>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1325563"/>
          </a:xfrm>
        </p:spPr>
        <p:txBody>
          <a:bodyPr/>
          <a:lstStyle/>
          <a:p>
            <a:pPr fontAlgn="base"/>
            <a:r>
              <a:rPr lang="en-US" strike="noStrike" noProof="1" smtClean="0"/>
              <a:t>Click to edit Master title style</a:t>
            </a:r>
            <a:endParaRPr lang="en-US" strike="noStrike" noProof="1"/>
          </a:p>
        </p:txBody>
      </p:sp>
      <p:sp>
        <p:nvSpPr>
          <p:cNvPr id="3" name="Text Placeholder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en-US" strike="noStrike" noProof="1" smtClean="0"/>
              <a:t>Click to edit Master text styles</a:t>
            </a:r>
            <a:endParaRPr lang="en-US" strike="noStrike" noProof="1" smtClean="0"/>
          </a:p>
        </p:txBody>
      </p:sp>
      <p:sp>
        <p:nvSpPr>
          <p:cNvPr id="4" name="Content Placeholder 3"/>
          <p:cNvSpPr>
            <a:spLocks noGrp="1"/>
          </p:cNvSpPr>
          <p:nvPr>
            <p:ph sz="half" idx="2"/>
          </p:nvPr>
        </p:nvSpPr>
        <p:spPr>
          <a:xfrm>
            <a:off x="629841" y="2505075"/>
            <a:ext cx="3868340" cy="3684588"/>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en-US" strike="noStrike" noProof="1" smtClean="0"/>
              <a:t>Click to edit Master text styles</a:t>
            </a:r>
            <a:endParaRPr lang="en-US" strike="noStrike" noProof="1" smtClean="0"/>
          </a:p>
        </p:txBody>
      </p:sp>
      <p:sp>
        <p:nvSpPr>
          <p:cNvPr id="6" name="Content Placeholder 5"/>
          <p:cNvSpPr>
            <a:spLocks noGrp="1"/>
          </p:cNvSpPr>
          <p:nvPr>
            <p:ph sz="quarter" idx="4"/>
          </p:nvPr>
        </p:nvSpPr>
        <p:spPr>
          <a:xfrm>
            <a:off x="4629150" y="2505075"/>
            <a:ext cx="3887391" cy="3684588"/>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7" name="Slide Number Placeholder 6"/>
          <p:cNvSpPr>
            <a:spLocks noGrp="1"/>
          </p:cNvSpPr>
          <p:nvPr>
            <p:ph type="sldNum" idx="10"/>
          </p:nvPr>
        </p:nvSpPr>
        <p:spPr/>
        <p:txBody>
          <a:bodyPr/>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Slide Number Placeholder 2"/>
          <p:cNvSpPr>
            <a:spLocks noGrp="1"/>
          </p:cNvSpPr>
          <p:nvPr>
            <p:ph type="sldNum" idx="10"/>
          </p:nvPr>
        </p:nvSpPr>
        <p:spPr/>
        <p:txBody>
          <a:bodyPr/>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idx="10"/>
          </p:nvPr>
        </p:nvSpPr>
        <p:spPr/>
        <p:txBody>
          <a:bodyPr/>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pPr fontAlgn="base"/>
            <a:r>
              <a:rPr lang="en-US" strike="noStrike" noProof="1" smtClean="0"/>
              <a:t>Click to edit Master title style</a:t>
            </a:r>
            <a:endParaRPr lang="en-US" strike="noStrike" noProof="1"/>
          </a:p>
        </p:txBody>
      </p:sp>
      <p:sp>
        <p:nvSpPr>
          <p:cNvPr id="3" name="Content Placeholder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en-US" strike="noStrike" noProof="1" smtClean="0"/>
              <a:t>Click to edit Master text styles</a:t>
            </a:r>
            <a:endParaRPr lang="en-US" strike="noStrike" noProof="1" smtClean="0"/>
          </a:p>
        </p:txBody>
      </p:sp>
      <p:sp>
        <p:nvSpPr>
          <p:cNvPr id="5" name="Slide Number Placeholder 4"/>
          <p:cNvSpPr>
            <a:spLocks noGrp="1"/>
          </p:cNvSpPr>
          <p:nvPr>
            <p:ph type="sldNum" idx="10"/>
          </p:nvPr>
        </p:nvSpPr>
        <p:spPr/>
        <p:txBody>
          <a:bodyPr/>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pPr fontAlgn="base"/>
            <a:r>
              <a:rPr lang="en-US" strike="noStrike" noProof="1" smtClean="0"/>
              <a:t>Click to edit Master title style</a:t>
            </a:r>
            <a:endParaRPr lang="en-US" strike="noStrike" noProof="1"/>
          </a:p>
        </p:txBody>
      </p:sp>
      <p:sp>
        <p:nvSpPr>
          <p:cNvPr id="3" name="Picture Placeholder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en-US" strike="noStrike" noProof="1"/>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en-US" strike="noStrike" noProof="1" smtClean="0"/>
              <a:t>Click to edit Master text styles</a:t>
            </a:r>
            <a:endParaRPr lang="en-US" strike="noStrike" noProof="1" smtClean="0"/>
          </a:p>
        </p:txBody>
      </p:sp>
      <p:sp>
        <p:nvSpPr>
          <p:cNvPr id="5" name="Slide Number Placeholder 4"/>
          <p:cNvSpPr>
            <a:spLocks noGrp="1"/>
          </p:cNvSpPr>
          <p:nvPr>
            <p:ph type="sldNum" idx="10"/>
          </p:nvPr>
        </p:nvSpPr>
        <p:spPr/>
        <p:txBody>
          <a:bodyPr/>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Vertical Text Placeholder 2"/>
          <p:cNvSpPr>
            <a:spLocks noGrp="1"/>
          </p:cNvSpPr>
          <p:nvPr>
            <p:ph type="body" orient="vert" idx="1"/>
          </p:nvPr>
        </p:nvSpPr>
        <p:spPr/>
        <p:txBody>
          <a:bodyPr vert="eaVert"/>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Slide Number Placeholder 3"/>
          <p:cNvSpPr>
            <a:spLocks noGrp="1"/>
          </p:cNvSpPr>
          <p:nvPr>
            <p:ph type="sldNum" idx="10"/>
          </p:nvPr>
        </p:nvSpPr>
        <p:spPr/>
        <p:txBody>
          <a:bodyPr/>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47235" y="228600"/>
            <a:ext cx="2083991" cy="5788025"/>
          </a:xfrm>
        </p:spPr>
        <p:txBody>
          <a:bodyPr vert="eaVert"/>
          <a:lstStyle/>
          <a:p>
            <a:pPr fontAlgn="base"/>
            <a:r>
              <a:rPr lang="en-US" strike="noStrike" noProof="1" smtClean="0"/>
              <a:t>Click to edit Master title style</a:t>
            </a:r>
            <a:endParaRPr lang="en-US" strike="noStrike" noProof="1"/>
          </a:p>
        </p:txBody>
      </p:sp>
      <p:sp>
        <p:nvSpPr>
          <p:cNvPr id="3" name="Vertical Text Placeholder 2"/>
          <p:cNvSpPr>
            <a:spLocks noGrp="1"/>
          </p:cNvSpPr>
          <p:nvPr>
            <p:ph type="body" orient="vert" idx="1"/>
          </p:nvPr>
        </p:nvSpPr>
        <p:spPr>
          <a:xfrm>
            <a:off x="195263" y="228600"/>
            <a:ext cx="6131160" cy="5788025"/>
          </a:xfrm>
        </p:spPr>
        <p:txBody>
          <a:bodyPr vert="eaVert"/>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Slide Number Placeholder 3"/>
          <p:cNvSpPr>
            <a:spLocks noGrp="1"/>
          </p:cNvSpPr>
          <p:nvPr>
            <p:ph type="sldNum" idx="10"/>
          </p:nvPr>
        </p:nvSpPr>
        <p:spPr/>
        <p:txBody>
          <a:bodyPr/>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2" Type="http://schemas.openxmlformats.org/officeDocument/2006/relationships/theme" Target="../theme/theme2.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grpSp>
        <p:nvGrpSpPr>
          <p:cNvPr id="1026" name="Group 1024"/>
          <p:cNvGrpSpPr/>
          <p:nvPr/>
        </p:nvGrpSpPr>
        <p:grpSpPr>
          <a:xfrm>
            <a:off x="0" y="152400"/>
            <a:ext cx="8683625" cy="6092825"/>
            <a:chOff x="0" y="96"/>
            <a:chExt cx="5470" cy="3838"/>
          </a:xfrm>
        </p:grpSpPr>
        <p:sp>
          <p:nvSpPr>
            <p:cNvPr id="1027" name="Rounded Rectangle 1025"/>
            <p:cNvSpPr/>
            <p:nvPr/>
          </p:nvSpPr>
          <p:spPr>
            <a:xfrm>
              <a:off x="240" y="336"/>
              <a:ext cx="5230" cy="3598"/>
            </a:xfrm>
            <a:prstGeom prst="roundRect">
              <a:avLst>
                <a:gd name="adj" fmla="val 13727"/>
              </a:avLst>
            </a:prstGeom>
            <a:noFill/>
            <a:ln w="50760" cap="sq" cmpd="sng">
              <a:solidFill>
                <a:srgbClr val="669999"/>
              </a:solidFill>
              <a:prstDash val="solid"/>
              <a:miter/>
              <a:headEnd type="none" w="med" len="med"/>
              <a:tailEnd type="none" w="med" len="med"/>
            </a:ln>
          </p:spPr>
          <p:txBody>
            <a:bodyPr anchor="t" anchorCtr="0"/>
            <a:p>
              <a:pPr lvl="0"/>
              <a:endParaRPr lang="en-US" altLang="zh-CN">
                <a:latin typeface="Arial" panose="020B0604020202020204" pitchFamily="34" charset="0"/>
              </a:endParaRPr>
            </a:p>
          </p:txBody>
        </p:sp>
        <p:sp>
          <p:nvSpPr>
            <p:cNvPr id="1028" name="Freeform 1026"/>
            <p:cNvSpPr/>
            <p:nvPr/>
          </p:nvSpPr>
          <p:spPr>
            <a:xfrm>
              <a:off x="0" y="96"/>
              <a:ext cx="5374" cy="766"/>
            </a:xfrm>
            <a:custGeom>
              <a:avLst/>
              <a:gdLst/>
              <a:ahLst/>
              <a:cxnLst>
                <a:cxn ang="0">
                  <a:pos x="0" y="0"/>
                </a:cxn>
                <a:cxn ang="0">
                  <a:pos x="2" y="0"/>
                </a:cxn>
                <a:cxn ang="0">
                  <a:pos x="2" y="2"/>
                </a:cxn>
                <a:cxn ang="0">
                  <a:pos x="2" y="2"/>
                </a:cxn>
                <a:cxn ang="0">
                  <a:pos x="0" y="2"/>
                </a:cxn>
              </a:cxnLst>
              <a:pathLst>
                <a:path w="7000" h="1000">
                  <a:moveTo>
                    <a:pt x="0" y="0"/>
                  </a:moveTo>
                  <a:lnTo>
                    <a:pt x="6499" y="0"/>
                  </a:lnTo>
                  <a:cubicBezTo>
                    <a:pt x="6776" y="0"/>
                    <a:pt x="7000" y="223"/>
                    <a:pt x="7000" y="500"/>
                  </a:cubicBezTo>
                  <a:cubicBezTo>
                    <a:pt x="7000" y="776"/>
                    <a:pt x="6776" y="999"/>
                    <a:pt x="6500" y="1000"/>
                  </a:cubicBezTo>
                  <a:lnTo>
                    <a:pt x="0" y="1000"/>
                  </a:lnTo>
                  <a:lnTo>
                    <a:pt x="0" y="0"/>
                  </a:lnTo>
                  <a:close/>
                </a:path>
              </a:pathLst>
            </a:custGeom>
            <a:solidFill>
              <a:srgbClr val="6666CC"/>
            </a:solidFill>
            <a:ln w="9525">
              <a:noFill/>
            </a:ln>
          </p:spPr>
          <p:txBody>
            <a:bodyPr/>
            <a:p>
              <a:endParaRPr lang="en-US"/>
            </a:p>
          </p:txBody>
        </p:sp>
        <p:sp>
          <p:nvSpPr>
            <p:cNvPr id="1029" name="Straight Connector 1027"/>
            <p:cNvSpPr/>
            <p:nvPr/>
          </p:nvSpPr>
          <p:spPr>
            <a:xfrm>
              <a:off x="0" y="768"/>
              <a:ext cx="5086" cy="0"/>
            </a:xfrm>
            <a:prstGeom prst="line">
              <a:avLst/>
            </a:prstGeom>
            <a:ln w="38160" cap="sq" cmpd="sng">
              <a:solidFill>
                <a:srgbClr val="FFFFFF"/>
              </a:solidFill>
              <a:prstDash val="solid"/>
              <a:miter/>
              <a:headEnd type="none" w="med" len="med"/>
              <a:tailEnd type="none" w="med" len="med"/>
            </a:ln>
          </p:spPr>
        </p:sp>
      </p:grpSp>
      <p:sp>
        <p:nvSpPr>
          <p:cNvPr id="1030" name="Title 1028"/>
          <p:cNvSpPr>
            <a:spLocks noGrp="1"/>
          </p:cNvSpPr>
          <p:nvPr>
            <p:ph type="title"/>
          </p:nvPr>
        </p:nvSpPr>
        <p:spPr>
          <a:xfrm>
            <a:off x="195263" y="228600"/>
            <a:ext cx="8012112" cy="911225"/>
          </a:xfrm>
          <a:prstGeom prst="rect">
            <a:avLst/>
          </a:prstGeom>
          <a:noFill/>
          <a:ln w="9525">
            <a:noFill/>
          </a:ln>
        </p:spPr>
        <p:txBody>
          <a:bodyPr wrap="square" lIns="90000" tIns="46800" rIns="90000" bIns="46800" anchor="ctr" anchorCtr="0"/>
          <a:p>
            <a:pPr lvl="0"/>
            <a:r>
              <a:rPr lang="en-GB" dirty="0"/>
              <a:t>Для правки текста заголовка щелкните мышью</a:t>
            </a:r>
            <a:endParaRPr lang="en-GB" dirty="0"/>
          </a:p>
        </p:txBody>
      </p:sp>
      <p:sp>
        <p:nvSpPr>
          <p:cNvPr id="1031" name="Text Placeholder 1029"/>
          <p:cNvSpPr>
            <a:spLocks noGrp="1"/>
          </p:cNvSpPr>
          <p:nvPr>
            <p:ph type="body"/>
          </p:nvPr>
        </p:nvSpPr>
        <p:spPr>
          <a:xfrm>
            <a:off x="609600" y="1600200"/>
            <a:ext cx="7921625" cy="4416425"/>
          </a:xfrm>
          <a:prstGeom prst="rect">
            <a:avLst/>
          </a:prstGeom>
          <a:noFill/>
          <a:ln w="9525">
            <a:noFill/>
          </a:ln>
        </p:spPr>
        <p:txBody>
          <a:bodyPr wrap="square" lIns="90000" tIns="46800" rIns="90000" bIns="46800" anchor="t" anchorCtr="0"/>
          <a:p>
            <a:pPr lvl="0"/>
            <a:r>
              <a:rPr lang="en-GB" dirty="0"/>
              <a:t>Для правки структуры щелкните мышью</a:t>
            </a:r>
            <a:endParaRPr lang="en-GB" dirty="0"/>
          </a:p>
          <a:p>
            <a:pPr lvl="1"/>
            <a:r>
              <a:rPr lang="en-GB" dirty="0"/>
              <a:t>Второй уровень структуры</a:t>
            </a:r>
            <a:endParaRPr lang="en-GB" dirty="0"/>
          </a:p>
          <a:p>
            <a:pPr lvl="2"/>
            <a:r>
              <a:rPr lang="en-GB" dirty="0"/>
              <a:t>Третий уровень структуры</a:t>
            </a:r>
            <a:endParaRPr lang="en-GB" dirty="0"/>
          </a:p>
          <a:p>
            <a:pPr lvl="3"/>
            <a:r>
              <a:rPr lang="en-GB" dirty="0"/>
              <a:t>Четвёртый уровень структуры</a:t>
            </a:r>
            <a:endParaRPr lang="en-GB" dirty="0"/>
          </a:p>
          <a:p>
            <a:pPr lvl="4"/>
            <a:r>
              <a:rPr lang="en-GB" dirty="0"/>
              <a:t>Пятый уровень структуры</a:t>
            </a:r>
            <a:endParaRPr lang="en-GB" dirty="0"/>
          </a:p>
          <a:p>
            <a:pPr lvl="4"/>
            <a:r>
              <a:rPr lang="en-GB" dirty="0"/>
              <a:t>Шестой уровень структуры</a:t>
            </a:r>
            <a:endParaRPr lang="en-GB" dirty="0"/>
          </a:p>
          <a:p>
            <a:pPr lvl="4"/>
            <a:r>
              <a:rPr lang="en-GB" dirty="0"/>
              <a:t>Седьмой уровень структуры</a:t>
            </a:r>
            <a:endParaRPr lang="en-GB" dirty="0"/>
          </a:p>
          <a:p>
            <a:pPr lvl="4"/>
            <a:r>
              <a:rPr lang="en-GB" dirty="0"/>
              <a:t>Восьмой уровень структуры</a:t>
            </a:r>
            <a:endParaRPr lang="en-GB" dirty="0"/>
          </a:p>
          <a:p>
            <a:pPr lvl="4"/>
            <a:r>
              <a:rPr lang="en-GB" dirty="0"/>
              <a:t>Девятый уровень структуры</a:t>
            </a:r>
            <a:endParaRPr lang="en-GB" dirty="0"/>
          </a:p>
        </p:txBody>
      </p:sp>
      <p:sp>
        <p:nvSpPr>
          <p:cNvPr id="1032" name="Text Box 1030"/>
          <p:cNvSpPr txBox="1"/>
          <p:nvPr/>
        </p:nvSpPr>
        <p:spPr>
          <a:xfrm>
            <a:off x="457200" y="6248400"/>
            <a:ext cx="2133600" cy="457200"/>
          </a:xfrm>
          <a:prstGeom prst="rect">
            <a:avLst/>
          </a:prstGeom>
          <a:noFill/>
          <a:ln w="9525">
            <a:noFill/>
          </a:ln>
        </p:spPr>
        <p:txBody>
          <a:bodyPr anchor="t" anchorCtr="0"/>
          <a:p>
            <a:pPr lvl="0"/>
            <a:endParaRPr lang="en-US" altLang="zh-CN">
              <a:latin typeface="Arial" panose="020B0604020202020204" pitchFamily="34" charset="0"/>
            </a:endParaRPr>
          </a:p>
        </p:txBody>
      </p:sp>
      <p:sp>
        <p:nvSpPr>
          <p:cNvPr id="1033" name="Text Box 1031"/>
          <p:cNvSpPr txBox="1"/>
          <p:nvPr/>
        </p:nvSpPr>
        <p:spPr>
          <a:xfrm>
            <a:off x="3124200" y="6248400"/>
            <a:ext cx="2895600" cy="457200"/>
          </a:xfrm>
          <a:prstGeom prst="rect">
            <a:avLst/>
          </a:prstGeom>
          <a:noFill/>
          <a:ln w="9525">
            <a:noFill/>
          </a:ln>
        </p:spPr>
        <p:txBody>
          <a:bodyPr anchor="t" anchorCtr="0"/>
          <a:p>
            <a:pPr lvl="0"/>
            <a:endParaRPr lang="en-US" altLang="zh-CN">
              <a:latin typeface="Arial" panose="020B0604020202020204" pitchFamily="34" charset="0"/>
            </a:endParaRPr>
          </a:p>
        </p:txBody>
      </p:sp>
      <p:sp>
        <p:nvSpPr>
          <p:cNvPr id="2" name="Slide Number Placeholder 1032"/>
          <p:cNvSpPr>
            <a:spLocks noGrp="1"/>
          </p:cNvSpPr>
          <p:nvPr>
            <p:ph type="sldNum"/>
          </p:nvPr>
        </p:nvSpPr>
        <p:spPr>
          <a:xfrm>
            <a:off x="6553200" y="6248400"/>
            <a:ext cx="2130425" cy="454025"/>
          </a:xfrm>
          <a:prstGeom prst="rect">
            <a:avLst/>
          </a:prstGeom>
          <a:noFill/>
          <a:ln w="9525">
            <a:noFill/>
          </a:ln>
        </p:spPr>
        <p:txBody>
          <a:bodyPr wrap="square" lIns="90000" tIns="46800" rIns="90000" bIns="46800" anchor="b" anchorCtr="0"/>
          <a:lstStyle>
            <a:lvl1pPr>
              <a:buFontTx/>
              <a:defRPr/>
            </a:lvl1pPr>
          </a:lstStyle>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marL="0" lvl="0" indent="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4200" b="0" i="0" u="none" kern="1200" baseline="0">
          <a:solidFill>
            <a:srgbClr val="FFFFFF"/>
          </a:solidFill>
          <a:latin typeface="+mj-lt"/>
          <a:ea typeface="+mj-ea"/>
          <a:cs typeface="+mj-cs"/>
        </a:defRPr>
      </a:lvl1pPr>
      <a:lvl2pPr marL="742950" lvl="1" indent="-28575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4200" b="0" i="0" u="none" kern="1200" baseline="0">
          <a:solidFill>
            <a:srgbClr val="FFFFFF"/>
          </a:solidFill>
          <a:latin typeface="Arial" panose="020B0604020202020204" pitchFamily="34" charset="0"/>
          <a:ea typeface="Microsoft YaHei" panose="020B0503020204020204" charset="-122"/>
          <a:cs typeface="+mj-cs"/>
        </a:defRPr>
      </a:lvl2pPr>
      <a:lvl3pPr marL="1143000" lvl="2" indent="-22860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4200" b="0" i="0" u="none" kern="1200" baseline="0">
          <a:solidFill>
            <a:srgbClr val="FFFFFF"/>
          </a:solidFill>
          <a:latin typeface="Arial" panose="020B0604020202020204" pitchFamily="34" charset="0"/>
          <a:ea typeface="Microsoft YaHei" panose="020B0503020204020204" charset="-122"/>
          <a:cs typeface="+mj-cs"/>
        </a:defRPr>
      </a:lvl3pPr>
      <a:lvl4pPr marL="1600200" lvl="3" indent="-22860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4200" b="0" i="0" u="none" kern="1200" baseline="0">
          <a:solidFill>
            <a:srgbClr val="FFFFFF"/>
          </a:solidFill>
          <a:latin typeface="Arial" panose="020B0604020202020204" pitchFamily="34" charset="0"/>
          <a:ea typeface="Microsoft YaHei" panose="020B0503020204020204" charset="-122"/>
          <a:cs typeface="+mj-cs"/>
        </a:defRPr>
      </a:lvl4pPr>
      <a:lvl5pPr marL="2057400" lvl="4" indent="-22860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4200" b="0" i="0" u="none" kern="1200" baseline="0">
          <a:solidFill>
            <a:srgbClr val="FFFFFF"/>
          </a:solidFill>
          <a:latin typeface="Arial" panose="020B0604020202020204" pitchFamily="34" charset="0"/>
          <a:ea typeface="Microsoft YaHei" panose="020B0503020204020204" charset="-122"/>
          <a:cs typeface="+mj-cs"/>
        </a:defRPr>
      </a:lvl5pPr>
    </p:titleStyle>
    <p:bodyStyle>
      <a:lvl1pPr marL="342900" lvl="0" indent="-342900" algn="l" defTabSz="457200" rtl="0" eaLnBrk="0" fontAlgn="base" latinLnBrk="0" hangingPunct="0">
        <a:lnSpc>
          <a:spcPct val="100000"/>
        </a:lnSpc>
        <a:spcBef>
          <a:spcPts val="800"/>
        </a:spcBef>
        <a:spcAft>
          <a:spcPct val="0"/>
        </a:spcAft>
        <a:buClr>
          <a:srgbClr val="000000"/>
        </a:buClr>
        <a:buSzPct val="100000"/>
        <a:buFont typeface="Times New Roman" panose="02020603050405020304" pitchFamily="16" charset="0"/>
        <a:buNone/>
        <a:defRPr sz="3200" b="0" i="0" u="none" kern="1200" baseline="0">
          <a:solidFill>
            <a:srgbClr val="000000"/>
          </a:solidFill>
          <a:latin typeface="+mn-lt"/>
          <a:ea typeface="+mn-ea"/>
          <a:cs typeface="+mn-cs"/>
        </a:defRPr>
      </a:lvl1pPr>
      <a:lvl2pPr marL="742950" lvl="1" indent="-285750" algn="l" defTabSz="457200" rtl="0" eaLnBrk="0" fontAlgn="base" latinLnBrk="0" hangingPunct="0">
        <a:lnSpc>
          <a:spcPct val="100000"/>
        </a:lnSpc>
        <a:spcBef>
          <a:spcPts val="700"/>
        </a:spcBef>
        <a:spcAft>
          <a:spcPct val="0"/>
        </a:spcAft>
        <a:buClr>
          <a:srgbClr val="000000"/>
        </a:buClr>
        <a:buSzPct val="100000"/>
        <a:buFont typeface="Times New Roman" panose="02020603050405020304" pitchFamily="16" charset="0"/>
        <a:buNone/>
        <a:defRPr sz="2800" b="0" i="0" u="none" kern="1200" baseline="0">
          <a:solidFill>
            <a:srgbClr val="000000"/>
          </a:solidFill>
          <a:latin typeface="Arial" panose="020B0604020202020204" pitchFamily="34" charset="0"/>
          <a:ea typeface="Microsoft YaHei" panose="020B0503020204020204" charset="-122"/>
          <a:cs typeface="+mn-cs"/>
        </a:defRPr>
      </a:lvl2pPr>
      <a:lvl3pPr marL="1143000" lvl="2" indent="-228600" algn="l" defTabSz="457200" rtl="0" eaLnBrk="0" fontAlgn="base" latinLnBrk="0" hangingPunct="0">
        <a:lnSpc>
          <a:spcPct val="100000"/>
        </a:lnSpc>
        <a:spcBef>
          <a:spcPts val="600"/>
        </a:spcBef>
        <a:spcAft>
          <a:spcPct val="0"/>
        </a:spcAft>
        <a:buClr>
          <a:srgbClr val="000000"/>
        </a:buClr>
        <a:buSzPct val="100000"/>
        <a:buFont typeface="Times New Roman" panose="02020603050405020304" pitchFamily="16" charset="0"/>
        <a:buNone/>
        <a:defRPr sz="2400" b="0" i="0" u="none" kern="1200" baseline="0">
          <a:solidFill>
            <a:srgbClr val="000000"/>
          </a:solidFill>
          <a:latin typeface="Arial" panose="020B0604020202020204" pitchFamily="34" charset="0"/>
          <a:ea typeface="Microsoft YaHei" panose="020B0503020204020204" charset="-122"/>
          <a:cs typeface="+mn-cs"/>
        </a:defRPr>
      </a:lvl3pPr>
      <a:lvl4pPr marL="1600200" lvl="3"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4pPr>
      <a:lvl5pPr marL="2057400" lvl="4"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5pPr>
      <a:lvl6pPr marL="2514600" lvl="5"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6pPr>
      <a:lvl7pPr marL="2971800" lvl="6"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7pPr>
      <a:lvl8pPr marL="3429000" lvl="7"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8pPr>
      <a:lvl9pPr marL="3886200" lvl="8"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9pPr>
    </p:bodyStyle>
    <p:otherStyle>
      <a:lvl1pPr marL="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mn-lt"/>
          <a:ea typeface="+mn-ea"/>
          <a:cs typeface="+mn-cs"/>
        </a:defRPr>
      </a:lvl1pPr>
      <a:lvl2pPr marL="742950" lvl="1" indent="-28575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2pPr>
      <a:lvl3pPr marL="1143000" lvl="2"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3pPr>
      <a:lvl4pPr marL="1600200" lvl="3"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4pPr>
      <a:lvl5pPr marL="2057400" lvl="4"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5pPr>
      <a:lvl6pPr marL="2286000" lvl="5"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6pPr>
      <a:lvl7pPr marL="2743200" lvl="6"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7pPr>
      <a:lvl8pPr marL="3200400" lvl="7"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8pPr>
      <a:lvl9pPr marL="3657600" lvl="8"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grpSp>
        <p:nvGrpSpPr>
          <p:cNvPr id="2050" name="Group 2048"/>
          <p:cNvGrpSpPr/>
          <p:nvPr/>
        </p:nvGrpSpPr>
        <p:grpSpPr>
          <a:xfrm>
            <a:off x="0" y="927100"/>
            <a:ext cx="8988425" cy="4492625"/>
            <a:chOff x="0" y="584"/>
            <a:chExt cx="5662" cy="2830"/>
          </a:xfrm>
        </p:grpSpPr>
        <p:sp>
          <p:nvSpPr>
            <p:cNvPr id="2051" name="Rounded Rectangle 2049"/>
            <p:cNvSpPr/>
            <p:nvPr/>
          </p:nvSpPr>
          <p:spPr>
            <a:xfrm>
              <a:off x="432" y="1304"/>
              <a:ext cx="4654" cy="2110"/>
            </a:xfrm>
            <a:prstGeom prst="roundRect">
              <a:avLst>
                <a:gd name="adj" fmla="val 16667"/>
              </a:avLst>
            </a:prstGeom>
            <a:noFill/>
            <a:ln w="50760" cap="sq" cmpd="sng">
              <a:solidFill>
                <a:srgbClr val="669999"/>
              </a:solidFill>
              <a:prstDash val="solid"/>
              <a:miter/>
              <a:headEnd type="none" w="med" len="med"/>
              <a:tailEnd type="none" w="med" len="med"/>
            </a:ln>
          </p:spPr>
          <p:txBody>
            <a:bodyPr anchor="t" anchorCtr="0"/>
            <a:p>
              <a:pPr lvl="0"/>
              <a:endParaRPr lang="en-US" altLang="zh-CN">
                <a:latin typeface="Arial" panose="020B0604020202020204" pitchFamily="34" charset="0"/>
              </a:endParaRPr>
            </a:p>
          </p:txBody>
        </p:sp>
        <p:sp>
          <p:nvSpPr>
            <p:cNvPr id="2052" name="Rectangles 2050"/>
            <p:cNvSpPr/>
            <p:nvPr/>
          </p:nvSpPr>
          <p:spPr>
            <a:xfrm>
              <a:off x="144" y="584"/>
              <a:ext cx="4510" cy="622"/>
            </a:xfrm>
            <a:prstGeom prst="rect">
              <a:avLst/>
            </a:prstGeom>
            <a:solidFill>
              <a:srgbClr val="FFFFFF"/>
            </a:solidFill>
            <a:ln w="57240" cap="sq" cmpd="sng">
              <a:solidFill>
                <a:srgbClr val="669999"/>
              </a:solidFill>
              <a:prstDash val="solid"/>
              <a:miter/>
              <a:headEnd type="none" w="med" len="med"/>
              <a:tailEnd type="none" w="med" len="med"/>
            </a:ln>
          </p:spPr>
          <p:txBody>
            <a:bodyPr anchor="t" anchorCtr="0"/>
            <a:p>
              <a:pPr lvl="0"/>
              <a:endParaRPr lang="en-US" altLang="zh-CN">
                <a:latin typeface="Arial" panose="020B0604020202020204" pitchFamily="34" charset="0"/>
              </a:endParaRPr>
            </a:p>
          </p:txBody>
        </p:sp>
        <p:sp>
          <p:nvSpPr>
            <p:cNvPr id="2053" name="Freeform 2051"/>
            <p:cNvSpPr/>
            <p:nvPr/>
          </p:nvSpPr>
          <p:spPr>
            <a:xfrm>
              <a:off x="0" y="872"/>
              <a:ext cx="5662" cy="1150"/>
            </a:xfrm>
            <a:custGeom>
              <a:avLst/>
              <a:gdLst/>
              <a:ahLst/>
              <a:cxnLst>
                <a:cxn ang="0">
                  <a:pos x="0" y="0"/>
                </a:cxn>
                <a:cxn ang="0">
                  <a:pos x="178537909" y="0"/>
                </a:cxn>
                <a:cxn ang="0">
                  <a:pos x="198785821" y="20342807"/>
                </a:cxn>
                <a:cxn ang="0">
                  <a:pos x="178577890" y="40617799"/>
                </a:cxn>
                <a:cxn ang="0">
                  <a:pos x="0" y="40617799"/>
                </a:cxn>
              </a:cxnLst>
              <a:pathLst>
                <a:path w="4917" h="1000">
                  <a:moveTo>
                    <a:pt x="0" y="0"/>
                  </a:moveTo>
                  <a:lnTo>
                    <a:pt x="4416" y="0"/>
                  </a:lnTo>
                  <a:cubicBezTo>
                    <a:pt x="4693" y="0"/>
                    <a:pt x="4917" y="223"/>
                    <a:pt x="4917" y="500"/>
                  </a:cubicBezTo>
                  <a:cubicBezTo>
                    <a:pt x="4917" y="776"/>
                    <a:pt x="4693" y="999"/>
                    <a:pt x="4417" y="1000"/>
                  </a:cubicBezTo>
                  <a:lnTo>
                    <a:pt x="0" y="1000"/>
                  </a:lnTo>
                  <a:lnTo>
                    <a:pt x="0" y="0"/>
                  </a:lnTo>
                  <a:close/>
                </a:path>
              </a:pathLst>
            </a:custGeom>
            <a:solidFill>
              <a:srgbClr val="6666CC"/>
            </a:solidFill>
            <a:ln w="9525">
              <a:noFill/>
            </a:ln>
          </p:spPr>
          <p:txBody>
            <a:bodyPr/>
            <a:p>
              <a:endParaRPr lang="en-US"/>
            </a:p>
          </p:txBody>
        </p:sp>
        <p:sp>
          <p:nvSpPr>
            <p:cNvPr id="2054" name="Straight Connector 2052"/>
            <p:cNvSpPr/>
            <p:nvPr/>
          </p:nvSpPr>
          <p:spPr>
            <a:xfrm>
              <a:off x="0" y="1928"/>
              <a:ext cx="5230" cy="0"/>
            </a:xfrm>
            <a:prstGeom prst="line">
              <a:avLst/>
            </a:prstGeom>
            <a:ln w="50760" cap="sq" cmpd="sng">
              <a:solidFill>
                <a:srgbClr val="FFFFFF"/>
              </a:solidFill>
              <a:prstDash val="solid"/>
              <a:miter/>
              <a:headEnd type="none" w="med" len="med"/>
              <a:tailEnd type="none" w="med" len="med"/>
            </a:ln>
          </p:spPr>
        </p:sp>
      </p:grpSp>
      <p:sp>
        <p:nvSpPr>
          <p:cNvPr id="2055" name="Title 2053"/>
          <p:cNvSpPr>
            <a:spLocks noGrp="1"/>
          </p:cNvSpPr>
          <p:nvPr>
            <p:ph type="title"/>
          </p:nvPr>
        </p:nvSpPr>
        <p:spPr>
          <a:xfrm>
            <a:off x="195263" y="228600"/>
            <a:ext cx="8012112" cy="911225"/>
          </a:xfrm>
          <a:prstGeom prst="rect">
            <a:avLst/>
          </a:prstGeom>
          <a:noFill/>
          <a:ln w="9525">
            <a:noFill/>
          </a:ln>
        </p:spPr>
        <p:txBody>
          <a:bodyPr wrap="square" lIns="90000" tIns="46800" rIns="90000" bIns="46800" anchor="ctr" anchorCtr="0"/>
          <a:p>
            <a:pPr lvl="0"/>
            <a:r>
              <a:rPr lang="en-GB" dirty="0"/>
              <a:t>Для правки текста заголовка щелкните мышью</a:t>
            </a:r>
            <a:endParaRPr lang="en-GB" dirty="0"/>
          </a:p>
        </p:txBody>
      </p:sp>
      <p:sp>
        <p:nvSpPr>
          <p:cNvPr id="2056" name="Text Placeholder 2054"/>
          <p:cNvSpPr>
            <a:spLocks noGrp="1"/>
          </p:cNvSpPr>
          <p:nvPr>
            <p:ph type="body"/>
          </p:nvPr>
        </p:nvSpPr>
        <p:spPr>
          <a:xfrm>
            <a:off x="609600" y="1600200"/>
            <a:ext cx="7921625" cy="4416425"/>
          </a:xfrm>
          <a:prstGeom prst="rect">
            <a:avLst/>
          </a:prstGeom>
          <a:noFill/>
          <a:ln w="9525">
            <a:noFill/>
          </a:ln>
        </p:spPr>
        <p:txBody>
          <a:bodyPr wrap="square" lIns="90000" tIns="46800" rIns="90000" bIns="46800" anchor="t" anchorCtr="0"/>
          <a:p>
            <a:pPr lvl="0"/>
            <a:r>
              <a:rPr lang="en-GB" dirty="0"/>
              <a:t>Для правки структуры щелкните мышью</a:t>
            </a:r>
            <a:endParaRPr lang="en-GB" dirty="0"/>
          </a:p>
          <a:p>
            <a:pPr lvl="1"/>
            <a:r>
              <a:rPr lang="en-GB" dirty="0"/>
              <a:t>Второй уровень структуры</a:t>
            </a:r>
            <a:endParaRPr lang="en-GB" dirty="0"/>
          </a:p>
          <a:p>
            <a:pPr lvl="2"/>
            <a:r>
              <a:rPr lang="en-GB" dirty="0"/>
              <a:t>Третий уровень структуры</a:t>
            </a:r>
            <a:endParaRPr lang="en-GB" dirty="0"/>
          </a:p>
          <a:p>
            <a:pPr lvl="3"/>
            <a:r>
              <a:rPr lang="en-GB" dirty="0"/>
              <a:t>Четвёртый уровень структуры</a:t>
            </a:r>
            <a:endParaRPr lang="en-GB" dirty="0"/>
          </a:p>
          <a:p>
            <a:pPr lvl="4"/>
            <a:r>
              <a:rPr lang="en-GB" dirty="0"/>
              <a:t>Пятый уровень структуры</a:t>
            </a:r>
            <a:endParaRPr lang="en-GB" dirty="0"/>
          </a:p>
          <a:p>
            <a:pPr lvl="4"/>
            <a:r>
              <a:rPr lang="en-GB" dirty="0"/>
              <a:t>Шестой уровень структуры</a:t>
            </a:r>
            <a:endParaRPr lang="en-GB" dirty="0"/>
          </a:p>
          <a:p>
            <a:pPr lvl="4"/>
            <a:r>
              <a:rPr lang="en-GB" dirty="0"/>
              <a:t>Седьмой уровень структуры</a:t>
            </a:r>
            <a:endParaRPr lang="en-GB" dirty="0"/>
          </a:p>
          <a:p>
            <a:pPr lvl="4"/>
            <a:r>
              <a:rPr lang="en-GB" dirty="0"/>
              <a:t>Восьмой уровень структуры</a:t>
            </a:r>
            <a:endParaRPr lang="en-GB" dirty="0"/>
          </a:p>
          <a:p>
            <a:pPr lvl="4"/>
            <a:r>
              <a:rPr lang="en-GB" dirty="0"/>
              <a:t>Девятый уровень структуры</a:t>
            </a:r>
            <a:endParaRPr lang="en-GB" dirty="0"/>
          </a:p>
        </p:txBody>
      </p:sp>
      <p:sp>
        <p:nvSpPr>
          <p:cNvPr id="2057" name="Text Box 2055"/>
          <p:cNvSpPr txBox="1"/>
          <p:nvPr/>
        </p:nvSpPr>
        <p:spPr>
          <a:xfrm>
            <a:off x="457200" y="6248400"/>
            <a:ext cx="2133600" cy="471488"/>
          </a:xfrm>
          <a:prstGeom prst="rect">
            <a:avLst/>
          </a:prstGeom>
          <a:noFill/>
          <a:ln w="9525">
            <a:noFill/>
          </a:ln>
        </p:spPr>
        <p:txBody>
          <a:bodyPr anchor="t" anchorCtr="0"/>
          <a:p>
            <a:pPr lvl="0"/>
            <a:endParaRPr lang="en-US" altLang="zh-CN">
              <a:latin typeface="Arial" panose="020B0604020202020204" pitchFamily="34" charset="0"/>
            </a:endParaRPr>
          </a:p>
        </p:txBody>
      </p:sp>
      <p:sp>
        <p:nvSpPr>
          <p:cNvPr id="2058" name="Text Box 2056"/>
          <p:cNvSpPr txBox="1"/>
          <p:nvPr/>
        </p:nvSpPr>
        <p:spPr>
          <a:xfrm>
            <a:off x="3124200" y="6253163"/>
            <a:ext cx="2895600" cy="457200"/>
          </a:xfrm>
          <a:prstGeom prst="rect">
            <a:avLst/>
          </a:prstGeom>
          <a:noFill/>
          <a:ln w="9525">
            <a:noFill/>
          </a:ln>
        </p:spPr>
        <p:txBody>
          <a:bodyPr anchor="t" anchorCtr="0"/>
          <a:p>
            <a:pPr lvl="0"/>
            <a:endParaRPr lang="en-US" altLang="zh-CN">
              <a:latin typeface="Arial" panose="020B0604020202020204" pitchFamily="34" charset="0"/>
            </a:endParaRPr>
          </a:p>
        </p:txBody>
      </p:sp>
      <p:sp>
        <p:nvSpPr>
          <p:cNvPr id="2" name="Slide Number Placeholder 2057"/>
          <p:cNvSpPr>
            <a:spLocks noGrp="1"/>
          </p:cNvSpPr>
          <p:nvPr>
            <p:ph type="sldNum"/>
          </p:nvPr>
        </p:nvSpPr>
        <p:spPr>
          <a:xfrm>
            <a:off x="6553200" y="6248400"/>
            <a:ext cx="2130425" cy="468313"/>
          </a:xfrm>
          <a:prstGeom prst="rect">
            <a:avLst/>
          </a:prstGeom>
          <a:noFill/>
          <a:ln w="9525">
            <a:noFill/>
          </a:ln>
        </p:spPr>
        <p:txBody>
          <a:bodyPr wrap="square" lIns="90000" tIns="46800" rIns="90000" bIns="46800" anchor="b" anchorCtr="0"/>
          <a:lstStyle>
            <a:lvl1pPr algn="r">
              <a:buFontTx/>
              <a:defRPr sz="1200">
                <a:latin typeface="Arial Black" panose="020B0A04020102020204" pitchFamily="32" charset="0"/>
                <a:ea typeface="Arial Unicode MS" charset="-122"/>
              </a:defRPr>
            </a:lvl1pPr>
          </a:lstStyle>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ftr="0" dt="0"/>
  <p:txStyles>
    <p:titleStyle>
      <a:lvl1pPr marL="0" lvl="0" indent="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4200" b="0" i="0" u="none" kern="1200" baseline="0">
          <a:solidFill>
            <a:srgbClr val="FFFFFF"/>
          </a:solidFill>
          <a:latin typeface="+mj-lt"/>
          <a:ea typeface="+mj-ea"/>
          <a:cs typeface="+mj-cs"/>
        </a:defRPr>
      </a:lvl1pPr>
      <a:lvl2pPr marL="742950" lvl="1" indent="-28575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4200" b="0" i="0" u="none" kern="1200" baseline="0">
          <a:solidFill>
            <a:srgbClr val="FFFFFF"/>
          </a:solidFill>
          <a:latin typeface="Arial" panose="020B0604020202020204" pitchFamily="34" charset="0"/>
          <a:ea typeface="Microsoft YaHei" panose="020B0503020204020204" charset="-122"/>
          <a:cs typeface="+mj-cs"/>
        </a:defRPr>
      </a:lvl2pPr>
      <a:lvl3pPr marL="1143000" lvl="2" indent="-22860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4200" b="0" i="0" u="none" kern="1200" baseline="0">
          <a:solidFill>
            <a:srgbClr val="FFFFFF"/>
          </a:solidFill>
          <a:latin typeface="Arial" panose="020B0604020202020204" pitchFamily="34" charset="0"/>
          <a:ea typeface="Microsoft YaHei" panose="020B0503020204020204" charset="-122"/>
          <a:cs typeface="+mj-cs"/>
        </a:defRPr>
      </a:lvl3pPr>
      <a:lvl4pPr marL="1600200" lvl="3" indent="-22860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4200" b="0" i="0" u="none" kern="1200" baseline="0">
          <a:solidFill>
            <a:srgbClr val="FFFFFF"/>
          </a:solidFill>
          <a:latin typeface="Arial" panose="020B0604020202020204" pitchFamily="34" charset="0"/>
          <a:ea typeface="Microsoft YaHei" panose="020B0503020204020204" charset="-122"/>
          <a:cs typeface="+mj-cs"/>
        </a:defRPr>
      </a:lvl4pPr>
      <a:lvl5pPr marL="2057400" lvl="4" indent="-22860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4200" b="0" i="0" u="none" kern="1200" baseline="0">
          <a:solidFill>
            <a:srgbClr val="FFFFFF"/>
          </a:solidFill>
          <a:latin typeface="Arial" panose="020B0604020202020204" pitchFamily="34" charset="0"/>
          <a:ea typeface="Microsoft YaHei" panose="020B0503020204020204" charset="-122"/>
          <a:cs typeface="+mj-cs"/>
        </a:defRPr>
      </a:lvl5pPr>
    </p:titleStyle>
    <p:bodyStyle>
      <a:lvl1pPr marL="342900" lvl="0" indent="-342900" algn="l" defTabSz="457200" rtl="0" eaLnBrk="0" fontAlgn="base" latinLnBrk="0" hangingPunct="0">
        <a:lnSpc>
          <a:spcPct val="100000"/>
        </a:lnSpc>
        <a:spcBef>
          <a:spcPts val="800"/>
        </a:spcBef>
        <a:spcAft>
          <a:spcPct val="0"/>
        </a:spcAft>
        <a:buClr>
          <a:srgbClr val="000000"/>
        </a:buClr>
        <a:buSzPct val="100000"/>
        <a:buFont typeface="Times New Roman" panose="02020603050405020304" pitchFamily="16" charset="0"/>
        <a:buNone/>
        <a:defRPr sz="3200" b="0" i="0" u="none" kern="1200" baseline="0">
          <a:solidFill>
            <a:srgbClr val="000000"/>
          </a:solidFill>
          <a:latin typeface="+mn-lt"/>
          <a:ea typeface="+mn-ea"/>
          <a:cs typeface="+mn-cs"/>
        </a:defRPr>
      </a:lvl1pPr>
      <a:lvl2pPr marL="742950" lvl="1" indent="-285750" algn="l" defTabSz="457200" rtl="0" eaLnBrk="0" fontAlgn="base" latinLnBrk="0" hangingPunct="0">
        <a:lnSpc>
          <a:spcPct val="100000"/>
        </a:lnSpc>
        <a:spcBef>
          <a:spcPts val="700"/>
        </a:spcBef>
        <a:spcAft>
          <a:spcPct val="0"/>
        </a:spcAft>
        <a:buClr>
          <a:srgbClr val="000000"/>
        </a:buClr>
        <a:buSzPct val="100000"/>
        <a:buFont typeface="Times New Roman" panose="02020603050405020304" pitchFamily="16" charset="0"/>
        <a:buNone/>
        <a:defRPr sz="2800" b="0" i="0" u="none" kern="1200" baseline="0">
          <a:solidFill>
            <a:srgbClr val="000000"/>
          </a:solidFill>
          <a:latin typeface="Arial" panose="020B0604020202020204" pitchFamily="34" charset="0"/>
          <a:ea typeface="Microsoft YaHei" panose="020B0503020204020204" charset="-122"/>
          <a:cs typeface="+mn-cs"/>
        </a:defRPr>
      </a:lvl2pPr>
      <a:lvl3pPr marL="1143000" lvl="2" indent="-228600" algn="l" defTabSz="457200" rtl="0" eaLnBrk="0" fontAlgn="base" latinLnBrk="0" hangingPunct="0">
        <a:lnSpc>
          <a:spcPct val="100000"/>
        </a:lnSpc>
        <a:spcBef>
          <a:spcPts val="600"/>
        </a:spcBef>
        <a:spcAft>
          <a:spcPct val="0"/>
        </a:spcAft>
        <a:buClr>
          <a:srgbClr val="000000"/>
        </a:buClr>
        <a:buSzPct val="100000"/>
        <a:buFont typeface="Times New Roman" panose="02020603050405020304" pitchFamily="16" charset="0"/>
        <a:buNone/>
        <a:defRPr sz="2400" b="0" i="0" u="none" kern="1200" baseline="0">
          <a:solidFill>
            <a:srgbClr val="000000"/>
          </a:solidFill>
          <a:latin typeface="Arial" panose="020B0604020202020204" pitchFamily="34" charset="0"/>
          <a:ea typeface="Microsoft YaHei" panose="020B0503020204020204" charset="-122"/>
          <a:cs typeface="+mn-cs"/>
        </a:defRPr>
      </a:lvl3pPr>
      <a:lvl4pPr marL="1600200" lvl="3"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4pPr>
      <a:lvl5pPr marL="2057400" lvl="4"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5pPr>
      <a:lvl6pPr marL="2514600" lvl="5"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6pPr>
      <a:lvl7pPr marL="2971800" lvl="6"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7pPr>
      <a:lvl8pPr marL="3429000" lvl="7"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8pPr>
      <a:lvl9pPr marL="3886200" lvl="8"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9pPr>
    </p:bodyStyle>
    <p:otherStyle>
      <a:lvl1pPr marL="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mn-lt"/>
          <a:ea typeface="+mn-ea"/>
          <a:cs typeface="+mn-cs"/>
        </a:defRPr>
      </a:lvl1pPr>
      <a:lvl2pPr marL="742950" lvl="1" indent="-28575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2pPr>
      <a:lvl3pPr marL="1143000" lvl="2"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3pPr>
      <a:lvl4pPr marL="1600200" lvl="3"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4pPr>
      <a:lvl5pPr marL="2057400" lvl="4"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5pPr>
      <a:lvl6pPr marL="2286000" lvl="5"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6pPr>
      <a:lvl7pPr marL="2743200" lvl="6"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7pPr>
      <a:lvl8pPr marL="3200400" lvl="7"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8pPr>
      <a:lvl9pPr marL="3657600" lvl="8"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9.xml"/><Relationship Id="rId2" Type="http://schemas.openxmlformats.org/officeDocument/2006/relationships/image" Target="../media/image2.jpe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hyperlink" Target="https://github.com/sunmeat/storage/blob/main/pm/%D0%9A%D0%9A%D0%9F4%20scrum.pdf" TargetMode="Externa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7.xml"/><Relationship Id="rId3" Type="http://schemas.openxmlformats.org/officeDocument/2006/relationships/hyperlink" Target="https://www.maxzosim.com/poviedinkovo-oriientovana-rozrobka/" TargetMode="External"/><Relationship Id="rId2" Type="http://schemas.openxmlformats.org/officeDocument/2006/relationships/hyperlink" Target="https://foxminded.ua/pidkhody-do-rozrobky-prohramnoho-zabezpechennia/" TargetMode="External"/><Relationship Id="rId1" Type="http://schemas.openxmlformats.org/officeDocument/2006/relationships/hyperlink" Target="https://wiki.cusu.edu.ua/index.php/DSDM_%D0%BC%D0%B5%D1%82%D0%BE%D0%B4%D0%BE%D0%BB%D0%BE%D0%B3%D1%96%D1%8F"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image" Target="../media/image5.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image" Target="../media/image6.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7.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GIF"/></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7.xml"/><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hyperlink" Target="https://hbr.org/1986/01/the-new-new-product-development-game" TargetMode="External"/></Relationships>
</file>

<file path=ppt/slides/_rels/slide15.xml.rels><?xml version="1.0" encoding="UTF-8" standalone="yes"?>
<Relationships xmlns="http://schemas.openxmlformats.org/package/2006/relationships"><Relationship Id="rId8" Type="http://schemas.openxmlformats.org/officeDocument/2006/relationships/notesSlide" Target="../notesSlides/notesSlide15.xml"/><Relationship Id="rId7" Type="http://schemas.openxmlformats.org/officeDocument/2006/relationships/slideLayout" Target="../slideLayouts/slideLayout7.xml"/><Relationship Id="rId6" Type="http://schemas.openxmlformats.org/officeDocument/2006/relationships/hyperlink" Target="https://www.scrum-institute.org/contents/The_Scrum_Framework_by_International_Scrum_Institute.pdf" TargetMode="External"/><Relationship Id="rId5" Type="http://schemas.openxmlformats.org/officeDocument/2006/relationships/hyperlink" Target="https://scrumguides.org/docs/scrumguide/v2020/2020-Scrum-Guide-Russian.pdf" TargetMode="External"/><Relationship Id="rId4" Type="http://schemas.openxmlformats.org/officeDocument/2006/relationships/hyperlink" Target="https://habr.com/ru/company/leader-id/blog/508154/" TargetMode="External"/><Relationship Id="rId3" Type="http://schemas.openxmlformats.org/officeDocument/2006/relationships/hyperlink" Target="https://www.scrum.ua/books" TargetMode="External"/><Relationship Id="rId2" Type="http://schemas.openxmlformats.org/officeDocument/2006/relationships/hyperlink" Target="https://www.scrum.org/resources" TargetMode="External"/><Relationship Id="rId1" Type="http://schemas.openxmlformats.org/officeDocument/2006/relationships/image" Target="../media/image13.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image" Target="../media/image14.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7.xml"/><Relationship Id="rId1" Type="http://schemas.openxmlformats.org/officeDocument/2006/relationships/image" Target="../media/image16.jpe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7.xml"/><Relationship Id="rId1" Type="http://schemas.openxmlformats.org/officeDocument/2006/relationships/image" Target="../media/image17.jpe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7.xml"/><Relationship Id="rId1" Type="http://schemas.openxmlformats.org/officeDocument/2006/relationships/image" Target="../media/image18.jpe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7.xml"/><Relationship Id="rId2" Type="http://schemas.openxmlformats.org/officeDocument/2006/relationships/image" Target="../media/image20.png"/><Relationship Id="rId1" Type="http://schemas.openxmlformats.org/officeDocument/2006/relationships/image" Target="../media/image19.jpe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7.xml"/><Relationship Id="rId1" Type="http://schemas.openxmlformats.org/officeDocument/2006/relationships/image" Target="../media/image21.jpe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7.xml"/><Relationship Id="rId2" Type="http://schemas.openxmlformats.org/officeDocument/2006/relationships/image" Target="../media/image23.jpeg"/><Relationship Id="rId1" Type="http://schemas.openxmlformats.org/officeDocument/2006/relationships/image" Target="../media/image22.jpe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7.xml"/><Relationship Id="rId1" Type="http://schemas.openxmlformats.org/officeDocument/2006/relationships/image" Target="../media/image24.jpe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7.xml"/><Relationship Id="rId1" Type="http://schemas.openxmlformats.org/officeDocument/2006/relationships/image" Target="../media/image25.jpeg"/></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28.xml"/><Relationship Id="rId4" Type="http://schemas.openxmlformats.org/officeDocument/2006/relationships/slideLayout" Target="../slideLayouts/slideLayout7.xml"/><Relationship Id="rId3" Type="http://schemas.openxmlformats.org/officeDocument/2006/relationships/image" Target="../media/image28.jpeg"/><Relationship Id="rId2" Type="http://schemas.openxmlformats.org/officeDocument/2006/relationships/image" Target="../media/image27.png"/><Relationship Id="rId1" Type="http://schemas.openxmlformats.org/officeDocument/2006/relationships/image" Target="../media/image26.jpe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7.xml"/><Relationship Id="rId1" Type="http://schemas.openxmlformats.org/officeDocument/2006/relationships/image" Target="../media/image29.jpe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7.xml"/><Relationship Id="rId1" Type="http://schemas.openxmlformats.org/officeDocument/2006/relationships/image" Target="../media/image30.jpe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7.xml"/><Relationship Id="rId1" Type="http://schemas.openxmlformats.org/officeDocument/2006/relationships/image" Target="../media/image31.jpe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7.xml"/><Relationship Id="rId1" Type="http://schemas.openxmlformats.org/officeDocument/2006/relationships/image" Target="../media/image32.jpe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7.xml"/><Relationship Id="rId1" Type="http://schemas.openxmlformats.org/officeDocument/2006/relationships/image" Target="../media/image33.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7.xml"/><Relationship Id="rId2" Type="http://schemas.openxmlformats.org/officeDocument/2006/relationships/image" Target="../media/image35.jpeg"/><Relationship Id="rId1" Type="http://schemas.openxmlformats.org/officeDocument/2006/relationships/image" Target="../media/image34.jpeg"/></Relationships>
</file>

<file path=ppt/slides/_rels/slide41.xml.rels><?xml version="1.0" encoding="UTF-8" standalone="yes"?>
<Relationships xmlns="http://schemas.openxmlformats.org/package/2006/relationships"><Relationship Id="rId5" Type="http://schemas.openxmlformats.org/officeDocument/2006/relationships/notesSlide" Target="../notesSlides/notesSlide41.xml"/><Relationship Id="rId4" Type="http://schemas.openxmlformats.org/officeDocument/2006/relationships/slideLayout" Target="../slideLayouts/slideLayout7.xml"/><Relationship Id="rId3" Type="http://schemas.openxmlformats.org/officeDocument/2006/relationships/hyperlink" Target="https://gist.github.com/sunmeat/4fa668c75b72f1cc063b4e7b7b183260" TargetMode="External"/><Relationship Id="rId2" Type="http://schemas.openxmlformats.org/officeDocument/2006/relationships/hyperlink" Target="https://planningpokeronline.com/" TargetMode="External"/><Relationship Id="rId1" Type="http://schemas.openxmlformats.org/officeDocument/2006/relationships/image" Target="../media/image36.jpe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7.xml"/><Relationship Id="rId1" Type="http://schemas.openxmlformats.org/officeDocument/2006/relationships/image" Target="../media/image37.jpeg"/></Relationships>
</file>

<file path=ppt/slides/_rels/slide48.xml.rels><?xml version="1.0" encoding="UTF-8" standalone="yes"?>
<Relationships xmlns="http://schemas.openxmlformats.org/package/2006/relationships"><Relationship Id="rId7" Type="http://schemas.openxmlformats.org/officeDocument/2006/relationships/notesSlide" Target="../notesSlides/notesSlide48.xml"/><Relationship Id="rId6" Type="http://schemas.openxmlformats.org/officeDocument/2006/relationships/slideLayout" Target="../slideLayouts/slideLayout7.xml"/><Relationship Id="rId5" Type="http://schemas.openxmlformats.org/officeDocument/2006/relationships/hyperlink" Target="https://habr.com/ru/post/499160/" TargetMode="External"/><Relationship Id="rId4" Type="http://schemas.openxmlformats.org/officeDocument/2006/relationships/hyperlink" Target="https://habr.com/ru/post/456196/" TargetMode="External"/><Relationship Id="rId3" Type="http://schemas.openxmlformats.org/officeDocument/2006/relationships/hyperlink" Target="https://habr.com/ru/post/443914/" TargetMode="External"/><Relationship Id="rId2" Type="http://schemas.openxmlformats.org/officeDocument/2006/relationships/hyperlink" Target="https://habr.com/ru/post/247319/" TargetMode="External"/><Relationship Id="rId1" Type="http://schemas.openxmlformats.org/officeDocument/2006/relationships/hyperlink" Target="https://habr.com/ru/post/464861/" TargetMode="Externa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7.xml"/><Relationship Id="rId1" Type="http://schemas.openxmlformats.org/officeDocument/2006/relationships/hyperlink" Target="https://www.atlassian.com/ru/software/jira"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5122" name="Text Box 4096"/>
          <p:cNvSpPr txBox="1"/>
          <p:nvPr/>
        </p:nvSpPr>
        <p:spPr>
          <a:xfrm>
            <a:off x="228600" y="1427480"/>
            <a:ext cx="8395335" cy="1609725"/>
          </a:xfrm>
          <a:prstGeom prst="rect">
            <a:avLst/>
          </a:prstGeom>
          <a:noFill/>
          <a:ln w="9525">
            <a:noFill/>
          </a:ln>
        </p:spPr>
        <p:txBody>
          <a:bodyPr wrap="square" lIns="91440" tIns="45720" rIns="91440" bIns="45720" anchor="ctr" anchorCtr="0"/>
          <a:p>
            <a:pPr defTabSz="457200">
              <a:buClrTx/>
              <a:buFont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uk-UA" sz="5200" dirty="0" err="1">
                <a:solidFill>
                  <a:srgbClr val="FFFFFF"/>
                </a:solidFill>
                <a:latin typeface="Arial" panose="020B0604020202020204" pitchFamily="34" charset="0"/>
              </a:rPr>
              <a:t>Scrum</a:t>
            </a:r>
            <a:endParaRPr lang="en-US" altLang="uk-UA" sz="5200" dirty="0" err="1">
              <a:solidFill>
                <a:srgbClr val="FFFFFF"/>
              </a:solidFill>
              <a:latin typeface="Arial" panose="020B0604020202020204" pitchFamily="34" charset="0"/>
            </a:endParaRPr>
          </a:p>
        </p:txBody>
      </p:sp>
      <p:sp>
        <p:nvSpPr>
          <p:cNvPr id="5123" name="Rectangles 4097"/>
          <p:cNvSpPr/>
          <p:nvPr/>
        </p:nvSpPr>
        <p:spPr>
          <a:xfrm>
            <a:off x="5867400" y="44450"/>
            <a:ext cx="3280410" cy="369570"/>
          </a:xfrm>
          <a:prstGeom prst="rect">
            <a:avLst/>
          </a:prstGeom>
          <a:noFill/>
          <a:ln w="9525">
            <a:noFill/>
          </a:ln>
        </p:spPr>
        <p:txBody>
          <a:bodyPr wrap="none" lIns="90000" tIns="46800" rIns="90000" bIns="46800" anchor="t" anchorCtr="0">
            <a:spAutoFit/>
          </a:bodyPr>
          <a:p>
            <a:pPr defTabSz="457200">
              <a:buClrTx/>
              <a:buFont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dirty="0" err="1">
                <a:solidFill>
                  <a:srgbClr val="F7F7F7"/>
                </a:solidFill>
                <a:latin typeface="Arial" panose="020B0604020202020204" pitchFamily="34" charset="0"/>
              </a:rPr>
              <a:t>О</a:t>
            </a:r>
            <a:r>
              <a:rPr lang="ru-RU" altLang="x-none" dirty="0" err="1">
                <a:solidFill>
                  <a:srgbClr val="F7F7F7"/>
                </a:solidFill>
                <a:latin typeface="Arial" panose="020B0604020202020204" pitchFamily="34" charset="0"/>
              </a:rPr>
              <a:t>лександр Загоруйко © 20</a:t>
            </a:r>
            <a:r>
              <a:rPr lang="en-US" altLang="x-none" dirty="0" err="1">
                <a:solidFill>
                  <a:srgbClr val="F7F7F7"/>
                </a:solidFill>
                <a:latin typeface="Arial" panose="020B0604020202020204" pitchFamily="34" charset="0"/>
              </a:rPr>
              <a:t>2</a:t>
            </a:r>
            <a:r>
              <a:rPr lang="uk-UA" altLang="ru-RU" dirty="0" err="1">
                <a:solidFill>
                  <a:srgbClr val="F7F7F7"/>
                </a:solidFill>
                <a:latin typeface="Arial" panose="020B0604020202020204" pitchFamily="34" charset="0"/>
              </a:rPr>
              <a:t>6</a:t>
            </a:r>
            <a:endParaRPr lang="uk-UA" altLang="ru-RU" dirty="0" err="1">
              <a:solidFill>
                <a:srgbClr val="F7F7F7"/>
              </a:solidFill>
              <a:latin typeface="Arial" panose="020B0604020202020204" pitchFamily="34" charset="0"/>
            </a:endParaRPr>
          </a:p>
        </p:txBody>
      </p:sp>
      <p:pic>
        <p:nvPicPr>
          <p:cNvPr id="3" name="Picture 2" descr="9402518"/>
          <p:cNvPicPr>
            <a:picLocks noChangeAspect="1"/>
          </p:cNvPicPr>
          <p:nvPr/>
        </p:nvPicPr>
        <p:blipFill>
          <a:blip r:embed="rId1"/>
          <a:stretch>
            <a:fillRect/>
          </a:stretch>
        </p:blipFill>
        <p:spPr>
          <a:xfrm>
            <a:off x="26670" y="3294380"/>
            <a:ext cx="3535045" cy="3535045"/>
          </a:xfrm>
          <a:prstGeom prst="rect">
            <a:avLst/>
          </a:prstGeom>
        </p:spPr>
      </p:pic>
      <p:pic>
        <p:nvPicPr>
          <p:cNvPr id="2" name="Picture 1" descr="FtSoFYS2eG7Y0lq7EE7stn6QrfL2kdrLMPJLZF5j"/>
          <p:cNvPicPr>
            <a:picLocks noChangeAspect="1"/>
          </p:cNvPicPr>
          <p:nvPr/>
        </p:nvPicPr>
        <p:blipFill>
          <a:blip r:embed="rId2"/>
          <a:stretch>
            <a:fillRect/>
          </a:stretch>
        </p:blipFill>
        <p:spPr>
          <a:xfrm>
            <a:off x="3570605" y="3887470"/>
            <a:ext cx="5695950" cy="3118485"/>
          </a:xfrm>
          <a:prstGeom prst="rect">
            <a:avLst/>
          </a:prstGeom>
        </p:spPr>
      </p:pic>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7170" name="Text Box 5120"/>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Font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ru-RU" altLang="x-none" sz="4200" dirty="0" err="1">
                <a:solidFill>
                  <a:srgbClr val="FFFFFF"/>
                </a:solidFill>
                <a:latin typeface="Arial" panose="020B0604020202020204" pitchFamily="34" charset="0"/>
              </a:rPr>
              <a:t>План презентац</a:t>
            </a:r>
            <a:r>
              <a:rPr lang="uk-UA" altLang="ru-RU" sz="4200" dirty="0" err="1">
                <a:solidFill>
                  <a:srgbClr val="FFFFFF"/>
                </a:solidFill>
                <a:latin typeface="Arial" panose="020B0604020202020204" pitchFamily="34" charset="0"/>
              </a:rPr>
              <a:t>ії</a:t>
            </a:r>
            <a:r>
              <a:rPr lang="ru-RU" altLang="x-none" sz="4200" dirty="0" err="1">
                <a:solidFill>
                  <a:srgbClr val="FFFFFF"/>
                </a:solidFill>
                <a:latin typeface="Arial" panose="020B0604020202020204" pitchFamily="34" charset="0"/>
              </a:rPr>
              <a:t> - </a:t>
            </a:r>
            <a:r>
              <a:rPr lang="uk-UA" altLang="ru-RU" sz="4200" dirty="0" err="1">
                <a:solidFill>
                  <a:srgbClr val="FFFFFF"/>
                </a:solidFill>
                <a:latin typeface="Arial" panose="020B0604020202020204" pitchFamily="34" charset="0"/>
              </a:rPr>
              <a:t>2</a:t>
            </a:r>
            <a:r>
              <a:rPr lang="ru-RU" altLang="x-none" sz="4200" dirty="0" err="1">
                <a:solidFill>
                  <a:srgbClr val="FFFFFF"/>
                </a:solidFill>
                <a:latin typeface="Arial" panose="020B0604020202020204" pitchFamily="34" charset="0"/>
              </a:rPr>
              <a:t> пар</a:t>
            </a:r>
            <a:r>
              <a:rPr lang="uk-UA" altLang="ru-RU" sz="4200" dirty="0" err="1">
                <a:solidFill>
                  <a:srgbClr val="FFFFFF"/>
                </a:solidFill>
                <a:latin typeface="Arial" panose="020B0604020202020204" pitchFamily="34" charset="0"/>
              </a:rPr>
              <a:t>и</a:t>
            </a:r>
            <a:endParaRPr lang="uk-UA" altLang="ru-RU" sz="4200" dirty="0" err="1">
              <a:solidFill>
                <a:srgbClr val="FFFFFF"/>
              </a:solidFill>
              <a:latin typeface="Arial" panose="020B0604020202020204" pitchFamily="34" charset="0"/>
            </a:endParaRPr>
          </a:p>
        </p:txBody>
      </p:sp>
      <p:sp>
        <p:nvSpPr>
          <p:cNvPr id="7171" name="Text Box 5121"/>
          <p:cNvSpPr txBox="1"/>
          <p:nvPr/>
        </p:nvSpPr>
        <p:spPr>
          <a:xfrm>
            <a:off x="610235" y="1403985"/>
            <a:ext cx="8017510" cy="4419600"/>
          </a:xfrm>
          <a:prstGeom prst="rect">
            <a:avLst/>
          </a:prstGeom>
          <a:noFill/>
          <a:ln w="9525">
            <a:noFill/>
          </a:ln>
        </p:spPr>
        <p:txBody>
          <a:bodyPr wrap="square" lIns="91440" tIns="45720" rIns="91440" bIns="45720" anchor="t" anchorCtr="0"/>
          <a:p>
            <a:pPr marL="215900" indent="-215900" algn="l" defTabSz="457200">
              <a:buSzPct val="45000"/>
              <a:buFont typeface="Wingdings" panose="05000000000000000000" pitchFamily="2" charset="2"/>
              <a:buChar char=""/>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pPr>
            <a:r>
              <a:rPr lang="en-US" altLang="en-US" sz="1500" dirty="0" err="1">
                <a:solidFill>
                  <a:srgbClr val="000000"/>
                </a:solidFill>
                <a:latin typeface="Arial" panose="020B0604020202020204" pitchFamily="34" charset="0"/>
                <a:ea typeface="Times New Roman" panose="02020603050405020304" pitchFamily="16" charset="0"/>
              </a:rPr>
              <a:t>Що таке Scrum?</a:t>
            </a:r>
            <a:endParaRPr lang="en-US" altLang="en-US" sz="1500" dirty="0" err="1">
              <a:solidFill>
                <a:srgbClr val="000000"/>
              </a:solidFill>
              <a:latin typeface="Arial" panose="020B0604020202020204" pitchFamily="34" charset="0"/>
              <a:ea typeface="Times New Roman" panose="02020603050405020304" pitchFamily="16" charset="0"/>
            </a:endParaRPr>
          </a:p>
          <a:p>
            <a:pPr marL="215900" indent="-215900" algn="l" defTabSz="457200">
              <a:buSzPct val="45000"/>
              <a:buFont typeface="Wingdings" panose="05000000000000000000" pitchFamily="2" charset="2"/>
              <a:buChar char=""/>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pPr>
            <a:r>
              <a:rPr lang="en-US" altLang="en-US" sz="1500" dirty="0" err="1">
                <a:solidFill>
                  <a:srgbClr val="000000"/>
                </a:solidFill>
                <a:latin typeface="Arial" panose="020B0604020202020204" pitchFamily="34" charset="0"/>
                <a:ea typeface="Times New Roman" panose="02020603050405020304" pitchFamily="16" charset="0"/>
              </a:rPr>
              <a:t>Причини виникнення Scrum</a:t>
            </a:r>
            <a:endParaRPr lang="en-US" altLang="en-US" sz="1500" dirty="0" err="1">
              <a:solidFill>
                <a:srgbClr val="000000"/>
              </a:solidFill>
              <a:latin typeface="Arial" panose="020B0604020202020204" pitchFamily="34" charset="0"/>
              <a:ea typeface="Times New Roman" panose="02020603050405020304" pitchFamily="16" charset="0"/>
            </a:endParaRPr>
          </a:p>
          <a:p>
            <a:pPr marL="215900" indent="-215900" algn="l" defTabSz="457200">
              <a:buSzPct val="45000"/>
              <a:buFont typeface="Wingdings" panose="05000000000000000000" pitchFamily="2" charset="2"/>
              <a:buChar char=""/>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pPr>
            <a:r>
              <a:rPr lang="en-US" altLang="en-US" sz="1500" dirty="0" err="1">
                <a:solidFill>
                  <a:srgbClr val="000000"/>
                </a:solidFill>
                <a:latin typeface="Arial" panose="020B0604020202020204" pitchFamily="34" charset="0"/>
                <a:ea typeface="Times New Roman" panose="02020603050405020304" pitchFamily="16" charset="0"/>
              </a:rPr>
              <a:t>Ролі в Scrum:</a:t>
            </a:r>
            <a:endParaRPr lang="en-US" altLang="en-US" sz="1500" dirty="0" err="1">
              <a:solidFill>
                <a:srgbClr val="000000"/>
              </a:solidFill>
              <a:latin typeface="Arial" panose="020B0604020202020204" pitchFamily="34" charset="0"/>
              <a:ea typeface="Times New Roman" panose="02020603050405020304" pitchFamily="16" charset="0"/>
            </a:endParaRPr>
          </a:p>
          <a:p>
            <a:pPr marL="673100" lvl="1" indent="-215900" algn="l" defTabSz="457200">
              <a:buSzPct val="45000"/>
              <a:buFont typeface="Wingdings" panose="05000000000000000000" pitchFamily="2" charset="2"/>
              <a:buChar char=""/>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pPr>
            <a:r>
              <a:rPr lang="en-US" altLang="en-US" sz="1500" dirty="0" err="1">
                <a:solidFill>
                  <a:srgbClr val="000000"/>
                </a:solidFill>
                <a:latin typeface="Arial" panose="020B0604020202020204" pitchFamily="34" charset="0"/>
                <a:ea typeface="Times New Roman" panose="02020603050405020304" pitchFamily="16" charset="0"/>
              </a:rPr>
              <a:t>власник продукту</a:t>
            </a:r>
            <a:endParaRPr lang="en-US" altLang="en-US" sz="1500" dirty="0" err="1">
              <a:solidFill>
                <a:srgbClr val="000000"/>
              </a:solidFill>
              <a:latin typeface="Arial" panose="020B0604020202020204" pitchFamily="34" charset="0"/>
              <a:ea typeface="Times New Roman" panose="02020603050405020304" pitchFamily="16" charset="0"/>
            </a:endParaRPr>
          </a:p>
          <a:p>
            <a:pPr marL="673100" lvl="1" indent="-215900" algn="l" defTabSz="457200">
              <a:buSzPct val="45000"/>
              <a:buFont typeface="Wingdings" panose="05000000000000000000" pitchFamily="2" charset="2"/>
              <a:buChar char=""/>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pPr>
            <a:r>
              <a:rPr lang="en-US" altLang="en-US" sz="1500" dirty="0" err="1">
                <a:solidFill>
                  <a:srgbClr val="000000"/>
                </a:solidFill>
                <a:latin typeface="Arial" panose="020B0604020202020204" pitchFamily="34" charset="0"/>
                <a:ea typeface="Times New Roman" panose="02020603050405020304" pitchFamily="16" charset="0"/>
              </a:rPr>
              <a:t>команда</a:t>
            </a:r>
            <a:endParaRPr lang="en-US" altLang="en-US" sz="1500" dirty="0" err="1">
              <a:solidFill>
                <a:srgbClr val="000000"/>
              </a:solidFill>
              <a:latin typeface="Arial" panose="020B0604020202020204" pitchFamily="34" charset="0"/>
              <a:ea typeface="Times New Roman" panose="02020603050405020304" pitchFamily="16" charset="0"/>
            </a:endParaRPr>
          </a:p>
          <a:p>
            <a:pPr marL="673100" lvl="1" indent="-215900" algn="l" defTabSz="457200">
              <a:buSzPct val="45000"/>
              <a:buFont typeface="Wingdings" panose="05000000000000000000" pitchFamily="2" charset="2"/>
              <a:buChar char=""/>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pPr>
            <a:r>
              <a:rPr lang="en-US" altLang="en-US" sz="1500" dirty="0" err="1">
                <a:solidFill>
                  <a:srgbClr val="000000"/>
                </a:solidFill>
                <a:latin typeface="Arial" panose="020B0604020202020204" pitchFamily="34" charset="0"/>
                <a:ea typeface="Times New Roman" panose="02020603050405020304" pitchFamily="16" charset="0"/>
              </a:rPr>
              <a:t>Scrum-майстер</a:t>
            </a:r>
            <a:endParaRPr lang="en-US" altLang="en-US" sz="1500" dirty="0" err="1">
              <a:solidFill>
                <a:srgbClr val="000000"/>
              </a:solidFill>
              <a:latin typeface="Arial" panose="020B0604020202020204" pitchFamily="34" charset="0"/>
              <a:ea typeface="Times New Roman" panose="02020603050405020304" pitchFamily="16" charset="0"/>
            </a:endParaRPr>
          </a:p>
          <a:p>
            <a:pPr marL="215900" indent="-215900" algn="l" defTabSz="457200">
              <a:buSzPct val="45000"/>
              <a:buFont typeface="Wingdings" panose="05000000000000000000" pitchFamily="2" charset="2"/>
              <a:buChar char=""/>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pPr>
            <a:r>
              <a:rPr lang="en-US" altLang="en-US" sz="1500" dirty="0" err="1">
                <a:solidFill>
                  <a:srgbClr val="000000"/>
                </a:solidFill>
                <a:latin typeface="Arial" panose="020B0604020202020204" pitchFamily="34" charset="0"/>
                <a:ea typeface="Times New Roman" panose="02020603050405020304" pitchFamily="16" charset="0"/>
              </a:rPr>
              <a:t>Беклог продукту:</a:t>
            </a:r>
            <a:endParaRPr lang="en-US" altLang="en-US" sz="1500" dirty="0" err="1">
              <a:solidFill>
                <a:srgbClr val="000000"/>
              </a:solidFill>
              <a:latin typeface="Arial" panose="020B0604020202020204" pitchFamily="34" charset="0"/>
              <a:ea typeface="Times New Roman" panose="02020603050405020304" pitchFamily="16" charset="0"/>
            </a:endParaRPr>
          </a:p>
          <a:p>
            <a:pPr marL="673100" lvl="1" indent="-215900" algn="l" defTabSz="457200">
              <a:buSzPct val="45000"/>
              <a:buFont typeface="Wingdings" panose="05000000000000000000" pitchFamily="2" charset="2"/>
              <a:buChar char=""/>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pPr>
            <a:r>
              <a:rPr lang="en-US" altLang="en-US" sz="1500" dirty="0" err="1">
                <a:solidFill>
                  <a:srgbClr val="000000"/>
                </a:solidFill>
                <a:latin typeface="Arial" panose="020B0604020202020204" pitchFamily="34" charset="0"/>
                <a:ea typeface="Times New Roman" panose="02020603050405020304" pitchFamily="16" charset="0"/>
              </a:rPr>
              <a:t>що таке беклог продукту</a:t>
            </a:r>
            <a:endParaRPr lang="en-US" altLang="en-US" sz="1500" dirty="0" err="1">
              <a:solidFill>
                <a:srgbClr val="000000"/>
              </a:solidFill>
              <a:latin typeface="Arial" panose="020B0604020202020204" pitchFamily="34" charset="0"/>
              <a:ea typeface="Times New Roman" panose="02020603050405020304" pitchFamily="16" charset="0"/>
            </a:endParaRPr>
          </a:p>
          <a:p>
            <a:pPr marL="673100" lvl="1" indent="-215900" algn="l" defTabSz="457200">
              <a:buSzPct val="45000"/>
              <a:buFont typeface="Wingdings" panose="05000000000000000000" pitchFamily="2" charset="2"/>
              <a:buChar char=""/>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pPr>
            <a:r>
              <a:rPr lang="en-US" altLang="en-US" sz="1500" dirty="0" err="1">
                <a:solidFill>
                  <a:srgbClr val="000000"/>
                </a:solidFill>
                <a:latin typeface="Arial" panose="020B0604020202020204" pitchFamily="34" charset="0"/>
                <a:ea typeface="Times New Roman" panose="02020603050405020304" pitchFamily="16" charset="0"/>
              </a:rPr>
              <a:t>як створювати беклог</a:t>
            </a:r>
            <a:endParaRPr lang="en-US" altLang="en-US" sz="1500" dirty="0" err="1">
              <a:solidFill>
                <a:srgbClr val="000000"/>
              </a:solidFill>
              <a:latin typeface="Arial" panose="020B0604020202020204" pitchFamily="34" charset="0"/>
              <a:ea typeface="Times New Roman" panose="02020603050405020304" pitchFamily="16" charset="0"/>
            </a:endParaRPr>
          </a:p>
          <a:p>
            <a:pPr marL="673100" lvl="1" indent="-215900" algn="l" defTabSz="457200">
              <a:buSzPct val="45000"/>
              <a:buFont typeface="Wingdings" panose="05000000000000000000" pitchFamily="2" charset="2"/>
              <a:buChar char=""/>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pPr>
            <a:r>
              <a:rPr lang="en-US" altLang="en-US" sz="1500" dirty="0" err="1">
                <a:solidFill>
                  <a:srgbClr val="000000"/>
                </a:solidFill>
                <a:latin typeface="Arial" panose="020B0604020202020204" pitchFamily="34" charset="0"/>
                <a:ea typeface="Times New Roman" panose="02020603050405020304" pitchFamily="16" charset="0"/>
              </a:rPr>
              <a:t>як оцінювати завдання в беклозі</a:t>
            </a:r>
            <a:endParaRPr lang="en-US" altLang="en-US" sz="1500" dirty="0" err="1">
              <a:solidFill>
                <a:srgbClr val="000000"/>
              </a:solidFill>
              <a:latin typeface="Arial" panose="020B0604020202020204" pitchFamily="34" charset="0"/>
              <a:ea typeface="Times New Roman" panose="02020603050405020304" pitchFamily="16" charset="0"/>
            </a:endParaRPr>
          </a:p>
          <a:p>
            <a:pPr marL="673100" lvl="1" indent="-215900" algn="l" defTabSz="457200">
              <a:buSzPct val="45000"/>
              <a:buFont typeface="Wingdings" panose="05000000000000000000" pitchFamily="2" charset="2"/>
              <a:buChar char=""/>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pPr>
            <a:r>
              <a:rPr lang="en-US" altLang="en-US" sz="1500" dirty="0" err="1">
                <a:solidFill>
                  <a:srgbClr val="000000"/>
                </a:solidFill>
                <a:latin typeface="Arial" panose="020B0604020202020204" pitchFamily="34" charset="0"/>
                <a:ea typeface="Times New Roman" panose="02020603050405020304" pitchFamily="16" charset="0"/>
              </a:rPr>
              <a:t>що таке scrum-дошка</a:t>
            </a:r>
            <a:endParaRPr lang="en-US" altLang="en-US" sz="1500" dirty="0" err="1">
              <a:solidFill>
                <a:srgbClr val="000000"/>
              </a:solidFill>
              <a:latin typeface="Arial" panose="020B0604020202020204" pitchFamily="34" charset="0"/>
              <a:ea typeface="Times New Roman" panose="02020603050405020304" pitchFamily="16" charset="0"/>
            </a:endParaRPr>
          </a:p>
          <a:p>
            <a:pPr marL="673100" lvl="1" indent="-215900" algn="l" defTabSz="457200">
              <a:buSzPct val="45000"/>
              <a:buFont typeface="Wingdings" panose="05000000000000000000" pitchFamily="2" charset="2"/>
              <a:buChar char=""/>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pPr>
            <a:r>
              <a:rPr lang="en-US" altLang="en-US" sz="1500" dirty="0" err="1">
                <a:solidFill>
                  <a:srgbClr val="000000"/>
                </a:solidFill>
                <a:latin typeface="Arial" panose="020B0604020202020204" pitchFamily="34" charset="0"/>
                <a:ea typeface="Times New Roman" panose="02020603050405020304" pitchFamily="16" charset="0"/>
              </a:rPr>
              <a:t>приклади створення беклога</a:t>
            </a:r>
            <a:endParaRPr lang="en-US" altLang="en-US" sz="1500" dirty="0" err="1">
              <a:solidFill>
                <a:srgbClr val="000000"/>
              </a:solidFill>
              <a:latin typeface="Arial" panose="020B0604020202020204" pitchFamily="34" charset="0"/>
              <a:ea typeface="Times New Roman" panose="02020603050405020304" pitchFamily="16" charset="0"/>
            </a:endParaRPr>
          </a:p>
          <a:p>
            <a:pPr marL="215900" indent="-215900" algn="l" defTabSz="457200">
              <a:buSzPct val="45000"/>
              <a:buFont typeface="Wingdings" panose="05000000000000000000" pitchFamily="2" charset="2"/>
              <a:buChar char=""/>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pPr>
            <a:r>
              <a:rPr lang="en-US" altLang="en-US" sz="1500" dirty="0" err="1">
                <a:solidFill>
                  <a:srgbClr val="000000"/>
                </a:solidFill>
                <a:latin typeface="Arial" panose="020B0604020202020204" pitchFamily="34" charset="0"/>
                <a:ea typeface="Times New Roman" panose="02020603050405020304" pitchFamily="16" charset="0"/>
              </a:rPr>
              <a:t>Спринт:</a:t>
            </a:r>
            <a:endParaRPr lang="en-US" altLang="en-US" sz="1500" dirty="0" err="1">
              <a:solidFill>
                <a:srgbClr val="000000"/>
              </a:solidFill>
              <a:latin typeface="Arial" panose="020B0604020202020204" pitchFamily="34" charset="0"/>
              <a:ea typeface="Times New Roman" panose="02020603050405020304" pitchFamily="16" charset="0"/>
            </a:endParaRPr>
          </a:p>
          <a:p>
            <a:pPr marL="673100" lvl="1" indent="-215900" algn="l" defTabSz="457200">
              <a:buSzPct val="45000"/>
              <a:buFont typeface="Wingdings" panose="05000000000000000000" pitchFamily="2" charset="2"/>
              <a:buChar char=""/>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pPr>
            <a:r>
              <a:rPr lang="en-US" altLang="en-US" sz="1500" dirty="0" err="1">
                <a:solidFill>
                  <a:srgbClr val="000000"/>
                </a:solidFill>
                <a:latin typeface="Arial" panose="020B0604020202020204" pitchFamily="34" charset="0"/>
                <a:ea typeface="Times New Roman" panose="02020603050405020304" pitchFamily="16" charset="0"/>
              </a:rPr>
              <a:t>що таке спринт</a:t>
            </a:r>
            <a:endParaRPr lang="en-US" altLang="en-US" sz="1500" dirty="0" err="1">
              <a:solidFill>
                <a:srgbClr val="000000"/>
              </a:solidFill>
              <a:latin typeface="Arial" panose="020B0604020202020204" pitchFamily="34" charset="0"/>
              <a:ea typeface="Times New Roman" panose="02020603050405020304" pitchFamily="16" charset="0"/>
            </a:endParaRPr>
          </a:p>
          <a:p>
            <a:pPr marL="673100" lvl="1" indent="-215900" algn="l" defTabSz="457200">
              <a:buSzPct val="45000"/>
              <a:buFont typeface="Wingdings" panose="05000000000000000000" pitchFamily="2" charset="2"/>
              <a:buChar char=""/>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pPr>
            <a:r>
              <a:rPr lang="en-US" altLang="en-US" sz="1500" dirty="0" err="1">
                <a:solidFill>
                  <a:srgbClr val="000000"/>
                </a:solidFill>
                <a:latin typeface="Arial" panose="020B0604020202020204" pitchFamily="34" charset="0"/>
                <a:ea typeface="Times New Roman" panose="02020603050405020304" pitchFamily="16" charset="0"/>
              </a:rPr>
              <a:t>планування спринтів</a:t>
            </a:r>
            <a:endParaRPr lang="en-US" altLang="en-US" sz="1500" dirty="0" err="1">
              <a:solidFill>
                <a:srgbClr val="000000"/>
              </a:solidFill>
              <a:latin typeface="Arial" panose="020B0604020202020204" pitchFamily="34" charset="0"/>
              <a:ea typeface="Times New Roman" panose="02020603050405020304" pitchFamily="16" charset="0"/>
            </a:endParaRPr>
          </a:p>
          <a:p>
            <a:pPr marL="673100" lvl="1" indent="-215900" algn="l" defTabSz="457200">
              <a:buSzPct val="45000"/>
              <a:buFont typeface="Wingdings" panose="05000000000000000000" pitchFamily="2" charset="2"/>
              <a:buChar char=""/>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pPr>
            <a:r>
              <a:rPr lang="en-US" altLang="en-US" sz="1500" dirty="0" err="1">
                <a:solidFill>
                  <a:srgbClr val="000000"/>
                </a:solidFill>
                <a:latin typeface="Arial" panose="020B0604020202020204" pitchFamily="34" charset="0"/>
                <a:ea typeface="Times New Roman" panose="02020603050405020304" pitchFamily="16" charset="0"/>
              </a:rPr>
              <a:t>щоденний скрам</a:t>
            </a:r>
            <a:endParaRPr lang="en-US" altLang="en-US" sz="1500" dirty="0" err="1">
              <a:solidFill>
                <a:srgbClr val="000000"/>
              </a:solidFill>
              <a:latin typeface="Arial" panose="020B0604020202020204" pitchFamily="34" charset="0"/>
              <a:ea typeface="Times New Roman" panose="02020603050405020304" pitchFamily="16" charset="0"/>
            </a:endParaRPr>
          </a:p>
          <a:p>
            <a:pPr marL="673100" lvl="1" indent="-215900" algn="l" defTabSz="457200">
              <a:buSzPct val="45000"/>
              <a:buFont typeface="Wingdings" panose="05000000000000000000" pitchFamily="2" charset="2"/>
              <a:buChar char=""/>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pPr>
            <a:r>
              <a:rPr lang="en-US" altLang="en-US" sz="1500" dirty="0" err="1">
                <a:solidFill>
                  <a:srgbClr val="000000"/>
                </a:solidFill>
                <a:latin typeface="Arial" panose="020B0604020202020204" pitchFamily="34" charset="0"/>
                <a:ea typeface="Times New Roman" panose="02020603050405020304" pitchFamily="16" charset="0"/>
              </a:rPr>
              <a:t>огляд спринту</a:t>
            </a:r>
            <a:endParaRPr lang="en-US" altLang="en-US" sz="1500" dirty="0" err="1">
              <a:solidFill>
                <a:srgbClr val="000000"/>
              </a:solidFill>
              <a:latin typeface="Arial" panose="020B0604020202020204" pitchFamily="34" charset="0"/>
              <a:ea typeface="Times New Roman" panose="02020603050405020304" pitchFamily="16" charset="0"/>
            </a:endParaRPr>
          </a:p>
          <a:p>
            <a:pPr marL="673100" lvl="1" indent="-215900" algn="l" defTabSz="457200">
              <a:buSzPct val="45000"/>
              <a:buFont typeface="Wingdings" panose="05000000000000000000" pitchFamily="2" charset="2"/>
              <a:buChar char=""/>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pPr>
            <a:r>
              <a:rPr lang="en-US" altLang="en-US" sz="1500" dirty="0" err="1">
                <a:solidFill>
                  <a:srgbClr val="000000"/>
                </a:solidFill>
                <a:latin typeface="Arial" panose="020B0604020202020204" pitchFamily="34" charset="0"/>
                <a:ea typeface="Times New Roman" panose="02020603050405020304" pitchFamily="16" charset="0"/>
              </a:rPr>
              <a:t>ретроспективна зустріч</a:t>
            </a:r>
            <a:endParaRPr lang="en-US" altLang="en-US" sz="1500" dirty="0" err="1">
              <a:solidFill>
                <a:srgbClr val="000000"/>
              </a:solidFill>
              <a:latin typeface="Arial" panose="020B0604020202020204" pitchFamily="34" charset="0"/>
              <a:ea typeface="Times New Roman" panose="02020603050405020304" pitchFamily="16" charset="0"/>
            </a:endParaRPr>
          </a:p>
          <a:p>
            <a:pPr marL="215900" indent="-215900" algn="l" defTabSz="457200">
              <a:buSzPct val="45000"/>
              <a:buFont typeface="Wingdings" panose="05000000000000000000" pitchFamily="2" charset="2"/>
              <a:buChar char=""/>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pPr>
            <a:r>
              <a:rPr lang="en-US" altLang="en-US" sz="1500" dirty="0" err="1">
                <a:solidFill>
                  <a:srgbClr val="000000"/>
                </a:solidFill>
                <a:latin typeface="Arial" panose="020B0604020202020204" pitchFamily="34" charset="0"/>
                <a:ea typeface="Times New Roman" panose="02020603050405020304" pitchFamily="16" charset="0"/>
              </a:rPr>
              <a:t>Приклад проведення Scrum-процесу</a:t>
            </a:r>
            <a:endParaRPr lang="en-US" altLang="en-US" sz="1500" dirty="0" err="1">
              <a:solidFill>
                <a:srgbClr val="000000"/>
              </a:solidFill>
              <a:latin typeface="Arial" panose="020B0604020202020204" pitchFamily="34" charset="0"/>
              <a:ea typeface="Times New Roman" panose="02020603050405020304" pitchFamily="16" charset="0"/>
            </a:endParaRPr>
          </a:p>
        </p:txBody>
      </p:sp>
      <p:sp>
        <p:nvSpPr>
          <p:cNvPr id="2" name="Text Box 1"/>
          <p:cNvSpPr txBox="1"/>
          <p:nvPr/>
        </p:nvSpPr>
        <p:spPr>
          <a:xfrm>
            <a:off x="41275" y="6257290"/>
            <a:ext cx="9053195" cy="645160"/>
          </a:xfrm>
          <a:prstGeom prst="rect">
            <a:avLst/>
          </a:prstGeom>
          <a:noFill/>
        </p:spPr>
        <p:txBody>
          <a:bodyPr wrap="square" rtlCol="0" anchor="t">
            <a:spAutoFit/>
          </a:bodyPr>
          <a:p>
            <a:pPr algn="ctr"/>
            <a:r>
              <a:rPr lang="en-US" altLang="en-US" b="1">
                <a:solidFill>
                  <a:srgbClr val="FF0000"/>
                </a:solidFill>
                <a:hlinkClick r:id="rId1" action="ppaction://hlinkfile"/>
              </a:rPr>
              <a:t>https://github.com/sunmeat/storage/blob/main/pm/%D0%9A%D0%9A%D0%9F4%20scrum.pdf</a:t>
            </a:r>
            <a:endParaRPr lang="en-US" altLang="en-US" b="1">
              <a:solidFill>
                <a:srgbClr val="FF0000"/>
              </a:solidFill>
              <a:hlinkClick r:id="rId1" action="ppaction://hlinkfile"/>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Text Box 8192"/>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ru-RU" altLang="x-none" sz="4200" dirty="0" err="1">
                <a:solidFill>
                  <a:srgbClr val="FFFFFF"/>
                </a:solidFill>
              </a:rPr>
              <a:t>Agile Software Development</a:t>
            </a:r>
            <a:endParaRPr lang="ru-RU" altLang="x-none" sz="4200" dirty="0" err="1">
              <a:solidFill>
                <a:srgbClr val="FFFFFF"/>
              </a:solidFill>
            </a:endParaRPr>
          </a:p>
        </p:txBody>
      </p:sp>
      <p:sp>
        <p:nvSpPr>
          <p:cNvPr id="8194" name="Text Box 8193"/>
          <p:cNvSpPr txBox="1"/>
          <p:nvPr/>
        </p:nvSpPr>
        <p:spPr>
          <a:xfrm>
            <a:off x="395288" y="1385888"/>
            <a:ext cx="8208962" cy="4419600"/>
          </a:xfrm>
          <a:prstGeom prst="rect">
            <a:avLst/>
          </a:prstGeom>
          <a:noFill/>
          <a:ln w="9525">
            <a:noFill/>
          </a:ln>
        </p:spPr>
        <p:txBody>
          <a:bodyPr wrap="square" lIns="91440" tIns="45720" rIns="91440" bIns="45720" anchor="t" anchorCtr="0"/>
          <a:p>
            <a:pPr defTabSz="457200">
              <a:spcBef>
                <a:spcPts val="500"/>
              </a:spcBef>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b="1" dirty="0" err="1">
                <a:solidFill>
                  <a:srgbClr val="000000"/>
                </a:solidFill>
              </a:rPr>
              <a:t>Гнучка розробка ПЗ</a:t>
            </a:r>
            <a:r>
              <a:rPr lang="en-US" altLang="en-US" dirty="0" err="1">
                <a:solidFill>
                  <a:srgbClr val="000000"/>
                </a:solidFill>
              </a:rPr>
              <a:t> - узагальнюючий термін для цілого ряду ефективних підходів і практик організації праці невеликих груп (які роблять однорідну творчу роботу) з управлінням ними комбінованим (ліберальним </a:t>
            </a:r>
            <a:r>
              <a:rPr lang="uk-UA" altLang="en-US" dirty="0" err="1">
                <a:solidFill>
                  <a:srgbClr val="000000"/>
                </a:solidFill>
              </a:rPr>
              <a:t>                    </a:t>
            </a:r>
            <a:r>
              <a:rPr lang="en-US" altLang="en-US" dirty="0" err="1">
                <a:solidFill>
                  <a:srgbClr val="000000"/>
                </a:solidFill>
              </a:rPr>
              <a:t>та демократичним) методом.</a:t>
            </a:r>
            <a:endParaRPr lang="en-US" altLang="en-US" dirty="0" err="1">
              <a:solidFill>
                <a:srgbClr val="000000"/>
              </a:solidFill>
            </a:endParaRPr>
          </a:p>
          <a:p>
            <a:pPr defTabSz="457200">
              <a:spcBef>
                <a:spcPts val="500"/>
              </a:spcBef>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err="1">
                <a:solidFill>
                  <a:srgbClr val="000000"/>
                </a:solidFill>
              </a:rPr>
              <a:t>До гнучкої розробки, зокрема, відносять екстремальне програмування, </a:t>
            </a:r>
            <a:r>
              <a:rPr lang="en-US" altLang="en-US" dirty="0" err="1">
                <a:solidFill>
                  <a:srgbClr val="000000"/>
                </a:solidFill>
                <a:hlinkClick r:id="rId1" tooltip="" action="ppaction://hlinkfile"/>
              </a:rPr>
              <a:t>DSDM</a:t>
            </a:r>
            <a:r>
              <a:rPr lang="en-US" altLang="en-US" dirty="0" err="1">
                <a:solidFill>
                  <a:srgbClr val="000000"/>
                </a:solidFill>
              </a:rPr>
              <a:t>, Scrum, </a:t>
            </a:r>
            <a:r>
              <a:rPr lang="en-US" altLang="en-US" dirty="0" err="1">
                <a:solidFill>
                  <a:srgbClr val="000000"/>
                </a:solidFill>
                <a:hlinkClick r:id="rId2" tooltip="" action="ppaction://hlinkfile"/>
              </a:rPr>
              <a:t>FDD</a:t>
            </a:r>
            <a:r>
              <a:rPr lang="en-US" altLang="en-US" dirty="0" err="1">
                <a:solidFill>
                  <a:srgbClr val="000000"/>
                </a:solidFill>
              </a:rPr>
              <a:t>, </a:t>
            </a:r>
            <a:r>
              <a:rPr lang="en-US" altLang="en-US" dirty="0" err="1">
                <a:solidFill>
                  <a:srgbClr val="000000"/>
                </a:solidFill>
                <a:hlinkClick r:id="rId3" tooltip="" action="ppaction://hlinkfile"/>
              </a:rPr>
              <a:t>BDD</a:t>
            </a:r>
            <a:r>
              <a:rPr lang="en-US" altLang="en-US" dirty="0" err="1">
                <a:solidFill>
                  <a:srgbClr val="000000"/>
                </a:solidFill>
              </a:rPr>
              <a:t> та інші.</a:t>
            </a:r>
            <a:endParaRPr lang="en-US" altLang="en-US" dirty="0" err="1">
              <a:solidFill>
                <a:srgbClr val="000000"/>
              </a:solidFill>
            </a:endParaRPr>
          </a:p>
          <a:p>
            <a:pPr defTabSz="457200">
              <a:spcBef>
                <a:spcPts val="500"/>
              </a:spcBef>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err="1">
                <a:solidFill>
                  <a:srgbClr val="000000"/>
                </a:solidFill>
              </a:rPr>
              <a:t>Мета - мінімізація ризиків шляхом зведення розробки до серії коротких циклів, які називаються </a:t>
            </a:r>
            <a:r>
              <a:rPr lang="en-US" altLang="en-US" b="1" dirty="0" err="1">
                <a:solidFill>
                  <a:srgbClr val="000000"/>
                </a:solidFill>
              </a:rPr>
              <a:t>ітераціями</a:t>
            </a:r>
            <a:r>
              <a:rPr lang="en-US" altLang="en-US" dirty="0" err="1">
                <a:solidFill>
                  <a:srgbClr val="000000"/>
                </a:solidFill>
              </a:rPr>
              <a:t>, які зазвичай тривають від 1 до 4 тижнів. Кожна ітерація сама по собі виглядає як програмний про</a:t>
            </a:r>
            <a:r>
              <a:rPr lang="uk-UA" altLang="en-US" dirty="0" err="1">
                <a:solidFill>
                  <a:srgbClr val="000000"/>
                </a:solidFill>
              </a:rPr>
              <a:t>є</a:t>
            </a:r>
            <a:r>
              <a:rPr lang="en-US" altLang="en-US" dirty="0" err="1">
                <a:solidFill>
                  <a:srgbClr val="000000"/>
                </a:solidFill>
              </a:rPr>
              <a:t>кт </a:t>
            </a:r>
            <a:r>
              <a:rPr lang="uk-UA" altLang="en-US" dirty="0" err="1">
                <a:solidFill>
                  <a:srgbClr val="000000"/>
                </a:solidFill>
              </a:rPr>
              <a:t>            </a:t>
            </a:r>
            <a:r>
              <a:rPr lang="en-US" altLang="en-US" dirty="0" err="1">
                <a:solidFill>
                  <a:srgbClr val="000000"/>
                </a:solidFill>
              </a:rPr>
              <a:t>у мініатюрі та включає всі завдання, необхідні для видачі міні-приросту </a:t>
            </a:r>
            <a:r>
              <a:rPr lang="uk-UA" altLang="en-US" dirty="0" err="1">
                <a:solidFill>
                  <a:srgbClr val="000000"/>
                </a:solidFill>
              </a:rPr>
              <a:t>   </a:t>
            </a:r>
            <a:r>
              <a:rPr lang="en-US" altLang="en-US" dirty="0" err="1">
                <a:solidFill>
                  <a:srgbClr val="000000"/>
                </a:solidFill>
              </a:rPr>
              <a:t>за функціональністю: планування, аналіз вимог, про</a:t>
            </a:r>
            <a:r>
              <a:rPr lang="uk-UA" altLang="en-US" dirty="0" err="1">
                <a:solidFill>
                  <a:srgbClr val="000000"/>
                </a:solidFill>
              </a:rPr>
              <a:t>є</a:t>
            </a:r>
            <a:r>
              <a:rPr lang="en-US" altLang="en-US" dirty="0" err="1">
                <a:solidFill>
                  <a:srgbClr val="000000"/>
                </a:solidFill>
              </a:rPr>
              <a:t>ктування, програмування, тестування та документування. Хоча окрема ітерація, </a:t>
            </a:r>
            <a:r>
              <a:rPr lang="uk-UA" altLang="en-US" dirty="0" err="1">
                <a:solidFill>
                  <a:srgbClr val="000000"/>
                </a:solidFill>
              </a:rPr>
              <a:t>     </a:t>
            </a:r>
            <a:r>
              <a:rPr lang="en-US" altLang="en-US" dirty="0" err="1">
                <a:solidFill>
                  <a:srgbClr val="000000"/>
                </a:solidFill>
              </a:rPr>
              <a:t>як правило, недостатня для випуску нової версії продукту, мається на увазі, що гнучкий програмний про</a:t>
            </a:r>
            <a:r>
              <a:rPr lang="uk-UA" altLang="en-US" dirty="0" err="1">
                <a:solidFill>
                  <a:srgbClr val="000000"/>
                </a:solidFill>
              </a:rPr>
              <a:t>є</a:t>
            </a:r>
            <a:r>
              <a:rPr lang="en-US" altLang="en-US" dirty="0" err="1">
                <a:solidFill>
                  <a:srgbClr val="000000"/>
                </a:solidFill>
              </a:rPr>
              <a:t>кт готовий до випуску наприкінці кожної ітерації. Після закінчення кожної ітерації команда переоцінює пріоритети </a:t>
            </a:r>
            <a:r>
              <a:rPr lang="uk-UA" altLang="en-US" dirty="0" err="1">
                <a:solidFill>
                  <a:srgbClr val="000000"/>
                </a:solidFill>
              </a:rPr>
              <a:t>		</a:t>
            </a:r>
            <a:r>
              <a:rPr lang="en-US" altLang="en-US" dirty="0" err="1">
                <a:solidFill>
                  <a:srgbClr val="000000"/>
                </a:solidFill>
              </a:rPr>
              <a:t>розробки.</a:t>
            </a:r>
            <a:endParaRPr lang="en-US" altLang="en-US" dirty="0" err="1">
              <a:solidFill>
                <a:srgbClr val="000000"/>
              </a:solidFill>
            </a:endParaRPr>
          </a:p>
        </p:txBody>
      </p:sp>
    </p:spTree>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Text Box 9216"/>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ru-RU" altLang="x-none" sz="4200" dirty="0" err="1">
                <a:solidFill>
                  <a:srgbClr val="FFFFFF"/>
                </a:solidFill>
              </a:rPr>
              <a:t>Agile Software Development</a:t>
            </a:r>
            <a:endParaRPr lang="ru-RU" altLang="x-none" sz="4200" dirty="0" err="1">
              <a:solidFill>
                <a:srgbClr val="FFFFFF"/>
              </a:solidFill>
            </a:endParaRPr>
          </a:p>
        </p:txBody>
      </p:sp>
      <p:sp>
        <p:nvSpPr>
          <p:cNvPr id="9218" name="Text Box 9217"/>
          <p:cNvSpPr txBox="1"/>
          <p:nvPr/>
        </p:nvSpPr>
        <p:spPr>
          <a:xfrm>
            <a:off x="395288" y="1385888"/>
            <a:ext cx="8208962" cy="4419600"/>
          </a:xfrm>
          <a:prstGeom prst="rect">
            <a:avLst/>
          </a:prstGeom>
          <a:noFill/>
          <a:ln w="9525">
            <a:noFill/>
          </a:ln>
        </p:spPr>
        <p:txBody>
          <a:bodyPr wrap="square" lIns="91440" tIns="45720" rIns="91440" bIns="45720" anchor="t" anchorCtr="0"/>
          <a:p>
            <a:pPr defTabSz="457200">
              <a:spcBef>
                <a:spcPts val="500"/>
              </a:spcBef>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100" dirty="0" err="1">
                <a:solidFill>
                  <a:srgbClr val="000000"/>
                </a:solidFill>
              </a:rPr>
              <a:t>Agile-методи наголошують на безпосередньому спілкуванні </a:t>
            </a:r>
            <a:r>
              <a:rPr lang="uk-UA" altLang="en-US" sz="2100" dirty="0" err="1">
                <a:solidFill>
                  <a:srgbClr val="000000"/>
                </a:solidFill>
              </a:rPr>
              <a:t>   </a:t>
            </a:r>
            <a:r>
              <a:rPr lang="en-US" altLang="en-US" sz="2100" dirty="0" err="1">
                <a:solidFill>
                  <a:srgbClr val="000000"/>
                </a:solidFill>
              </a:rPr>
              <a:t>віч-на-віч. Більшість agile команд розташовані в одному офісі. Команда включає зокрема замовників (product owner — безпосередньо сам замовник чи його повноважний представник, визначальний вимоги до продукту, цю роль може виконувати менеджер про</a:t>
            </a:r>
            <a:r>
              <a:rPr lang="uk-UA" altLang="en-US" sz="2100" dirty="0" err="1">
                <a:solidFill>
                  <a:srgbClr val="000000"/>
                </a:solidFill>
              </a:rPr>
              <a:t>є</a:t>
            </a:r>
            <a:r>
              <a:rPr lang="en-US" altLang="en-US" sz="2100" dirty="0" err="1">
                <a:solidFill>
                  <a:srgbClr val="000000"/>
                </a:solidFill>
              </a:rPr>
              <a:t>кту, бізнес-аналітик чи клієнт). Офіс також зазвичай включає тестувальників, дизайнерів інтерфейсу, технічних письменників та менеджерів.</a:t>
            </a:r>
            <a:endParaRPr lang="en-US" altLang="en-US" sz="2100" dirty="0" err="1">
              <a:solidFill>
                <a:srgbClr val="000000"/>
              </a:solidFill>
            </a:endParaRPr>
          </a:p>
          <a:p>
            <a:pPr defTabSz="457200">
              <a:spcBef>
                <a:spcPts val="500"/>
              </a:spcBef>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2100" dirty="0" err="1">
              <a:solidFill>
                <a:srgbClr val="000000"/>
              </a:solidFill>
            </a:endParaRPr>
          </a:p>
          <a:p>
            <a:pPr defTabSz="457200">
              <a:spcBef>
                <a:spcPts val="500"/>
              </a:spcBef>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100" dirty="0" err="1">
                <a:solidFill>
                  <a:srgbClr val="000000"/>
                </a:solidFill>
              </a:rPr>
              <a:t>Основною метрикою agile-методів є робочий продукт. </a:t>
            </a:r>
            <a:r>
              <a:rPr lang="uk-UA" altLang="en-US" sz="2100" dirty="0" err="1">
                <a:solidFill>
                  <a:srgbClr val="000000"/>
                </a:solidFill>
              </a:rPr>
              <a:t>  </a:t>
            </a:r>
            <a:r>
              <a:rPr lang="en-US" altLang="en-US" sz="2100" dirty="0" err="1">
                <a:solidFill>
                  <a:srgbClr val="000000"/>
                </a:solidFill>
              </a:rPr>
              <a:t>Віддаючи перевагу безпосередньому спілкуванню, agile-методи зменшують обсяг письмової документації проти інши</a:t>
            </a:r>
            <a:r>
              <a:rPr lang="uk-UA" altLang="en-US" sz="2100" dirty="0" err="1">
                <a:solidFill>
                  <a:srgbClr val="000000"/>
                </a:solidFill>
              </a:rPr>
              <a:t>х </a:t>
            </a:r>
            <a:r>
              <a:rPr lang="en-US" altLang="en-US" sz="2100" dirty="0" err="1">
                <a:solidFill>
                  <a:srgbClr val="000000"/>
                </a:solidFill>
              </a:rPr>
              <a:t>метод</a:t>
            </a:r>
            <a:r>
              <a:rPr lang="uk-UA" altLang="en-US" sz="2100" dirty="0" err="1">
                <a:solidFill>
                  <a:srgbClr val="000000"/>
                </a:solidFill>
              </a:rPr>
              <a:t>ів</a:t>
            </a:r>
            <a:r>
              <a:rPr lang="en-US" altLang="en-US" sz="2100" dirty="0" err="1">
                <a:solidFill>
                  <a:srgbClr val="000000"/>
                </a:solidFill>
              </a:rPr>
              <a:t>.</a:t>
            </a:r>
            <a:endParaRPr lang="en-US" altLang="en-US" sz="2100" dirty="0" err="1">
              <a:solidFill>
                <a:srgbClr val="000000"/>
              </a:solidFill>
            </a:endParaRPr>
          </a:p>
        </p:txBody>
      </p:sp>
    </p:spTree>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Text Box 10240"/>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ru-RU" altLang="x-none" sz="4200" dirty="0" err="1">
                <a:solidFill>
                  <a:srgbClr val="FFFFFF"/>
                </a:solidFill>
              </a:rPr>
              <a:t>Основн</a:t>
            </a:r>
            <a:r>
              <a:rPr lang="uk-UA" altLang="ru-RU" sz="4200" dirty="0" err="1">
                <a:solidFill>
                  <a:srgbClr val="FFFFFF"/>
                </a:solidFill>
              </a:rPr>
              <a:t>і</a:t>
            </a:r>
            <a:r>
              <a:rPr lang="ru-RU" altLang="x-none" sz="4200" dirty="0" err="1">
                <a:solidFill>
                  <a:srgbClr val="FFFFFF"/>
                </a:solidFill>
              </a:rPr>
              <a:t> </a:t>
            </a:r>
            <a:r>
              <a:rPr lang="uk-UA" altLang="ru-RU" sz="4200" dirty="0" err="1">
                <a:solidFill>
                  <a:srgbClr val="FFFFFF"/>
                </a:solidFill>
              </a:rPr>
              <a:t>і</a:t>
            </a:r>
            <a:r>
              <a:rPr lang="ru-RU" altLang="x-none" sz="4200" dirty="0" err="1">
                <a:solidFill>
                  <a:srgbClr val="FFFFFF"/>
                </a:solidFill>
              </a:rPr>
              <a:t>де</a:t>
            </a:r>
            <a:r>
              <a:rPr lang="uk-UA" altLang="ru-RU" sz="4200" dirty="0" err="1">
                <a:solidFill>
                  <a:srgbClr val="FFFFFF"/>
                </a:solidFill>
              </a:rPr>
              <a:t>ї</a:t>
            </a:r>
            <a:r>
              <a:rPr lang="ru-RU" altLang="x-none" sz="4200" dirty="0" err="1">
                <a:solidFill>
                  <a:srgbClr val="FFFFFF"/>
                </a:solidFill>
              </a:rPr>
              <a:t> Agile</a:t>
            </a:r>
            <a:endParaRPr lang="ru-RU" altLang="x-none" sz="4200" dirty="0" err="1">
              <a:solidFill>
                <a:srgbClr val="FFFFFF"/>
              </a:solidFill>
            </a:endParaRPr>
          </a:p>
        </p:txBody>
      </p:sp>
      <p:sp>
        <p:nvSpPr>
          <p:cNvPr id="10242" name="Text Box 10241"/>
          <p:cNvSpPr txBox="1"/>
          <p:nvPr/>
        </p:nvSpPr>
        <p:spPr>
          <a:xfrm>
            <a:off x="395288" y="1385888"/>
            <a:ext cx="8208962" cy="4419600"/>
          </a:xfrm>
          <a:prstGeom prst="rect">
            <a:avLst/>
          </a:prstGeom>
          <a:noFill/>
          <a:ln w="9525">
            <a:noFill/>
          </a:ln>
        </p:spPr>
        <p:txBody>
          <a:bodyPr wrap="square" lIns="91440" tIns="45720" rIns="91440" bIns="45720" anchor="t" anchorCtr="0"/>
          <a:p>
            <a:pPr marL="209550" indent="-209550" defTabSz="457200">
              <a:spcBef>
                <a:spcPts val="500"/>
              </a:spcBef>
              <a:buSzPct val="45000"/>
              <a:buFont typeface="Wingdings" panose="05000000000000000000" pitchFamily="2" charset="2"/>
              <a:buChar char=""/>
              <a:tabLst>
                <a:tab pos="209550" algn="l"/>
                <a:tab pos="666750" algn="l"/>
                <a:tab pos="1123950" algn="l"/>
                <a:tab pos="1581150" algn="l"/>
                <a:tab pos="2038350" algn="l"/>
                <a:tab pos="2495550" algn="l"/>
                <a:tab pos="2952750" algn="l"/>
                <a:tab pos="3409950" algn="l"/>
                <a:tab pos="3867150" algn="l"/>
                <a:tab pos="4324350" algn="l"/>
                <a:tab pos="4781550" algn="l"/>
                <a:tab pos="5238750" algn="l"/>
                <a:tab pos="5695950" algn="l"/>
                <a:tab pos="6153150" algn="l"/>
                <a:tab pos="6610350" algn="l"/>
                <a:tab pos="7067550" algn="l"/>
                <a:tab pos="7524750" algn="l"/>
                <a:tab pos="7981950" algn="l"/>
                <a:tab pos="8439150" algn="l"/>
                <a:tab pos="8896350" algn="l"/>
                <a:tab pos="9353550" algn="l"/>
              </a:tabLst>
            </a:pPr>
            <a:r>
              <a:rPr lang="en-US" altLang="en-US" sz="2400" b="1" dirty="0" err="1">
                <a:solidFill>
                  <a:srgbClr val="0070C0"/>
                </a:solidFill>
              </a:rPr>
              <a:t>люди та взаємодія</a:t>
            </a:r>
            <a:r>
              <a:rPr lang="en-US" altLang="en-US" sz="2400" b="1" dirty="0" err="1">
                <a:solidFill>
                  <a:srgbClr val="000000"/>
                </a:solidFill>
              </a:rPr>
              <a:t> важливіші за процеси </a:t>
            </a:r>
            <a:r>
              <a:rPr lang="uk-UA" altLang="en-US" sz="2400" b="1" dirty="0" err="1">
                <a:solidFill>
                  <a:srgbClr val="000000"/>
                </a:solidFill>
              </a:rPr>
              <a:t>               </a:t>
            </a:r>
            <a:r>
              <a:rPr lang="en-US" altLang="en-US" sz="2400" b="1" dirty="0" err="1">
                <a:solidFill>
                  <a:srgbClr val="000000"/>
                </a:solidFill>
              </a:rPr>
              <a:t>та інструменти</a:t>
            </a:r>
            <a:endParaRPr lang="en-US" altLang="en-US" sz="2400" b="1" dirty="0" err="1">
              <a:solidFill>
                <a:srgbClr val="000000"/>
              </a:solidFill>
            </a:endParaRPr>
          </a:p>
          <a:p>
            <a:pPr marL="209550" indent="-209550" defTabSz="457200">
              <a:spcBef>
                <a:spcPts val="500"/>
              </a:spcBef>
              <a:buSzPct val="45000"/>
              <a:buFont typeface="Wingdings" panose="05000000000000000000" pitchFamily="2" charset="2"/>
              <a:buChar char=""/>
              <a:tabLst>
                <a:tab pos="209550" algn="l"/>
                <a:tab pos="666750" algn="l"/>
                <a:tab pos="1123950" algn="l"/>
                <a:tab pos="1581150" algn="l"/>
                <a:tab pos="2038350" algn="l"/>
                <a:tab pos="2495550" algn="l"/>
                <a:tab pos="2952750" algn="l"/>
                <a:tab pos="3409950" algn="l"/>
                <a:tab pos="3867150" algn="l"/>
                <a:tab pos="4324350" algn="l"/>
                <a:tab pos="4781550" algn="l"/>
                <a:tab pos="5238750" algn="l"/>
                <a:tab pos="5695950" algn="l"/>
                <a:tab pos="6153150" algn="l"/>
                <a:tab pos="6610350" algn="l"/>
                <a:tab pos="7067550" algn="l"/>
                <a:tab pos="7524750" algn="l"/>
                <a:tab pos="7981950" algn="l"/>
                <a:tab pos="8439150" algn="l"/>
                <a:tab pos="8896350" algn="l"/>
                <a:tab pos="9353550" algn="l"/>
              </a:tabLst>
            </a:pPr>
            <a:r>
              <a:rPr lang="en-US" altLang="en-US" sz="2400" b="1" dirty="0" err="1">
                <a:solidFill>
                  <a:srgbClr val="0070C0"/>
                </a:solidFill>
              </a:rPr>
              <a:t>працюючий продукт</a:t>
            </a:r>
            <a:r>
              <a:rPr lang="en-US" altLang="en-US" sz="2400" b="1" dirty="0" err="1">
                <a:solidFill>
                  <a:srgbClr val="000000"/>
                </a:solidFill>
              </a:rPr>
              <a:t> важливіший за вичерпну документацію</a:t>
            </a:r>
            <a:endParaRPr lang="en-US" altLang="en-US" sz="2400" b="1" dirty="0" err="1">
              <a:solidFill>
                <a:srgbClr val="000000"/>
              </a:solidFill>
            </a:endParaRPr>
          </a:p>
          <a:p>
            <a:pPr marL="209550" indent="-209550" defTabSz="457200">
              <a:spcBef>
                <a:spcPts val="500"/>
              </a:spcBef>
              <a:buSzPct val="45000"/>
              <a:buFont typeface="Wingdings" panose="05000000000000000000" pitchFamily="2" charset="2"/>
              <a:buChar char=""/>
              <a:tabLst>
                <a:tab pos="209550" algn="l"/>
                <a:tab pos="666750" algn="l"/>
                <a:tab pos="1123950" algn="l"/>
                <a:tab pos="1581150" algn="l"/>
                <a:tab pos="2038350" algn="l"/>
                <a:tab pos="2495550" algn="l"/>
                <a:tab pos="2952750" algn="l"/>
                <a:tab pos="3409950" algn="l"/>
                <a:tab pos="3867150" algn="l"/>
                <a:tab pos="4324350" algn="l"/>
                <a:tab pos="4781550" algn="l"/>
                <a:tab pos="5238750" algn="l"/>
                <a:tab pos="5695950" algn="l"/>
                <a:tab pos="6153150" algn="l"/>
                <a:tab pos="6610350" algn="l"/>
                <a:tab pos="7067550" algn="l"/>
                <a:tab pos="7524750" algn="l"/>
                <a:tab pos="7981950" algn="l"/>
                <a:tab pos="8439150" algn="l"/>
                <a:tab pos="8896350" algn="l"/>
                <a:tab pos="9353550" algn="l"/>
              </a:tabLst>
            </a:pPr>
            <a:r>
              <a:rPr lang="en-US" altLang="en-US" sz="2400" b="1" dirty="0" err="1">
                <a:solidFill>
                  <a:srgbClr val="0070C0"/>
                </a:solidFill>
              </a:rPr>
              <a:t>співробітництво із замовником</a:t>
            </a:r>
            <a:r>
              <a:rPr lang="en-US" altLang="en-US" sz="2400" b="1" dirty="0" err="1">
                <a:solidFill>
                  <a:srgbClr val="000000"/>
                </a:solidFill>
              </a:rPr>
              <a:t> важливіше </a:t>
            </a:r>
            <a:r>
              <a:rPr lang="uk-UA" altLang="en-US" sz="2400" b="1" dirty="0" err="1">
                <a:solidFill>
                  <a:srgbClr val="000000"/>
                </a:solidFill>
              </a:rPr>
              <a:t>             </a:t>
            </a:r>
            <a:r>
              <a:rPr lang="en-US" altLang="en-US" sz="2400" b="1" dirty="0" err="1">
                <a:solidFill>
                  <a:srgbClr val="000000"/>
                </a:solidFill>
              </a:rPr>
              <a:t>за погодження умов контракту</a:t>
            </a:r>
            <a:endParaRPr lang="en-US" altLang="en-US" sz="2400" b="1" dirty="0" err="1">
              <a:solidFill>
                <a:srgbClr val="000000"/>
              </a:solidFill>
            </a:endParaRPr>
          </a:p>
          <a:p>
            <a:pPr marL="209550" indent="-209550" defTabSz="457200">
              <a:spcBef>
                <a:spcPts val="500"/>
              </a:spcBef>
              <a:buSzPct val="45000"/>
              <a:buFont typeface="Wingdings" panose="05000000000000000000" pitchFamily="2" charset="2"/>
              <a:buChar char=""/>
              <a:tabLst>
                <a:tab pos="209550" algn="l"/>
                <a:tab pos="666750" algn="l"/>
                <a:tab pos="1123950" algn="l"/>
                <a:tab pos="1581150" algn="l"/>
                <a:tab pos="2038350" algn="l"/>
                <a:tab pos="2495550" algn="l"/>
                <a:tab pos="2952750" algn="l"/>
                <a:tab pos="3409950" algn="l"/>
                <a:tab pos="3867150" algn="l"/>
                <a:tab pos="4324350" algn="l"/>
                <a:tab pos="4781550" algn="l"/>
                <a:tab pos="5238750" algn="l"/>
                <a:tab pos="5695950" algn="l"/>
                <a:tab pos="6153150" algn="l"/>
                <a:tab pos="6610350" algn="l"/>
                <a:tab pos="7067550" algn="l"/>
                <a:tab pos="7524750" algn="l"/>
                <a:tab pos="7981950" algn="l"/>
                <a:tab pos="8439150" algn="l"/>
                <a:tab pos="8896350" algn="l"/>
                <a:tab pos="9353550" algn="l"/>
              </a:tabLst>
            </a:pPr>
            <a:r>
              <a:rPr lang="en-US" altLang="en-US" sz="2400" b="1" dirty="0" err="1">
                <a:solidFill>
                  <a:srgbClr val="0070C0"/>
                </a:solidFill>
              </a:rPr>
              <a:t>готовність до змін</a:t>
            </a:r>
            <a:r>
              <a:rPr lang="en-US" altLang="en-US" sz="2400" b="1" dirty="0" err="1">
                <a:solidFill>
                  <a:srgbClr val="000000"/>
                </a:solidFill>
              </a:rPr>
              <a:t> важливіша за </a:t>
            </a:r>
            <a:r>
              <a:rPr lang="uk-UA" altLang="en-US" sz="2400" b="1" dirty="0" err="1">
                <a:solidFill>
                  <a:srgbClr val="000000"/>
                </a:solidFill>
              </a:rPr>
              <a:t>дотримання </a:t>
            </a:r>
            <a:r>
              <a:rPr lang="en-US" altLang="en-US" sz="2400" b="1" dirty="0" err="1">
                <a:solidFill>
                  <a:srgbClr val="000000"/>
                </a:solidFill>
              </a:rPr>
              <a:t>початкового плану</a:t>
            </a:r>
            <a:endParaRPr lang="en-US" altLang="en-US" sz="2400" b="1" dirty="0" err="1">
              <a:solidFill>
                <a:srgbClr val="000000"/>
              </a:solidFill>
            </a:endParaRPr>
          </a:p>
        </p:txBody>
      </p:sp>
      <p:pic>
        <p:nvPicPr>
          <p:cNvPr id="10243" name="Picture 10242"/>
          <p:cNvPicPr>
            <a:picLocks noChangeAspect="1"/>
          </p:cNvPicPr>
          <p:nvPr/>
        </p:nvPicPr>
        <p:blipFill>
          <a:blip r:embed="rId1"/>
          <a:stretch>
            <a:fillRect/>
          </a:stretch>
        </p:blipFill>
        <p:spPr>
          <a:xfrm>
            <a:off x="4314190" y="4167505"/>
            <a:ext cx="4031615" cy="2016125"/>
          </a:xfrm>
          <a:prstGeom prst="rect">
            <a:avLst/>
          </a:prstGeom>
          <a:noFill/>
          <a:ln w="9525">
            <a:noFill/>
          </a:ln>
        </p:spPr>
      </p:pic>
    </p:spTree>
  </p:cSld>
  <p:clrMapOvr>
    <a:masterClrMapping/>
  </p:clrMapOvr>
  <p:transition spd="med"/>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Text Box 1126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ru-RU" altLang="x-none" sz="4200" dirty="0" err="1">
                <a:solidFill>
                  <a:srgbClr val="FFFFFF"/>
                </a:solidFill>
              </a:rPr>
              <a:t>12 принцип</a:t>
            </a:r>
            <a:r>
              <a:rPr lang="uk-UA" altLang="ru-RU" sz="4200" dirty="0" err="1">
                <a:solidFill>
                  <a:srgbClr val="FFFFFF"/>
                </a:solidFill>
              </a:rPr>
              <a:t>і</a:t>
            </a:r>
            <a:r>
              <a:rPr lang="ru-RU" altLang="x-none" sz="4200" dirty="0" err="1">
                <a:solidFill>
                  <a:srgbClr val="FFFFFF"/>
                </a:solidFill>
              </a:rPr>
              <a:t>в Agile</a:t>
            </a:r>
            <a:endParaRPr lang="ru-RU" altLang="x-none" sz="4200" dirty="0" err="1">
              <a:solidFill>
                <a:srgbClr val="FFFFFF"/>
              </a:solidFill>
            </a:endParaRPr>
          </a:p>
        </p:txBody>
      </p:sp>
      <p:sp>
        <p:nvSpPr>
          <p:cNvPr id="11266" name="Text Box 11265"/>
          <p:cNvSpPr txBox="1"/>
          <p:nvPr/>
        </p:nvSpPr>
        <p:spPr>
          <a:xfrm>
            <a:off x="142240" y="1314450"/>
            <a:ext cx="8462010" cy="4419600"/>
          </a:xfrm>
          <a:prstGeom prst="rect">
            <a:avLst/>
          </a:prstGeom>
          <a:noFill/>
          <a:ln w="9525">
            <a:noFill/>
          </a:ln>
        </p:spPr>
        <p:txBody>
          <a:bodyPr wrap="square" lIns="91440" tIns="45720" rIns="91440" bIns="45720" anchor="t" anchorCtr="0"/>
          <a:p>
            <a:pPr marL="209550" indent="-209550" defTabSz="457200">
              <a:spcBef>
                <a:spcPts val="500"/>
              </a:spcBef>
              <a:buSzPct val="45000"/>
              <a:buFont typeface="Wingdings" panose="05000000000000000000" pitchFamily="2" charset="2"/>
              <a:buChar char=""/>
              <a:tabLst>
                <a:tab pos="209550" algn="l"/>
                <a:tab pos="666750" algn="l"/>
                <a:tab pos="1123950" algn="l"/>
                <a:tab pos="1581150" algn="l"/>
                <a:tab pos="2038350" algn="l"/>
                <a:tab pos="2495550" algn="l"/>
                <a:tab pos="2952750" algn="l"/>
                <a:tab pos="3409950" algn="l"/>
                <a:tab pos="3867150" algn="l"/>
                <a:tab pos="4324350" algn="l"/>
                <a:tab pos="4781550" algn="l"/>
                <a:tab pos="5238750" algn="l"/>
                <a:tab pos="5695950" algn="l"/>
                <a:tab pos="6153150" algn="l"/>
                <a:tab pos="6610350" algn="l"/>
                <a:tab pos="7067550" algn="l"/>
                <a:tab pos="7524750" algn="l"/>
                <a:tab pos="7981950" algn="l"/>
                <a:tab pos="8439150" algn="l"/>
                <a:tab pos="8896350" algn="l"/>
                <a:tab pos="9353550" algn="l"/>
              </a:tabLst>
            </a:pPr>
            <a:r>
              <a:rPr lang="en-US" altLang="en-US" sz="1400" dirty="0" err="1">
                <a:solidFill>
                  <a:srgbClr val="000000"/>
                </a:solidFill>
              </a:rPr>
              <a:t>найвищим пріоритетом визнається задоволення </a:t>
            </a:r>
            <a:r>
              <a:rPr lang="uk-UA" altLang="en-US" sz="1400" dirty="0" err="1">
                <a:solidFill>
                  <a:srgbClr val="000000"/>
                </a:solidFill>
              </a:rPr>
              <a:t>потреб </a:t>
            </a:r>
            <a:r>
              <a:rPr lang="en-US" altLang="en-US" sz="1400" dirty="0" err="1">
                <a:solidFill>
                  <a:srgbClr val="000000"/>
                </a:solidFill>
              </a:rPr>
              <a:t>замовника за рахунок раннього </a:t>
            </a:r>
            <a:r>
              <a:rPr lang="uk-UA" altLang="en-US" sz="1400" dirty="0" err="1">
                <a:solidFill>
                  <a:srgbClr val="000000"/>
                </a:solidFill>
              </a:rPr>
              <a:t>            </a:t>
            </a:r>
            <a:r>
              <a:rPr lang="en-US" altLang="en-US" sz="1400" dirty="0" err="1">
                <a:solidFill>
                  <a:srgbClr val="000000"/>
                </a:solidFill>
              </a:rPr>
              <a:t>та безперебійного постачання програмного забезпечення</a:t>
            </a:r>
            <a:endParaRPr lang="en-US" altLang="en-US" sz="1400" dirty="0" err="1">
              <a:solidFill>
                <a:srgbClr val="000000"/>
              </a:solidFill>
            </a:endParaRPr>
          </a:p>
          <a:p>
            <a:pPr marL="209550" indent="-209550" defTabSz="457200">
              <a:spcBef>
                <a:spcPts val="500"/>
              </a:spcBef>
              <a:buSzPct val="45000"/>
              <a:buFont typeface="Wingdings" panose="05000000000000000000" pitchFamily="2" charset="2"/>
              <a:buChar char=""/>
              <a:tabLst>
                <a:tab pos="209550" algn="l"/>
                <a:tab pos="666750" algn="l"/>
                <a:tab pos="1123950" algn="l"/>
                <a:tab pos="1581150" algn="l"/>
                <a:tab pos="2038350" algn="l"/>
                <a:tab pos="2495550" algn="l"/>
                <a:tab pos="2952750" algn="l"/>
                <a:tab pos="3409950" algn="l"/>
                <a:tab pos="3867150" algn="l"/>
                <a:tab pos="4324350" algn="l"/>
                <a:tab pos="4781550" algn="l"/>
                <a:tab pos="5238750" algn="l"/>
                <a:tab pos="5695950" algn="l"/>
                <a:tab pos="6153150" algn="l"/>
                <a:tab pos="6610350" algn="l"/>
                <a:tab pos="7067550" algn="l"/>
                <a:tab pos="7524750" algn="l"/>
                <a:tab pos="7981950" algn="l"/>
                <a:tab pos="8439150" algn="l"/>
                <a:tab pos="8896350" algn="l"/>
                <a:tab pos="9353550" algn="l"/>
              </a:tabLst>
            </a:pPr>
            <a:r>
              <a:rPr lang="en-US" altLang="en-US" sz="1400" dirty="0" err="1">
                <a:solidFill>
                  <a:srgbClr val="000000"/>
                </a:solidFill>
              </a:rPr>
              <a:t>зміни вимог вітаються навіть наприкінці розробки (це може підвищити конкурентоспроможність о</a:t>
            </a:r>
            <a:r>
              <a:rPr lang="uk-UA" altLang="en-US" sz="1400" dirty="0" err="1">
                <a:solidFill>
                  <a:srgbClr val="000000"/>
                </a:solidFill>
              </a:rPr>
              <a:t>триманого</a:t>
            </a:r>
            <a:r>
              <a:rPr lang="en-US" altLang="en-US" sz="1400" dirty="0" err="1">
                <a:solidFill>
                  <a:srgbClr val="000000"/>
                </a:solidFill>
              </a:rPr>
              <a:t> продукту)</a:t>
            </a:r>
            <a:endParaRPr lang="en-US" altLang="en-US" sz="1400" dirty="0" err="1">
              <a:solidFill>
                <a:srgbClr val="000000"/>
              </a:solidFill>
            </a:endParaRPr>
          </a:p>
          <a:p>
            <a:pPr marL="209550" indent="-209550" defTabSz="457200">
              <a:spcBef>
                <a:spcPts val="500"/>
              </a:spcBef>
              <a:buSzPct val="45000"/>
              <a:buFont typeface="Wingdings" panose="05000000000000000000" pitchFamily="2" charset="2"/>
              <a:buChar char=""/>
              <a:tabLst>
                <a:tab pos="209550" algn="l"/>
                <a:tab pos="666750" algn="l"/>
                <a:tab pos="1123950" algn="l"/>
                <a:tab pos="1581150" algn="l"/>
                <a:tab pos="2038350" algn="l"/>
                <a:tab pos="2495550" algn="l"/>
                <a:tab pos="2952750" algn="l"/>
                <a:tab pos="3409950" algn="l"/>
                <a:tab pos="3867150" algn="l"/>
                <a:tab pos="4324350" algn="l"/>
                <a:tab pos="4781550" algn="l"/>
                <a:tab pos="5238750" algn="l"/>
                <a:tab pos="5695950" algn="l"/>
                <a:tab pos="6153150" algn="l"/>
                <a:tab pos="6610350" algn="l"/>
                <a:tab pos="7067550" algn="l"/>
                <a:tab pos="7524750" algn="l"/>
                <a:tab pos="7981950" algn="l"/>
                <a:tab pos="8439150" algn="l"/>
                <a:tab pos="8896350" algn="l"/>
                <a:tab pos="9353550" algn="l"/>
              </a:tabLst>
            </a:pPr>
            <a:r>
              <a:rPr lang="en-US" altLang="en-US" sz="1400" dirty="0" err="1">
                <a:solidFill>
                  <a:srgbClr val="000000"/>
                </a:solidFill>
              </a:rPr>
              <a:t>часте постачання працюючого програмного забезпечення (кожні кілька тижнів або кілька місяців з перевагою меншого періоду)</a:t>
            </a:r>
            <a:endParaRPr lang="en-US" altLang="en-US" sz="1400" dirty="0" err="1">
              <a:solidFill>
                <a:srgbClr val="000000"/>
              </a:solidFill>
            </a:endParaRPr>
          </a:p>
          <a:p>
            <a:pPr marL="209550" indent="-209550" defTabSz="457200">
              <a:spcBef>
                <a:spcPts val="500"/>
              </a:spcBef>
              <a:buSzPct val="45000"/>
              <a:buFont typeface="Wingdings" panose="05000000000000000000" pitchFamily="2" charset="2"/>
              <a:buChar char=""/>
              <a:tabLst>
                <a:tab pos="209550" algn="l"/>
                <a:tab pos="666750" algn="l"/>
                <a:tab pos="1123950" algn="l"/>
                <a:tab pos="1581150" algn="l"/>
                <a:tab pos="2038350" algn="l"/>
                <a:tab pos="2495550" algn="l"/>
                <a:tab pos="2952750" algn="l"/>
                <a:tab pos="3409950" algn="l"/>
                <a:tab pos="3867150" algn="l"/>
                <a:tab pos="4324350" algn="l"/>
                <a:tab pos="4781550" algn="l"/>
                <a:tab pos="5238750" algn="l"/>
                <a:tab pos="5695950" algn="l"/>
                <a:tab pos="6153150" algn="l"/>
                <a:tab pos="6610350" algn="l"/>
                <a:tab pos="7067550" algn="l"/>
                <a:tab pos="7524750" algn="l"/>
                <a:tab pos="7981950" algn="l"/>
                <a:tab pos="8439150" algn="l"/>
                <a:tab pos="8896350" algn="l"/>
                <a:tab pos="9353550" algn="l"/>
              </a:tabLst>
            </a:pPr>
            <a:r>
              <a:rPr lang="en-US" altLang="en-US" sz="1400" dirty="0" err="1">
                <a:solidFill>
                  <a:srgbClr val="000000"/>
                </a:solidFill>
              </a:rPr>
              <a:t>спілкування представників бізнесу з розробниками має бути щоденним протягом усього про</a:t>
            </a:r>
            <a:r>
              <a:rPr lang="uk-UA" altLang="en-US" sz="1400" dirty="0" err="1">
                <a:solidFill>
                  <a:srgbClr val="000000"/>
                </a:solidFill>
              </a:rPr>
              <a:t>є</a:t>
            </a:r>
            <a:r>
              <a:rPr lang="en-US" altLang="en-US" sz="1400" dirty="0" err="1">
                <a:solidFill>
                  <a:srgbClr val="000000"/>
                </a:solidFill>
              </a:rPr>
              <a:t>кту</a:t>
            </a:r>
            <a:endParaRPr lang="en-US" altLang="en-US" sz="1400" dirty="0" err="1">
              <a:solidFill>
                <a:srgbClr val="000000"/>
              </a:solidFill>
            </a:endParaRPr>
          </a:p>
          <a:p>
            <a:pPr marL="209550" indent="-209550" defTabSz="457200">
              <a:spcBef>
                <a:spcPts val="500"/>
              </a:spcBef>
              <a:buSzPct val="45000"/>
              <a:buFont typeface="Wingdings" panose="05000000000000000000" pitchFamily="2" charset="2"/>
              <a:buChar char=""/>
              <a:tabLst>
                <a:tab pos="209550" algn="l"/>
                <a:tab pos="666750" algn="l"/>
                <a:tab pos="1123950" algn="l"/>
                <a:tab pos="1581150" algn="l"/>
                <a:tab pos="2038350" algn="l"/>
                <a:tab pos="2495550" algn="l"/>
                <a:tab pos="2952750" algn="l"/>
                <a:tab pos="3409950" algn="l"/>
                <a:tab pos="3867150" algn="l"/>
                <a:tab pos="4324350" algn="l"/>
                <a:tab pos="4781550" algn="l"/>
                <a:tab pos="5238750" algn="l"/>
                <a:tab pos="5695950" algn="l"/>
                <a:tab pos="6153150" algn="l"/>
                <a:tab pos="6610350" algn="l"/>
                <a:tab pos="7067550" algn="l"/>
                <a:tab pos="7524750" algn="l"/>
                <a:tab pos="7981950" algn="l"/>
                <a:tab pos="8439150" algn="l"/>
                <a:tab pos="8896350" algn="l"/>
                <a:tab pos="9353550" algn="l"/>
              </a:tabLst>
            </a:pPr>
            <a:r>
              <a:rPr lang="en-US" altLang="en-US" sz="1400" dirty="0" err="1">
                <a:solidFill>
                  <a:srgbClr val="000000"/>
                </a:solidFill>
              </a:rPr>
              <a:t>про</a:t>
            </a:r>
            <a:r>
              <a:rPr lang="uk-UA" altLang="en-US" sz="1400" dirty="0" err="1">
                <a:solidFill>
                  <a:srgbClr val="000000"/>
                </a:solidFill>
              </a:rPr>
              <a:t>є</a:t>
            </a:r>
            <a:r>
              <a:rPr lang="en-US" altLang="en-US" sz="1400" dirty="0" err="1">
                <a:solidFill>
                  <a:srgbClr val="000000"/>
                </a:solidFill>
              </a:rPr>
              <a:t>кти слід будувати довкола зацікавлених людей, яких слід забезпечити потрібними умовами роботи, підтримкою та довірою</a:t>
            </a:r>
            <a:endParaRPr lang="en-US" altLang="en-US" sz="1400" dirty="0" err="1">
              <a:solidFill>
                <a:srgbClr val="000000"/>
              </a:solidFill>
            </a:endParaRPr>
          </a:p>
          <a:p>
            <a:pPr marL="209550" indent="-209550" defTabSz="457200">
              <a:spcBef>
                <a:spcPts val="500"/>
              </a:spcBef>
              <a:buSzPct val="45000"/>
              <a:buFont typeface="Wingdings" panose="05000000000000000000" pitchFamily="2" charset="2"/>
              <a:buChar char=""/>
              <a:tabLst>
                <a:tab pos="209550" algn="l"/>
                <a:tab pos="666750" algn="l"/>
                <a:tab pos="1123950" algn="l"/>
                <a:tab pos="1581150" algn="l"/>
                <a:tab pos="2038350" algn="l"/>
                <a:tab pos="2495550" algn="l"/>
                <a:tab pos="2952750" algn="l"/>
                <a:tab pos="3409950" algn="l"/>
                <a:tab pos="3867150" algn="l"/>
                <a:tab pos="4324350" algn="l"/>
                <a:tab pos="4781550" algn="l"/>
                <a:tab pos="5238750" algn="l"/>
                <a:tab pos="5695950" algn="l"/>
                <a:tab pos="6153150" algn="l"/>
                <a:tab pos="6610350" algn="l"/>
                <a:tab pos="7067550" algn="l"/>
                <a:tab pos="7524750" algn="l"/>
                <a:tab pos="7981950" algn="l"/>
                <a:tab pos="8439150" algn="l"/>
                <a:tab pos="8896350" algn="l"/>
                <a:tab pos="9353550" algn="l"/>
              </a:tabLst>
            </a:pPr>
            <a:r>
              <a:rPr lang="en-US" altLang="en-US" sz="1400" dirty="0" err="1">
                <a:solidFill>
                  <a:srgbClr val="000000"/>
                </a:solidFill>
              </a:rPr>
              <a:t>найефективніший метод обміну інформацією в команді – особиста зустріч</a:t>
            </a:r>
            <a:endParaRPr lang="en-US" altLang="en-US" sz="1400" dirty="0" err="1">
              <a:solidFill>
                <a:srgbClr val="000000"/>
              </a:solidFill>
            </a:endParaRPr>
          </a:p>
          <a:p>
            <a:pPr marL="209550" indent="-209550" defTabSz="457200">
              <a:spcBef>
                <a:spcPts val="500"/>
              </a:spcBef>
              <a:buSzPct val="45000"/>
              <a:buFont typeface="Wingdings" panose="05000000000000000000" pitchFamily="2" charset="2"/>
              <a:buChar char=""/>
              <a:tabLst>
                <a:tab pos="209550" algn="l"/>
                <a:tab pos="666750" algn="l"/>
                <a:tab pos="1123950" algn="l"/>
                <a:tab pos="1581150" algn="l"/>
                <a:tab pos="2038350" algn="l"/>
                <a:tab pos="2495550" algn="l"/>
                <a:tab pos="2952750" algn="l"/>
                <a:tab pos="3409950" algn="l"/>
                <a:tab pos="3867150" algn="l"/>
                <a:tab pos="4324350" algn="l"/>
                <a:tab pos="4781550" algn="l"/>
                <a:tab pos="5238750" algn="l"/>
                <a:tab pos="5695950" algn="l"/>
                <a:tab pos="6153150" algn="l"/>
                <a:tab pos="6610350" algn="l"/>
                <a:tab pos="7067550" algn="l"/>
                <a:tab pos="7524750" algn="l"/>
                <a:tab pos="7981950" algn="l"/>
                <a:tab pos="8439150" algn="l"/>
                <a:tab pos="8896350" algn="l"/>
                <a:tab pos="9353550" algn="l"/>
              </a:tabLst>
            </a:pPr>
            <a:r>
              <a:rPr lang="en-US" altLang="en-US" sz="1400" dirty="0" err="1">
                <a:solidFill>
                  <a:srgbClr val="000000"/>
                </a:solidFill>
              </a:rPr>
              <a:t>працююче програмне забезпечення - найкращий вимірник прогресу</a:t>
            </a:r>
            <a:endParaRPr lang="en-US" altLang="en-US" sz="1400" dirty="0" err="1">
              <a:solidFill>
                <a:srgbClr val="000000"/>
              </a:solidFill>
            </a:endParaRPr>
          </a:p>
          <a:p>
            <a:pPr marL="209550" indent="-209550" defTabSz="457200">
              <a:spcBef>
                <a:spcPts val="500"/>
              </a:spcBef>
              <a:buSzPct val="45000"/>
              <a:buFont typeface="Wingdings" panose="05000000000000000000" pitchFamily="2" charset="2"/>
              <a:buChar char=""/>
              <a:tabLst>
                <a:tab pos="209550" algn="l"/>
                <a:tab pos="666750" algn="l"/>
                <a:tab pos="1123950" algn="l"/>
                <a:tab pos="1581150" algn="l"/>
                <a:tab pos="2038350" algn="l"/>
                <a:tab pos="2495550" algn="l"/>
                <a:tab pos="2952750" algn="l"/>
                <a:tab pos="3409950" algn="l"/>
                <a:tab pos="3867150" algn="l"/>
                <a:tab pos="4324350" algn="l"/>
                <a:tab pos="4781550" algn="l"/>
                <a:tab pos="5238750" algn="l"/>
                <a:tab pos="5695950" algn="l"/>
                <a:tab pos="6153150" algn="l"/>
                <a:tab pos="6610350" algn="l"/>
                <a:tab pos="7067550" algn="l"/>
                <a:tab pos="7524750" algn="l"/>
                <a:tab pos="7981950" algn="l"/>
                <a:tab pos="8439150" algn="l"/>
                <a:tab pos="8896350" algn="l"/>
                <a:tab pos="9353550" algn="l"/>
              </a:tabLst>
            </a:pPr>
            <a:r>
              <a:rPr lang="en-US" altLang="en-US" sz="1400" dirty="0" err="1">
                <a:solidFill>
                  <a:srgbClr val="000000"/>
                </a:solidFill>
              </a:rPr>
              <a:t>спонсори, розробники та користувачі повинні мати можливість підтримувати постійний темп </a:t>
            </a:r>
            <a:r>
              <a:rPr lang="uk-UA" altLang="en-US" sz="1400" dirty="0" err="1">
                <a:solidFill>
                  <a:srgbClr val="000000"/>
                </a:solidFill>
              </a:rPr>
              <a:t>     </a:t>
            </a:r>
            <a:r>
              <a:rPr lang="en-US" altLang="en-US" sz="1400" dirty="0" err="1">
                <a:solidFill>
                  <a:srgbClr val="000000"/>
                </a:solidFill>
              </a:rPr>
              <a:t>на невизначений термін</a:t>
            </a:r>
            <a:endParaRPr lang="en-US" altLang="en-US" sz="1400" dirty="0" err="1">
              <a:solidFill>
                <a:srgbClr val="000000"/>
              </a:solidFill>
            </a:endParaRPr>
          </a:p>
          <a:p>
            <a:pPr marL="209550" indent="-209550" defTabSz="457200">
              <a:spcBef>
                <a:spcPts val="500"/>
              </a:spcBef>
              <a:buSzPct val="45000"/>
              <a:buFont typeface="Wingdings" panose="05000000000000000000" pitchFamily="2" charset="2"/>
              <a:buChar char=""/>
              <a:tabLst>
                <a:tab pos="209550" algn="l"/>
                <a:tab pos="666750" algn="l"/>
                <a:tab pos="1123950" algn="l"/>
                <a:tab pos="1581150" algn="l"/>
                <a:tab pos="2038350" algn="l"/>
                <a:tab pos="2495550" algn="l"/>
                <a:tab pos="2952750" algn="l"/>
                <a:tab pos="3409950" algn="l"/>
                <a:tab pos="3867150" algn="l"/>
                <a:tab pos="4324350" algn="l"/>
                <a:tab pos="4781550" algn="l"/>
                <a:tab pos="5238750" algn="l"/>
                <a:tab pos="5695950" algn="l"/>
                <a:tab pos="6153150" algn="l"/>
                <a:tab pos="6610350" algn="l"/>
                <a:tab pos="7067550" algn="l"/>
                <a:tab pos="7524750" algn="l"/>
                <a:tab pos="7981950" algn="l"/>
                <a:tab pos="8439150" algn="l"/>
                <a:tab pos="8896350" algn="l"/>
                <a:tab pos="9353550" algn="l"/>
              </a:tabLst>
            </a:pPr>
            <a:r>
              <a:rPr lang="en-US" altLang="en-US" sz="1400" dirty="0" err="1">
                <a:solidFill>
                  <a:srgbClr val="000000"/>
                </a:solidFill>
              </a:rPr>
              <a:t>увага до технічної досконалості та хорошого про</a:t>
            </a:r>
            <a:r>
              <a:rPr lang="uk-UA" altLang="en-US" sz="1400" dirty="0" err="1">
                <a:solidFill>
                  <a:srgbClr val="000000"/>
                </a:solidFill>
              </a:rPr>
              <a:t>є</a:t>
            </a:r>
            <a:r>
              <a:rPr lang="en-US" altLang="en-US" sz="1400" dirty="0" err="1">
                <a:solidFill>
                  <a:srgbClr val="000000"/>
                </a:solidFill>
              </a:rPr>
              <a:t>ктування збільшують гнучкість</a:t>
            </a:r>
            <a:endParaRPr lang="en-US" altLang="en-US" sz="1400" dirty="0" err="1">
              <a:solidFill>
                <a:srgbClr val="000000"/>
              </a:solidFill>
            </a:endParaRPr>
          </a:p>
          <a:p>
            <a:pPr marL="209550" indent="-209550" defTabSz="457200">
              <a:spcBef>
                <a:spcPts val="500"/>
              </a:spcBef>
              <a:buSzPct val="45000"/>
              <a:buFont typeface="Wingdings" panose="05000000000000000000" pitchFamily="2" charset="2"/>
              <a:buChar char=""/>
              <a:tabLst>
                <a:tab pos="209550" algn="l"/>
                <a:tab pos="666750" algn="l"/>
                <a:tab pos="1123950" algn="l"/>
                <a:tab pos="1581150" algn="l"/>
                <a:tab pos="2038350" algn="l"/>
                <a:tab pos="2495550" algn="l"/>
                <a:tab pos="2952750" algn="l"/>
                <a:tab pos="3409950" algn="l"/>
                <a:tab pos="3867150" algn="l"/>
                <a:tab pos="4324350" algn="l"/>
                <a:tab pos="4781550" algn="l"/>
                <a:tab pos="5238750" algn="l"/>
                <a:tab pos="5695950" algn="l"/>
                <a:tab pos="6153150" algn="l"/>
                <a:tab pos="6610350" algn="l"/>
                <a:tab pos="7067550" algn="l"/>
                <a:tab pos="7524750" algn="l"/>
                <a:tab pos="7981950" algn="l"/>
                <a:tab pos="8439150" algn="l"/>
                <a:tab pos="8896350" algn="l"/>
                <a:tab pos="9353550" algn="l"/>
              </a:tabLst>
            </a:pPr>
            <a:r>
              <a:rPr lang="en-US" altLang="en-US" sz="1400" dirty="0" err="1">
                <a:solidFill>
                  <a:srgbClr val="000000"/>
                </a:solidFill>
              </a:rPr>
              <a:t>простота як мистецтво не робити зайвої роботи дуже важлива</a:t>
            </a:r>
            <a:endParaRPr lang="en-US" altLang="en-US" sz="1400" dirty="0" err="1">
              <a:solidFill>
                <a:srgbClr val="000000"/>
              </a:solidFill>
            </a:endParaRPr>
          </a:p>
          <a:p>
            <a:pPr marL="209550" indent="-209550" defTabSz="457200">
              <a:spcBef>
                <a:spcPts val="500"/>
              </a:spcBef>
              <a:buSzPct val="45000"/>
              <a:buFont typeface="Wingdings" panose="05000000000000000000" pitchFamily="2" charset="2"/>
              <a:buChar char=""/>
              <a:tabLst>
                <a:tab pos="209550" algn="l"/>
                <a:tab pos="666750" algn="l"/>
                <a:tab pos="1123950" algn="l"/>
                <a:tab pos="1581150" algn="l"/>
                <a:tab pos="2038350" algn="l"/>
                <a:tab pos="2495550" algn="l"/>
                <a:tab pos="2952750" algn="l"/>
                <a:tab pos="3409950" algn="l"/>
                <a:tab pos="3867150" algn="l"/>
                <a:tab pos="4324350" algn="l"/>
                <a:tab pos="4781550" algn="l"/>
                <a:tab pos="5238750" algn="l"/>
                <a:tab pos="5695950" algn="l"/>
                <a:tab pos="6153150" algn="l"/>
                <a:tab pos="6610350" algn="l"/>
                <a:tab pos="7067550" algn="l"/>
                <a:tab pos="7524750" algn="l"/>
                <a:tab pos="7981950" algn="l"/>
                <a:tab pos="8439150" algn="l"/>
                <a:tab pos="8896350" algn="l"/>
                <a:tab pos="9353550" algn="l"/>
              </a:tabLst>
            </a:pPr>
            <a:r>
              <a:rPr lang="en-US" altLang="en-US" sz="1400" dirty="0" err="1">
                <a:solidFill>
                  <a:srgbClr val="000000"/>
                </a:solidFill>
              </a:rPr>
              <a:t>кращі вимоги, архітектура та про</a:t>
            </a:r>
            <a:r>
              <a:rPr lang="uk-UA" altLang="en-US" sz="1400" dirty="0" err="1">
                <a:solidFill>
                  <a:srgbClr val="000000"/>
                </a:solidFill>
              </a:rPr>
              <a:t>є</a:t>
            </a:r>
            <a:r>
              <a:rPr lang="en-US" altLang="en-US" sz="1400" dirty="0" err="1">
                <a:solidFill>
                  <a:srgbClr val="000000"/>
                </a:solidFill>
              </a:rPr>
              <a:t>ктні рішення виходять у команд, що самоорганізуються</a:t>
            </a:r>
            <a:endParaRPr lang="en-US" altLang="en-US" sz="1400" dirty="0" err="1">
              <a:solidFill>
                <a:srgbClr val="000000"/>
              </a:solidFill>
            </a:endParaRPr>
          </a:p>
          <a:p>
            <a:pPr marL="209550" indent="-209550" defTabSz="457200">
              <a:spcBef>
                <a:spcPts val="500"/>
              </a:spcBef>
              <a:buSzPct val="45000"/>
              <a:buFont typeface="Wingdings" panose="05000000000000000000" pitchFamily="2" charset="2"/>
              <a:buChar char=""/>
              <a:tabLst>
                <a:tab pos="209550" algn="l"/>
                <a:tab pos="666750" algn="l"/>
                <a:tab pos="1123950" algn="l"/>
                <a:tab pos="1581150" algn="l"/>
                <a:tab pos="2038350" algn="l"/>
                <a:tab pos="2495550" algn="l"/>
                <a:tab pos="2952750" algn="l"/>
                <a:tab pos="3409950" algn="l"/>
                <a:tab pos="3867150" algn="l"/>
                <a:tab pos="4324350" algn="l"/>
                <a:tab pos="4781550" algn="l"/>
                <a:tab pos="5238750" algn="l"/>
                <a:tab pos="5695950" algn="l"/>
                <a:tab pos="6153150" algn="l"/>
                <a:tab pos="6610350" algn="l"/>
                <a:tab pos="7067550" algn="l"/>
                <a:tab pos="7524750" algn="l"/>
                <a:tab pos="7981950" algn="l"/>
                <a:tab pos="8439150" algn="l"/>
                <a:tab pos="8896350" algn="l"/>
                <a:tab pos="9353550" algn="l"/>
              </a:tabLst>
            </a:pPr>
            <a:r>
              <a:rPr lang="en-US" altLang="en-US" sz="1400" dirty="0" err="1">
                <a:solidFill>
                  <a:srgbClr val="000000"/>
                </a:solidFill>
              </a:rPr>
              <a:t>команда регулярно обмірковує способи підвищення своєї ефективності та відповідно коригує </a:t>
            </a:r>
            <a:r>
              <a:rPr lang="uk-UA" altLang="en-US" sz="1400" dirty="0" err="1">
                <a:solidFill>
                  <a:srgbClr val="000000"/>
                </a:solidFill>
              </a:rPr>
              <a:t>	</a:t>
            </a:r>
            <a:r>
              <a:rPr lang="en-US" altLang="en-US" sz="1400" dirty="0" err="1">
                <a:solidFill>
                  <a:srgbClr val="000000"/>
                </a:solidFill>
              </a:rPr>
              <a:t>робочий процес</a:t>
            </a:r>
            <a:endParaRPr lang="en-US" altLang="en-US" sz="1400" dirty="0" err="1">
              <a:solidFill>
                <a:srgbClr val="000000"/>
              </a:solidFill>
            </a:endParaRPr>
          </a:p>
        </p:txBody>
      </p:sp>
    </p:spTree>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Text Box 12288"/>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ru-RU" altLang="x-none" sz="4200" dirty="0" err="1">
                <a:solidFill>
                  <a:srgbClr val="FFFFFF"/>
                </a:solidFill>
              </a:rPr>
              <a:t>Основна </a:t>
            </a:r>
            <a:r>
              <a:rPr lang="uk-UA" altLang="ru-RU" sz="4200" dirty="0" err="1">
                <a:solidFill>
                  <a:srgbClr val="FFFFFF"/>
                </a:solidFill>
              </a:rPr>
              <a:t>і</a:t>
            </a:r>
            <a:r>
              <a:rPr lang="ru-RU" altLang="x-none" sz="4200" dirty="0" err="1">
                <a:solidFill>
                  <a:srgbClr val="FFFFFF"/>
                </a:solidFill>
              </a:rPr>
              <a:t>дея SCRUM</a:t>
            </a:r>
            <a:endParaRPr lang="ru-RU" altLang="x-none" sz="4200" dirty="0" err="1">
              <a:solidFill>
                <a:srgbClr val="FFFFFF"/>
              </a:solidFill>
            </a:endParaRPr>
          </a:p>
        </p:txBody>
      </p:sp>
      <p:sp>
        <p:nvSpPr>
          <p:cNvPr id="12290" name="Text Box 12289"/>
          <p:cNvSpPr txBox="1"/>
          <p:nvPr/>
        </p:nvSpPr>
        <p:spPr>
          <a:xfrm>
            <a:off x="395288" y="1385888"/>
            <a:ext cx="8208962" cy="4419600"/>
          </a:xfrm>
          <a:prstGeom prst="rect">
            <a:avLst/>
          </a:prstGeom>
          <a:noFill/>
          <a:ln w="9525">
            <a:noFill/>
          </a:ln>
        </p:spPr>
        <p:txBody>
          <a:bodyPr wrap="square" lIns="91440" tIns="45720" rIns="91440" bIns="45720" anchor="t" anchorCtr="0"/>
          <a:p>
            <a:pPr marL="1905" indent="-1905" defTabSz="457200">
              <a:spcBef>
                <a:spcPts val="500"/>
              </a:spcBef>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600" dirty="0" err="1">
                <a:solidFill>
                  <a:srgbClr val="000000"/>
                </a:solidFill>
              </a:rPr>
              <a:t>SCRUM — революційний метод управління командними проєктами, побудований </a:t>
            </a:r>
            <a:r>
              <a:rPr lang="uk-UA" altLang="en-US" sz="1600" dirty="0" err="1">
                <a:solidFill>
                  <a:srgbClr val="000000"/>
                </a:solidFill>
              </a:rPr>
              <a:t> </a:t>
            </a:r>
            <a:r>
              <a:rPr lang="en-US" altLang="en-US" sz="1600" dirty="0" err="1">
                <a:solidFill>
                  <a:srgbClr val="000000"/>
                </a:solidFill>
              </a:rPr>
              <a:t>на принципах Agile (гнучкої розробки програмного забезпечення), який призначений для створення продуктів із максимальною цінністю.</a:t>
            </a:r>
            <a:endParaRPr lang="en-US" altLang="en-US" sz="1600" dirty="0" err="1">
              <a:solidFill>
                <a:srgbClr val="000000"/>
              </a:solidFill>
            </a:endParaRPr>
          </a:p>
          <a:p>
            <a:pPr marL="1905" indent="-1905" defTabSz="457200">
              <a:spcBef>
                <a:spcPts val="500"/>
              </a:spcBef>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600" dirty="0" err="1">
                <a:solidFill>
                  <a:srgbClr val="000000"/>
                </a:solidFill>
              </a:rPr>
              <a:t>SCRUM застосовується не лише в розробці та технічній підтримці програмного забезпечення, а й в інших виробничих</a:t>
            </a:r>
            <a:r>
              <a:rPr lang="uk-UA" altLang="en-US" sz="1600" dirty="0" err="1">
                <a:solidFill>
                  <a:srgbClr val="000000"/>
                </a:solidFill>
              </a:rPr>
              <a:t>,</a:t>
            </a:r>
            <a:r>
              <a:rPr lang="en-US" altLang="en-US" sz="1600" dirty="0" err="1">
                <a:solidFill>
                  <a:srgbClr val="000000"/>
                </a:solidFill>
              </a:rPr>
              <a:t> бізнес-сферах, </a:t>
            </a:r>
            <a:r>
              <a:rPr lang="uk-UA" altLang="en-US" sz="1600" dirty="0" err="1">
                <a:solidFill>
                  <a:srgbClr val="000000"/>
                </a:solidFill>
              </a:rPr>
              <a:t>та </a:t>
            </a:r>
            <a:r>
              <a:rPr lang="en-US" altLang="en-US" sz="1600" dirty="0" err="1">
                <a:solidFill>
                  <a:srgbClr val="000000"/>
                </a:solidFill>
              </a:rPr>
              <a:t>навіть у ремонті :)</a:t>
            </a:r>
            <a:endParaRPr lang="en-US" altLang="en-US" sz="1600" dirty="0" err="1">
              <a:solidFill>
                <a:srgbClr val="000000"/>
              </a:solidFill>
            </a:endParaRPr>
          </a:p>
          <a:p>
            <a:pPr marL="1905" indent="-1905" defTabSz="457200">
              <a:spcBef>
                <a:spcPts val="500"/>
              </a:spcBef>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600" dirty="0" err="1">
                <a:solidFill>
                  <a:srgbClr val="000000"/>
                </a:solidFill>
              </a:rPr>
              <a:t>Робота над проєктом поділяється на чіткі фіксовані ітерації, які називаються </a:t>
            </a:r>
            <a:r>
              <a:rPr lang="en-US" altLang="en-US" sz="1600" b="1" dirty="0" err="1">
                <a:solidFill>
                  <a:srgbClr val="000000"/>
                </a:solidFill>
              </a:rPr>
              <a:t>спринтами</a:t>
            </a:r>
            <a:r>
              <a:rPr lang="en-US" altLang="en-US" sz="1600" dirty="0" err="1">
                <a:solidFill>
                  <a:srgbClr val="000000"/>
                </a:solidFill>
              </a:rPr>
              <a:t>. Для організації роботи в межах цих ітерацій використовується </a:t>
            </a:r>
            <a:r>
              <a:rPr lang="uk-UA" altLang="en-US" sz="1600" dirty="0" err="1">
                <a:solidFill>
                  <a:srgbClr val="000000"/>
                </a:solidFill>
              </a:rPr>
              <a:t>            </a:t>
            </a:r>
            <a:r>
              <a:rPr lang="en-US" altLang="en-US" sz="1600" dirty="0" err="1">
                <a:solidFill>
                  <a:srgbClr val="000000"/>
                </a:solidFill>
              </a:rPr>
              <a:t>три основні види зустрічей:</a:t>
            </a:r>
            <a:endParaRPr lang="en-US" altLang="en-US" sz="1600" dirty="0" err="1">
              <a:solidFill>
                <a:srgbClr val="000000"/>
              </a:solidFill>
            </a:endParaRPr>
          </a:p>
          <a:p>
            <a:pPr marL="285750" indent="-285750" defTabSz="457200">
              <a:spcBef>
                <a:spcPts val="5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600" b="1" dirty="0" err="1">
                <a:solidFill>
                  <a:srgbClr val="000000"/>
                </a:solidFill>
              </a:rPr>
              <a:t>Зустріч перед спринтом </a:t>
            </a:r>
            <a:r>
              <a:rPr lang="en-US" altLang="en-US" sz="1600" dirty="0" err="1">
                <a:solidFill>
                  <a:srgbClr val="000000"/>
                </a:solidFill>
              </a:rPr>
              <a:t>— щоб спланувати завдання (Sprint Planning)</a:t>
            </a:r>
            <a:endParaRPr lang="en-US" altLang="en-US" sz="1600" dirty="0" err="1">
              <a:solidFill>
                <a:srgbClr val="000000"/>
              </a:solidFill>
            </a:endParaRPr>
          </a:p>
          <a:p>
            <a:pPr marL="285750" indent="-285750" defTabSz="457200">
              <a:spcBef>
                <a:spcPts val="5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600" b="1" dirty="0" err="1">
                <a:solidFill>
                  <a:srgbClr val="000000"/>
                </a:solidFill>
              </a:rPr>
              <a:t>Щоденні короткі зустрічі під час спринту</a:t>
            </a:r>
            <a:r>
              <a:rPr lang="en-US" altLang="en-US" sz="1600" dirty="0" err="1">
                <a:solidFill>
                  <a:srgbClr val="000000"/>
                </a:solidFill>
              </a:rPr>
              <a:t> — щоб синхронізувати роботу команди (Daily Scrum / щоденний стендап)</a:t>
            </a:r>
            <a:endParaRPr lang="en-US" altLang="en-US" sz="1600" dirty="0" err="1">
              <a:solidFill>
                <a:srgbClr val="000000"/>
              </a:solidFill>
            </a:endParaRPr>
          </a:p>
          <a:p>
            <a:pPr marL="285750" indent="-285750" defTabSz="457200">
              <a:spcBef>
                <a:spcPts val="5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600" b="1" dirty="0" err="1">
                <a:solidFill>
                  <a:srgbClr val="000000"/>
                </a:solidFill>
              </a:rPr>
              <a:t>Зустріч після спринту</a:t>
            </a:r>
            <a:r>
              <a:rPr lang="en-US" altLang="en-US" sz="1600" dirty="0" err="1">
                <a:solidFill>
                  <a:srgbClr val="000000"/>
                </a:solidFill>
              </a:rPr>
              <a:t> — щоб підбити підсумки (Sprint Review + </a:t>
            </a:r>
            <a:r>
              <a:rPr lang="uk-UA" altLang="en-US" sz="1600" dirty="0" err="1">
                <a:solidFill>
                  <a:srgbClr val="000000"/>
                </a:solidFill>
              </a:rPr>
              <a:t>                      </a:t>
            </a:r>
            <a:r>
              <a:rPr lang="en-US" altLang="en-US" sz="1600" dirty="0" err="1">
                <a:solidFill>
                  <a:srgbClr val="000000"/>
                </a:solidFill>
              </a:rPr>
              <a:t>Sprint Retrospective)</a:t>
            </a:r>
            <a:endParaRPr lang="en-US" altLang="en-US" sz="1600" dirty="0" err="1">
              <a:solidFill>
                <a:srgbClr val="000000"/>
              </a:solidFill>
            </a:endParaRPr>
          </a:p>
          <a:p>
            <a:pPr marL="1905" indent="-1905" defTabSz="457200">
              <a:spcBef>
                <a:spcPts val="500"/>
              </a:spcBef>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600" b="1" dirty="0" err="1">
                <a:solidFill>
                  <a:srgbClr val="000000"/>
                </a:solidFill>
              </a:rPr>
              <a:t>Команда регулярно (кожні 1–4 тижні) видає робочий, корисний приріст продукту, постійно отримує зворотний зв’язок, швидко адаптується до змін </a:t>
            </a:r>
            <a:r>
              <a:rPr lang="uk-UA" altLang="en-US" sz="1600" b="1" dirty="0" err="1">
                <a:solidFill>
                  <a:srgbClr val="000000"/>
                </a:solidFill>
              </a:rPr>
              <a:t>     </a:t>
            </a:r>
            <a:r>
              <a:rPr lang="en-US" altLang="en-US" sz="1600" b="1" dirty="0" err="1">
                <a:solidFill>
                  <a:srgbClr val="000000"/>
                </a:solidFill>
              </a:rPr>
              <a:t>і безперервно вдосконалює процес завдяки прозорості, огляду та адаптації.</a:t>
            </a:r>
            <a:endParaRPr lang="en-US" altLang="en-US" sz="1600" b="1" dirty="0" err="1">
              <a:solidFill>
                <a:srgbClr val="000000"/>
              </a:solidFill>
            </a:endParaRPr>
          </a:p>
        </p:txBody>
      </p:sp>
    </p:spTree>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Text Box 13312"/>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ru-RU" altLang="x-none" sz="4200" dirty="0" err="1">
                <a:solidFill>
                  <a:srgbClr val="FFFFFF"/>
                </a:solidFill>
              </a:rPr>
              <a:t>Основн</a:t>
            </a:r>
            <a:r>
              <a:rPr lang="uk-UA" altLang="ru-RU" sz="4200" dirty="0" err="1">
                <a:solidFill>
                  <a:srgbClr val="FFFFFF"/>
                </a:solidFill>
              </a:rPr>
              <a:t>і</a:t>
            </a:r>
            <a:r>
              <a:rPr lang="ru-RU" altLang="x-none" sz="4200" dirty="0" err="1">
                <a:solidFill>
                  <a:srgbClr val="FFFFFF"/>
                </a:solidFill>
              </a:rPr>
              <a:t> учасники SCRUM</a:t>
            </a:r>
            <a:endParaRPr lang="ru-RU" altLang="x-none" sz="4200" dirty="0" err="1">
              <a:solidFill>
                <a:srgbClr val="FFFFFF"/>
              </a:solidFill>
            </a:endParaRPr>
          </a:p>
        </p:txBody>
      </p:sp>
      <p:sp>
        <p:nvSpPr>
          <p:cNvPr id="13314" name="Text Box 13313"/>
          <p:cNvSpPr txBox="1"/>
          <p:nvPr/>
        </p:nvSpPr>
        <p:spPr>
          <a:xfrm>
            <a:off x="395288" y="1385888"/>
            <a:ext cx="8208962" cy="4419600"/>
          </a:xfrm>
          <a:prstGeom prst="rect">
            <a:avLst/>
          </a:prstGeom>
          <a:noFill/>
          <a:ln w="9525">
            <a:noFill/>
          </a:ln>
        </p:spPr>
        <p:txBody>
          <a:bodyPr wrap="square" lIns="91440" tIns="45720" rIns="91440" bIns="45720" anchor="t" anchorCtr="0"/>
          <a:p>
            <a:pPr marL="215900" indent="-209550" defTabSz="457200">
              <a:spcBef>
                <a:spcPts val="500"/>
              </a:spcBef>
              <a:buClrTx/>
              <a:buSzPct val="45000"/>
              <a:buFontTx/>
              <a:buNone/>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pPr>
            <a:r>
              <a:rPr lang="en-US" altLang="en-US" sz="2000" b="1" dirty="0" err="1">
                <a:solidFill>
                  <a:srgbClr val="000000"/>
                </a:solidFill>
              </a:rPr>
              <a:t>SCRUM TEAM</a:t>
            </a:r>
            <a:r>
              <a:rPr lang="en-US" altLang="en-US" sz="2000" dirty="0" err="1">
                <a:solidFill>
                  <a:srgbClr val="000000"/>
                </a:solidFill>
              </a:rPr>
              <a:t> – ті, хто безпосередньо працює над про</a:t>
            </a:r>
            <a:r>
              <a:rPr lang="uk-UA" altLang="en-US" sz="2000" dirty="0" err="1">
                <a:solidFill>
                  <a:srgbClr val="000000"/>
                </a:solidFill>
              </a:rPr>
              <a:t>є</a:t>
            </a:r>
            <a:r>
              <a:rPr lang="en-US" altLang="en-US" sz="2000" dirty="0" err="1">
                <a:solidFill>
                  <a:srgbClr val="000000"/>
                </a:solidFill>
              </a:rPr>
              <a:t>ктом (розробники, тестувальники, дизайнери)</a:t>
            </a:r>
            <a:endParaRPr lang="en-US" altLang="en-US" sz="2000" dirty="0" err="1">
              <a:solidFill>
                <a:srgbClr val="000000"/>
              </a:solidFill>
            </a:endParaRPr>
          </a:p>
        </p:txBody>
      </p:sp>
      <p:pic>
        <p:nvPicPr>
          <p:cNvPr id="13315" name="Picture 13314"/>
          <p:cNvPicPr>
            <a:picLocks noChangeAspect="1"/>
          </p:cNvPicPr>
          <p:nvPr/>
        </p:nvPicPr>
        <p:blipFill>
          <a:blip r:embed="rId1"/>
          <a:stretch>
            <a:fillRect/>
          </a:stretch>
        </p:blipFill>
        <p:spPr>
          <a:xfrm>
            <a:off x="325438" y="2138363"/>
            <a:ext cx="8416925" cy="4733925"/>
          </a:xfrm>
          <a:prstGeom prst="rect">
            <a:avLst/>
          </a:prstGeom>
          <a:noFill/>
          <a:ln w="9525">
            <a:noFill/>
          </a:ln>
        </p:spPr>
      </p:pic>
    </p:spTree>
  </p:cSld>
  <p:clrMapOvr>
    <a:masterClrMapping/>
  </p:clrMapOvr>
  <p:transition spd="med"/>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Text Box 14336"/>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ru-RU" altLang="x-none" sz="4200" dirty="0" err="1">
                <a:solidFill>
                  <a:srgbClr val="FFFFFF"/>
                </a:solidFill>
                <a:sym typeface="+mn-ea"/>
              </a:rPr>
              <a:t>Основн</a:t>
            </a:r>
            <a:r>
              <a:rPr lang="uk-UA" altLang="ru-RU" sz="4200" dirty="0" err="1">
                <a:solidFill>
                  <a:srgbClr val="FFFFFF"/>
                </a:solidFill>
                <a:sym typeface="+mn-ea"/>
              </a:rPr>
              <a:t>і</a:t>
            </a:r>
            <a:r>
              <a:rPr lang="ru-RU" altLang="x-none" sz="4200" dirty="0" err="1">
                <a:solidFill>
                  <a:srgbClr val="FFFFFF"/>
                </a:solidFill>
                <a:sym typeface="+mn-ea"/>
              </a:rPr>
              <a:t> учасники SCRUM</a:t>
            </a:r>
            <a:endParaRPr lang="ru-RU" altLang="x-none" sz="4200" dirty="0" err="1">
              <a:solidFill>
                <a:srgbClr val="FFFFFF"/>
              </a:solidFill>
            </a:endParaRPr>
          </a:p>
        </p:txBody>
      </p:sp>
      <p:sp>
        <p:nvSpPr>
          <p:cNvPr id="14338" name="Text Box 14337"/>
          <p:cNvSpPr txBox="1"/>
          <p:nvPr/>
        </p:nvSpPr>
        <p:spPr>
          <a:xfrm>
            <a:off x="395288" y="1385888"/>
            <a:ext cx="8208962" cy="4419600"/>
          </a:xfrm>
          <a:prstGeom prst="rect">
            <a:avLst/>
          </a:prstGeom>
          <a:noFill/>
          <a:ln w="9525">
            <a:noFill/>
          </a:ln>
        </p:spPr>
        <p:txBody>
          <a:bodyPr wrap="square" lIns="91440" tIns="45720" rIns="91440" bIns="45720" anchor="t" anchorCtr="0"/>
          <a:p>
            <a:pPr defTabSz="457200">
              <a:spcBef>
                <a:spcPts val="500"/>
              </a:spcBef>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000" b="1" dirty="0" err="1">
                <a:solidFill>
                  <a:srgbClr val="000000"/>
                </a:solidFill>
              </a:rPr>
              <a:t>PRODUCT OWNER</a:t>
            </a:r>
            <a:r>
              <a:rPr lang="en-US" altLang="en-US" sz="2000" dirty="0" err="1">
                <a:solidFill>
                  <a:srgbClr val="000000"/>
                </a:solidFill>
              </a:rPr>
              <a:t> - представляє замовника, ключове завдання якого висувати вимоги до продукту</a:t>
            </a:r>
            <a:endParaRPr lang="en-US" altLang="en-US" sz="2000" dirty="0" err="1">
              <a:solidFill>
                <a:srgbClr val="000000"/>
              </a:solidFill>
            </a:endParaRPr>
          </a:p>
        </p:txBody>
      </p:sp>
      <p:pic>
        <p:nvPicPr>
          <p:cNvPr id="14339" name="Picture 14338"/>
          <p:cNvPicPr>
            <a:picLocks noChangeAspect="1"/>
          </p:cNvPicPr>
          <p:nvPr/>
        </p:nvPicPr>
        <p:blipFill>
          <a:blip r:embed="rId1"/>
          <a:stretch>
            <a:fillRect/>
          </a:stretch>
        </p:blipFill>
        <p:spPr>
          <a:xfrm>
            <a:off x="1011238" y="2103438"/>
            <a:ext cx="7013575" cy="4660900"/>
          </a:xfrm>
          <a:prstGeom prst="rect">
            <a:avLst/>
          </a:prstGeom>
          <a:noFill/>
          <a:ln w="9525">
            <a:noFill/>
          </a:ln>
        </p:spPr>
      </p:pic>
    </p:spTree>
  </p:cSld>
  <p:clrMapOvr>
    <a:masterClrMapping/>
  </p:clrMapOvr>
  <p:transition spd="med"/>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Text Box 15360"/>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ru-RU" altLang="x-none" sz="4200" dirty="0" err="1">
                <a:solidFill>
                  <a:srgbClr val="FFFFFF"/>
                </a:solidFill>
                <a:sym typeface="+mn-ea"/>
              </a:rPr>
              <a:t>Основн</a:t>
            </a:r>
            <a:r>
              <a:rPr lang="uk-UA" altLang="ru-RU" sz="4200" dirty="0" err="1">
                <a:solidFill>
                  <a:srgbClr val="FFFFFF"/>
                </a:solidFill>
                <a:sym typeface="+mn-ea"/>
              </a:rPr>
              <a:t>і</a:t>
            </a:r>
            <a:r>
              <a:rPr lang="ru-RU" altLang="x-none" sz="4200" dirty="0" err="1">
                <a:solidFill>
                  <a:srgbClr val="FFFFFF"/>
                </a:solidFill>
                <a:sym typeface="+mn-ea"/>
              </a:rPr>
              <a:t> учасники SCRUM</a:t>
            </a:r>
            <a:endParaRPr lang="ru-RU" altLang="x-none" sz="4200" dirty="0" err="1">
              <a:solidFill>
                <a:srgbClr val="FFFFFF"/>
              </a:solidFill>
            </a:endParaRPr>
          </a:p>
        </p:txBody>
      </p:sp>
      <p:sp>
        <p:nvSpPr>
          <p:cNvPr id="15362" name="Text Box 15361"/>
          <p:cNvSpPr txBox="1"/>
          <p:nvPr/>
        </p:nvSpPr>
        <p:spPr>
          <a:xfrm>
            <a:off x="395288" y="1385888"/>
            <a:ext cx="8208962" cy="4419600"/>
          </a:xfrm>
          <a:prstGeom prst="rect">
            <a:avLst/>
          </a:prstGeom>
          <a:noFill/>
          <a:ln w="9525">
            <a:noFill/>
          </a:ln>
        </p:spPr>
        <p:txBody>
          <a:bodyPr wrap="square" lIns="91440" tIns="45720" rIns="91440" bIns="45720" anchor="t" anchorCtr="0"/>
          <a:p>
            <a:pPr defTabSz="457200">
              <a:spcBef>
                <a:spcPts val="500"/>
              </a:spcBef>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000" b="1" dirty="0" err="1">
                <a:solidFill>
                  <a:srgbClr val="000000"/>
                </a:solidFill>
              </a:rPr>
              <a:t>SCRUM MASTER</a:t>
            </a:r>
            <a:r>
              <a:rPr lang="en-US" altLang="en-US" sz="2000" dirty="0" err="1">
                <a:solidFill>
                  <a:srgbClr val="000000"/>
                </a:solidFill>
              </a:rPr>
              <a:t> - стежить за виконанням усіх процесів чітко </a:t>
            </a:r>
            <a:r>
              <a:rPr lang="uk-UA" altLang="en-US" sz="2000" dirty="0" err="1">
                <a:solidFill>
                  <a:srgbClr val="000000"/>
                </a:solidFill>
              </a:rPr>
              <a:t>       </a:t>
            </a:r>
            <a:r>
              <a:rPr lang="en-US" altLang="en-US" sz="2000" dirty="0" err="1">
                <a:solidFill>
                  <a:srgbClr val="000000"/>
                </a:solidFill>
              </a:rPr>
              <a:t>за планом</a:t>
            </a:r>
            <a:endParaRPr lang="en-US" altLang="en-US" sz="2000" dirty="0" err="1">
              <a:solidFill>
                <a:srgbClr val="000000"/>
              </a:solidFill>
            </a:endParaRPr>
          </a:p>
        </p:txBody>
      </p:sp>
      <p:pic>
        <p:nvPicPr>
          <p:cNvPr id="15363" name="Picture 15362"/>
          <p:cNvPicPr>
            <a:picLocks noChangeAspect="1"/>
          </p:cNvPicPr>
          <p:nvPr/>
        </p:nvPicPr>
        <p:blipFill>
          <a:blip r:embed="rId1"/>
          <a:stretch>
            <a:fillRect/>
          </a:stretch>
        </p:blipFill>
        <p:spPr>
          <a:xfrm>
            <a:off x="313055" y="2103755"/>
            <a:ext cx="8445500" cy="4826000"/>
          </a:xfrm>
          <a:prstGeom prst="rect">
            <a:avLst/>
          </a:prstGeom>
          <a:noFill/>
          <a:ln w="9525">
            <a:noFill/>
          </a:ln>
        </p:spPr>
      </p:pic>
    </p:spTree>
  </p:cSld>
  <p:clrMapOvr>
    <a:masterClrMapping/>
  </p:clrMapOvr>
  <p:transition spd="med"/>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Text Box 1638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ru-RU" altLang="x-none" sz="4200" dirty="0" err="1">
                <a:solidFill>
                  <a:srgbClr val="FFFFFF"/>
                </a:solidFill>
              </a:rPr>
              <a:t>Опис</a:t>
            </a:r>
            <a:r>
              <a:rPr lang="uk-UA" altLang="ru-RU" sz="4200" dirty="0" err="1">
                <a:solidFill>
                  <a:srgbClr val="FFFFFF"/>
                </a:solidFill>
              </a:rPr>
              <a:t> процесу</a:t>
            </a:r>
            <a:r>
              <a:rPr lang="ru-RU" altLang="x-none" sz="4200" dirty="0" err="1">
                <a:solidFill>
                  <a:srgbClr val="FFFFFF"/>
                </a:solidFill>
              </a:rPr>
              <a:t> SCRUM</a:t>
            </a:r>
            <a:endParaRPr lang="ru-RU" altLang="x-none" sz="4200" dirty="0" err="1">
              <a:solidFill>
                <a:srgbClr val="FFFFFF"/>
              </a:solidFill>
            </a:endParaRPr>
          </a:p>
        </p:txBody>
      </p:sp>
      <p:sp>
        <p:nvSpPr>
          <p:cNvPr id="16386" name="Text Box 16385"/>
          <p:cNvSpPr txBox="1"/>
          <p:nvPr/>
        </p:nvSpPr>
        <p:spPr>
          <a:xfrm>
            <a:off x="395288" y="1385888"/>
            <a:ext cx="8208962" cy="4419600"/>
          </a:xfrm>
          <a:prstGeom prst="rect">
            <a:avLst/>
          </a:prstGeom>
          <a:noFill/>
          <a:ln w="9525">
            <a:noFill/>
          </a:ln>
        </p:spPr>
        <p:txBody>
          <a:bodyPr wrap="square" lIns="91440" tIns="45720" rIns="91440" bIns="45720" anchor="t" anchorCtr="0"/>
          <a:p>
            <a:pPr defTabSz="457200">
              <a:spcBef>
                <a:spcPts val="500"/>
              </a:spcBef>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000" dirty="0" err="1">
                <a:solidFill>
                  <a:srgbClr val="000000"/>
                </a:solidFill>
              </a:rPr>
              <a:t>Стандартний про</a:t>
            </a:r>
            <a:r>
              <a:rPr lang="uk-UA" altLang="en-US" sz="2000" dirty="0" err="1">
                <a:solidFill>
                  <a:srgbClr val="000000"/>
                </a:solidFill>
              </a:rPr>
              <a:t>є</a:t>
            </a:r>
            <a:r>
              <a:rPr lang="en-US" altLang="en-US" sz="2000" dirty="0" err="1">
                <a:solidFill>
                  <a:srgbClr val="000000"/>
                </a:solidFill>
              </a:rPr>
              <a:t>кт по скраму починається з того, що всі збираються і продукт-о</a:t>
            </a:r>
            <a:r>
              <a:rPr lang="uk-UA" altLang="en-US" sz="2000" dirty="0" err="1">
                <a:solidFill>
                  <a:srgbClr val="000000"/>
                </a:solidFill>
              </a:rPr>
              <a:t>у</a:t>
            </a:r>
            <a:r>
              <a:rPr lang="en-US" altLang="en-US" sz="2000" dirty="0" err="1">
                <a:solidFill>
                  <a:srgbClr val="000000"/>
                </a:solidFill>
              </a:rPr>
              <a:t>нер описує команді своє бачення продукту, свою ідею. Після чого скрам-майстер із продукт-оунером складають </a:t>
            </a:r>
            <a:r>
              <a:rPr lang="en-US" altLang="en-US" sz="2000" b="1" dirty="0" err="1">
                <a:solidFill>
                  <a:srgbClr val="000000"/>
                </a:solidFill>
              </a:rPr>
              <a:t>беклог </a:t>
            </a:r>
            <a:r>
              <a:rPr lang="en-US" altLang="en-US" sz="2000" dirty="0" err="1">
                <a:solidFill>
                  <a:srgbClr val="000000"/>
                </a:solidFill>
              </a:rPr>
              <a:t>(список вимог). Кожна вимога описана </a:t>
            </a:r>
            <a:r>
              <a:rPr lang="uk-UA" altLang="en-US" sz="2000" dirty="0" err="1">
                <a:solidFill>
                  <a:srgbClr val="000000"/>
                </a:solidFill>
              </a:rPr>
              <a:t>                </a:t>
            </a:r>
            <a:r>
              <a:rPr lang="en-US" altLang="en-US" sz="2000" dirty="0" err="1">
                <a:solidFill>
                  <a:srgbClr val="000000"/>
                </a:solidFill>
              </a:rPr>
              <a:t>за допомогою 1-2 простих пропозицій та має чіткий пріоритет (умовно від 1 до 5). Команда вибирає найважливішу вимогу </a:t>
            </a:r>
            <a:r>
              <a:rPr lang="uk-UA" altLang="en-US" sz="2000" dirty="0" err="1">
                <a:solidFill>
                  <a:srgbClr val="000000"/>
                </a:solidFill>
              </a:rPr>
              <a:t>               </a:t>
            </a:r>
            <a:r>
              <a:rPr lang="en-US" altLang="en-US" sz="2000" dirty="0" err="1">
                <a:solidFill>
                  <a:srgbClr val="000000"/>
                </a:solidFill>
              </a:rPr>
              <a:t>з беклогу, і розбиває її на чіткі завдання. Кожне завдання має оцінку за часом. Приклад завдання – реалізувати екран головного меню. Умовно, це триватиме 3 години. Це робота програміста, розробка дизайну, тестування тощо. Після завершення планування команда розпочинає роботу. Процес йде, щодня в рамках спринту всі збираються на короткі мітинги, і відповідають на 3 запитання: </a:t>
            </a:r>
            <a:r>
              <a:rPr lang="en-US" altLang="en-US" sz="2000" b="1" dirty="0" err="1">
                <a:solidFill>
                  <a:srgbClr val="000000"/>
                </a:solidFill>
              </a:rPr>
              <a:t>що я зробив учора, що я зроблю сьогодні, і які у мене виникли труднощі.</a:t>
            </a:r>
            <a:endParaRPr lang="en-US" altLang="en-US" sz="2000" b="1" dirty="0" err="1">
              <a:solidFill>
                <a:srgbClr val="000000"/>
              </a:solidFill>
            </a:endParaRPr>
          </a:p>
        </p:txBody>
      </p:sp>
    </p:spTree>
  </p:cSld>
  <p:clrMapOvr>
    <a:masterClrMapping/>
  </p:clrMapOvr>
  <p:transition spd="med"/>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Text Box 17408"/>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ru-RU" altLang="x-none" sz="4200" dirty="0" err="1">
                <a:solidFill>
                  <a:srgbClr val="FFFFFF"/>
                </a:solidFill>
                <a:sym typeface="+mn-ea"/>
              </a:rPr>
              <a:t>Опис</a:t>
            </a:r>
            <a:r>
              <a:rPr lang="uk-UA" altLang="ru-RU" sz="4200" dirty="0" err="1">
                <a:solidFill>
                  <a:srgbClr val="FFFFFF"/>
                </a:solidFill>
                <a:sym typeface="+mn-ea"/>
              </a:rPr>
              <a:t> процесу</a:t>
            </a:r>
            <a:r>
              <a:rPr lang="ru-RU" altLang="x-none" sz="4200" dirty="0" err="1">
                <a:solidFill>
                  <a:srgbClr val="FFFFFF"/>
                </a:solidFill>
                <a:sym typeface="+mn-ea"/>
              </a:rPr>
              <a:t> SCRUM</a:t>
            </a:r>
            <a:endParaRPr lang="ru-RU" altLang="x-none" sz="4200" dirty="0" err="1">
              <a:solidFill>
                <a:srgbClr val="FFFFFF"/>
              </a:solidFill>
            </a:endParaRPr>
          </a:p>
        </p:txBody>
      </p:sp>
      <p:sp>
        <p:nvSpPr>
          <p:cNvPr id="17410" name="Text Box 17409"/>
          <p:cNvSpPr txBox="1"/>
          <p:nvPr/>
        </p:nvSpPr>
        <p:spPr>
          <a:xfrm>
            <a:off x="395288" y="1385888"/>
            <a:ext cx="8208962" cy="4419600"/>
          </a:xfrm>
          <a:prstGeom prst="rect">
            <a:avLst/>
          </a:prstGeom>
          <a:noFill/>
          <a:ln w="9525">
            <a:noFill/>
          </a:ln>
        </p:spPr>
        <p:txBody>
          <a:bodyPr wrap="square" lIns="91440" tIns="45720" rIns="91440" bIns="45720" anchor="t" anchorCtr="0"/>
          <a:p>
            <a:pPr defTabSz="457200">
              <a:spcBef>
                <a:spcPts val="500"/>
              </a:spcBef>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800" dirty="0" err="1">
                <a:solidFill>
                  <a:srgbClr val="000000"/>
                </a:solidFill>
              </a:rPr>
              <a:t>У разі виникнення труднощів scrum master і product owner приймають рішення щодо їх усунення. Вкрай важливо, щоб наприкінці спринту були точні результати, які можна буде продемонструвати замовнику.</a:t>
            </a:r>
            <a:endParaRPr lang="en-US" altLang="en-US" sz="1800" dirty="0" err="1">
              <a:solidFill>
                <a:srgbClr val="000000"/>
              </a:solidFill>
            </a:endParaRPr>
          </a:p>
          <a:p>
            <a:pPr defTabSz="457200">
              <a:spcBef>
                <a:spcPts val="500"/>
              </a:spcBef>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800" dirty="0" err="1">
                <a:solidFill>
                  <a:srgbClr val="000000"/>
                </a:solidFill>
              </a:rPr>
              <a:t>За підсумками спринту завжди відбувається презентація виконаної роботи. Команда підбиває підсумки і визначає, наскільки якісно було виконано планування, як добре були розбиті завдання, як вони були оцінені </a:t>
            </a:r>
            <a:r>
              <a:rPr lang="uk-UA" altLang="en-US" sz="1800" dirty="0" err="1">
                <a:solidFill>
                  <a:srgbClr val="000000"/>
                </a:solidFill>
              </a:rPr>
              <a:t>            </a:t>
            </a:r>
            <a:r>
              <a:rPr lang="en-US" altLang="en-US" sz="1800" dirty="0" err="1">
                <a:solidFill>
                  <a:srgbClr val="000000"/>
                </a:solidFill>
              </a:rPr>
              <a:t>за часом.</a:t>
            </a:r>
            <a:endParaRPr lang="en-US" altLang="en-US" sz="1800" dirty="0" err="1">
              <a:solidFill>
                <a:srgbClr val="000000"/>
              </a:solidFill>
            </a:endParaRPr>
          </a:p>
          <a:p>
            <a:pPr defTabSz="457200">
              <a:spcBef>
                <a:spcPts val="500"/>
              </a:spcBef>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800" dirty="0" err="1">
                <a:solidFill>
                  <a:srgbClr val="000000"/>
                </a:solidFill>
              </a:rPr>
              <a:t>Після цього процес повторюється заново. По суті, вся документація щодо скраму — це беклог. Нема специфікацій, немає технічних завдань. </a:t>
            </a:r>
            <a:r>
              <a:rPr lang="uk-UA" altLang="en-US" sz="1800" dirty="0" err="1">
                <a:solidFill>
                  <a:srgbClr val="000000"/>
                </a:solidFill>
              </a:rPr>
              <a:t>            </a:t>
            </a:r>
            <a:r>
              <a:rPr lang="en-US" altLang="en-US" sz="1800" dirty="0" err="1">
                <a:solidFill>
                  <a:srgbClr val="000000"/>
                </a:solidFill>
              </a:rPr>
              <a:t>Є завдання, вони виконуються, є результати – можна йти далі.</a:t>
            </a:r>
            <a:endParaRPr lang="en-US" altLang="en-US" sz="1800" dirty="0" err="1">
              <a:solidFill>
                <a:srgbClr val="000000"/>
              </a:solidFill>
            </a:endParaRPr>
          </a:p>
          <a:p>
            <a:pPr defTabSz="457200">
              <a:spcBef>
                <a:spcPts val="500"/>
              </a:spcBef>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800" dirty="0" err="1">
                <a:solidFill>
                  <a:srgbClr val="000000"/>
                </a:solidFill>
              </a:rPr>
              <a:t>SCRUM призначений для маленьких команд (кілька розробників, один тестувальник, менеджер, дизайнер). Якщо людей у ​​команді стає більше 9 – SCRUM вже не такий ефективний.</a:t>
            </a:r>
            <a:endParaRPr lang="en-US" altLang="en-US" sz="1800" dirty="0" err="1">
              <a:solidFill>
                <a:srgbClr val="000000"/>
              </a:solidFill>
            </a:endParaRPr>
          </a:p>
          <a:p>
            <a:pPr defTabSz="457200">
              <a:spcBef>
                <a:spcPts val="500"/>
              </a:spcBef>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800" dirty="0" err="1">
                <a:solidFill>
                  <a:srgbClr val="000000"/>
                </a:solidFill>
              </a:rPr>
              <a:t>SCRUM популярний, тому що продукт-оунер має постійний контроль над процесом, можна постійно додавати нові вимоги і отримувати нові апдейти.</a:t>
            </a:r>
            <a:endParaRPr lang="en-US" altLang="en-US" sz="1800" dirty="0" err="1">
              <a:solidFill>
                <a:srgbClr val="000000"/>
              </a:solidFill>
            </a:endParaRPr>
          </a:p>
        </p:txBody>
      </p:sp>
    </p:spTree>
  </p:cSld>
  <p:clrMapOvr>
    <a:masterClrMapping/>
  </p:clrMapOvr>
  <p:transition spd="med"/>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Text Box 18432"/>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ru-RU" altLang="x-none" sz="4200" dirty="0" err="1">
              <a:solidFill>
                <a:srgbClr val="FFFFFF"/>
              </a:solidFill>
            </a:endParaRPr>
          </a:p>
        </p:txBody>
      </p:sp>
      <p:sp>
        <p:nvSpPr>
          <p:cNvPr id="18434" name="Text Box 18433"/>
          <p:cNvSpPr txBox="1"/>
          <p:nvPr/>
        </p:nvSpPr>
        <p:spPr>
          <a:xfrm>
            <a:off x="395288" y="1385888"/>
            <a:ext cx="8208962" cy="4419600"/>
          </a:xfrm>
          <a:prstGeom prst="rect">
            <a:avLst/>
          </a:prstGeom>
          <a:noFill/>
          <a:ln w="9525">
            <a:noFill/>
          </a:ln>
        </p:spPr>
        <p:txBody>
          <a:bodyPr/>
          <a:p>
            <a:endParaRPr lang="en-US"/>
          </a:p>
        </p:txBody>
      </p:sp>
      <p:pic>
        <p:nvPicPr>
          <p:cNvPr id="2" name="Picture 1" descr="1_1MxamNuxWrRtMpc8ZNcwNw"/>
          <p:cNvPicPr>
            <a:picLocks noChangeAspect="1"/>
          </p:cNvPicPr>
          <p:nvPr/>
        </p:nvPicPr>
        <p:blipFill>
          <a:blip r:embed="rId1"/>
          <a:stretch>
            <a:fillRect/>
          </a:stretch>
        </p:blipFill>
        <p:spPr>
          <a:xfrm>
            <a:off x="1901190" y="0"/>
            <a:ext cx="5341620" cy="6858000"/>
          </a:xfrm>
          <a:prstGeom prst="rect">
            <a:avLst/>
          </a:prstGeom>
        </p:spPr>
      </p:pic>
      <p:pic>
        <p:nvPicPr>
          <p:cNvPr id="4" name="Picture 3"/>
          <p:cNvPicPr>
            <a:picLocks noChangeAspect="1"/>
          </p:cNvPicPr>
          <p:nvPr/>
        </p:nvPicPr>
        <p:blipFill>
          <a:blip r:embed="rId2"/>
          <a:stretch>
            <a:fillRect/>
          </a:stretch>
        </p:blipFill>
        <p:spPr>
          <a:xfrm>
            <a:off x="5742305" y="220345"/>
            <a:ext cx="376555" cy="368300"/>
          </a:xfrm>
          <a:prstGeom prst="rect">
            <a:avLst/>
          </a:prstGeom>
        </p:spPr>
      </p:pic>
      <p:pic>
        <p:nvPicPr>
          <p:cNvPr id="6" name="Picture 5"/>
          <p:cNvPicPr>
            <a:picLocks noChangeAspect="1"/>
          </p:cNvPicPr>
          <p:nvPr/>
        </p:nvPicPr>
        <p:blipFill>
          <a:blip r:embed="rId2"/>
          <a:stretch>
            <a:fillRect/>
          </a:stretch>
        </p:blipFill>
        <p:spPr>
          <a:xfrm>
            <a:off x="6012180" y="220345"/>
            <a:ext cx="376555" cy="368300"/>
          </a:xfrm>
          <a:prstGeom prst="rect">
            <a:avLst/>
          </a:prstGeom>
        </p:spPr>
      </p:pic>
      <p:pic>
        <p:nvPicPr>
          <p:cNvPr id="7" name="Picture 6"/>
          <p:cNvPicPr>
            <a:picLocks noChangeAspect="1"/>
          </p:cNvPicPr>
          <p:nvPr/>
        </p:nvPicPr>
        <p:blipFill>
          <a:blip r:embed="rId2"/>
          <a:stretch>
            <a:fillRect/>
          </a:stretch>
        </p:blipFill>
        <p:spPr>
          <a:xfrm>
            <a:off x="6282055" y="220345"/>
            <a:ext cx="376555" cy="368300"/>
          </a:xfrm>
          <a:prstGeom prst="rect">
            <a:avLst/>
          </a:prstGeom>
        </p:spPr>
      </p:pic>
      <p:pic>
        <p:nvPicPr>
          <p:cNvPr id="8" name="Picture 7"/>
          <p:cNvPicPr>
            <a:picLocks noChangeAspect="1"/>
          </p:cNvPicPr>
          <p:nvPr/>
        </p:nvPicPr>
        <p:blipFill>
          <a:blip r:embed="rId2"/>
          <a:stretch>
            <a:fillRect/>
          </a:stretch>
        </p:blipFill>
        <p:spPr>
          <a:xfrm>
            <a:off x="6552565" y="220345"/>
            <a:ext cx="376555" cy="368300"/>
          </a:xfrm>
          <a:prstGeom prst="rect">
            <a:avLst/>
          </a:prstGeom>
        </p:spPr>
      </p:pic>
      <p:pic>
        <p:nvPicPr>
          <p:cNvPr id="9" name="Picture 8"/>
          <p:cNvPicPr>
            <a:picLocks noChangeAspect="1"/>
          </p:cNvPicPr>
          <p:nvPr/>
        </p:nvPicPr>
        <p:blipFill>
          <a:blip r:embed="rId2"/>
          <a:stretch>
            <a:fillRect/>
          </a:stretch>
        </p:blipFill>
        <p:spPr>
          <a:xfrm>
            <a:off x="6822440" y="220345"/>
            <a:ext cx="376555" cy="368300"/>
          </a:xfrm>
          <a:prstGeom prst="rect">
            <a:avLst/>
          </a:prstGeom>
        </p:spPr>
      </p:pic>
      <p:pic>
        <p:nvPicPr>
          <p:cNvPr id="11" name="Picture 10"/>
          <p:cNvPicPr>
            <a:picLocks noChangeAspect="1"/>
          </p:cNvPicPr>
          <p:nvPr/>
        </p:nvPicPr>
        <p:blipFill>
          <a:blip r:embed="rId3"/>
          <a:stretch>
            <a:fillRect/>
          </a:stretch>
        </p:blipFill>
        <p:spPr>
          <a:xfrm>
            <a:off x="4706620" y="6534150"/>
            <a:ext cx="2115820" cy="337185"/>
          </a:xfrm>
          <a:prstGeom prst="rect">
            <a:avLst/>
          </a:prstGeom>
        </p:spPr>
      </p:pic>
      <p:pic>
        <p:nvPicPr>
          <p:cNvPr id="13" name="Picture 12"/>
          <p:cNvPicPr>
            <a:picLocks noChangeAspect="1"/>
          </p:cNvPicPr>
          <p:nvPr/>
        </p:nvPicPr>
        <p:blipFill>
          <a:blip r:embed="rId2"/>
          <a:stretch>
            <a:fillRect/>
          </a:stretch>
        </p:blipFill>
        <p:spPr>
          <a:xfrm>
            <a:off x="6777355" y="6534150"/>
            <a:ext cx="376555" cy="368300"/>
          </a:xfrm>
          <a:prstGeom prst="rect">
            <a:avLst/>
          </a:prstGeom>
        </p:spPr>
      </p:pic>
      <p:pic>
        <p:nvPicPr>
          <p:cNvPr id="14" name="Picture 13"/>
          <p:cNvPicPr>
            <a:picLocks noChangeAspect="1"/>
          </p:cNvPicPr>
          <p:nvPr/>
        </p:nvPicPr>
        <p:blipFill>
          <a:blip r:embed="rId3"/>
          <a:stretch>
            <a:fillRect/>
          </a:stretch>
        </p:blipFill>
        <p:spPr>
          <a:xfrm>
            <a:off x="5472430" y="5972810"/>
            <a:ext cx="1971040" cy="314325"/>
          </a:xfrm>
          <a:prstGeom prst="rect">
            <a:avLst/>
          </a:prstGeom>
        </p:spPr>
      </p:pic>
      <p:pic>
        <p:nvPicPr>
          <p:cNvPr id="15" name="Picture 14"/>
          <p:cNvPicPr>
            <a:picLocks noChangeAspect="1"/>
          </p:cNvPicPr>
          <p:nvPr/>
        </p:nvPicPr>
        <p:blipFill>
          <a:blip r:embed="rId4"/>
          <a:stretch>
            <a:fillRect/>
          </a:stretch>
        </p:blipFill>
        <p:spPr>
          <a:xfrm>
            <a:off x="7153910" y="5499100"/>
            <a:ext cx="390525" cy="1304925"/>
          </a:xfrm>
          <a:prstGeom prst="rect">
            <a:avLst/>
          </a:prstGeom>
        </p:spPr>
      </p:pic>
    </p:spTree>
  </p:cSld>
  <p:clrMapOvr>
    <a:masterClrMapping/>
  </p:clrMapOvr>
  <p:transition spd="med"/>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Text Box 19456"/>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4200" dirty="0" err="1">
                <a:solidFill>
                  <a:srgbClr val="FFFFFF"/>
                </a:solidFill>
              </a:rPr>
              <a:t>Історична довідка</a:t>
            </a:r>
            <a:endParaRPr lang="uk-UA" altLang="ru-RU" sz="4200" dirty="0" err="1">
              <a:solidFill>
                <a:srgbClr val="FFFFFF"/>
              </a:solidFill>
            </a:endParaRPr>
          </a:p>
        </p:txBody>
      </p:sp>
      <p:sp>
        <p:nvSpPr>
          <p:cNvPr id="19458" name="Text Box 19457"/>
          <p:cNvSpPr txBox="1"/>
          <p:nvPr/>
        </p:nvSpPr>
        <p:spPr>
          <a:xfrm>
            <a:off x="395288" y="1385888"/>
            <a:ext cx="8208962" cy="4419600"/>
          </a:xfrm>
          <a:prstGeom prst="rect">
            <a:avLst/>
          </a:prstGeom>
          <a:noFill/>
          <a:ln w="9525">
            <a:noFill/>
          </a:ln>
        </p:spPr>
        <p:txBody>
          <a:bodyPr wrap="square" lIns="91440" tIns="45720" rIns="91440" bIns="45720" anchor="t" anchorCtr="0"/>
          <a:p>
            <a:pPr defTabSz="457200">
              <a:spcBef>
                <a:spcPts val="500"/>
              </a:spcBef>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100" dirty="0" err="1">
                <a:solidFill>
                  <a:srgbClr val="000000"/>
                </a:solidFill>
              </a:rPr>
              <a:t>Підхід вперше описали Хіротака Такеуті та Ікудзіро Нонака </a:t>
            </a:r>
            <a:r>
              <a:rPr lang="uk-UA" altLang="en-US" sz="2100" dirty="0" err="1">
                <a:solidFill>
                  <a:srgbClr val="000000"/>
                </a:solidFill>
              </a:rPr>
              <a:t>       </a:t>
            </a:r>
            <a:r>
              <a:rPr lang="en-US" altLang="en-US" sz="2100" dirty="0" err="1">
                <a:solidFill>
                  <a:srgbClr val="000000"/>
                </a:solidFill>
              </a:rPr>
              <a:t>у статті </a:t>
            </a:r>
            <a:r>
              <a:rPr lang="en-US" altLang="en-US" sz="2100" dirty="0" err="1">
                <a:solidFill>
                  <a:srgbClr val="000000"/>
                </a:solidFill>
                <a:hlinkClick r:id="rId1" tooltip="" action="ppaction://hlinkfile"/>
              </a:rPr>
              <a:t>The New Product Development Game</a:t>
            </a:r>
            <a:r>
              <a:rPr lang="en-US" altLang="en-US" sz="2100" dirty="0" err="1">
                <a:solidFill>
                  <a:srgbClr val="000000"/>
                </a:solidFill>
              </a:rPr>
              <a:t> у січні 1986 року. Вони зазначили, що про</a:t>
            </a:r>
            <a:r>
              <a:rPr lang="uk-UA" altLang="en-US" sz="2100" dirty="0" err="1">
                <a:solidFill>
                  <a:srgbClr val="000000"/>
                </a:solidFill>
              </a:rPr>
              <a:t>є</a:t>
            </a:r>
            <a:r>
              <a:rPr lang="en-US" altLang="en-US" sz="2100" dirty="0" err="1">
                <a:solidFill>
                  <a:srgbClr val="000000"/>
                </a:solidFill>
              </a:rPr>
              <a:t>кти, над якими працюють невеликі команди зі спеціалістів різного профілю, зазвичай систематично роблять найкращі результати, і пояснили це як </a:t>
            </a:r>
            <a:r>
              <a:rPr lang="" altLang="en-US" sz="2100" dirty="0" err="1">
                <a:solidFill>
                  <a:srgbClr val="000000"/>
                </a:solidFill>
              </a:rPr>
              <a:t>«</a:t>
            </a:r>
            <a:r>
              <a:rPr lang="en-US" altLang="en-US" sz="2100" dirty="0" err="1">
                <a:solidFill>
                  <a:srgbClr val="000000"/>
                </a:solidFill>
              </a:rPr>
              <a:t>підхід регбі</a:t>
            </a:r>
            <a:r>
              <a:rPr lang="" altLang="en-US" sz="2100" dirty="0" err="1">
                <a:solidFill>
                  <a:srgbClr val="000000"/>
                </a:solidFill>
              </a:rPr>
              <a:t>»</a:t>
            </a:r>
            <a:r>
              <a:rPr lang="en-US" altLang="en-US" sz="2100" dirty="0" err="1">
                <a:solidFill>
                  <a:srgbClr val="000000"/>
                </a:solidFill>
              </a:rPr>
              <a:t>.</a:t>
            </a:r>
            <a:endParaRPr lang="en-US" altLang="en-US" sz="2100" dirty="0" err="1">
              <a:solidFill>
                <a:srgbClr val="000000"/>
              </a:solidFill>
            </a:endParaRPr>
          </a:p>
        </p:txBody>
      </p:sp>
      <p:pic>
        <p:nvPicPr>
          <p:cNvPr id="19459" name="Picture 19458"/>
          <p:cNvPicPr>
            <a:picLocks noChangeAspect="1"/>
          </p:cNvPicPr>
          <p:nvPr/>
        </p:nvPicPr>
        <p:blipFill>
          <a:blip r:embed="rId2"/>
          <a:stretch>
            <a:fillRect/>
          </a:stretch>
        </p:blipFill>
        <p:spPr>
          <a:xfrm>
            <a:off x="-44450" y="3387725"/>
            <a:ext cx="9129713" cy="3448050"/>
          </a:xfrm>
          <a:prstGeom prst="rect">
            <a:avLst/>
          </a:prstGeom>
          <a:noFill/>
          <a:ln w="9525">
            <a:noFill/>
          </a:ln>
        </p:spPr>
      </p:pic>
      <p:pic>
        <p:nvPicPr>
          <p:cNvPr id="2" name="Picture 1"/>
          <p:cNvPicPr>
            <a:picLocks noChangeAspect="1"/>
          </p:cNvPicPr>
          <p:nvPr/>
        </p:nvPicPr>
        <p:blipFill>
          <a:blip r:embed="rId3"/>
          <a:stretch>
            <a:fillRect/>
          </a:stretch>
        </p:blipFill>
        <p:spPr>
          <a:xfrm>
            <a:off x="3716655" y="3338830"/>
            <a:ext cx="5175250" cy="3162300"/>
          </a:xfrm>
          <a:prstGeom prst="rect">
            <a:avLst/>
          </a:prstGeom>
        </p:spPr>
      </p:pic>
      <p:sp>
        <p:nvSpPr>
          <p:cNvPr id="3" name="Text Box 2"/>
          <p:cNvSpPr txBox="1"/>
          <p:nvPr/>
        </p:nvSpPr>
        <p:spPr>
          <a:xfrm>
            <a:off x="3671570" y="4058920"/>
            <a:ext cx="4539615" cy="1814830"/>
          </a:xfrm>
          <a:prstGeom prst="rect">
            <a:avLst/>
          </a:prstGeom>
        </p:spPr>
        <p:txBody>
          <a:bodyPr wrap="square">
            <a:spAutoFit/>
          </a:bodyPr>
          <a:p>
            <a:pPr algn="ctr"/>
            <a:r>
              <a:rPr sz="1600" b="1">
                <a:solidFill>
                  <a:schemeClr val="tx1"/>
                </a:solidFill>
              </a:rPr>
              <a:t>Слово Scrum походить від спортивної термінології, використовується в грі регбі, позначає </a:t>
            </a:r>
            <a:r>
              <a:rPr sz="1600" b="1">
                <a:solidFill>
                  <a:srgbClr val="0070C0"/>
                </a:solidFill>
              </a:rPr>
              <a:t>сутичку </a:t>
            </a:r>
            <a:r>
              <a:rPr sz="1600" b="1">
                <a:solidFill>
                  <a:schemeClr val="tx1"/>
                </a:solidFill>
              </a:rPr>
              <a:t>(</a:t>
            </a:r>
            <a:r>
              <a:rPr lang="uk-UA" sz="1600" b="1">
                <a:solidFill>
                  <a:schemeClr val="tx1"/>
                </a:solidFill>
              </a:rPr>
              <a:t>стичку</a:t>
            </a:r>
            <a:r>
              <a:rPr sz="1600" b="1">
                <a:solidFill>
                  <a:schemeClr val="tx1"/>
                </a:solidFill>
              </a:rPr>
              <a:t>).</a:t>
            </a:r>
            <a:endParaRPr sz="1600" b="1">
              <a:solidFill>
                <a:schemeClr val="tx1"/>
              </a:solidFill>
            </a:endParaRPr>
          </a:p>
          <a:p>
            <a:pPr algn="ctr"/>
            <a:r>
              <a:rPr sz="1600" b="1">
                <a:solidFill>
                  <a:schemeClr val="tx1"/>
                </a:solidFill>
              </a:rPr>
              <a:t>Поняття означає злагоджені командні дії, спрямовані на заволодіння м’ячем. </a:t>
            </a:r>
            <a:r>
              <a:rPr lang="uk-UA" sz="1600" b="1">
                <a:solidFill>
                  <a:schemeClr val="tx1"/>
                </a:solidFill>
              </a:rPr>
              <a:t>   </a:t>
            </a:r>
            <a:r>
              <a:rPr sz="1600" b="1">
                <a:solidFill>
                  <a:schemeClr val="tx1"/>
                </a:solidFill>
              </a:rPr>
              <a:t>Кожен гравець виконує свої функції </a:t>
            </a:r>
            <a:r>
              <a:rPr lang="uk-UA" sz="1600" b="1">
                <a:solidFill>
                  <a:schemeClr val="tx1"/>
                </a:solidFill>
              </a:rPr>
              <a:t>      </a:t>
            </a:r>
            <a:r>
              <a:rPr sz="1600" b="1">
                <a:solidFill>
                  <a:schemeClr val="tx1"/>
                </a:solidFill>
              </a:rPr>
              <a:t>для досягнення єдиної мети.</a:t>
            </a:r>
            <a:endParaRPr sz="1600" b="1">
              <a:solidFill>
                <a:schemeClr val="tx1"/>
              </a:solidFill>
            </a:endParaRPr>
          </a:p>
        </p:txBody>
      </p:sp>
    </p:spTree>
  </p:cSld>
  <p:clrMapOvr>
    <a:masterClrMapping/>
  </p:clrMapOvr>
  <p:transition spd="med"/>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Text Box 20480"/>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4200" dirty="0" err="1">
                <a:solidFill>
                  <a:srgbClr val="FFFFFF"/>
                </a:solidFill>
                <a:sym typeface="+mn-ea"/>
              </a:rPr>
              <a:t>Історична довідка</a:t>
            </a:r>
            <a:endParaRPr lang="ru-RU" altLang="x-none" sz="4200" dirty="0" err="1">
              <a:solidFill>
                <a:srgbClr val="FFFFFF"/>
              </a:solidFill>
            </a:endParaRPr>
          </a:p>
        </p:txBody>
      </p:sp>
      <p:sp>
        <p:nvSpPr>
          <p:cNvPr id="20482" name="Text Box 20481"/>
          <p:cNvSpPr txBox="1"/>
          <p:nvPr/>
        </p:nvSpPr>
        <p:spPr>
          <a:xfrm>
            <a:off x="395288" y="1385888"/>
            <a:ext cx="8208962" cy="4419600"/>
          </a:xfrm>
          <a:prstGeom prst="rect">
            <a:avLst/>
          </a:prstGeom>
          <a:noFill/>
          <a:ln w="9525">
            <a:noFill/>
          </a:ln>
        </p:spPr>
        <p:txBody>
          <a:bodyPr wrap="square" lIns="91440" tIns="45720" rIns="91440" bIns="45720" anchor="t" anchorCtr="0"/>
          <a:p>
            <a:pPr defTabSz="457200">
              <a:spcBef>
                <a:spcPts val="500"/>
              </a:spcBef>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000" dirty="0" err="1">
                <a:solidFill>
                  <a:srgbClr val="000000"/>
                </a:solidFill>
              </a:rPr>
              <a:t>Методологія SCRUM, щойно встигнувши з'явитися, здійснила справжню революцію у світі IT. </a:t>
            </a:r>
            <a:r>
              <a:rPr lang="en-US" altLang="en-US" sz="2000" b="1" dirty="0" err="1">
                <a:solidFill>
                  <a:srgbClr val="000000"/>
                </a:solidFill>
              </a:rPr>
              <a:t>Саме SCRUM започаткував таких гігантів як Microsoft, Google та Amazon. </a:t>
            </a:r>
            <a:r>
              <a:rPr lang="en-US" altLang="en-US" sz="2000" dirty="0" err="1">
                <a:solidFill>
                  <a:srgbClr val="000000"/>
                </a:solidFill>
              </a:rPr>
              <a:t>Вперше методологія SCRUM була представлена ​​на загальний огляд задокументованої, чітко сформованої та описаної </a:t>
            </a:r>
            <a:r>
              <a:rPr lang="uk-UA" altLang="en-US" sz="2000" dirty="0" err="1">
                <a:solidFill>
                  <a:srgbClr val="000000"/>
                </a:solidFill>
              </a:rPr>
              <a:t>у 1995 році </a:t>
            </a:r>
            <a:r>
              <a:rPr lang="en-US" altLang="en-US" sz="2000" dirty="0" err="1">
                <a:solidFill>
                  <a:srgbClr val="000000"/>
                </a:solidFill>
              </a:rPr>
              <a:t>спільно </a:t>
            </a:r>
            <a:r>
              <a:rPr lang="uk-UA" altLang="en-US" sz="2000" dirty="0" err="1">
                <a:solidFill>
                  <a:srgbClr val="000000"/>
                </a:solidFill>
              </a:rPr>
              <a:t>                     </a:t>
            </a:r>
            <a:r>
              <a:rPr lang="en-US" altLang="en-US" sz="2000" dirty="0" err="1">
                <a:solidFill>
                  <a:srgbClr val="000000"/>
                </a:solidFill>
              </a:rPr>
              <a:t>Кеном Швабером та Джеффом Сазерлендом.</a:t>
            </a:r>
            <a:endParaRPr lang="en-US" altLang="en-US" sz="2000" dirty="0" err="1">
              <a:solidFill>
                <a:srgbClr val="000000"/>
              </a:solidFill>
            </a:endParaRPr>
          </a:p>
        </p:txBody>
      </p:sp>
      <p:pic>
        <p:nvPicPr>
          <p:cNvPr id="20483" name="Picture 20482"/>
          <p:cNvPicPr>
            <a:picLocks noChangeAspect="1"/>
          </p:cNvPicPr>
          <p:nvPr/>
        </p:nvPicPr>
        <p:blipFill>
          <a:blip r:embed="rId1"/>
          <a:stretch>
            <a:fillRect/>
          </a:stretch>
        </p:blipFill>
        <p:spPr>
          <a:xfrm>
            <a:off x="787400" y="3376613"/>
            <a:ext cx="3857625" cy="3479800"/>
          </a:xfrm>
          <a:prstGeom prst="rect">
            <a:avLst/>
          </a:prstGeom>
          <a:noFill/>
          <a:ln w="9525">
            <a:noFill/>
          </a:ln>
        </p:spPr>
      </p:pic>
      <p:sp>
        <p:nvSpPr>
          <p:cNvPr id="21506" name="Text Box 21505"/>
          <p:cNvSpPr txBox="1"/>
          <p:nvPr/>
        </p:nvSpPr>
        <p:spPr>
          <a:xfrm>
            <a:off x="4689475" y="3340735"/>
            <a:ext cx="3876040" cy="4419600"/>
          </a:xfrm>
          <a:prstGeom prst="rect">
            <a:avLst/>
          </a:prstGeom>
          <a:noFill/>
          <a:ln w="9525">
            <a:noFill/>
          </a:ln>
        </p:spPr>
        <p:txBody>
          <a:bodyPr wrap="square" lIns="91440" tIns="45720" rIns="91440" bIns="45720" anchor="t" anchorCtr="0"/>
          <a:p>
            <a:pPr marL="209550" indent="-209550" defTabSz="457200">
              <a:spcBef>
                <a:spcPts val="500"/>
              </a:spcBef>
              <a:buSzPct val="45000"/>
              <a:buFont typeface="Wingdings" panose="05000000000000000000" pitchFamily="2" charset="2"/>
              <a:buChar char=""/>
              <a:tabLst>
                <a:tab pos="209550" algn="l"/>
                <a:tab pos="666750" algn="l"/>
                <a:tab pos="1123950" algn="l"/>
                <a:tab pos="1581150" algn="l"/>
                <a:tab pos="2038350" algn="l"/>
                <a:tab pos="2495550" algn="l"/>
                <a:tab pos="2952750" algn="l"/>
                <a:tab pos="3409950" algn="l"/>
                <a:tab pos="3867150" algn="l"/>
                <a:tab pos="4324350" algn="l"/>
                <a:tab pos="4781550" algn="l"/>
                <a:tab pos="5238750" algn="l"/>
                <a:tab pos="5695950" algn="l"/>
                <a:tab pos="6153150" algn="l"/>
                <a:tab pos="6610350" algn="l"/>
                <a:tab pos="7067550" algn="l"/>
                <a:tab pos="7524750" algn="l"/>
                <a:tab pos="7981950" algn="l"/>
                <a:tab pos="8439150" algn="l"/>
                <a:tab pos="8896350" algn="l"/>
                <a:tab pos="9353550" algn="l"/>
              </a:tabLst>
            </a:pPr>
            <a:r>
              <a:rPr lang="ru-RU" altLang="x-none" dirty="0" err="1">
                <a:solidFill>
                  <a:srgbClr val="CCCCFF"/>
                </a:solidFill>
                <a:hlinkClick r:id="rId2"/>
              </a:rPr>
              <a:t>https://www.scrum.org/resources</a:t>
            </a:r>
            <a:endParaRPr lang="ru-RU" altLang="x-none" dirty="0" err="1">
              <a:solidFill>
                <a:srgbClr val="CCCCFF"/>
              </a:solidFill>
              <a:hlinkClick r:id="rId2"/>
            </a:endParaRPr>
          </a:p>
          <a:p>
            <a:pPr marL="209550" indent="-209550" defTabSz="457200">
              <a:spcBef>
                <a:spcPts val="500"/>
              </a:spcBef>
              <a:buSzPct val="45000"/>
              <a:buFont typeface="Wingdings" panose="05000000000000000000" pitchFamily="2" charset="2"/>
              <a:buChar char=""/>
              <a:tabLst>
                <a:tab pos="209550" algn="l"/>
                <a:tab pos="666750" algn="l"/>
                <a:tab pos="1123950" algn="l"/>
                <a:tab pos="1581150" algn="l"/>
                <a:tab pos="2038350" algn="l"/>
                <a:tab pos="2495550" algn="l"/>
                <a:tab pos="2952750" algn="l"/>
                <a:tab pos="3409950" algn="l"/>
                <a:tab pos="3867150" algn="l"/>
                <a:tab pos="4324350" algn="l"/>
                <a:tab pos="4781550" algn="l"/>
                <a:tab pos="5238750" algn="l"/>
                <a:tab pos="5695950" algn="l"/>
                <a:tab pos="6153150" algn="l"/>
                <a:tab pos="6610350" algn="l"/>
                <a:tab pos="7067550" algn="l"/>
                <a:tab pos="7524750" algn="l"/>
                <a:tab pos="7981950" algn="l"/>
                <a:tab pos="8439150" algn="l"/>
                <a:tab pos="8896350" algn="l"/>
                <a:tab pos="9353550" algn="l"/>
              </a:tabLst>
            </a:pPr>
            <a:r>
              <a:rPr lang="ru-RU" altLang="x-none" dirty="0" err="1">
                <a:solidFill>
                  <a:srgbClr val="CCCCFF"/>
                </a:solidFill>
                <a:hlinkClick r:id="rId3"/>
              </a:rPr>
              <a:t>https://www.scrum.ua/books</a:t>
            </a:r>
            <a:endParaRPr lang="ru-RU" altLang="x-none" dirty="0" err="1">
              <a:solidFill>
                <a:srgbClr val="CCCCFF"/>
              </a:solidFill>
              <a:hlinkClick r:id="rId3"/>
            </a:endParaRPr>
          </a:p>
          <a:p>
            <a:pPr marL="209550" indent="-209550" defTabSz="457200">
              <a:spcBef>
                <a:spcPts val="500"/>
              </a:spcBef>
              <a:buSzPct val="45000"/>
              <a:buFont typeface="Wingdings" panose="05000000000000000000" pitchFamily="2" charset="2"/>
              <a:buChar char=""/>
              <a:tabLst>
                <a:tab pos="209550" algn="l"/>
                <a:tab pos="666750" algn="l"/>
                <a:tab pos="1123950" algn="l"/>
                <a:tab pos="1581150" algn="l"/>
                <a:tab pos="2038350" algn="l"/>
                <a:tab pos="2495550" algn="l"/>
                <a:tab pos="2952750" algn="l"/>
                <a:tab pos="3409950" algn="l"/>
                <a:tab pos="3867150" algn="l"/>
                <a:tab pos="4324350" algn="l"/>
                <a:tab pos="4781550" algn="l"/>
                <a:tab pos="5238750" algn="l"/>
                <a:tab pos="5695950" algn="l"/>
                <a:tab pos="6153150" algn="l"/>
                <a:tab pos="6610350" algn="l"/>
                <a:tab pos="7067550" algn="l"/>
                <a:tab pos="7524750" algn="l"/>
                <a:tab pos="7981950" algn="l"/>
                <a:tab pos="8439150" algn="l"/>
                <a:tab pos="8896350" algn="l"/>
                <a:tab pos="9353550" algn="l"/>
              </a:tabLst>
            </a:pPr>
            <a:r>
              <a:rPr lang="ru-RU" altLang="x-none" dirty="0" err="1">
                <a:solidFill>
                  <a:srgbClr val="CCCCFF"/>
                </a:solidFill>
                <a:hlinkClick r:id="rId4"/>
              </a:rPr>
              <a:t>https://habr.com/ru/company/leader-id/blog/508154/</a:t>
            </a:r>
            <a:endParaRPr lang="ru-RU" altLang="x-none" dirty="0" err="1">
              <a:solidFill>
                <a:srgbClr val="CCCCFF"/>
              </a:solidFill>
              <a:hlinkClick r:id="rId4"/>
            </a:endParaRPr>
          </a:p>
          <a:p>
            <a:pPr marL="209550" indent="-209550" defTabSz="457200">
              <a:spcBef>
                <a:spcPts val="500"/>
              </a:spcBef>
              <a:buSzPct val="45000"/>
              <a:buFont typeface="Wingdings" panose="05000000000000000000" pitchFamily="2" charset="2"/>
              <a:buChar char=""/>
              <a:tabLst>
                <a:tab pos="209550" algn="l"/>
                <a:tab pos="666750" algn="l"/>
                <a:tab pos="1123950" algn="l"/>
                <a:tab pos="1581150" algn="l"/>
                <a:tab pos="2038350" algn="l"/>
                <a:tab pos="2495550" algn="l"/>
                <a:tab pos="2952750" algn="l"/>
                <a:tab pos="3409950" algn="l"/>
                <a:tab pos="3867150" algn="l"/>
                <a:tab pos="4324350" algn="l"/>
                <a:tab pos="4781550" algn="l"/>
                <a:tab pos="5238750" algn="l"/>
                <a:tab pos="5695950" algn="l"/>
                <a:tab pos="6153150" algn="l"/>
                <a:tab pos="6610350" algn="l"/>
                <a:tab pos="7067550" algn="l"/>
                <a:tab pos="7524750" algn="l"/>
                <a:tab pos="7981950" algn="l"/>
                <a:tab pos="8439150" algn="l"/>
                <a:tab pos="8896350" algn="l"/>
                <a:tab pos="9353550" algn="l"/>
              </a:tabLst>
            </a:pPr>
            <a:r>
              <a:rPr lang="en-US" dirty="0" err="1">
                <a:solidFill>
                  <a:srgbClr val="000000"/>
                </a:solidFill>
                <a:hlinkClick r:id="rId5" action="ppaction://hlinkfile"/>
              </a:rPr>
              <a:t>scrum guide</a:t>
            </a:r>
            <a:endParaRPr lang="en-US" dirty="0" err="1">
              <a:solidFill>
                <a:srgbClr val="000000"/>
              </a:solidFill>
              <a:hlinkClick r:id="rId5" action="ppaction://hlinkfile"/>
            </a:endParaRPr>
          </a:p>
          <a:p>
            <a:pPr marL="209550" indent="-209550" defTabSz="457200">
              <a:spcBef>
                <a:spcPts val="500"/>
              </a:spcBef>
              <a:buSzPct val="45000"/>
              <a:buFont typeface="Wingdings" panose="05000000000000000000" pitchFamily="2" charset="2"/>
              <a:buChar char=""/>
              <a:tabLst>
                <a:tab pos="209550" algn="l"/>
                <a:tab pos="666750" algn="l"/>
                <a:tab pos="1123950" algn="l"/>
                <a:tab pos="1581150" algn="l"/>
                <a:tab pos="2038350" algn="l"/>
                <a:tab pos="2495550" algn="l"/>
                <a:tab pos="2952750" algn="l"/>
                <a:tab pos="3409950" algn="l"/>
                <a:tab pos="3867150" algn="l"/>
                <a:tab pos="4324350" algn="l"/>
                <a:tab pos="4781550" algn="l"/>
                <a:tab pos="5238750" algn="l"/>
                <a:tab pos="5695950" algn="l"/>
                <a:tab pos="6153150" algn="l"/>
                <a:tab pos="6610350" algn="l"/>
                <a:tab pos="7067550" algn="l"/>
                <a:tab pos="7524750" algn="l"/>
                <a:tab pos="7981950" algn="l"/>
                <a:tab pos="8439150" algn="l"/>
                <a:tab pos="8896350" algn="l"/>
                <a:tab pos="9353550" algn="l"/>
              </a:tabLst>
            </a:pPr>
            <a:endParaRPr lang="en-US" dirty="0" err="1">
              <a:solidFill>
                <a:srgbClr val="000000"/>
              </a:solidFill>
              <a:hlinkClick r:id="rId5" action="ppaction://hlinkfile"/>
            </a:endParaRPr>
          </a:p>
          <a:p>
            <a:pPr marL="209550" indent="-209550" defTabSz="457200">
              <a:spcBef>
                <a:spcPts val="500"/>
              </a:spcBef>
              <a:buSzPct val="45000"/>
              <a:buFont typeface="Wingdings" panose="05000000000000000000" pitchFamily="2" charset="2"/>
              <a:buChar char=""/>
              <a:tabLst>
                <a:tab pos="209550" algn="l"/>
                <a:tab pos="666750" algn="l"/>
                <a:tab pos="1123950" algn="l"/>
                <a:tab pos="1581150" algn="l"/>
                <a:tab pos="2038350" algn="l"/>
                <a:tab pos="2495550" algn="l"/>
                <a:tab pos="2952750" algn="l"/>
                <a:tab pos="3409950" algn="l"/>
                <a:tab pos="3867150" algn="l"/>
                <a:tab pos="4324350" algn="l"/>
                <a:tab pos="4781550" algn="l"/>
                <a:tab pos="5238750" algn="l"/>
                <a:tab pos="5695950" algn="l"/>
                <a:tab pos="6153150" algn="l"/>
                <a:tab pos="6610350" algn="l"/>
                <a:tab pos="7067550" algn="l"/>
                <a:tab pos="7524750" algn="l"/>
                <a:tab pos="7981950" algn="l"/>
                <a:tab pos="8439150" algn="l"/>
                <a:tab pos="8896350" algn="l"/>
                <a:tab pos="9353550" algn="l"/>
              </a:tabLst>
            </a:pPr>
            <a:endParaRPr lang="en-US" dirty="0" err="1">
              <a:solidFill>
                <a:srgbClr val="000000"/>
              </a:solidFill>
            </a:endParaRPr>
          </a:p>
        </p:txBody>
      </p:sp>
      <p:sp>
        <p:nvSpPr>
          <p:cNvPr id="2" name="Text Box 1"/>
          <p:cNvSpPr txBox="1"/>
          <p:nvPr/>
        </p:nvSpPr>
        <p:spPr>
          <a:xfrm>
            <a:off x="4849495" y="5005070"/>
            <a:ext cx="3361055" cy="1137285"/>
          </a:xfrm>
          <a:prstGeom prst="rect">
            <a:avLst/>
          </a:prstGeom>
          <a:noFill/>
        </p:spPr>
        <p:txBody>
          <a:bodyPr wrap="square" rtlCol="0" anchor="t">
            <a:spAutoFit/>
          </a:bodyPr>
          <a:p>
            <a:pPr/>
            <a:r>
              <a:rPr lang="en-US" altLang="en-US" sz="1700">
                <a:hlinkClick r:id="rId6" tooltip="" action="ppaction://hlinkfile"/>
              </a:rPr>
              <a:t>https://www.scrum-institute.org/contents/The_Scrum_Framework_by_International_Scrum_Institute.pdf</a:t>
            </a:r>
            <a:endParaRPr lang="en-US" sz="1700"/>
          </a:p>
        </p:txBody>
      </p:sp>
    </p:spTree>
  </p:cSld>
  <p:clrMapOvr>
    <a:masterClrMapping/>
  </p:clrMapOvr>
  <p:transition spd="med"/>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Text Box 22528"/>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4200" dirty="0" err="1">
                <a:solidFill>
                  <a:srgbClr val="FFFFFF"/>
                </a:solidFill>
              </a:rPr>
              <a:t>Визначення</a:t>
            </a:r>
            <a:r>
              <a:rPr lang="ru-RU" altLang="x-none" sz="4200" dirty="0" err="1">
                <a:solidFill>
                  <a:srgbClr val="FFFFFF"/>
                </a:solidFill>
              </a:rPr>
              <a:t> SCRUM</a:t>
            </a:r>
            <a:endParaRPr lang="ru-RU" altLang="x-none" sz="4200" dirty="0" err="1">
              <a:solidFill>
                <a:srgbClr val="FFFFFF"/>
              </a:solidFill>
            </a:endParaRPr>
          </a:p>
        </p:txBody>
      </p:sp>
      <p:sp>
        <p:nvSpPr>
          <p:cNvPr id="22530" name="Text Box 22529"/>
          <p:cNvSpPr txBox="1"/>
          <p:nvPr/>
        </p:nvSpPr>
        <p:spPr>
          <a:xfrm>
            <a:off x="395288" y="1385888"/>
            <a:ext cx="8208962" cy="4419600"/>
          </a:xfrm>
          <a:prstGeom prst="rect">
            <a:avLst/>
          </a:prstGeom>
          <a:noFill/>
          <a:ln w="9525">
            <a:noFill/>
          </a:ln>
        </p:spPr>
        <p:txBody>
          <a:bodyPr wrap="square" lIns="91440" tIns="45720" rIns="91440" bIns="45720" anchor="t" anchorCtr="0"/>
          <a:p>
            <a:pPr defTabSz="457200">
              <a:spcBef>
                <a:spcPts val="500"/>
              </a:spcBef>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800" b="1" dirty="0" err="1">
                <a:solidFill>
                  <a:srgbClr val="000000"/>
                </a:solidFill>
              </a:rPr>
              <a:t>SCRUM </a:t>
            </a:r>
            <a:r>
              <a:rPr lang="en-US" altLang="en-US" sz="1800" dirty="0" err="1">
                <a:solidFill>
                  <a:srgbClr val="000000"/>
                </a:solidFill>
              </a:rPr>
              <a:t>(SCRibing Unified Methodology або SCRapbooking Unified Methodology або Sprint Continious Rugby Unified Methodology) - це набір принципів, цінностей, політик, ритуалів, артефактів, заснованих </a:t>
            </a:r>
            <a:r>
              <a:rPr lang="uk-UA" altLang="en-US" sz="1800" dirty="0" err="1">
                <a:solidFill>
                  <a:srgbClr val="000000"/>
                </a:solidFill>
              </a:rPr>
              <a:t>                </a:t>
            </a:r>
            <a:r>
              <a:rPr lang="en-US" altLang="en-US" sz="1800" dirty="0" err="1">
                <a:solidFill>
                  <a:srgbClr val="000000"/>
                </a:solidFill>
              </a:rPr>
              <a:t>на скрайбінгу і скрапбукінгу, на яких будується процес SCRUM-</a:t>
            </a:r>
            <a:r>
              <a:rPr lang="uk-UA" altLang="en-US" sz="1800" dirty="0" err="1">
                <a:solidFill>
                  <a:srgbClr val="000000"/>
                </a:solidFill>
              </a:rPr>
              <a:t>розробки, що дозволяє в чітко фіксовані та </a:t>
            </a:r>
            <a:r>
              <a:rPr lang="en-US" altLang="en-US" sz="1800" dirty="0" err="1">
                <a:solidFill>
                  <a:srgbClr val="000000"/>
                </a:solidFill>
              </a:rPr>
              <a:t>невеликі за часом ітерації, </a:t>
            </a:r>
            <a:r>
              <a:rPr lang="uk-UA" altLang="en-US" sz="1800" dirty="0" err="1">
                <a:solidFill>
                  <a:srgbClr val="000000"/>
                </a:solidFill>
              </a:rPr>
              <a:t>                           </a:t>
            </a:r>
            <a:r>
              <a:rPr lang="en-US" altLang="en-US" sz="1800" dirty="0" err="1">
                <a:solidFill>
                  <a:srgbClr val="000000"/>
                </a:solidFill>
              </a:rPr>
              <a:t>які називаються </a:t>
            </a:r>
            <a:r>
              <a:rPr lang="en-US" altLang="en-US" sz="1800" b="1" dirty="0" err="1">
                <a:solidFill>
                  <a:srgbClr val="000000"/>
                </a:solidFill>
              </a:rPr>
              <a:t>спринтами </a:t>
            </a:r>
            <a:r>
              <a:rPr lang="en-US" altLang="en-US" sz="1800" dirty="0" err="1">
                <a:solidFill>
                  <a:srgbClr val="000000"/>
                </a:solidFill>
              </a:rPr>
              <a:t>(sprints), надавати кінцевому користувачеві працюючий продукт з новими бізнес-можливостями, для яких визначено найбільший пріоритет.</a:t>
            </a:r>
            <a:endParaRPr lang="en-US" altLang="en-US" sz="1800" dirty="0" err="1">
              <a:solidFill>
                <a:srgbClr val="000000"/>
              </a:solidFill>
            </a:endParaRPr>
          </a:p>
          <a:p>
            <a:pPr defTabSz="457200">
              <a:spcBef>
                <a:spcPts val="500"/>
              </a:spcBef>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800" dirty="0" err="1">
                <a:solidFill>
                  <a:srgbClr val="000000"/>
                </a:solidFill>
              </a:rPr>
              <a:t>Методологія заснована на фасилітації (стиль управління командою </a:t>
            </a:r>
            <a:r>
              <a:rPr lang="uk-UA" altLang="en-US" sz="1800" dirty="0" err="1">
                <a:solidFill>
                  <a:srgbClr val="000000"/>
                </a:solidFill>
              </a:rPr>
              <a:t>           </a:t>
            </a:r>
            <a:r>
              <a:rPr lang="en-US" altLang="en-US" sz="1800" dirty="0" err="1">
                <a:solidFill>
                  <a:srgbClr val="000000"/>
                </a:solidFill>
              </a:rPr>
              <a:t>та спосіб самоорганізації, при якому лідер є також і активним учасником робочої групи), тактиках та стратегіях з регбі, та бігу на короткі дистанції (спринту). Можливості до реалізації в черговому спринті визначаються </a:t>
            </a:r>
            <a:r>
              <a:rPr lang="uk-UA" altLang="en-US" sz="1800" dirty="0" err="1">
                <a:solidFill>
                  <a:srgbClr val="000000"/>
                </a:solidFill>
              </a:rPr>
              <a:t>   </a:t>
            </a:r>
            <a:r>
              <a:rPr lang="en-US" altLang="en-US" sz="1800" dirty="0" err="1">
                <a:solidFill>
                  <a:srgbClr val="000000"/>
                </a:solidFill>
              </a:rPr>
              <a:t>на початку спринту на нараді планування і не можуть змінюватися на його протязі. При цьому суворо фіксована невелика тривалість спринту надає процесу розробки передбачуваність та гнучкість.</a:t>
            </a:r>
            <a:endParaRPr lang="en-US" altLang="en-US" sz="1800" dirty="0" err="1">
              <a:solidFill>
                <a:srgbClr val="000000"/>
              </a:solidFill>
            </a:endParaRPr>
          </a:p>
        </p:txBody>
      </p:sp>
    </p:spTree>
  </p:cSld>
  <p:clrMapOvr>
    <a:masterClrMapping/>
  </p:clrMapOvr>
  <p:transition spd="med"/>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Text Box 23552"/>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4200" dirty="0" err="1">
                <a:solidFill>
                  <a:srgbClr val="FFFFFF"/>
                </a:solidFill>
              </a:rPr>
              <a:t>Поняття спринту</a:t>
            </a:r>
            <a:endParaRPr lang="uk-UA" altLang="ru-RU" sz="4200" dirty="0" err="1">
              <a:solidFill>
                <a:srgbClr val="FFFFFF"/>
              </a:solidFill>
            </a:endParaRPr>
          </a:p>
        </p:txBody>
      </p:sp>
      <p:sp>
        <p:nvSpPr>
          <p:cNvPr id="23554" name="Text Box 23553"/>
          <p:cNvSpPr txBox="1"/>
          <p:nvPr/>
        </p:nvSpPr>
        <p:spPr>
          <a:xfrm>
            <a:off x="395288" y="1385888"/>
            <a:ext cx="8208962" cy="4419600"/>
          </a:xfrm>
          <a:prstGeom prst="rect">
            <a:avLst/>
          </a:prstGeom>
          <a:noFill/>
          <a:ln w="9525">
            <a:noFill/>
          </a:ln>
        </p:spPr>
        <p:txBody>
          <a:bodyPr wrap="square" lIns="91440" tIns="45720" rIns="91440" bIns="45720" anchor="t" anchorCtr="0"/>
          <a:p>
            <a:pPr defTabSz="457200">
              <a:spcBef>
                <a:spcPts val="500"/>
              </a:spcBef>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000" b="1" dirty="0" err="1">
                <a:solidFill>
                  <a:srgbClr val="000000"/>
                </a:solidFill>
              </a:rPr>
              <a:t>Спринт </a:t>
            </a:r>
            <a:r>
              <a:rPr lang="en-US" altLang="en-US" sz="2000" dirty="0" err="1">
                <a:solidFill>
                  <a:srgbClr val="000000"/>
                </a:solidFill>
              </a:rPr>
              <a:t>- ітерація в скрамі, під час якої створюється </a:t>
            </a:r>
            <a:r>
              <a:rPr lang="en-US" altLang="en-US" sz="2000" b="1" dirty="0" err="1">
                <a:solidFill>
                  <a:srgbClr val="000000"/>
                </a:solidFill>
              </a:rPr>
              <a:t>інкремент бізнес-продукту</a:t>
            </a:r>
            <a:r>
              <a:rPr lang="en-US" altLang="en-US" sz="2000" dirty="0" err="1">
                <a:solidFill>
                  <a:srgbClr val="000000"/>
                </a:solidFill>
              </a:rPr>
              <a:t>. Жорстко фіксований за часом. Тривалість одного спринту – від 1 до 4 тижнів. Чим коротшим є спринт, тим гнучкішим є процес розробки, релізи виходять частіше, швидше надходять відгуки від споживачів, менше часу витрачається на роботу </a:t>
            </a:r>
            <a:r>
              <a:rPr lang="uk-UA" altLang="en-US" sz="2000" dirty="0" err="1">
                <a:solidFill>
                  <a:srgbClr val="000000"/>
                </a:solidFill>
              </a:rPr>
              <a:t>             </a:t>
            </a:r>
            <a:r>
              <a:rPr lang="en-US" altLang="en-US" sz="2000" dirty="0" err="1">
                <a:solidFill>
                  <a:srgbClr val="000000"/>
                </a:solidFill>
              </a:rPr>
              <a:t>в неправильному напрямку. З іншого боку, при більш тривалих спринтах, скрам-команда зменшує витрати на наради, демонстрації товару тощо. Різні команди підбирають довжину спринту відповідно до специфіки своєї роботи, </a:t>
            </a:r>
            <a:r>
              <a:rPr lang="uk-UA" altLang="en-US" sz="2000" dirty="0" err="1">
                <a:solidFill>
                  <a:srgbClr val="000000"/>
                </a:solidFill>
              </a:rPr>
              <a:t>                           </a:t>
            </a:r>
            <a:r>
              <a:rPr lang="en-US" altLang="en-US" sz="2000" dirty="0" err="1">
                <a:solidFill>
                  <a:srgbClr val="000000"/>
                </a:solidFill>
              </a:rPr>
              <a:t>крос-функціональності команд та вимог, часто методом проб </a:t>
            </a:r>
            <a:r>
              <a:rPr lang="uk-UA" altLang="en-US" sz="2000" dirty="0" err="1">
                <a:solidFill>
                  <a:srgbClr val="000000"/>
                </a:solidFill>
              </a:rPr>
              <a:t>        </a:t>
            </a:r>
            <a:r>
              <a:rPr lang="en-US" altLang="en-US" sz="2000" dirty="0" err="1">
                <a:solidFill>
                  <a:srgbClr val="000000"/>
                </a:solidFill>
              </a:rPr>
              <a:t>та помилок. Для оцінки обсягу робіт у спринті можна використовувати попередню оцінку, що вимірюється в </a:t>
            </a:r>
            <a:r>
              <a:rPr lang="uk-UA" altLang="en-US" sz="2000" dirty="0" err="1">
                <a:solidFill>
                  <a:srgbClr val="000000"/>
                </a:solidFill>
              </a:rPr>
              <a:t>балах </a:t>
            </a:r>
            <a:r>
              <a:rPr lang="en-US" altLang="en-US" sz="2000" dirty="0" err="1">
                <a:solidFill>
                  <a:srgbClr val="000000"/>
                </a:solidFill>
              </a:rPr>
              <a:t>історії. Попередня оцінка довжини спринту фіксується у беклозі проекту.</a:t>
            </a:r>
            <a:endParaRPr lang="en-US" altLang="en-US" sz="2000" dirty="0" err="1">
              <a:solidFill>
                <a:srgbClr val="000000"/>
              </a:solidFill>
            </a:endParaRPr>
          </a:p>
        </p:txBody>
      </p:sp>
      <p:pic>
        <p:nvPicPr>
          <p:cNvPr id="23555" name="Picture 23554"/>
          <p:cNvPicPr>
            <a:picLocks noChangeAspect="1"/>
          </p:cNvPicPr>
          <p:nvPr/>
        </p:nvPicPr>
        <p:blipFill>
          <a:blip r:embed="rId1"/>
          <a:stretch>
            <a:fillRect/>
          </a:stretch>
        </p:blipFill>
        <p:spPr>
          <a:xfrm>
            <a:off x="6713538" y="5435600"/>
            <a:ext cx="2455862" cy="1638300"/>
          </a:xfrm>
          <a:prstGeom prst="rect">
            <a:avLst/>
          </a:prstGeom>
          <a:noFill/>
          <a:ln w="9525">
            <a:noFill/>
          </a:ln>
        </p:spPr>
      </p:pic>
    </p:spTree>
  </p:cSld>
  <p:clrMapOvr>
    <a:masterClrMapping/>
  </p:clrMapOvr>
  <p:transition spd="med"/>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Text Box 24576"/>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ru-RU" altLang="x-none" sz="4200" dirty="0" err="1">
                <a:solidFill>
                  <a:srgbClr val="FFFFFF"/>
                </a:solidFill>
              </a:rPr>
              <a:t>Артефакт</a:t>
            </a:r>
            <a:r>
              <a:rPr lang="uk-UA" altLang="ru-RU" sz="4200" dirty="0" err="1">
                <a:solidFill>
                  <a:srgbClr val="FFFFFF"/>
                </a:solidFill>
              </a:rPr>
              <a:t>и</a:t>
            </a:r>
            <a:r>
              <a:rPr lang="ru-RU" altLang="x-none" sz="4200" dirty="0" err="1">
                <a:solidFill>
                  <a:srgbClr val="FFFFFF"/>
                </a:solidFill>
              </a:rPr>
              <a:t> SCRUM</a:t>
            </a:r>
            <a:endParaRPr lang="ru-RU" altLang="x-none" sz="4200" dirty="0" err="1">
              <a:solidFill>
                <a:srgbClr val="FFFFFF"/>
              </a:solidFill>
            </a:endParaRPr>
          </a:p>
        </p:txBody>
      </p:sp>
      <p:sp>
        <p:nvSpPr>
          <p:cNvPr id="24578" name="Text Box 24577"/>
          <p:cNvSpPr txBox="1"/>
          <p:nvPr/>
        </p:nvSpPr>
        <p:spPr>
          <a:xfrm>
            <a:off x="395288" y="1385888"/>
            <a:ext cx="8208962" cy="4419600"/>
          </a:xfrm>
          <a:prstGeom prst="rect">
            <a:avLst/>
          </a:prstGeom>
          <a:noFill/>
          <a:ln w="9525">
            <a:noFill/>
          </a:ln>
        </p:spPr>
        <p:txBody>
          <a:bodyPr wrap="square" lIns="91440" tIns="45720" rIns="91440" bIns="45720" anchor="t" anchorCtr="0"/>
          <a:p>
            <a:pPr marL="203200" indent="-203200" defTabSz="457200">
              <a:spcBef>
                <a:spcPts val="500"/>
              </a:spcBef>
              <a:buSzPct val="45000"/>
              <a:buFont typeface="Wingdings" panose="05000000000000000000" pitchFamily="2" charset="2"/>
              <a:buChar char=""/>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en-US" altLang="en-US" sz="2000" dirty="0" err="1">
                <a:solidFill>
                  <a:srgbClr val="000000"/>
                </a:solidFill>
              </a:rPr>
              <a:t>Діаграма згоряння задач (Burndown Chart)</a:t>
            </a:r>
            <a:endParaRPr lang="en-US" altLang="en-US" sz="2000" dirty="0" err="1">
              <a:solidFill>
                <a:srgbClr val="000000"/>
              </a:solidFill>
            </a:endParaRPr>
          </a:p>
          <a:p>
            <a:pPr marL="203200" indent="-203200" defTabSz="457200">
              <a:spcBef>
                <a:spcPts val="500"/>
              </a:spcBef>
              <a:buSzPct val="45000"/>
              <a:buFont typeface="Wingdings" panose="05000000000000000000" pitchFamily="2" charset="2"/>
              <a:buChar char=""/>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en-US" altLang="en-US" sz="2000" dirty="0" err="1">
                <a:solidFill>
                  <a:srgbClr val="000000"/>
                </a:solidFill>
              </a:rPr>
              <a:t>Журнал побажань про</a:t>
            </a:r>
            <a:r>
              <a:rPr lang="uk-UA" altLang="en-US" sz="2000" dirty="0" err="1">
                <a:solidFill>
                  <a:srgbClr val="000000"/>
                </a:solidFill>
              </a:rPr>
              <a:t>є</a:t>
            </a:r>
            <a:r>
              <a:rPr lang="en-US" altLang="en-US" sz="2000" dirty="0" err="1">
                <a:solidFill>
                  <a:srgbClr val="000000"/>
                </a:solidFill>
              </a:rPr>
              <a:t>кту (Project Backlog)</a:t>
            </a:r>
            <a:endParaRPr lang="en-US" altLang="en-US" sz="2000" dirty="0" err="1">
              <a:solidFill>
                <a:srgbClr val="000000"/>
              </a:solidFill>
            </a:endParaRPr>
          </a:p>
          <a:p>
            <a:pPr marL="203200" indent="-203200" defTabSz="457200">
              <a:spcBef>
                <a:spcPts val="500"/>
              </a:spcBef>
              <a:buSzPct val="45000"/>
              <a:buFont typeface="Wingdings" panose="05000000000000000000" pitchFamily="2" charset="2"/>
              <a:buChar char=""/>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en-US" altLang="en-US" sz="2000" dirty="0" err="1">
                <a:solidFill>
                  <a:srgbClr val="000000"/>
                </a:solidFill>
              </a:rPr>
              <a:t>Журнал побажань спринту (Sprint Backlog)</a:t>
            </a:r>
            <a:endParaRPr lang="en-US" altLang="en-US" sz="2000" dirty="0" err="1">
              <a:solidFill>
                <a:srgbClr val="000000"/>
              </a:solidFill>
            </a:endParaRPr>
          </a:p>
          <a:p>
            <a:pPr marL="203200" indent="-203200" defTabSz="457200">
              <a:spcBef>
                <a:spcPts val="500"/>
              </a:spcBef>
              <a:buSzPct val="45000"/>
              <a:buFont typeface="Wingdings" panose="05000000000000000000" pitchFamily="2" charset="2"/>
              <a:buChar char=""/>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en-US" altLang="en-US" sz="2000" dirty="0" err="1">
                <a:solidFill>
                  <a:srgbClr val="000000"/>
                </a:solidFill>
              </a:rPr>
              <a:t>Канбан-дошка (Kanban Board)</a:t>
            </a:r>
            <a:endParaRPr lang="en-US" altLang="en-US" sz="2000" dirty="0" err="1">
              <a:solidFill>
                <a:srgbClr val="000000"/>
              </a:solidFill>
            </a:endParaRPr>
          </a:p>
          <a:p>
            <a:pPr marL="203200" indent="-203200" defTabSz="457200">
              <a:spcBef>
                <a:spcPts val="500"/>
              </a:spcBef>
              <a:buSzPct val="45000"/>
              <a:buFont typeface="Wingdings" panose="05000000000000000000" pitchFamily="2" charset="2"/>
              <a:buChar char=""/>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en-US" altLang="en-US" sz="2000" dirty="0" err="1">
                <a:solidFill>
                  <a:srgbClr val="000000"/>
                </a:solidFill>
              </a:rPr>
              <a:t>Мета спринту (Sprint Goal)</a:t>
            </a:r>
            <a:endParaRPr lang="en-US" altLang="en-US" sz="2000" dirty="0" err="1">
              <a:solidFill>
                <a:srgbClr val="000000"/>
              </a:solidFill>
            </a:endParaRPr>
          </a:p>
          <a:p>
            <a:pPr marL="203200" indent="-203200" defTabSz="457200">
              <a:spcBef>
                <a:spcPts val="500"/>
              </a:spcBef>
              <a:buSzPct val="45000"/>
              <a:buFont typeface="Wingdings" panose="05000000000000000000" pitchFamily="2" charset="2"/>
              <a:buChar char=""/>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en-US" altLang="en-US" sz="2000" dirty="0" err="1">
                <a:solidFill>
                  <a:srgbClr val="000000"/>
                </a:solidFill>
              </a:rPr>
              <a:t>Інкремент продукту (Product Increment)</a:t>
            </a:r>
            <a:endParaRPr lang="en-US" altLang="en-US" sz="2000" dirty="0" err="1">
              <a:solidFill>
                <a:srgbClr val="000000"/>
              </a:solidFill>
            </a:endParaRPr>
          </a:p>
          <a:p>
            <a:pPr marL="203200" indent="-203200" defTabSz="457200">
              <a:spcBef>
                <a:spcPts val="500"/>
              </a:spcBef>
              <a:buSzPct val="45000"/>
              <a:buFont typeface="Wingdings" panose="05000000000000000000" pitchFamily="2" charset="2"/>
              <a:buChar char=""/>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en-US" altLang="en-US" sz="2000" dirty="0" err="1">
                <a:solidFill>
                  <a:srgbClr val="000000"/>
                </a:solidFill>
              </a:rPr>
              <a:t>Історія спринту (Sprint Story)</a:t>
            </a:r>
            <a:endParaRPr lang="en-US" altLang="en-US" sz="2000" dirty="0" err="1">
              <a:solidFill>
                <a:srgbClr val="000000"/>
              </a:solidFill>
            </a:endParaRPr>
          </a:p>
          <a:p>
            <a:pPr marL="203200" indent="-203200" defTabSz="457200">
              <a:spcBef>
                <a:spcPts val="500"/>
              </a:spcBef>
              <a:buSzPct val="45000"/>
              <a:buFont typeface="Wingdings" panose="05000000000000000000" pitchFamily="2" charset="2"/>
              <a:buChar char=""/>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en-US" altLang="en-US" sz="2000" dirty="0" err="1">
                <a:solidFill>
                  <a:srgbClr val="000000"/>
                </a:solidFill>
              </a:rPr>
              <a:t>Зупинка спринту (Abnormal Termination)</a:t>
            </a:r>
            <a:endParaRPr lang="en-US" altLang="en-US" sz="2000" dirty="0" err="1">
              <a:solidFill>
                <a:srgbClr val="000000"/>
              </a:solidFill>
            </a:endParaRPr>
          </a:p>
          <a:p>
            <a:pPr marL="203200" indent="-203200" defTabSz="457200">
              <a:spcBef>
                <a:spcPts val="500"/>
              </a:spcBef>
              <a:buSzPct val="45000"/>
              <a:buFont typeface="Wingdings" panose="05000000000000000000" pitchFamily="2" charset="2"/>
              <a:buChar char=""/>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uk-UA" altLang="en-US" sz="2000" dirty="0" err="1">
                <a:solidFill>
                  <a:srgbClr val="000000"/>
                </a:solidFill>
              </a:rPr>
              <a:t>Бали </a:t>
            </a:r>
            <a:r>
              <a:rPr lang="en-US" altLang="en-US" sz="2000" dirty="0" err="1">
                <a:solidFill>
                  <a:srgbClr val="000000"/>
                </a:solidFill>
              </a:rPr>
              <a:t>за історію користувача (Story Points)</a:t>
            </a:r>
            <a:endParaRPr lang="en-US" altLang="en-US" sz="2000" dirty="0" err="1">
              <a:solidFill>
                <a:srgbClr val="000000"/>
              </a:solidFill>
            </a:endParaRPr>
          </a:p>
          <a:p>
            <a:pPr marL="203200" indent="-203200" defTabSz="457200">
              <a:spcBef>
                <a:spcPts val="500"/>
              </a:spcBef>
              <a:buSzPct val="45000"/>
              <a:buFont typeface="Wingdings" panose="05000000000000000000" pitchFamily="2" charset="2"/>
              <a:buChar char=""/>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en-US" altLang="en-US" sz="2000" dirty="0" err="1">
                <a:solidFill>
                  <a:srgbClr val="000000"/>
                </a:solidFill>
              </a:rPr>
              <a:t>Завдання історії спринту (Sprint Story Tasks)</a:t>
            </a:r>
            <a:endParaRPr lang="en-US" altLang="en-US" sz="2000" dirty="0" err="1">
              <a:solidFill>
                <a:srgbClr val="000000"/>
              </a:solidFill>
            </a:endParaRPr>
          </a:p>
          <a:p>
            <a:pPr marL="203200" indent="-203200" defTabSz="457200">
              <a:spcBef>
                <a:spcPts val="500"/>
              </a:spcBef>
              <a:buSzPct val="45000"/>
              <a:buFont typeface="Wingdings" panose="05000000000000000000" pitchFamily="2" charset="2"/>
              <a:buChar char=""/>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en-US" altLang="en-US" sz="2000" dirty="0" err="1">
                <a:solidFill>
                  <a:srgbClr val="000000"/>
                </a:solidFill>
              </a:rPr>
              <a:t>Критерій готовності (Definition of Done, DoD)</a:t>
            </a:r>
            <a:endParaRPr lang="en-US" altLang="en-US" sz="2000" dirty="0" err="1">
              <a:solidFill>
                <a:srgbClr val="000000"/>
              </a:solidFill>
            </a:endParaRPr>
          </a:p>
          <a:p>
            <a:pPr marL="203200" indent="-203200" defTabSz="457200">
              <a:spcBef>
                <a:spcPts val="500"/>
              </a:spcBef>
              <a:buSzPct val="45000"/>
              <a:buFont typeface="Wingdings" panose="05000000000000000000" pitchFamily="2" charset="2"/>
              <a:buChar char=""/>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en-US" altLang="en-US" sz="2000" dirty="0" err="1">
                <a:solidFill>
                  <a:srgbClr val="000000"/>
                </a:solidFill>
              </a:rPr>
              <a:t>Швидкість скрам-команди (Velocity)</a:t>
            </a:r>
            <a:endParaRPr lang="en-US" altLang="en-US" sz="2000" dirty="0" err="1">
              <a:solidFill>
                <a:srgbClr val="000000"/>
              </a:solidFill>
            </a:endParaRPr>
          </a:p>
        </p:txBody>
      </p:sp>
    </p:spTree>
  </p:cSld>
  <p:clrMapOvr>
    <a:masterClrMapping/>
  </p:clrMapOvr>
  <p:transition spd="med"/>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Text Box 25600"/>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4200" dirty="0" err="1">
                <a:solidFill>
                  <a:schemeClr val="bg1"/>
                </a:solidFill>
                <a:sym typeface="+mn-ea"/>
              </a:rPr>
              <a:t>Діаграма згоряння задач</a:t>
            </a:r>
            <a:endParaRPr lang="en-US" altLang="en-US" sz="4200" dirty="0" err="1">
              <a:solidFill>
                <a:schemeClr val="bg1"/>
              </a:solidFill>
              <a:sym typeface="+mn-ea"/>
            </a:endParaRPr>
          </a:p>
        </p:txBody>
      </p:sp>
      <p:sp>
        <p:nvSpPr>
          <p:cNvPr id="25602" name="Text Box 25601"/>
          <p:cNvSpPr txBox="1"/>
          <p:nvPr/>
        </p:nvSpPr>
        <p:spPr>
          <a:xfrm>
            <a:off x="395288" y="1385888"/>
            <a:ext cx="8208962" cy="4419600"/>
          </a:xfrm>
          <a:prstGeom prst="rect">
            <a:avLst/>
          </a:prstGeom>
          <a:noFill/>
          <a:ln w="9525">
            <a:noFill/>
          </a:ln>
        </p:spPr>
        <p:txBody>
          <a:bodyPr wrap="square" lIns="91440" tIns="45720" rIns="91440" bIns="45720" anchor="t" anchorCtr="0"/>
          <a:p>
            <a:pPr defTabSz="457200">
              <a:spcBef>
                <a:spcPts val="500"/>
              </a:spcBef>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000" dirty="0" err="1">
                <a:solidFill>
                  <a:srgbClr val="000000"/>
                </a:solidFill>
              </a:rPr>
              <a:t>Діаграма, що демонструє кількість зробленої та решти роботи щодо часу на розробку про</a:t>
            </a:r>
            <a:r>
              <a:rPr lang="uk-UA" altLang="en-US" sz="2000" dirty="0" err="1">
                <a:solidFill>
                  <a:srgbClr val="000000"/>
                </a:solidFill>
              </a:rPr>
              <a:t>є</a:t>
            </a:r>
            <a:r>
              <a:rPr lang="en-US" altLang="en-US" sz="2000" dirty="0" err="1">
                <a:solidFill>
                  <a:srgbClr val="000000"/>
                </a:solidFill>
              </a:rPr>
              <a:t>кту.</a:t>
            </a:r>
            <a:endParaRPr lang="en-US" altLang="en-US" sz="2000" dirty="0" err="1">
              <a:solidFill>
                <a:srgbClr val="000000"/>
              </a:solidFill>
            </a:endParaRPr>
          </a:p>
          <a:p>
            <a:pPr defTabSz="457200">
              <a:spcBef>
                <a:spcPts val="500"/>
              </a:spcBef>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000" dirty="0" err="1">
                <a:solidFill>
                  <a:srgbClr val="000000"/>
                </a:solidFill>
              </a:rPr>
              <a:t>Дані діаграми необхідно щодня оновлювати, щоб у реальному часі показувати зрушення та витрати в роботі над спринтом </a:t>
            </a:r>
            <a:r>
              <a:rPr lang="uk-UA" altLang="en-US" sz="2000" dirty="0" err="1">
                <a:solidFill>
                  <a:srgbClr val="000000"/>
                </a:solidFill>
              </a:rPr>
              <a:t>                     </a:t>
            </a:r>
            <a:r>
              <a:rPr lang="en-US" altLang="en-US" sz="2000" dirty="0" err="1">
                <a:solidFill>
                  <a:srgbClr val="000000"/>
                </a:solidFill>
              </a:rPr>
              <a:t>та про</a:t>
            </a:r>
            <a:r>
              <a:rPr lang="uk-UA" altLang="en-US" sz="2000" dirty="0" err="1">
                <a:solidFill>
                  <a:srgbClr val="000000"/>
                </a:solidFill>
              </a:rPr>
              <a:t>є</a:t>
            </a:r>
            <a:r>
              <a:rPr lang="en-US" altLang="en-US" sz="2000" dirty="0" err="1">
                <a:solidFill>
                  <a:srgbClr val="000000"/>
                </a:solidFill>
              </a:rPr>
              <a:t>ктом, доступні для всіх членів SCRUM-команди, </a:t>
            </a:r>
            <a:r>
              <a:rPr lang="uk-UA" altLang="en-US" sz="2000" dirty="0" err="1">
                <a:solidFill>
                  <a:srgbClr val="000000"/>
                </a:solidFill>
              </a:rPr>
              <a:t>            </a:t>
            </a:r>
            <a:r>
              <a:rPr lang="en-US" altLang="en-US" sz="2000" dirty="0" err="1">
                <a:solidFill>
                  <a:srgbClr val="000000"/>
                </a:solidFill>
              </a:rPr>
              <a:t>скрам-майстра та скрам-власника продукту.</a:t>
            </a:r>
            <a:endParaRPr lang="en-US" altLang="en-US" sz="2000" dirty="0" err="1">
              <a:solidFill>
                <a:srgbClr val="000000"/>
              </a:solidFill>
            </a:endParaRPr>
          </a:p>
          <a:p>
            <a:pPr defTabSz="457200">
              <a:spcBef>
                <a:spcPts val="500"/>
              </a:spcBef>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000" dirty="0" err="1">
                <a:solidFill>
                  <a:srgbClr val="000000"/>
                </a:solidFill>
              </a:rPr>
              <a:t>Діаграма згоряння робіт для спринту показує, скільки завдань зроблено і скільки ще залишається зробити в поточному спринті.</a:t>
            </a:r>
            <a:endParaRPr lang="en-US" altLang="en-US" sz="2000" dirty="0" err="1">
              <a:solidFill>
                <a:srgbClr val="000000"/>
              </a:solidFill>
            </a:endParaRPr>
          </a:p>
        </p:txBody>
      </p:sp>
      <p:pic>
        <p:nvPicPr>
          <p:cNvPr id="25603" name="Picture 25602"/>
          <p:cNvPicPr>
            <a:picLocks noChangeAspect="1"/>
          </p:cNvPicPr>
          <p:nvPr/>
        </p:nvPicPr>
        <p:blipFill>
          <a:blip r:embed="rId1"/>
          <a:stretch>
            <a:fillRect/>
          </a:stretch>
        </p:blipFill>
        <p:spPr>
          <a:xfrm>
            <a:off x="2013585" y="4049395"/>
            <a:ext cx="5119370" cy="2794635"/>
          </a:xfrm>
          <a:prstGeom prst="rect">
            <a:avLst/>
          </a:prstGeom>
          <a:noFill/>
          <a:ln w="9525">
            <a:noFill/>
          </a:ln>
        </p:spPr>
      </p:pic>
    </p:spTree>
  </p:cSld>
  <p:clrMapOvr>
    <a:masterClrMapping/>
  </p:clrMapOvr>
  <p:transition spd="med"/>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Text Box 2662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4200" dirty="0" err="1">
                <a:solidFill>
                  <a:schemeClr val="bg1"/>
                </a:solidFill>
                <a:sym typeface="+mn-ea"/>
              </a:rPr>
              <a:t>Журнал побажань про</a:t>
            </a:r>
            <a:r>
              <a:rPr lang="uk-UA" altLang="en-US" sz="4200" dirty="0" err="1">
                <a:solidFill>
                  <a:schemeClr val="bg1"/>
                </a:solidFill>
                <a:sym typeface="+mn-ea"/>
              </a:rPr>
              <a:t>є</a:t>
            </a:r>
            <a:r>
              <a:rPr lang="en-US" altLang="en-US" sz="4200" dirty="0" err="1">
                <a:solidFill>
                  <a:schemeClr val="bg1"/>
                </a:solidFill>
                <a:sym typeface="+mn-ea"/>
              </a:rPr>
              <a:t>кту</a:t>
            </a:r>
            <a:endParaRPr lang="en-US" altLang="en-US" sz="4200" dirty="0" err="1">
              <a:solidFill>
                <a:schemeClr val="bg1"/>
              </a:solidFill>
              <a:sym typeface="+mn-ea"/>
            </a:endParaRPr>
          </a:p>
        </p:txBody>
      </p:sp>
      <p:sp>
        <p:nvSpPr>
          <p:cNvPr id="26626" name="Text Box 26625"/>
          <p:cNvSpPr txBox="1"/>
          <p:nvPr/>
        </p:nvSpPr>
        <p:spPr>
          <a:xfrm>
            <a:off x="395288" y="1385888"/>
            <a:ext cx="8208962" cy="4419600"/>
          </a:xfrm>
          <a:prstGeom prst="rect">
            <a:avLst/>
          </a:prstGeom>
          <a:noFill/>
          <a:ln w="9525">
            <a:noFill/>
          </a:ln>
        </p:spPr>
        <p:txBody>
          <a:bodyPr wrap="square" lIns="91440" tIns="45720" rIns="91440" bIns="45720" anchor="t" anchorCtr="0"/>
          <a:p>
            <a:pPr defTabSz="457200">
              <a:spcBef>
                <a:spcPts val="500"/>
              </a:spcBef>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000" b="1" dirty="0" err="1">
                <a:solidFill>
                  <a:srgbClr val="000000"/>
                </a:solidFill>
              </a:rPr>
              <a:t>Журнал побажань про</a:t>
            </a:r>
            <a:r>
              <a:rPr lang="uk-UA" altLang="en-US" sz="2000" b="1" dirty="0" err="1">
                <a:solidFill>
                  <a:srgbClr val="000000"/>
                </a:solidFill>
              </a:rPr>
              <a:t>є</a:t>
            </a:r>
            <a:r>
              <a:rPr lang="en-US" altLang="en-US" sz="2000" b="1" dirty="0" err="1">
                <a:solidFill>
                  <a:srgbClr val="000000"/>
                </a:solidFill>
              </a:rPr>
              <a:t>кт</a:t>
            </a:r>
            <a:r>
              <a:rPr lang="uk-UA" altLang="en-US" sz="2000" b="1" dirty="0" err="1">
                <a:solidFill>
                  <a:srgbClr val="000000"/>
                </a:solidFill>
              </a:rPr>
              <a:t>у</a:t>
            </a:r>
            <a:r>
              <a:rPr lang="en-US" altLang="en-US" sz="2000" dirty="0" err="1">
                <a:solidFill>
                  <a:srgbClr val="000000"/>
                </a:solidFill>
              </a:rPr>
              <a:t> (Project backlog) — це список вимог </a:t>
            </a:r>
            <a:r>
              <a:rPr lang="uk-UA" altLang="en-US" sz="2000" dirty="0" err="1">
                <a:solidFill>
                  <a:srgbClr val="000000"/>
                </a:solidFill>
              </a:rPr>
              <a:t> </a:t>
            </a:r>
            <a:r>
              <a:rPr lang="en-US" altLang="en-US" sz="2000" dirty="0" err="1">
                <a:solidFill>
                  <a:srgbClr val="000000"/>
                </a:solidFill>
              </a:rPr>
              <a:t>до функціональності, впорядкований за ступенем важливості, </a:t>
            </a:r>
            <a:r>
              <a:rPr lang="uk-UA" altLang="en-US" sz="2000" dirty="0" err="1">
                <a:solidFill>
                  <a:srgbClr val="000000"/>
                </a:solidFill>
              </a:rPr>
              <a:t>     </a:t>
            </a:r>
            <a:r>
              <a:rPr lang="en-US" altLang="en-US" sz="2000" dirty="0" err="1">
                <a:solidFill>
                  <a:srgbClr val="000000"/>
                </a:solidFill>
              </a:rPr>
              <a:t>що підлягають реалізації. Елементи цього списку називаються </a:t>
            </a:r>
            <a:r>
              <a:rPr lang="en-US" altLang="en-US" sz="2000" b="1" dirty="0" err="1">
                <a:solidFill>
                  <a:srgbClr val="000000"/>
                </a:solidFill>
              </a:rPr>
              <a:t>історіями користувача</a:t>
            </a:r>
            <a:r>
              <a:rPr lang="en-US" altLang="en-US" sz="2000" dirty="0" err="1">
                <a:solidFill>
                  <a:srgbClr val="000000"/>
                </a:solidFill>
              </a:rPr>
              <a:t> (user story) або елементами б</a:t>
            </a:r>
            <a:r>
              <a:rPr lang="uk-UA" altLang="en-US" sz="2000" dirty="0" err="1">
                <a:solidFill>
                  <a:srgbClr val="000000"/>
                </a:solidFill>
              </a:rPr>
              <a:t>е</a:t>
            </a:r>
            <a:r>
              <a:rPr lang="en-US" altLang="en-US" sz="2000" dirty="0" err="1">
                <a:solidFill>
                  <a:srgbClr val="000000"/>
                </a:solidFill>
              </a:rPr>
              <a:t>клог</a:t>
            </a:r>
            <a:r>
              <a:rPr lang="uk-UA" altLang="en-US" sz="2000" dirty="0" err="1">
                <a:solidFill>
                  <a:srgbClr val="000000"/>
                </a:solidFill>
              </a:rPr>
              <a:t>у </a:t>
            </a:r>
            <a:r>
              <a:rPr lang="en-US" altLang="en-US" sz="2000" dirty="0" err="1">
                <a:solidFill>
                  <a:srgbClr val="000000"/>
                </a:solidFill>
              </a:rPr>
              <a:t> (backlog items). Журнал побажань про</a:t>
            </a:r>
            <a:r>
              <a:rPr lang="uk-UA" altLang="en-US" sz="2000" dirty="0" err="1">
                <a:solidFill>
                  <a:srgbClr val="000000"/>
                </a:solidFill>
              </a:rPr>
              <a:t>є</a:t>
            </a:r>
            <a:r>
              <a:rPr lang="en-US" altLang="en-US" sz="2000" dirty="0" err="1">
                <a:solidFill>
                  <a:srgbClr val="000000"/>
                </a:solidFill>
              </a:rPr>
              <a:t>кту відкрито </a:t>
            </a:r>
            <a:r>
              <a:rPr lang="uk-UA" altLang="en-US" sz="2000" dirty="0" err="1">
                <a:solidFill>
                  <a:srgbClr val="000000"/>
                </a:solidFill>
              </a:rPr>
              <a:t>                      </a:t>
            </a:r>
            <a:r>
              <a:rPr lang="en-US" altLang="en-US" sz="2000" dirty="0" err="1">
                <a:solidFill>
                  <a:srgbClr val="000000"/>
                </a:solidFill>
              </a:rPr>
              <a:t>для редагування всіма учасниками скрам-процесу. Project backlog ведеться переважно SCRUM-власником.</a:t>
            </a:r>
            <a:endParaRPr lang="en-US" altLang="en-US" sz="2000" dirty="0" err="1">
              <a:solidFill>
                <a:srgbClr val="000000"/>
              </a:solidFill>
            </a:endParaRPr>
          </a:p>
        </p:txBody>
      </p:sp>
      <p:pic>
        <p:nvPicPr>
          <p:cNvPr id="26627" name="Picture 26626"/>
          <p:cNvPicPr>
            <a:picLocks noChangeAspect="1"/>
          </p:cNvPicPr>
          <p:nvPr/>
        </p:nvPicPr>
        <p:blipFill>
          <a:blip r:embed="rId1"/>
          <a:stretch>
            <a:fillRect/>
          </a:stretch>
        </p:blipFill>
        <p:spPr>
          <a:xfrm>
            <a:off x="496888" y="3876675"/>
            <a:ext cx="8047037" cy="2916238"/>
          </a:xfrm>
          <a:prstGeom prst="rect">
            <a:avLst/>
          </a:prstGeom>
          <a:noFill/>
          <a:ln w="9525">
            <a:noFill/>
          </a:ln>
        </p:spPr>
      </p:pic>
    </p:spTree>
  </p:cSld>
  <p:clrMapOvr>
    <a:masterClrMapping/>
  </p:clrMapOvr>
  <p:transition spd="med"/>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Text Box 27648"/>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4200" dirty="0" err="1">
                <a:sym typeface="+mn-ea"/>
              </a:rPr>
              <a:t>Журнал побажань </a:t>
            </a:r>
            <a:r>
              <a:rPr lang="uk-UA" sz="4200" dirty="0" err="1">
                <a:sym typeface="+mn-ea"/>
              </a:rPr>
              <a:t>спринту</a:t>
            </a:r>
            <a:endParaRPr lang="uk-UA" sz="4200" dirty="0" err="1">
              <a:solidFill>
                <a:srgbClr val="FFFFFF"/>
              </a:solidFill>
            </a:endParaRPr>
          </a:p>
        </p:txBody>
      </p:sp>
      <p:sp>
        <p:nvSpPr>
          <p:cNvPr id="27650" name="Text Box 27649"/>
          <p:cNvSpPr txBox="1"/>
          <p:nvPr/>
        </p:nvSpPr>
        <p:spPr>
          <a:xfrm>
            <a:off x="395288" y="1385888"/>
            <a:ext cx="8208962" cy="4419600"/>
          </a:xfrm>
          <a:prstGeom prst="rect">
            <a:avLst/>
          </a:prstGeom>
          <a:noFill/>
          <a:ln w="9525">
            <a:noFill/>
          </a:ln>
        </p:spPr>
        <p:txBody>
          <a:bodyPr wrap="square" lIns="91440" tIns="45720" rIns="91440" bIns="45720" anchor="t" anchorCtr="0"/>
          <a:p>
            <a:pPr defTabSz="457200">
              <a:spcBef>
                <a:spcPts val="500"/>
              </a:spcBef>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000" b="1" dirty="0" err="1">
                <a:solidFill>
                  <a:srgbClr val="000000"/>
                </a:solidFill>
              </a:rPr>
              <a:t>Журнал побажань спринту</a:t>
            </a:r>
            <a:r>
              <a:rPr lang="en-US" altLang="en-US" sz="2000" dirty="0" err="1">
                <a:solidFill>
                  <a:srgbClr val="000000"/>
                </a:solidFill>
              </a:rPr>
              <a:t> (Sprint backlog) – містить функціональність, вибрану власником продукту з журналу побажань про</a:t>
            </a:r>
            <a:r>
              <a:rPr lang="uk-UA" altLang="en-US" sz="2000" dirty="0" err="1">
                <a:solidFill>
                  <a:srgbClr val="000000"/>
                </a:solidFill>
              </a:rPr>
              <a:t>є</a:t>
            </a:r>
            <a:r>
              <a:rPr lang="en-US" altLang="en-US" sz="2000" dirty="0" err="1">
                <a:solidFill>
                  <a:srgbClr val="000000"/>
                </a:solidFill>
              </a:rPr>
              <a:t>кту. Усі функції розбиті за завданнями, кожна з яких оцінюється скрам-командою. На Sprint Planning Meeting команда оцінює обсяг роботи, який потрібно зробити для завершення спринту методом Planning Poker.</a:t>
            </a:r>
            <a:endParaRPr lang="en-US" altLang="en-US" sz="2000" dirty="0" err="1">
              <a:solidFill>
                <a:srgbClr val="000000"/>
              </a:solidFill>
            </a:endParaRPr>
          </a:p>
        </p:txBody>
      </p:sp>
      <p:pic>
        <p:nvPicPr>
          <p:cNvPr id="27651" name="Picture 27650"/>
          <p:cNvPicPr>
            <a:picLocks noChangeAspect="1"/>
          </p:cNvPicPr>
          <p:nvPr/>
        </p:nvPicPr>
        <p:blipFill>
          <a:blip r:embed="rId1"/>
          <a:stretch>
            <a:fillRect/>
          </a:stretch>
        </p:blipFill>
        <p:spPr>
          <a:xfrm>
            <a:off x="0" y="3471863"/>
            <a:ext cx="9144000" cy="2160587"/>
          </a:xfrm>
          <a:prstGeom prst="rect">
            <a:avLst/>
          </a:prstGeom>
          <a:noFill/>
          <a:ln w="9525">
            <a:noFill/>
          </a:ln>
        </p:spPr>
      </p:pic>
    </p:spTree>
  </p:cSld>
  <p:clrMapOvr>
    <a:masterClrMapping/>
  </p:clrMapOvr>
  <p:transition spd="med"/>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Text Box 28672"/>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ru-RU" altLang="x-none" sz="4200" dirty="0" err="1">
                <a:solidFill>
                  <a:srgbClr val="FFFFFF"/>
                </a:solidFill>
              </a:rPr>
              <a:t>Канбан-до</a:t>
            </a:r>
            <a:r>
              <a:rPr lang="uk-UA" altLang="ru-RU" sz="4200" dirty="0" err="1">
                <a:solidFill>
                  <a:srgbClr val="FFFFFF"/>
                </a:solidFill>
              </a:rPr>
              <a:t>ш</a:t>
            </a:r>
            <a:r>
              <a:rPr lang="ru-RU" altLang="x-none" sz="4200" dirty="0" err="1">
                <a:solidFill>
                  <a:srgbClr val="FFFFFF"/>
                </a:solidFill>
              </a:rPr>
              <a:t>ка</a:t>
            </a:r>
            <a:endParaRPr lang="ru-RU" altLang="x-none" sz="4200" dirty="0" err="1">
              <a:solidFill>
                <a:srgbClr val="FFFFFF"/>
              </a:solidFill>
            </a:endParaRPr>
          </a:p>
        </p:txBody>
      </p:sp>
      <p:sp>
        <p:nvSpPr>
          <p:cNvPr id="28674" name="Text Box 28673"/>
          <p:cNvSpPr txBox="1"/>
          <p:nvPr/>
        </p:nvSpPr>
        <p:spPr>
          <a:xfrm>
            <a:off x="395288" y="1385888"/>
            <a:ext cx="8208962" cy="4419600"/>
          </a:xfrm>
          <a:prstGeom prst="rect">
            <a:avLst/>
          </a:prstGeom>
          <a:noFill/>
          <a:ln w="9525">
            <a:noFill/>
          </a:ln>
        </p:spPr>
        <p:txBody>
          <a:bodyPr wrap="square" lIns="91440" tIns="45720" rIns="91440" bIns="45720" anchor="t" anchorCtr="0"/>
          <a:p>
            <a:pPr marL="211455" indent="-203200" defTabSz="457200">
              <a:spcBef>
                <a:spcPts val="500"/>
              </a:spcBef>
              <a:buClrTx/>
              <a:buSzPct val="100000"/>
              <a:buFontTx/>
              <a:buNone/>
              <a:tabLst>
                <a:tab pos="211455" algn="l"/>
                <a:tab pos="668655" algn="l"/>
                <a:tab pos="1125855" algn="l"/>
                <a:tab pos="1583055" algn="l"/>
                <a:tab pos="2040255" algn="l"/>
                <a:tab pos="2497455" algn="l"/>
                <a:tab pos="2954655" algn="l"/>
                <a:tab pos="3411855" algn="l"/>
                <a:tab pos="3869055" algn="l"/>
                <a:tab pos="4326255" algn="l"/>
                <a:tab pos="4783455" algn="l"/>
                <a:tab pos="5240655" algn="l"/>
                <a:tab pos="5697855" algn="l"/>
                <a:tab pos="6155055" algn="l"/>
                <a:tab pos="6612255" algn="l"/>
                <a:tab pos="7069455" algn="l"/>
                <a:tab pos="7526655" algn="l"/>
                <a:tab pos="7983855" algn="l"/>
                <a:tab pos="8441055" algn="l"/>
                <a:tab pos="8898255" algn="l"/>
                <a:tab pos="9355455" algn="l"/>
              </a:tabLst>
            </a:pPr>
            <a:r>
              <a:rPr lang="en-US" altLang="en-US" sz="1600" b="1" dirty="0" err="1">
                <a:solidFill>
                  <a:srgbClr val="000000"/>
                </a:solidFill>
              </a:rPr>
              <a:t>Канбан-дошка</a:t>
            </a:r>
            <a:r>
              <a:rPr lang="en-US" altLang="en-US" sz="1600" dirty="0" err="1">
                <a:solidFill>
                  <a:srgbClr val="000000"/>
                </a:solidFill>
              </a:rPr>
              <a:t> складається як мінімум із трьох колонок: "зробити" (</a:t>
            </a:r>
            <a:r>
              <a:rPr lang="en-US" altLang="en-US" sz="1600" b="1" dirty="0" err="1">
                <a:solidFill>
                  <a:srgbClr val="000000"/>
                </a:solidFill>
              </a:rPr>
              <a:t>to-do</a:t>
            </a:r>
            <a:r>
              <a:rPr lang="en-US" altLang="en-US" sz="1600" dirty="0" err="1">
                <a:solidFill>
                  <a:srgbClr val="000000"/>
                </a:solidFill>
              </a:rPr>
              <a:t>), </a:t>
            </a:r>
            <a:r>
              <a:rPr lang="uk-UA" altLang="en-US" sz="1600" dirty="0" err="1">
                <a:solidFill>
                  <a:srgbClr val="000000"/>
                </a:solidFill>
              </a:rPr>
              <a:t>               </a:t>
            </a:r>
            <a:r>
              <a:rPr lang="en-US" altLang="en-US" sz="1600" dirty="0" err="1">
                <a:solidFill>
                  <a:srgbClr val="000000"/>
                </a:solidFill>
              </a:rPr>
              <a:t>"у процесі" (</a:t>
            </a:r>
            <a:r>
              <a:rPr lang="en-US" altLang="en-US" sz="1600" b="1" dirty="0" err="1">
                <a:solidFill>
                  <a:srgbClr val="000000"/>
                </a:solidFill>
              </a:rPr>
              <a:t>in progress</a:t>
            </a:r>
            <a:r>
              <a:rPr lang="en-US" altLang="en-US" sz="1600" dirty="0" err="1">
                <a:solidFill>
                  <a:srgbClr val="000000"/>
                </a:solidFill>
              </a:rPr>
              <a:t>), "зроблено" (</a:t>
            </a:r>
            <a:r>
              <a:rPr lang="en-US" altLang="en-US" sz="1600" b="1" dirty="0" err="1">
                <a:solidFill>
                  <a:srgbClr val="000000"/>
                </a:solidFill>
              </a:rPr>
              <a:t>done</a:t>
            </a:r>
            <a:r>
              <a:rPr lang="en-US" altLang="en-US" sz="1600" dirty="0" err="1">
                <a:solidFill>
                  <a:srgbClr val="000000"/>
                </a:solidFill>
              </a:rPr>
              <a:t>). При розробці ПЗ канбан-дошка зазвичай включає наступні колонки відповідно до статусу завдань: обговорюється (</a:t>
            </a:r>
            <a:r>
              <a:rPr lang="en-US" altLang="en-US" sz="1600" b="1" dirty="0" err="1">
                <a:solidFill>
                  <a:srgbClr val="000000"/>
                </a:solidFill>
              </a:rPr>
              <a:t>backlog</a:t>
            </a:r>
            <a:r>
              <a:rPr lang="en-US" altLang="en-US" sz="1600" dirty="0" err="1">
                <a:solidFill>
                  <a:srgbClr val="000000"/>
                </a:solidFill>
              </a:rPr>
              <a:t>), узгоджено (</a:t>
            </a:r>
            <a:r>
              <a:rPr lang="en-US" altLang="en-US" sz="1600" b="1" dirty="0" err="1">
                <a:solidFill>
                  <a:srgbClr val="000000"/>
                </a:solidFill>
              </a:rPr>
              <a:t>ready</a:t>
            </a:r>
            <a:r>
              <a:rPr lang="en-US" altLang="en-US" sz="1600" dirty="0" err="1">
                <a:solidFill>
                  <a:srgbClr val="000000"/>
                </a:solidFill>
              </a:rPr>
              <a:t>), кодується (</a:t>
            </a:r>
            <a:r>
              <a:rPr lang="en-US" altLang="en-US" sz="1600" b="1" dirty="0" err="1">
                <a:solidFill>
                  <a:srgbClr val="000000"/>
                </a:solidFill>
              </a:rPr>
              <a:t>coding</a:t>
            </a:r>
            <a:r>
              <a:rPr lang="en-US" altLang="en-US" sz="1600" dirty="0" err="1">
                <a:solidFill>
                  <a:srgbClr val="000000"/>
                </a:solidFill>
              </a:rPr>
              <a:t>), тестується (</a:t>
            </a:r>
            <a:r>
              <a:rPr lang="en-US" altLang="en-US" sz="1600" b="1" dirty="0" err="1">
                <a:solidFill>
                  <a:srgbClr val="000000"/>
                </a:solidFill>
              </a:rPr>
              <a:t>testing</a:t>
            </a:r>
            <a:r>
              <a:rPr lang="en-US" altLang="en-US" sz="1600" dirty="0" err="1">
                <a:solidFill>
                  <a:srgbClr val="000000"/>
                </a:solidFill>
              </a:rPr>
              <a:t>), підтверджується (</a:t>
            </a:r>
            <a:r>
              <a:rPr lang="en-US" altLang="en-US" sz="1600" b="1" dirty="0" err="1">
                <a:solidFill>
                  <a:srgbClr val="000000"/>
                </a:solidFill>
              </a:rPr>
              <a:t>approval</a:t>
            </a:r>
            <a:r>
              <a:rPr lang="en-US" altLang="en-US" sz="1600" dirty="0" err="1">
                <a:solidFill>
                  <a:srgbClr val="000000"/>
                </a:solidFill>
              </a:rPr>
              <a:t>) та зроблено (</a:t>
            </a:r>
            <a:r>
              <a:rPr lang="en-US" altLang="en-US" sz="1600" b="1" dirty="0" err="1">
                <a:solidFill>
                  <a:srgbClr val="000000"/>
                </a:solidFill>
              </a:rPr>
              <a:t>done</a:t>
            </a:r>
            <a:r>
              <a:rPr lang="en-US" altLang="en-US" sz="1600" dirty="0" err="1">
                <a:solidFill>
                  <a:srgbClr val="000000"/>
                </a:solidFill>
              </a:rPr>
              <a:t>). На дошку у відповідний стовпець прикріплюються канбан-картки. Замість спеціальних канбан-карток, які зазвичай позначають </a:t>
            </a:r>
            <a:r>
              <a:rPr lang="uk-UA" altLang="en-US" sz="1600" dirty="0" err="1">
                <a:solidFill>
                  <a:srgbClr val="000000"/>
                </a:solidFill>
              </a:rPr>
              <a:t>певну </a:t>
            </a:r>
            <a:r>
              <a:rPr lang="en-US" altLang="en-US" sz="1600" dirty="0" err="1">
                <a:solidFill>
                  <a:srgbClr val="000000"/>
                </a:solidFill>
              </a:rPr>
              <a:t>потребу, разом із дошкою використовуються магніти, пластикові фішки, кольорові шайби або стікери для представлення робочих елементів та процесів. Кожен з цих об'єктів є етапом виробничого процесу і рухається по дошці, в міру прогресу. Такий рух відповідає руху SCRUM-процесу виробництва Burndown Chart зверху вниз. Найчастіше використовується електронна </a:t>
            </a:r>
            <a:r>
              <a:rPr lang="uk-UA" altLang="en-US" sz="1600" dirty="0" err="1">
                <a:solidFill>
                  <a:srgbClr val="000000"/>
                </a:solidFill>
              </a:rPr>
              <a:t>      </a:t>
            </a:r>
            <a:r>
              <a:rPr lang="en-US" altLang="en-US" sz="1600" dirty="0" err="1">
                <a:solidFill>
                  <a:srgbClr val="000000"/>
                </a:solidFill>
              </a:rPr>
              <a:t>канбан-дошка.</a:t>
            </a:r>
            <a:endParaRPr lang="en-US" altLang="en-US" sz="1600" dirty="0" err="1">
              <a:solidFill>
                <a:srgbClr val="000000"/>
              </a:solidFill>
            </a:endParaRPr>
          </a:p>
          <a:p>
            <a:pPr marL="211455" indent="-203200" defTabSz="457200">
              <a:spcBef>
                <a:spcPts val="500"/>
              </a:spcBef>
              <a:buClrTx/>
              <a:buSzPct val="100000"/>
              <a:buFontTx/>
              <a:buNone/>
              <a:tabLst>
                <a:tab pos="211455" algn="l"/>
                <a:tab pos="668655" algn="l"/>
                <a:tab pos="1125855" algn="l"/>
                <a:tab pos="1583055" algn="l"/>
                <a:tab pos="2040255" algn="l"/>
                <a:tab pos="2497455" algn="l"/>
                <a:tab pos="2954655" algn="l"/>
                <a:tab pos="3411855" algn="l"/>
                <a:tab pos="3869055" algn="l"/>
                <a:tab pos="4326255" algn="l"/>
                <a:tab pos="4783455" algn="l"/>
                <a:tab pos="5240655" algn="l"/>
                <a:tab pos="5697855" algn="l"/>
                <a:tab pos="6155055" algn="l"/>
                <a:tab pos="6612255" algn="l"/>
                <a:tab pos="7069455" algn="l"/>
                <a:tab pos="7526655" algn="l"/>
                <a:tab pos="7983855" algn="l"/>
                <a:tab pos="8441055" algn="l"/>
                <a:tab pos="8898255" algn="l"/>
                <a:tab pos="9355455" algn="l"/>
              </a:tabLst>
            </a:pPr>
            <a:r>
              <a:rPr lang="en-US" altLang="en-US" sz="1600" dirty="0" err="1">
                <a:solidFill>
                  <a:srgbClr val="000000"/>
                </a:solidFill>
              </a:rPr>
              <a:t>Вимоги до канбан-дошки та канбан-карток:</a:t>
            </a:r>
            <a:endParaRPr lang="en-US" altLang="en-US" sz="1600" dirty="0" err="1">
              <a:solidFill>
                <a:srgbClr val="000000"/>
              </a:solidFill>
            </a:endParaRPr>
          </a:p>
          <a:p>
            <a:pPr marL="294005" indent="-285750" defTabSz="457200">
              <a:spcBef>
                <a:spcPts val="500"/>
              </a:spcBef>
              <a:buClrTx/>
              <a:buSzPct val="100000"/>
              <a:buFont typeface="Arial" panose="020B0604020202020204" pitchFamily="34" charset="0"/>
              <a:buChar char="•"/>
              <a:tabLst>
                <a:tab pos="211455" algn="l"/>
                <a:tab pos="668655" algn="l"/>
                <a:tab pos="1125855" algn="l"/>
                <a:tab pos="1583055" algn="l"/>
                <a:tab pos="2040255" algn="l"/>
                <a:tab pos="2497455" algn="l"/>
                <a:tab pos="2954655" algn="l"/>
                <a:tab pos="3411855" algn="l"/>
                <a:tab pos="3869055" algn="l"/>
                <a:tab pos="4326255" algn="l"/>
                <a:tab pos="4783455" algn="l"/>
                <a:tab pos="5240655" algn="l"/>
                <a:tab pos="5697855" algn="l"/>
                <a:tab pos="6155055" algn="l"/>
                <a:tab pos="6612255" algn="l"/>
                <a:tab pos="7069455" algn="l"/>
                <a:tab pos="7526655" algn="l"/>
                <a:tab pos="7983855" algn="l"/>
                <a:tab pos="8441055" algn="l"/>
                <a:tab pos="8898255" algn="l"/>
                <a:tab pos="9355455" algn="l"/>
              </a:tabLst>
            </a:pPr>
            <a:r>
              <a:rPr lang="en-US" altLang="en-US" sz="1600" dirty="0" err="1">
                <a:solidFill>
                  <a:srgbClr val="000000"/>
                </a:solidFill>
              </a:rPr>
              <a:t>стирання написів відбувається легко навіть через кілька тижнів</a:t>
            </a:r>
            <a:endParaRPr lang="en-US" altLang="en-US" sz="1600" dirty="0" err="1">
              <a:solidFill>
                <a:srgbClr val="000000"/>
              </a:solidFill>
            </a:endParaRPr>
          </a:p>
          <a:p>
            <a:pPr marL="294005" indent="-285750" defTabSz="457200">
              <a:spcBef>
                <a:spcPts val="500"/>
              </a:spcBef>
              <a:buClrTx/>
              <a:buSzPct val="100000"/>
              <a:buFont typeface="Arial" panose="020B0604020202020204" pitchFamily="34" charset="0"/>
              <a:buChar char="•"/>
              <a:tabLst>
                <a:tab pos="211455" algn="l"/>
                <a:tab pos="668655" algn="l"/>
                <a:tab pos="1125855" algn="l"/>
                <a:tab pos="1583055" algn="l"/>
                <a:tab pos="2040255" algn="l"/>
                <a:tab pos="2497455" algn="l"/>
                <a:tab pos="2954655" algn="l"/>
                <a:tab pos="3411855" algn="l"/>
                <a:tab pos="3869055" algn="l"/>
                <a:tab pos="4326255" algn="l"/>
                <a:tab pos="4783455" algn="l"/>
                <a:tab pos="5240655" algn="l"/>
                <a:tab pos="5697855" algn="l"/>
                <a:tab pos="6155055" algn="l"/>
                <a:tab pos="6612255" algn="l"/>
                <a:tab pos="7069455" algn="l"/>
                <a:tab pos="7526655" algn="l"/>
                <a:tab pos="7983855" algn="l"/>
                <a:tab pos="8441055" algn="l"/>
                <a:tab pos="8898255" algn="l"/>
                <a:tab pos="9355455" algn="l"/>
              </a:tabLst>
            </a:pPr>
            <a:r>
              <a:rPr lang="en-US" altLang="en-US" sz="1600" dirty="0" err="1">
                <a:solidFill>
                  <a:srgbClr val="000000"/>
                </a:solidFill>
              </a:rPr>
              <a:t>картка легко магнітиться до будь-яких металевих дощок та поверхонь</a:t>
            </a:r>
            <a:endParaRPr lang="en-US" altLang="en-US" sz="1600" dirty="0" err="1">
              <a:solidFill>
                <a:srgbClr val="000000"/>
              </a:solidFill>
            </a:endParaRPr>
          </a:p>
          <a:p>
            <a:pPr marL="294005" indent="-285750" defTabSz="457200">
              <a:spcBef>
                <a:spcPts val="500"/>
              </a:spcBef>
              <a:buClrTx/>
              <a:buSzPct val="100000"/>
              <a:buFont typeface="Arial" panose="020B0604020202020204" pitchFamily="34" charset="0"/>
              <a:buChar char="•"/>
              <a:tabLst>
                <a:tab pos="211455" algn="l"/>
                <a:tab pos="668655" algn="l"/>
                <a:tab pos="1125855" algn="l"/>
                <a:tab pos="1583055" algn="l"/>
                <a:tab pos="2040255" algn="l"/>
                <a:tab pos="2497455" algn="l"/>
                <a:tab pos="2954655" algn="l"/>
                <a:tab pos="3411855" algn="l"/>
                <a:tab pos="3869055" algn="l"/>
                <a:tab pos="4326255" algn="l"/>
                <a:tab pos="4783455" algn="l"/>
                <a:tab pos="5240655" algn="l"/>
                <a:tab pos="5697855" algn="l"/>
                <a:tab pos="6155055" algn="l"/>
                <a:tab pos="6612255" algn="l"/>
                <a:tab pos="7069455" algn="l"/>
                <a:tab pos="7526655" algn="l"/>
                <a:tab pos="7983855" algn="l"/>
                <a:tab pos="8441055" algn="l"/>
                <a:tab pos="8898255" algn="l"/>
                <a:tab pos="9355455" algn="l"/>
              </a:tabLst>
            </a:pPr>
            <a:r>
              <a:rPr lang="en-US" altLang="en-US" sz="1600" dirty="0" err="1">
                <a:solidFill>
                  <a:srgbClr val="000000"/>
                </a:solidFill>
              </a:rPr>
              <a:t>для написів використовується маркер на водній основі</a:t>
            </a:r>
            <a:endParaRPr lang="en-US" altLang="en-US" sz="1600" dirty="0" err="1">
              <a:solidFill>
                <a:srgbClr val="000000"/>
              </a:solidFill>
            </a:endParaRPr>
          </a:p>
        </p:txBody>
      </p:sp>
      <p:pic>
        <p:nvPicPr>
          <p:cNvPr id="28675" name="Picture 28674"/>
          <p:cNvPicPr>
            <a:picLocks noChangeAspect="1"/>
          </p:cNvPicPr>
          <p:nvPr/>
        </p:nvPicPr>
        <p:blipFill>
          <a:blip r:embed="rId1"/>
          <a:stretch>
            <a:fillRect/>
          </a:stretch>
        </p:blipFill>
        <p:spPr>
          <a:xfrm>
            <a:off x="6057265" y="5319395"/>
            <a:ext cx="2670810" cy="1593215"/>
          </a:xfrm>
          <a:prstGeom prst="rect">
            <a:avLst/>
          </a:prstGeom>
          <a:noFill/>
          <a:ln w="9525">
            <a:noFill/>
          </a:ln>
        </p:spPr>
      </p:pic>
    </p:spTree>
  </p:cSld>
  <p:clrMapOvr>
    <a:masterClrMapping/>
  </p:clrMapOvr>
  <p:transition spd="med"/>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Text Box 29696"/>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ru-RU" altLang="x-none" sz="4200" dirty="0" err="1">
                <a:solidFill>
                  <a:srgbClr val="FFFFFF"/>
                </a:solidFill>
              </a:rPr>
              <a:t>Канбан-до</a:t>
            </a:r>
            <a:r>
              <a:rPr lang="uk-UA" altLang="ru-RU" sz="4200" dirty="0" err="1">
                <a:solidFill>
                  <a:srgbClr val="FFFFFF"/>
                </a:solidFill>
              </a:rPr>
              <a:t>ш</a:t>
            </a:r>
            <a:r>
              <a:rPr lang="ru-RU" altLang="x-none" sz="4200" dirty="0" err="1">
                <a:solidFill>
                  <a:srgbClr val="FFFFFF"/>
                </a:solidFill>
              </a:rPr>
              <a:t>ка</a:t>
            </a:r>
            <a:endParaRPr lang="ru-RU" altLang="x-none" sz="4200" dirty="0" err="1">
              <a:solidFill>
                <a:srgbClr val="FFFFFF"/>
              </a:solidFill>
            </a:endParaRPr>
          </a:p>
        </p:txBody>
      </p:sp>
      <p:sp>
        <p:nvSpPr>
          <p:cNvPr id="29698" name="Text Box 29697"/>
          <p:cNvSpPr txBox="1"/>
          <p:nvPr/>
        </p:nvSpPr>
        <p:spPr>
          <a:xfrm>
            <a:off x="395288" y="1385888"/>
            <a:ext cx="8208962" cy="4419600"/>
          </a:xfrm>
          <a:prstGeom prst="rect">
            <a:avLst/>
          </a:prstGeom>
          <a:noFill/>
          <a:ln w="9525">
            <a:noFill/>
          </a:ln>
        </p:spPr>
        <p:txBody>
          <a:bodyPr/>
          <a:p>
            <a:endParaRPr lang="en-US"/>
          </a:p>
        </p:txBody>
      </p:sp>
      <p:pic>
        <p:nvPicPr>
          <p:cNvPr id="29699" name="Picture 29698"/>
          <p:cNvPicPr>
            <a:picLocks noChangeAspect="1"/>
          </p:cNvPicPr>
          <p:nvPr/>
        </p:nvPicPr>
        <p:blipFill>
          <a:blip r:embed="rId1"/>
          <a:stretch>
            <a:fillRect/>
          </a:stretch>
        </p:blipFill>
        <p:spPr>
          <a:xfrm>
            <a:off x="19050" y="1358900"/>
            <a:ext cx="9144000" cy="3305175"/>
          </a:xfrm>
          <a:prstGeom prst="rect">
            <a:avLst/>
          </a:prstGeom>
          <a:noFill/>
          <a:ln w="9525">
            <a:noFill/>
          </a:ln>
        </p:spPr>
      </p:pic>
      <p:pic>
        <p:nvPicPr>
          <p:cNvPr id="29700" name="Picture 29699"/>
          <p:cNvPicPr>
            <a:picLocks noChangeAspect="1"/>
          </p:cNvPicPr>
          <p:nvPr/>
        </p:nvPicPr>
        <p:blipFill>
          <a:blip r:embed="rId2"/>
          <a:stretch>
            <a:fillRect/>
          </a:stretch>
        </p:blipFill>
        <p:spPr>
          <a:xfrm>
            <a:off x="1565275" y="4504055"/>
            <a:ext cx="6049010" cy="2393950"/>
          </a:xfrm>
          <a:prstGeom prst="rect">
            <a:avLst/>
          </a:prstGeom>
          <a:noFill/>
          <a:ln w="9525">
            <a:noFill/>
          </a:ln>
        </p:spPr>
      </p:pic>
    </p:spTree>
  </p:cSld>
  <p:clrMapOvr>
    <a:masterClrMapping/>
  </p:clrMapOvr>
  <p:transition spd="med"/>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Text Box 30720"/>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4200" dirty="0" err="1">
                <a:solidFill>
                  <a:srgbClr val="FFFFFF"/>
                </a:solidFill>
              </a:rPr>
              <a:t>Мета </a:t>
            </a:r>
            <a:r>
              <a:rPr lang="ru-RU" altLang="x-none" sz="4200" dirty="0" err="1">
                <a:solidFill>
                  <a:srgbClr val="FFFFFF"/>
                </a:solidFill>
              </a:rPr>
              <a:t>спринт</a:t>
            </a:r>
            <a:r>
              <a:rPr lang="uk-UA" altLang="ru-RU" sz="4200" dirty="0" err="1">
                <a:solidFill>
                  <a:srgbClr val="FFFFFF"/>
                </a:solidFill>
              </a:rPr>
              <a:t>у</a:t>
            </a:r>
            <a:endParaRPr lang="uk-UA" altLang="ru-RU" sz="4200" dirty="0" err="1">
              <a:solidFill>
                <a:srgbClr val="FFFFFF"/>
              </a:solidFill>
            </a:endParaRPr>
          </a:p>
        </p:txBody>
      </p:sp>
      <p:sp>
        <p:nvSpPr>
          <p:cNvPr id="30722" name="Text Box 30721"/>
          <p:cNvSpPr txBox="1"/>
          <p:nvPr/>
        </p:nvSpPr>
        <p:spPr>
          <a:xfrm>
            <a:off x="395288" y="1385888"/>
            <a:ext cx="8208962" cy="4419600"/>
          </a:xfrm>
          <a:prstGeom prst="rect">
            <a:avLst/>
          </a:prstGeom>
          <a:noFill/>
          <a:ln w="9525">
            <a:noFill/>
          </a:ln>
        </p:spPr>
        <p:txBody>
          <a:bodyPr wrap="square" lIns="91440" tIns="45720" rIns="91440" bIns="45720" anchor="t" anchorCtr="0"/>
          <a:p>
            <a:pPr defTabSz="457200">
              <a:spcBef>
                <a:spcPts val="500"/>
              </a:spcBef>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000" dirty="0" err="1">
                <a:solidFill>
                  <a:srgbClr val="000000"/>
                </a:solidFill>
              </a:rPr>
              <a:t>Це короткий опис бізнес-мети, заради якої виконується цей спринт. </a:t>
            </a:r>
            <a:r>
              <a:rPr lang="uk-UA" altLang="en-US" sz="2000" dirty="0" err="1">
                <a:solidFill>
                  <a:srgbClr val="000000"/>
                </a:solidFill>
              </a:rPr>
              <a:t>Мета</a:t>
            </a:r>
            <a:r>
              <a:rPr lang="en-US" altLang="en-US" sz="2000" dirty="0" err="1">
                <a:solidFill>
                  <a:srgbClr val="000000"/>
                </a:solidFill>
              </a:rPr>
              <a:t> спринт</a:t>
            </a:r>
            <a:r>
              <a:rPr lang="uk-UA" altLang="en-US" sz="2000" dirty="0" err="1">
                <a:solidFill>
                  <a:srgbClr val="000000"/>
                </a:solidFill>
              </a:rPr>
              <a:t>у</a:t>
            </a:r>
            <a:r>
              <a:rPr lang="en-US" altLang="en-US" sz="2000" dirty="0" err="1">
                <a:solidFill>
                  <a:srgbClr val="000000"/>
                </a:solidFill>
              </a:rPr>
              <a:t> допомагає команді приймати бізнес-обґрунтовані рішення. Цей артефакт необхідний для того, щоб команда про</a:t>
            </a:r>
            <a:r>
              <a:rPr lang="uk-UA" altLang="en-US" sz="2000" dirty="0" err="1">
                <a:solidFill>
                  <a:srgbClr val="000000"/>
                </a:solidFill>
              </a:rPr>
              <a:t>є</a:t>
            </a:r>
            <a:r>
              <a:rPr lang="en-US" altLang="en-US" sz="2000" dirty="0" err="1">
                <a:solidFill>
                  <a:srgbClr val="000000"/>
                </a:solidFill>
              </a:rPr>
              <a:t>кту могла самостійно приймати рішення у разі появи альтернативних шляхів вирішення бізнес-завдання.</a:t>
            </a:r>
            <a:endParaRPr lang="en-US" altLang="en-US" sz="2000" dirty="0" err="1">
              <a:solidFill>
                <a:srgbClr val="000000"/>
              </a:solidFill>
            </a:endParaRPr>
          </a:p>
        </p:txBody>
      </p:sp>
      <p:pic>
        <p:nvPicPr>
          <p:cNvPr id="30723" name="Picture 30722"/>
          <p:cNvPicPr>
            <a:picLocks noChangeAspect="1"/>
          </p:cNvPicPr>
          <p:nvPr/>
        </p:nvPicPr>
        <p:blipFill>
          <a:blip r:embed="rId1"/>
          <a:stretch>
            <a:fillRect/>
          </a:stretch>
        </p:blipFill>
        <p:spPr>
          <a:xfrm>
            <a:off x="2336800" y="3055938"/>
            <a:ext cx="4338638" cy="3709987"/>
          </a:xfrm>
          <a:prstGeom prst="rect">
            <a:avLst/>
          </a:prstGeom>
          <a:noFill/>
          <a:ln w="9525">
            <a:noFill/>
          </a:ln>
        </p:spPr>
      </p:pic>
    </p:spTree>
  </p:cSld>
  <p:clrMapOvr>
    <a:masterClrMapping/>
  </p:clrMapOvr>
  <p:transition spd="med"/>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Text Box 317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4200" dirty="0" err="1">
                <a:solidFill>
                  <a:srgbClr val="FFFFFF"/>
                </a:solidFill>
              </a:rPr>
              <a:t>І</a:t>
            </a:r>
            <a:r>
              <a:rPr lang="ru-RU" altLang="x-none" sz="4200" dirty="0" err="1">
                <a:solidFill>
                  <a:srgbClr val="FFFFFF"/>
                </a:solidFill>
              </a:rPr>
              <a:t>нкеремент продукт</a:t>
            </a:r>
            <a:r>
              <a:rPr lang="uk-UA" altLang="ru-RU" sz="4200" dirty="0" err="1">
                <a:solidFill>
                  <a:srgbClr val="FFFFFF"/>
                </a:solidFill>
              </a:rPr>
              <a:t>у</a:t>
            </a:r>
            <a:endParaRPr lang="uk-UA" altLang="ru-RU" sz="4200" dirty="0" err="1">
              <a:solidFill>
                <a:srgbClr val="FFFFFF"/>
              </a:solidFill>
            </a:endParaRPr>
          </a:p>
        </p:txBody>
      </p:sp>
      <p:sp>
        <p:nvSpPr>
          <p:cNvPr id="31746" name="Text Box 31745"/>
          <p:cNvSpPr txBox="1"/>
          <p:nvPr/>
        </p:nvSpPr>
        <p:spPr>
          <a:xfrm>
            <a:off x="395288" y="1385888"/>
            <a:ext cx="8208962" cy="4419600"/>
          </a:xfrm>
          <a:prstGeom prst="rect">
            <a:avLst/>
          </a:prstGeom>
          <a:noFill/>
          <a:ln w="9525">
            <a:noFill/>
          </a:ln>
        </p:spPr>
        <p:txBody>
          <a:bodyPr wrap="square" lIns="91440" tIns="45720" rIns="91440" bIns="45720" anchor="t" anchorCtr="0"/>
          <a:p>
            <a:pPr defTabSz="457200">
              <a:spcBef>
                <a:spcPts val="500"/>
              </a:spcBef>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000" b="1" dirty="0" err="1">
                <a:solidFill>
                  <a:srgbClr val="000000"/>
                </a:solidFill>
              </a:rPr>
              <a:t>Інкремент продукту</a:t>
            </a:r>
            <a:r>
              <a:rPr lang="en-US" altLang="en-US" sz="2000" dirty="0" err="1">
                <a:solidFill>
                  <a:srgbClr val="000000"/>
                </a:solidFill>
              </a:rPr>
              <a:t> – це готовий продукт у кінці спринту. </a:t>
            </a:r>
            <a:r>
              <a:rPr lang="uk-UA" altLang="en-US" sz="2000" dirty="0" err="1">
                <a:solidFill>
                  <a:srgbClr val="000000"/>
                </a:solidFill>
              </a:rPr>
              <a:t>         </a:t>
            </a:r>
            <a:r>
              <a:rPr lang="en-US" altLang="en-US" sz="2000" dirty="0" err="1">
                <a:solidFill>
                  <a:srgbClr val="000000"/>
                </a:solidFill>
              </a:rPr>
              <a:t>Його показують на демонстрації, щоб зібрати відгуки та вирішити, що робити з продуктом далі.</a:t>
            </a:r>
            <a:endParaRPr lang="en-US" altLang="en-US" sz="2000" dirty="0" err="1">
              <a:solidFill>
                <a:srgbClr val="000000"/>
              </a:solidFill>
            </a:endParaRPr>
          </a:p>
        </p:txBody>
      </p:sp>
      <p:pic>
        <p:nvPicPr>
          <p:cNvPr id="31747" name="Picture 31746"/>
          <p:cNvPicPr>
            <a:picLocks noChangeAspect="1"/>
          </p:cNvPicPr>
          <p:nvPr/>
        </p:nvPicPr>
        <p:blipFill>
          <a:blip r:embed="rId1"/>
          <a:stretch>
            <a:fillRect/>
          </a:stretch>
        </p:blipFill>
        <p:spPr>
          <a:xfrm>
            <a:off x="3071813" y="2468563"/>
            <a:ext cx="5303837" cy="4303712"/>
          </a:xfrm>
          <a:prstGeom prst="rect">
            <a:avLst/>
          </a:prstGeom>
          <a:noFill/>
          <a:ln w="9525">
            <a:noFill/>
          </a:ln>
        </p:spPr>
      </p:pic>
      <p:pic>
        <p:nvPicPr>
          <p:cNvPr id="31748" name="Picture 31747"/>
          <p:cNvPicPr>
            <a:picLocks noChangeAspect="1"/>
          </p:cNvPicPr>
          <p:nvPr/>
        </p:nvPicPr>
        <p:blipFill>
          <a:blip r:embed="rId2"/>
          <a:stretch>
            <a:fillRect/>
          </a:stretch>
        </p:blipFill>
        <p:spPr>
          <a:xfrm>
            <a:off x="215900" y="2986088"/>
            <a:ext cx="2568575" cy="2489200"/>
          </a:xfrm>
          <a:prstGeom prst="rect">
            <a:avLst/>
          </a:prstGeom>
          <a:noFill/>
          <a:ln w="9525">
            <a:noFill/>
          </a:ln>
        </p:spPr>
      </p:pic>
    </p:spTree>
  </p:cSld>
  <p:clrMapOvr>
    <a:masterClrMapping/>
  </p:clrMapOvr>
  <p:transition spd="med"/>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Text Box 32768"/>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4200" dirty="0" err="1">
                <a:solidFill>
                  <a:srgbClr val="FFFFFF"/>
                </a:solidFill>
              </a:rPr>
              <a:t>Історія спринту</a:t>
            </a:r>
            <a:endParaRPr lang="uk-UA" altLang="ru-RU" sz="4200" dirty="0" err="1">
              <a:solidFill>
                <a:srgbClr val="FFFFFF"/>
              </a:solidFill>
            </a:endParaRPr>
          </a:p>
        </p:txBody>
      </p:sp>
      <p:sp>
        <p:nvSpPr>
          <p:cNvPr id="32770" name="Text Box 32769"/>
          <p:cNvSpPr txBox="1"/>
          <p:nvPr/>
        </p:nvSpPr>
        <p:spPr>
          <a:xfrm>
            <a:off x="395288" y="1385888"/>
            <a:ext cx="8208962" cy="4419600"/>
          </a:xfrm>
          <a:prstGeom prst="rect">
            <a:avLst/>
          </a:prstGeom>
          <a:noFill/>
          <a:ln w="9525">
            <a:noFill/>
          </a:ln>
        </p:spPr>
        <p:txBody>
          <a:bodyPr wrap="square" lIns="91440" tIns="45720" rIns="91440" bIns="45720" anchor="t" anchorCtr="0"/>
          <a:p>
            <a:pPr defTabSz="457200">
              <a:spcBef>
                <a:spcPts val="500"/>
              </a:spcBef>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200" dirty="0" err="1">
                <a:solidFill>
                  <a:srgbClr val="000000"/>
                </a:solidFill>
              </a:rPr>
              <a:t>Необхідну бізнес-функціональність, яку додають у беклог, часто називають історією. Найчастіше історія має таку структуру: </a:t>
            </a:r>
            <a:r>
              <a:rPr lang="" altLang="en-US" sz="2200" dirty="0" err="1">
                <a:solidFill>
                  <a:srgbClr val="000000"/>
                </a:solidFill>
              </a:rPr>
              <a:t>«</a:t>
            </a:r>
            <a:r>
              <a:rPr lang="en-US" altLang="en-US" sz="2200" dirty="0" err="1">
                <a:solidFill>
                  <a:srgbClr val="000000"/>
                </a:solidFill>
              </a:rPr>
              <a:t>Як &lt;тип користувача&gt;, я хочу зробити &lt;дія&gt; </a:t>
            </a:r>
            <a:r>
              <a:rPr lang="uk-UA" altLang="en-US" sz="2200" dirty="0" err="1">
                <a:solidFill>
                  <a:srgbClr val="000000"/>
                </a:solidFill>
              </a:rPr>
              <a:t>   </a:t>
            </a:r>
            <a:r>
              <a:rPr lang="en-US" altLang="en-US" sz="2200" dirty="0" err="1">
                <a:solidFill>
                  <a:srgbClr val="000000"/>
                </a:solidFill>
              </a:rPr>
              <a:t>для отримання &lt;результат&gt;</a:t>
            </a:r>
            <a:r>
              <a:rPr lang="" altLang="en-US" sz="2200" dirty="0" err="1">
                <a:solidFill>
                  <a:srgbClr val="000000"/>
                </a:solidFill>
              </a:rPr>
              <a:t>»</a:t>
            </a:r>
            <a:r>
              <a:rPr lang="en-US" altLang="en-US" sz="2200" dirty="0" err="1">
                <a:solidFill>
                  <a:srgbClr val="000000"/>
                </a:solidFill>
              </a:rPr>
              <a:t>. Така структура зручна тим, </a:t>
            </a:r>
            <a:r>
              <a:rPr lang="uk-UA" altLang="en-US" sz="2200" dirty="0" err="1">
                <a:solidFill>
                  <a:srgbClr val="000000"/>
                </a:solidFill>
              </a:rPr>
              <a:t>  </a:t>
            </a:r>
            <a:r>
              <a:rPr lang="en-US" altLang="en-US" sz="2200" dirty="0" err="1">
                <a:solidFill>
                  <a:srgbClr val="000000"/>
                </a:solidFill>
              </a:rPr>
              <a:t>що зрозуміла як розробникам, і замовникам.</a:t>
            </a:r>
            <a:endParaRPr lang="en-US" altLang="en-US" sz="2200" dirty="0" err="1">
              <a:solidFill>
                <a:srgbClr val="000000"/>
              </a:solidFill>
            </a:endParaRPr>
          </a:p>
        </p:txBody>
      </p:sp>
      <p:pic>
        <p:nvPicPr>
          <p:cNvPr id="32771" name="Picture 32770"/>
          <p:cNvPicPr>
            <a:picLocks noChangeAspect="1"/>
          </p:cNvPicPr>
          <p:nvPr/>
        </p:nvPicPr>
        <p:blipFill>
          <a:blip r:embed="rId1"/>
          <a:stretch>
            <a:fillRect/>
          </a:stretch>
        </p:blipFill>
        <p:spPr>
          <a:xfrm>
            <a:off x="-55562" y="3544888"/>
            <a:ext cx="9144000" cy="1849437"/>
          </a:xfrm>
          <a:prstGeom prst="rect">
            <a:avLst/>
          </a:prstGeom>
          <a:noFill/>
          <a:ln w="9525">
            <a:noFill/>
          </a:ln>
        </p:spPr>
      </p:pic>
    </p:spTree>
  </p:cSld>
  <p:clrMapOvr>
    <a:masterClrMapping/>
  </p:clrMapOvr>
  <p:transition spd="med"/>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Text Box 33792"/>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4200" dirty="0" err="1">
                <a:solidFill>
                  <a:srgbClr val="FFFFFF"/>
                </a:solidFill>
              </a:rPr>
              <a:t>Зупинка спринту</a:t>
            </a:r>
            <a:endParaRPr lang="uk-UA" altLang="ru-RU" sz="4200" dirty="0" err="1">
              <a:solidFill>
                <a:srgbClr val="FFFFFF"/>
              </a:solidFill>
            </a:endParaRPr>
          </a:p>
        </p:txBody>
      </p:sp>
      <p:sp>
        <p:nvSpPr>
          <p:cNvPr id="33794" name="Text Box 33793"/>
          <p:cNvSpPr txBox="1"/>
          <p:nvPr/>
        </p:nvSpPr>
        <p:spPr>
          <a:xfrm>
            <a:off x="395288" y="1385888"/>
            <a:ext cx="8208962" cy="4419600"/>
          </a:xfrm>
          <a:prstGeom prst="rect">
            <a:avLst/>
          </a:prstGeom>
          <a:noFill/>
          <a:ln w="9525">
            <a:noFill/>
          </a:ln>
        </p:spPr>
        <p:txBody>
          <a:bodyPr wrap="square" lIns="91440" tIns="45720" rIns="91440" bIns="45720" anchor="t" anchorCtr="0"/>
          <a:p>
            <a:pPr defTabSz="457200">
              <a:spcBef>
                <a:spcPts val="500"/>
              </a:spcBef>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000" dirty="0" err="1">
                <a:solidFill>
                  <a:srgbClr val="000000"/>
                </a:solidFill>
              </a:rPr>
              <a:t>Зупинка спринту може бути здійснена раніше строку його планового закінчення у виняткових ситуаціях. Спринт може зупинити команда, якщо розуміє, що не може досягти мети спринту у відведений час. Спринт може зупинити скрам-майстер або власник продукту, якщо зникає необхідність реалізації мети спринту. Відразу після цього починається новий спринт.</a:t>
            </a:r>
            <a:endParaRPr lang="en-US" altLang="en-US" sz="2000" dirty="0" err="1">
              <a:solidFill>
                <a:srgbClr val="000000"/>
              </a:solidFill>
            </a:endParaRPr>
          </a:p>
        </p:txBody>
      </p:sp>
      <p:pic>
        <p:nvPicPr>
          <p:cNvPr id="33795" name="Picture 33794"/>
          <p:cNvPicPr>
            <a:picLocks noChangeAspect="1"/>
          </p:cNvPicPr>
          <p:nvPr/>
        </p:nvPicPr>
        <p:blipFill>
          <a:blip r:embed="rId1"/>
          <a:stretch>
            <a:fillRect/>
          </a:stretch>
        </p:blipFill>
        <p:spPr>
          <a:xfrm>
            <a:off x="2779713" y="3363913"/>
            <a:ext cx="3481387" cy="3397250"/>
          </a:xfrm>
          <a:prstGeom prst="rect">
            <a:avLst/>
          </a:prstGeom>
          <a:noFill/>
          <a:ln w="9525">
            <a:noFill/>
          </a:ln>
        </p:spPr>
      </p:pic>
    </p:spTree>
  </p:cSld>
  <p:clrMapOvr>
    <a:masterClrMapping/>
  </p:clrMapOvr>
  <p:transition spd="med"/>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Text Box 34816"/>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4200" dirty="0" err="1">
                <a:solidFill>
                  <a:srgbClr val="FFFFFF"/>
                </a:solidFill>
              </a:rPr>
              <a:t>Бали за історію</a:t>
            </a:r>
            <a:endParaRPr lang="uk-UA" altLang="ru-RU" sz="4200" dirty="0" err="1">
              <a:solidFill>
                <a:srgbClr val="FFFFFF"/>
              </a:solidFill>
            </a:endParaRPr>
          </a:p>
        </p:txBody>
      </p:sp>
      <p:sp>
        <p:nvSpPr>
          <p:cNvPr id="34818" name="Text Box 34817"/>
          <p:cNvSpPr txBox="1"/>
          <p:nvPr/>
        </p:nvSpPr>
        <p:spPr>
          <a:xfrm>
            <a:off x="439738" y="1385888"/>
            <a:ext cx="8208962" cy="4419600"/>
          </a:xfrm>
          <a:prstGeom prst="rect">
            <a:avLst/>
          </a:prstGeom>
          <a:noFill/>
          <a:ln w="9525">
            <a:noFill/>
          </a:ln>
        </p:spPr>
        <p:txBody>
          <a:bodyPr wrap="square" lIns="91440" tIns="45720" rIns="91440" bIns="45720" anchor="t" anchorCtr="0"/>
          <a:p>
            <a:pPr marL="1905" indent="-1905" defTabSz="457200">
              <a:spcBef>
                <a:spcPts val="500"/>
              </a:spcBef>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000" dirty="0" err="1">
                <a:solidFill>
                  <a:srgbClr val="000000"/>
                </a:solidFill>
              </a:rPr>
              <a:t>Абстрактна метрика оцінки складності історії, яка не враховує витрати в людин</a:t>
            </a:r>
            <a:r>
              <a:rPr lang="uk-UA" altLang="en-US" sz="2000" dirty="0" err="1">
                <a:solidFill>
                  <a:srgbClr val="000000"/>
                </a:solidFill>
              </a:rPr>
              <a:t>о</a:t>
            </a:r>
            <a:r>
              <a:rPr lang="en-US" altLang="en-US" sz="2000" dirty="0" err="1">
                <a:solidFill>
                  <a:srgbClr val="000000"/>
                </a:solidFill>
              </a:rPr>
              <a:t>/годинах. Зазвичай використовують одну з таких шкал:</a:t>
            </a:r>
            <a:endParaRPr lang="en-US" altLang="en-US" sz="2000" dirty="0" err="1">
              <a:solidFill>
                <a:srgbClr val="000000"/>
              </a:solidFill>
            </a:endParaRPr>
          </a:p>
          <a:p>
            <a:pPr marL="342900" indent="-342900" defTabSz="457200">
              <a:spcBef>
                <a:spcPts val="5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000" dirty="0" err="1">
                <a:solidFill>
                  <a:srgbClr val="000000"/>
                </a:solidFill>
              </a:rPr>
              <a:t>ряд Фібоначчі (1, 2, 3, 5, 8, 13, 2</a:t>
            </a:r>
            <a:r>
              <a:rPr lang="uk-UA" altLang="en-US" sz="2000" dirty="0" err="1">
                <a:solidFill>
                  <a:srgbClr val="000000"/>
                </a:solidFill>
              </a:rPr>
              <a:t>0</a:t>
            </a:r>
            <a:r>
              <a:rPr lang="en-US" altLang="en-US" sz="2000" dirty="0" err="1">
                <a:solidFill>
                  <a:srgbClr val="000000"/>
                </a:solidFill>
              </a:rPr>
              <a:t>, </a:t>
            </a:r>
            <a:r>
              <a:rPr lang="uk-UA" altLang="en-US" sz="2000" dirty="0" err="1">
                <a:solidFill>
                  <a:srgbClr val="000000"/>
                </a:solidFill>
              </a:rPr>
              <a:t>40</a:t>
            </a:r>
            <a:r>
              <a:rPr lang="en-US" altLang="en-US" sz="2000" dirty="0" err="1">
                <a:solidFill>
                  <a:srgbClr val="000000"/>
                </a:solidFill>
              </a:rPr>
              <a:t>, </a:t>
            </a:r>
            <a:r>
              <a:rPr lang="uk-UA" altLang="en-US" sz="2000" dirty="0" err="1">
                <a:solidFill>
                  <a:srgbClr val="000000"/>
                </a:solidFill>
              </a:rPr>
              <a:t>100, </a:t>
            </a:r>
            <a:r>
              <a:rPr lang="en-US" altLang="en-US" sz="2000" dirty="0" err="1">
                <a:solidFill>
                  <a:srgbClr val="000000"/>
                </a:solidFill>
              </a:rPr>
              <a:t>?</a:t>
            </a:r>
            <a:r>
              <a:rPr lang="uk-UA" altLang="en-US" sz="2000" dirty="0" err="1">
                <a:solidFill>
                  <a:srgbClr val="000000"/>
                </a:solidFill>
              </a:rPr>
              <a:t>, </a:t>
            </a:r>
            <a:r>
              <a:rPr lang="zh-CN" altLang="en-US" sz="2000" dirty="0" err="1">
                <a:solidFill>
                  <a:srgbClr val="000000"/>
                </a:solidFill>
              </a:rPr>
              <a:t>☕</a:t>
            </a:r>
            <a:r>
              <a:rPr lang="en-US" altLang="en-US" sz="2000" dirty="0" err="1">
                <a:solidFill>
                  <a:srgbClr val="000000"/>
                </a:solidFill>
              </a:rPr>
              <a:t>)</a:t>
            </a:r>
            <a:endParaRPr lang="en-US" altLang="en-US" sz="2000" dirty="0" err="1">
              <a:solidFill>
                <a:srgbClr val="000000"/>
              </a:solidFill>
            </a:endParaRPr>
          </a:p>
          <a:p>
            <a:pPr marL="342900" indent="-342900" defTabSz="457200">
              <a:spcBef>
                <a:spcPts val="5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000" dirty="0" err="1">
                <a:solidFill>
                  <a:srgbClr val="000000"/>
                </a:solidFill>
              </a:rPr>
              <a:t>лінійну шкалу (1, 2, 3, 4...n)</a:t>
            </a:r>
            <a:endParaRPr lang="en-US" altLang="en-US" sz="2000" dirty="0" err="1">
              <a:solidFill>
                <a:srgbClr val="000000"/>
              </a:solidFill>
            </a:endParaRPr>
          </a:p>
          <a:p>
            <a:pPr marL="342900" indent="-342900" defTabSz="457200">
              <a:spcBef>
                <a:spcPts val="5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000" dirty="0" err="1">
                <a:solidFill>
                  <a:srgbClr val="000000"/>
                </a:solidFill>
              </a:rPr>
              <a:t>ступінь двійки (1, 2, 4, 8...2n)</a:t>
            </a:r>
            <a:endParaRPr lang="en-US" altLang="en-US" sz="2000" dirty="0" err="1">
              <a:solidFill>
                <a:srgbClr val="000000"/>
              </a:solidFill>
            </a:endParaRPr>
          </a:p>
          <a:p>
            <a:pPr marL="342900" indent="-342900" defTabSz="457200">
              <a:spcBef>
                <a:spcPts val="5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000" dirty="0" err="1">
                <a:solidFill>
                  <a:srgbClr val="000000"/>
                </a:solidFill>
              </a:rPr>
              <a:t>розміри одягу (XS, S, M, L, XL)</a:t>
            </a:r>
            <a:endParaRPr lang="en-US" altLang="en-US" sz="2000" dirty="0" err="1">
              <a:solidFill>
                <a:srgbClr val="000000"/>
              </a:solidFill>
            </a:endParaRPr>
          </a:p>
        </p:txBody>
      </p:sp>
      <p:pic>
        <p:nvPicPr>
          <p:cNvPr id="34819" name="Picture 34818"/>
          <p:cNvPicPr>
            <a:picLocks noChangeAspect="1"/>
          </p:cNvPicPr>
          <p:nvPr/>
        </p:nvPicPr>
        <p:blipFill>
          <a:blip r:embed="rId1"/>
          <a:stretch>
            <a:fillRect/>
          </a:stretch>
        </p:blipFill>
        <p:spPr>
          <a:xfrm>
            <a:off x="6765925" y="2097088"/>
            <a:ext cx="2357438" cy="4762500"/>
          </a:xfrm>
          <a:prstGeom prst="rect">
            <a:avLst/>
          </a:prstGeom>
          <a:noFill/>
          <a:ln w="9525">
            <a:noFill/>
          </a:ln>
        </p:spPr>
      </p:pic>
      <p:pic>
        <p:nvPicPr>
          <p:cNvPr id="34820" name="Picture 34819"/>
          <p:cNvPicPr>
            <a:picLocks noChangeAspect="1"/>
          </p:cNvPicPr>
          <p:nvPr/>
        </p:nvPicPr>
        <p:blipFill>
          <a:blip r:embed="rId2"/>
          <a:stretch>
            <a:fillRect/>
          </a:stretch>
        </p:blipFill>
        <p:spPr>
          <a:xfrm>
            <a:off x="4075113" y="3967163"/>
            <a:ext cx="2259012" cy="2835275"/>
          </a:xfrm>
          <a:prstGeom prst="rect">
            <a:avLst/>
          </a:prstGeom>
          <a:noFill/>
          <a:ln w="9525">
            <a:noFill/>
          </a:ln>
        </p:spPr>
      </p:pic>
      <p:pic>
        <p:nvPicPr>
          <p:cNvPr id="34821" name="Picture 34820"/>
          <p:cNvPicPr>
            <a:picLocks noChangeAspect="1"/>
          </p:cNvPicPr>
          <p:nvPr/>
        </p:nvPicPr>
        <p:blipFill>
          <a:blip r:embed="rId3"/>
          <a:stretch>
            <a:fillRect/>
          </a:stretch>
        </p:blipFill>
        <p:spPr>
          <a:xfrm>
            <a:off x="55563" y="4429125"/>
            <a:ext cx="3602037" cy="2370138"/>
          </a:xfrm>
          <a:prstGeom prst="rect">
            <a:avLst/>
          </a:prstGeom>
          <a:noFill/>
          <a:ln w="9525">
            <a:noFill/>
          </a:ln>
        </p:spPr>
      </p:pic>
    </p:spTree>
  </p:cSld>
  <p:clrMapOvr>
    <a:masterClrMapping/>
  </p:clrMapOvr>
  <p:transition spd="med"/>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Text Box 3686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ru-RU" altLang="x-none" sz="4200" dirty="0" err="1">
                <a:solidFill>
                  <a:srgbClr val="FFFFFF"/>
                </a:solidFill>
              </a:rPr>
              <a:t>Критер</a:t>
            </a:r>
            <a:r>
              <a:rPr lang="uk-UA" altLang="ru-RU" sz="4200" dirty="0" err="1">
                <a:solidFill>
                  <a:srgbClr val="FFFFFF"/>
                </a:solidFill>
              </a:rPr>
              <a:t>ії</a:t>
            </a:r>
            <a:r>
              <a:rPr lang="ru-RU" altLang="x-none" sz="4200" dirty="0" err="1">
                <a:solidFill>
                  <a:srgbClr val="FFFFFF"/>
                </a:solidFill>
              </a:rPr>
              <a:t> готовност</a:t>
            </a:r>
            <a:r>
              <a:rPr lang="uk-UA" altLang="ru-RU" sz="4200" dirty="0" err="1">
                <a:solidFill>
                  <a:srgbClr val="FFFFFF"/>
                </a:solidFill>
              </a:rPr>
              <a:t>і</a:t>
            </a:r>
            <a:endParaRPr lang="uk-UA" altLang="ru-RU" sz="4200" dirty="0" err="1">
              <a:solidFill>
                <a:srgbClr val="FFFFFF"/>
              </a:solidFill>
            </a:endParaRPr>
          </a:p>
        </p:txBody>
      </p:sp>
      <p:sp>
        <p:nvSpPr>
          <p:cNvPr id="36866" name="Text Box 36865"/>
          <p:cNvSpPr txBox="1"/>
          <p:nvPr/>
        </p:nvSpPr>
        <p:spPr>
          <a:xfrm>
            <a:off x="395288" y="1385888"/>
            <a:ext cx="8208962" cy="4419600"/>
          </a:xfrm>
          <a:prstGeom prst="rect">
            <a:avLst/>
          </a:prstGeom>
          <a:noFill/>
          <a:ln w="9525">
            <a:noFill/>
          </a:ln>
        </p:spPr>
        <p:txBody>
          <a:bodyPr wrap="square" lIns="91440" tIns="45720" rIns="91440" bIns="45720" anchor="t" anchorCtr="0"/>
          <a:p>
            <a:pPr defTabSz="457200">
              <a:spcBef>
                <a:spcPts val="5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800" dirty="0" err="1">
                <a:solidFill>
                  <a:srgbClr val="000000"/>
                </a:solidFill>
              </a:rPr>
              <a:t>Критерії, що визначають рівень готовності елемента з журналу побажань користувача.</a:t>
            </a:r>
            <a:r>
              <a:rPr lang="uk-UA" altLang="en-US" sz="1800" dirty="0" err="1">
                <a:solidFill>
                  <a:srgbClr val="000000"/>
                </a:solidFill>
              </a:rPr>
              <a:t> Приклад:</a:t>
            </a:r>
            <a:endParaRPr lang="uk-UA" altLang="en-US" sz="1800" dirty="0" err="1">
              <a:solidFill>
                <a:srgbClr val="000000"/>
              </a:solidFill>
            </a:endParaRPr>
          </a:p>
          <a:p>
            <a:pPr marL="342900" indent="-342900" defTabSz="457200">
              <a:spcBef>
                <a:spcPts val="5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800" dirty="0" err="1">
                <a:solidFill>
                  <a:srgbClr val="000000"/>
                </a:solidFill>
              </a:rPr>
              <a:t>Сторінка / функціонал працює на мобільній та десктопній версіях (responsive ≥ 320–1920 px)</a:t>
            </a:r>
            <a:endParaRPr lang="en-US" altLang="en-US" sz="1800" dirty="0" err="1">
              <a:solidFill>
                <a:srgbClr val="000000"/>
              </a:solidFill>
            </a:endParaRPr>
          </a:p>
          <a:p>
            <a:pPr marL="342900" indent="-342900" defTabSz="457200">
              <a:spcBef>
                <a:spcPts val="5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800" dirty="0" err="1">
                <a:solidFill>
                  <a:srgbClr val="000000"/>
                </a:solidFill>
              </a:rPr>
              <a:t>Перевірено в останніх двох версіях основних браузерів (Chrome, Safari, Firefox, Edge)</a:t>
            </a:r>
            <a:endParaRPr lang="en-US" altLang="en-US" sz="1800" dirty="0" err="1">
              <a:solidFill>
                <a:srgbClr val="000000"/>
              </a:solidFill>
            </a:endParaRPr>
          </a:p>
          <a:p>
            <a:pPr marL="342900" indent="-342900" defTabSz="457200">
              <a:spcBef>
                <a:spcPts val="5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800" dirty="0" err="1">
                <a:solidFill>
                  <a:srgbClr val="000000"/>
                </a:solidFill>
              </a:rPr>
              <a:t>Немає критичних і блокуючих багів</a:t>
            </a:r>
            <a:endParaRPr lang="en-US" altLang="en-US" sz="1800" dirty="0" err="1">
              <a:solidFill>
                <a:srgbClr val="000000"/>
              </a:solidFill>
            </a:endParaRPr>
          </a:p>
          <a:p>
            <a:pPr marL="342900" indent="-342900" defTabSz="457200">
              <a:spcBef>
                <a:spcPts val="5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800" dirty="0" err="1">
                <a:solidFill>
                  <a:srgbClr val="000000"/>
                </a:solidFill>
              </a:rPr>
              <a:t>Код пройшов Code Review (≥ </a:t>
            </a:r>
            <a:r>
              <a:rPr lang="uk-UA" altLang="en-US" sz="1800" dirty="0" err="1">
                <a:solidFill>
                  <a:srgbClr val="000000"/>
                </a:solidFill>
              </a:rPr>
              <a:t>2</a:t>
            </a:r>
            <a:r>
              <a:rPr lang="en-US" altLang="en-US" sz="1800" dirty="0" err="1">
                <a:solidFill>
                  <a:srgbClr val="000000"/>
                </a:solidFill>
              </a:rPr>
              <a:t> апрув</a:t>
            </a:r>
            <a:r>
              <a:rPr lang="uk-UA" altLang="en-US" sz="1800" dirty="0" err="1">
                <a:solidFill>
                  <a:srgbClr val="000000"/>
                </a:solidFill>
              </a:rPr>
              <a:t>а</a:t>
            </a:r>
            <a:r>
              <a:rPr lang="en-US" altLang="en-US" sz="1800" dirty="0" err="1">
                <a:solidFill>
                  <a:srgbClr val="000000"/>
                </a:solidFill>
              </a:rPr>
              <a:t>, без великих зауважень)</a:t>
            </a:r>
            <a:endParaRPr lang="en-US" altLang="en-US" sz="1800" dirty="0" err="1">
              <a:solidFill>
                <a:srgbClr val="000000"/>
              </a:solidFill>
            </a:endParaRPr>
          </a:p>
          <a:p>
            <a:pPr marL="342900" indent="-342900" defTabSz="457200">
              <a:spcBef>
                <a:spcPts val="5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800" dirty="0" err="1">
                <a:solidFill>
                  <a:srgbClr val="000000"/>
                </a:solidFill>
              </a:rPr>
              <a:t>Усі нові/змінені ендпоінти задокументовані в Swagger / Postman collection</a:t>
            </a:r>
            <a:endParaRPr lang="en-US" altLang="en-US" sz="1800" dirty="0" err="1">
              <a:solidFill>
                <a:srgbClr val="000000"/>
              </a:solidFill>
            </a:endParaRPr>
          </a:p>
          <a:p>
            <a:pPr marL="342900" indent="-342900" defTabSz="457200">
              <a:spcBef>
                <a:spcPts val="5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800" dirty="0" err="1">
                <a:solidFill>
                  <a:srgbClr val="000000"/>
                </a:solidFill>
              </a:rPr>
              <a:t>Дані валідуються на фронті та на бекенді</a:t>
            </a:r>
            <a:endParaRPr lang="en-US" altLang="en-US" sz="1800" dirty="0" err="1">
              <a:solidFill>
                <a:srgbClr val="000000"/>
              </a:solidFill>
            </a:endParaRPr>
          </a:p>
          <a:p>
            <a:pPr marL="342900" indent="-342900" defTabSz="457200">
              <a:spcBef>
                <a:spcPts val="5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800" dirty="0" err="1">
                <a:solidFill>
                  <a:srgbClr val="000000"/>
                </a:solidFill>
              </a:rPr>
              <a:t>Функціонал</a:t>
            </a:r>
            <a:r>
              <a:rPr lang="uk-UA" altLang="en-US" sz="1800" dirty="0" err="1">
                <a:solidFill>
                  <a:srgbClr val="000000"/>
                </a:solidFill>
              </a:rPr>
              <a:t>ьність </a:t>
            </a:r>
            <a:r>
              <a:rPr lang="en-US" altLang="en-US" sz="1800" dirty="0" err="1">
                <a:solidFill>
                  <a:srgbClr val="000000"/>
                </a:solidFill>
              </a:rPr>
              <a:t>перевірен</a:t>
            </a:r>
            <a:r>
              <a:rPr lang="uk-UA" altLang="en-US" sz="1800" dirty="0" err="1">
                <a:solidFill>
                  <a:srgbClr val="000000"/>
                </a:solidFill>
              </a:rPr>
              <a:t>а</a:t>
            </a:r>
            <a:r>
              <a:rPr lang="en-US" altLang="en-US" sz="1800" dirty="0" err="1">
                <a:solidFill>
                  <a:srgbClr val="000000"/>
                </a:solidFill>
              </a:rPr>
              <a:t> тестувальником</a:t>
            </a:r>
            <a:endParaRPr lang="en-US" altLang="en-US" sz="1800" dirty="0" err="1">
              <a:solidFill>
                <a:srgbClr val="000000"/>
              </a:solidFill>
            </a:endParaRPr>
          </a:p>
          <a:p>
            <a:pPr marL="342900" indent="-342900" defTabSz="457200">
              <a:spcBef>
                <a:spcPts val="500"/>
              </a:spcBef>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800" dirty="0" err="1">
                <a:solidFill>
                  <a:srgbClr val="000000"/>
                </a:solidFill>
              </a:rPr>
              <a:t>Немає console.error, 404, 500 в консолі та network-вкладці </a:t>
            </a:r>
            <a:r>
              <a:rPr lang="uk-UA" altLang="en-US" sz="1800" dirty="0" err="1">
                <a:solidFill>
                  <a:srgbClr val="000000"/>
                </a:solidFill>
              </a:rPr>
              <a:t>                      </a:t>
            </a:r>
            <a:r>
              <a:rPr lang="en-US" altLang="en-US" sz="1800" dirty="0" err="1">
                <a:solidFill>
                  <a:srgbClr val="000000"/>
                </a:solidFill>
              </a:rPr>
              <a:t>при звичайному користуванні</a:t>
            </a:r>
            <a:endParaRPr lang="en-US" altLang="en-US" sz="1800" dirty="0" err="1">
              <a:solidFill>
                <a:srgbClr val="000000"/>
              </a:solidFill>
            </a:endParaRPr>
          </a:p>
          <a:p>
            <a:pPr defTabSz="457200">
              <a:spcBef>
                <a:spcPts val="5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1800" dirty="0" err="1">
              <a:solidFill>
                <a:srgbClr val="000000"/>
              </a:solidFill>
            </a:endParaRPr>
          </a:p>
        </p:txBody>
      </p:sp>
    </p:spTree>
  </p:cSld>
  <p:clrMapOvr>
    <a:masterClrMapping/>
  </p:clrMapOvr>
  <p:transition spd="med"/>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Text Box 37888"/>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4200" dirty="0" err="1">
                <a:solidFill>
                  <a:srgbClr val="FFFFFF"/>
                </a:solidFill>
              </a:rPr>
              <a:t>Швидкість</a:t>
            </a:r>
            <a:r>
              <a:rPr lang="ru-RU" altLang="x-none" sz="4200" dirty="0" err="1">
                <a:solidFill>
                  <a:srgbClr val="FFFFFF"/>
                </a:solidFill>
              </a:rPr>
              <a:t> скрам-команд</a:t>
            </a:r>
            <a:r>
              <a:rPr lang="uk-UA" altLang="ru-RU" sz="4200" dirty="0" err="1">
                <a:solidFill>
                  <a:srgbClr val="FFFFFF"/>
                </a:solidFill>
              </a:rPr>
              <a:t>и</a:t>
            </a:r>
            <a:endParaRPr lang="uk-UA" altLang="ru-RU" sz="4200" dirty="0" err="1">
              <a:solidFill>
                <a:srgbClr val="FFFFFF"/>
              </a:solidFill>
            </a:endParaRPr>
          </a:p>
        </p:txBody>
      </p:sp>
      <p:sp>
        <p:nvSpPr>
          <p:cNvPr id="37890" name="Text Box 37889"/>
          <p:cNvSpPr txBox="1"/>
          <p:nvPr/>
        </p:nvSpPr>
        <p:spPr>
          <a:xfrm>
            <a:off x="395288" y="1385888"/>
            <a:ext cx="8208962" cy="4419600"/>
          </a:xfrm>
          <a:prstGeom prst="rect">
            <a:avLst/>
          </a:prstGeom>
          <a:noFill/>
          <a:ln w="9525">
            <a:noFill/>
          </a:ln>
        </p:spPr>
        <p:txBody>
          <a:bodyPr wrap="square" lIns="91440" tIns="45720" rIns="91440" bIns="45720" anchor="t" anchorCtr="0"/>
          <a:p>
            <a:pPr defTabSz="457200">
              <a:spcBef>
                <a:spcPts val="500"/>
              </a:spcBef>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000" dirty="0" err="1">
                <a:solidFill>
                  <a:srgbClr val="000000"/>
                </a:solidFill>
              </a:rPr>
              <a:t>Загальна кількість очок, набраних скрам-командою за попередній спринт. Ця метрика допомагає команді зрозуміти, скільки історій вона може зробити за один спринт.</a:t>
            </a:r>
            <a:endParaRPr lang="en-US" altLang="en-US" sz="2000" dirty="0" err="1">
              <a:solidFill>
                <a:srgbClr val="000000"/>
              </a:solidFill>
            </a:endParaRPr>
          </a:p>
        </p:txBody>
      </p:sp>
      <p:pic>
        <p:nvPicPr>
          <p:cNvPr id="37891" name="Picture 37890"/>
          <p:cNvPicPr>
            <a:picLocks noChangeAspect="1"/>
          </p:cNvPicPr>
          <p:nvPr/>
        </p:nvPicPr>
        <p:blipFill>
          <a:blip r:embed="rId1"/>
          <a:stretch>
            <a:fillRect/>
          </a:stretch>
        </p:blipFill>
        <p:spPr>
          <a:xfrm>
            <a:off x="1022350" y="2430463"/>
            <a:ext cx="6765925" cy="4489450"/>
          </a:xfrm>
          <a:prstGeom prst="rect">
            <a:avLst/>
          </a:prstGeom>
          <a:noFill/>
          <a:ln w="9525">
            <a:noFill/>
          </a:ln>
        </p:spPr>
      </p:pic>
    </p:spTree>
  </p:cSld>
  <p:clrMapOvr>
    <a:masterClrMapping/>
  </p:clrMapOvr>
  <p:transition spd="med"/>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Text Box 38912"/>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ru-RU" altLang="x-none" sz="4200" dirty="0" err="1">
                <a:solidFill>
                  <a:srgbClr val="FFFFFF"/>
                </a:solidFill>
              </a:rPr>
              <a:t>Основн</a:t>
            </a:r>
            <a:r>
              <a:rPr lang="uk-UA" altLang="ru-RU" sz="4200" dirty="0" err="1">
                <a:solidFill>
                  <a:srgbClr val="FFFFFF"/>
                </a:solidFill>
              </a:rPr>
              <a:t>і</a:t>
            </a:r>
            <a:r>
              <a:rPr lang="ru-RU" altLang="x-none" sz="4200" dirty="0" err="1">
                <a:solidFill>
                  <a:srgbClr val="FFFFFF"/>
                </a:solidFill>
              </a:rPr>
              <a:t> рол</a:t>
            </a:r>
            <a:r>
              <a:rPr lang="uk-UA" altLang="ru-RU" sz="4200" dirty="0" err="1">
                <a:solidFill>
                  <a:srgbClr val="FFFFFF"/>
                </a:solidFill>
              </a:rPr>
              <a:t>і</a:t>
            </a:r>
            <a:r>
              <a:rPr lang="ru-RU" altLang="x-none" sz="4200" dirty="0" err="1">
                <a:solidFill>
                  <a:srgbClr val="FFFFFF"/>
                </a:solidFill>
              </a:rPr>
              <a:t> в SCRUM</a:t>
            </a:r>
            <a:endParaRPr lang="ru-RU" altLang="x-none" sz="4200" dirty="0" err="1">
              <a:solidFill>
                <a:srgbClr val="FFFFFF"/>
              </a:solidFill>
            </a:endParaRPr>
          </a:p>
        </p:txBody>
      </p:sp>
      <p:sp>
        <p:nvSpPr>
          <p:cNvPr id="38914" name="Text Box 38913"/>
          <p:cNvSpPr txBox="1"/>
          <p:nvPr/>
        </p:nvSpPr>
        <p:spPr>
          <a:xfrm>
            <a:off x="395288" y="1385888"/>
            <a:ext cx="8208962" cy="4419600"/>
          </a:xfrm>
          <a:prstGeom prst="rect">
            <a:avLst/>
          </a:prstGeom>
          <a:noFill/>
          <a:ln w="9525">
            <a:noFill/>
          </a:ln>
        </p:spPr>
        <p:txBody>
          <a:bodyPr wrap="square" lIns="91440" tIns="45720" rIns="91440" bIns="45720" anchor="t" anchorCtr="0"/>
          <a:p>
            <a:pPr marL="203200" indent="-203200" defTabSz="457200">
              <a:spcBef>
                <a:spcPts val="500"/>
              </a:spcBef>
              <a:buSzPct val="45000"/>
              <a:buFont typeface="Wingdings" panose="05000000000000000000" pitchFamily="2" charset="2"/>
              <a:buChar char=""/>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en-US" altLang="en-US" sz="1800" b="1" dirty="0" err="1">
                <a:solidFill>
                  <a:srgbClr val="000000"/>
                </a:solidFill>
              </a:rPr>
              <a:t>Скрам-майстер</a:t>
            </a:r>
            <a:r>
              <a:rPr lang="en-US" altLang="en-US" sz="1800" dirty="0" err="1">
                <a:solidFill>
                  <a:srgbClr val="000000"/>
                </a:solidFill>
              </a:rPr>
              <a:t> (SCRUM Master) - проводить наради (Scrum meetings), стежить за дотриманням усіх принципів скраму, </a:t>
            </a:r>
            <a:r>
              <a:rPr lang="uk-UA" altLang="en-US" sz="1800" dirty="0" err="1">
                <a:solidFill>
                  <a:srgbClr val="000000"/>
                </a:solidFill>
              </a:rPr>
              <a:t>вирішує </a:t>
            </a:r>
            <a:r>
              <a:rPr lang="en-US" altLang="en-US" sz="1800" dirty="0" err="1">
                <a:solidFill>
                  <a:srgbClr val="000000"/>
                </a:solidFill>
              </a:rPr>
              <a:t>протиріччя і захищає команду від факторів, що відволікають, проводить фасилітацію мітингів, відповідає за облік, зберігання і видачу SCRUM-інвентарю. </a:t>
            </a:r>
            <a:r>
              <a:rPr lang="uk-UA" altLang="en-US" sz="1800" dirty="0" err="1">
                <a:solidFill>
                  <a:srgbClr val="000000"/>
                </a:solidFill>
              </a:rPr>
              <a:t>    </a:t>
            </a:r>
            <a:r>
              <a:rPr lang="en-US" altLang="en-US" sz="1800" dirty="0" err="1">
                <a:solidFill>
                  <a:srgbClr val="000000"/>
                </a:solidFill>
              </a:rPr>
              <a:t>Ця роль зазвичай не передбачає нічого іншого, крім коректного ведення скрам-процесу</a:t>
            </a:r>
            <a:endParaRPr lang="en-US" altLang="en-US" sz="1800" dirty="0" err="1">
              <a:solidFill>
                <a:srgbClr val="000000"/>
              </a:solidFill>
            </a:endParaRPr>
          </a:p>
          <a:p>
            <a:pPr marL="203200" indent="-203200" defTabSz="457200">
              <a:spcBef>
                <a:spcPts val="500"/>
              </a:spcBef>
              <a:buSzPct val="45000"/>
              <a:buFont typeface="Wingdings" panose="05000000000000000000" pitchFamily="2" charset="2"/>
              <a:buChar char=""/>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en-US" altLang="en-US" sz="1800" b="1" dirty="0" err="1">
                <a:solidFill>
                  <a:srgbClr val="000000"/>
                </a:solidFill>
              </a:rPr>
              <a:t>Скрам-власник продукту</a:t>
            </a:r>
            <a:r>
              <a:rPr lang="en-US" altLang="en-US" sz="1800" dirty="0" err="1">
                <a:solidFill>
                  <a:srgbClr val="000000"/>
                </a:solidFill>
              </a:rPr>
              <a:t> (SCRUM Product Owner) – представляє інтереси кінцевих користувачів та інших зацікавлених у продукті сторін</a:t>
            </a:r>
            <a:endParaRPr lang="en-US" altLang="en-US" sz="1800" dirty="0" err="1">
              <a:solidFill>
                <a:srgbClr val="000000"/>
              </a:solidFill>
            </a:endParaRPr>
          </a:p>
          <a:p>
            <a:pPr marL="203200" indent="-203200" defTabSz="457200">
              <a:spcBef>
                <a:spcPts val="500"/>
              </a:spcBef>
              <a:buSzPct val="45000"/>
              <a:buFont typeface="Wingdings" panose="05000000000000000000" pitchFamily="2" charset="2"/>
              <a:buChar char=""/>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en-US" altLang="en-US" sz="1800" b="1" dirty="0" err="1">
                <a:solidFill>
                  <a:srgbClr val="000000"/>
                </a:solidFill>
              </a:rPr>
              <a:t>Скрам-команда</a:t>
            </a:r>
            <a:r>
              <a:rPr lang="en-US" altLang="en-US" sz="1800" dirty="0" err="1">
                <a:solidFill>
                  <a:srgbClr val="000000"/>
                </a:solidFill>
              </a:rPr>
              <a:t> (SCRUM Team) - крос-функціональна команда розробників про</a:t>
            </a:r>
            <a:r>
              <a:rPr lang="uk-UA" altLang="en-US" sz="1800" dirty="0" err="1">
                <a:solidFill>
                  <a:srgbClr val="000000"/>
                </a:solidFill>
              </a:rPr>
              <a:t>є</a:t>
            </a:r>
            <a:r>
              <a:rPr lang="en-US" altLang="en-US" sz="1800" dirty="0" err="1">
                <a:solidFill>
                  <a:srgbClr val="000000"/>
                </a:solidFill>
              </a:rPr>
              <a:t>кту, що складається зі спеціалістів різних профілів: тестувальників, архітекторів, аналітиків, програмістів тощо. Розмір команди складає від 5 до 9 осіб. Команда є єдиним повністю залученим учасником розробки та відповідає за результат як єдине ціле. Ніхто,</a:t>
            </a:r>
            <a:r>
              <a:rPr lang="uk-UA" altLang="en-US" sz="1800" dirty="0" err="1">
                <a:solidFill>
                  <a:srgbClr val="000000"/>
                </a:solidFill>
              </a:rPr>
              <a:t>  </a:t>
            </a:r>
            <a:r>
              <a:rPr lang="en-US" altLang="en-US" sz="1800" dirty="0" err="1">
                <a:solidFill>
                  <a:srgbClr val="000000"/>
                </a:solidFill>
              </a:rPr>
              <a:t> крім скрам-команди, скрам-майстра та власника продукту не може втручатися у процес розробки протягом спринту</a:t>
            </a:r>
            <a:endParaRPr lang="en-US" altLang="en-US" sz="1800" dirty="0" err="1">
              <a:solidFill>
                <a:srgbClr val="000000"/>
              </a:solidFill>
            </a:endParaRPr>
          </a:p>
        </p:txBody>
      </p:sp>
    </p:spTree>
  </p:cSld>
  <p:clrMapOvr>
    <a:masterClrMapping/>
  </p:clrMapOvr>
  <p:transition spd="med"/>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Text Box 45056"/>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4200" dirty="0" err="1">
                <a:solidFill>
                  <a:srgbClr val="FFFFFF"/>
                </a:solidFill>
              </a:rPr>
              <a:t>Валіза-фасилітатор</a:t>
            </a:r>
            <a:endParaRPr lang="en-US" altLang="en-US" sz="4200" dirty="0" err="1">
              <a:solidFill>
                <a:srgbClr val="FFFFFF"/>
              </a:solidFill>
            </a:endParaRPr>
          </a:p>
        </p:txBody>
      </p:sp>
      <p:sp>
        <p:nvSpPr>
          <p:cNvPr id="45058" name="Text Box 45057"/>
          <p:cNvSpPr txBox="1"/>
          <p:nvPr/>
        </p:nvSpPr>
        <p:spPr>
          <a:xfrm>
            <a:off x="395288" y="1385888"/>
            <a:ext cx="8208962" cy="4419600"/>
          </a:xfrm>
          <a:prstGeom prst="rect">
            <a:avLst/>
          </a:prstGeom>
          <a:noFill/>
          <a:ln w="9525">
            <a:noFill/>
          </a:ln>
        </p:spPr>
        <p:txBody>
          <a:bodyPr wrap="square" lIns="91440" tIns="45720" rIns="91440" bIns="45720" anchor="t" anchorCtr="0"/>
          <a:p>
            <a:pPr marL="211455" indent="-203200" defTabSz="457200">
              <a:spcBef>
                <a:spcPts val="500"/>
              </a:spcBef>
              <a:buClrTx/>
              <a:buSzPct val="100000"/>
              <a:buFontTx/>
              <a:buNone/>
              <a:tabLst>
                <a:tab pos="211455" algn="l"/>
                <a:tab pos="668655" algn="l"/>
                <a:tab pos="1125855" algn="l"/>
                <a:tab pos="1583055" algn="l"/>
                <a:tab pos="2040255" algn="l"/>
                <a:tab pos="2497455" algn="l"/>
                <a:tab pos="2954655" algn="l"/>
                <a:tab pos="3411855" algn="l"/>
                <a:tab pos="3869055" algn="l"/>
                <a:tab pos="4326255" algn="l"/>
                <a:tab pos="4783455" algn="l"/>
                <a:tab pos="5240655" algn="l"/>
                <a:tab pos="5697855" algn="l"/>
                <a:tab pos="6155055" algn="l"/>
                <a:tab pos="6612255" algn="l"/>
                <a:tab pos="7069455" algn="l"/>
                <a:tab pos="7526655" algn="l"/>
                <a:tab pos="7983855" algn="l"/>
                <a:tab pos="8441055" algn="l"/>
                <a:tab pos="8898255" algn="l"/>
                <a:tab pos="9355455" algn="l"/>
              </a:tabLst>
            </a:pPr>
            <a:r>
              <a:rPr lang="en-US" altLang="en-US" sz="1500" dirty="0" err="1">
                <a:solidFill>
                  <a:srgbClr val="000000"/>
                </a:solidFill>
              </a:rPr>
              <a:t>Головним інструментом скрам-майстра є валіза-фасилітатор. Така валіза містить:</a:t>
            </a:r>
            <a:endParaRPr lang="en-US" altLang="en-US" sz="1500" dirty="0" err="1">
              <a:solidFill>
                <a:srgbClr val="000000"/>
              </a:solidFill>
            </a:endParaRPr>
          </a:p>
          <a:p>
            <a:pPr marL="294005" indent="-285750" defTabSz="457200">
              <a:spcBef>
                <a:spcPts val="500"/>
              </a:spcBef>
              <a:buClrTx/>
              <a:buSzPct val="100000"/>
              <a:buFont typeface="Arial" panose="020B0604020202020204" pitchFamily="34" charset="0"/>
              <a:buChar char="•"/>
              <a:tabLst>
                <a:tab pos="211455" algn="l"/>
                <a:tab pos="668655" algn="l"/>
                <a:tab pos="1125855" algn="l"/>
                <a:tab pos="1583055" algn="l"/>
                <a:tab pos="2040255" algn="l"/>
                <a:tab pos="2497455" algn="l"/>
                <a:tab pos="2954655" algn="l"/>
                <a:tab pos="3411855" algn="l"/>
                <a:tab pos="3869055" algn="l"/>
                <a:tab pos="4326255" algn="l"/>
                <a:tab pos="4783455" algn="l"/>
                <a:tab pos="5240655" algn="l"/>
                <a:tab pos="5697855" algn="l"/>
                <a:tab pos="6155055" algn="l"/>
                <a:tab pos="6612255" algn="l"/>
                <a:tab pos="7069455" algn="l"/>
                <a:tab pos="7526655" algn="l"/>
                <a:tab pos="7983855" algn="l"/>
                <a:tab pos="8441055" algn="l"/>
                <a:tab pos="8898255" algn="l"/>
                <a:tab pos="9355455" algn="l"/>
              </a:tabLst>
            </a:pPr>
            <a:r>
              <a:rPr lang="en-US" altLang="en-US" sz="1500" dirty="0" err="1">
                <a:solidFill>
                  <a:srgbClr val="000000"/>
                </a:solidFill>
              </a:rPr>
              <a:t>картонні коробочки для карток, маркерів та аксесуарів</a:t>
            </a:r>
            <a:endParaRPr lang="en-US" altLang="en-US" sz="1500" dirty="0" err="1">
              <a:solidFill>
                <a:srgbClr val="000000"/>
              </a:solidFill>
            </a:endParaRPr>
          </a:p>
          <a:p>
            <a:pPr marL="294005" indent="-285750" defTabSz="457200">
              <a:spcBef>
                <a:spcPts val="500"/>
              </a:spcBef>
              <a:buClrTx/>
              <a:buSzPct val="100000"/>
              <a:buFont typeface="Arial" panose="020B0604020202020204" pitchFamily="34" charset="0"/>
              <a:buChar char="•"/>
              <a:tabLst>
                <a:tab pos="211455" algn="l"/>
                <a:tab pos="668655" algn="l"/>
                <a:tab pos="1125855" algn="l"/>
                <a:tab pos="1583055" algn="l"/>
                <a:tab pos="2040255" algn="l"/>
                <a:tab pos="2497455" algn="l"/>
                <a:tab pos="2954655" algn="l"/>
                <a:tab pos="3411855" algn="l"/>
                <a:tab pos="3869055" algn="l"/>
                <a:tab pos="4326255" algn="l"/>
                <a:tab pos="4783455" algn="l"/>
                <a:tab pos="5240655" algn="l"/>
                <a:tab pos="5697855" algn="l"/>
                <a:tab pos="6155055" algn="l"/>
                <a:tab pos="6612255" algn="l"/>
                <a:tab pos="7069455" algn="l"/>
                <a:tab pos="7526655" algn="l"/>
                <a:tab pos="7983855" algn="l"/>
                <a:tab pos="8441055" algn="l"/>
                <a:tab pos="8898255" algn="l"/>
                <a:tab pos="9355455" algn="l"/>
              </a:tabLst>
            </a:pPr>
            <a:r>
              <a:rPr lang="en-US" altLang="en-US" sz="1500" dirty="0" err="1">
                <a:solidFill>
                  <a:srgbClr val="000000"/>
                </a:solidFill>
              </a:rPr>
              <a:t>клейкі круглі карти 5 кольорів</a:t>
            </a:r>
            <a:endParaRPr lang="en-US" altLang="en-US" sz="1500" dirty="0" err="1">
              <a:solidFill>
                <a:srgbClr val="000000"/>
              </a:solidFill>
            </a:endParaRPr>
          </a:p>
          <a:p>
            <a:pPr marL="294005" indent="-285750" defTabSz="457200">
              <a:spcBef>
                <a:spcPts val="500"/>
              </a:spcBef>
              <a:buClrTx/>
              <a:buSzPct val="100000"/>
              <a:buFont typeface="Arial" panose="020B0604020202020204" pitchFamily="34" charset="0"/>
              <a:buChar char="•"/>
              <a:tabLst>
                <a:tab pos="211455" algn="l"/>
                <a:tab pos="668655" algn="l"/>
                <a:tab pos="1125855" algn="l"/>
                <a:tab pos="1583055" algn="l"/>
                <a:tab pos="2040255" algn="l"/>
                <a:tab pos="2497455" algn="l"/>
                <a:tab pos="2954655" algn="l"/>
                <a:tab pos="3411855" algn="l"/>
                <a:tab pos="3869055" algn="l"/>
                <a:tab pos="4326255" algn="l"/>
                <a:tab pos="4783455" algn="l"/>
                <a:tab pos="5240655" algn="l"/>
                <a:tab pos="5697855" algn="l"/>
                <a:tab pos="6155055" algn="l"/>
                <a:tab pos="6612255" algn="l"/>
                <a:tab pos="7069455" algn="l"/>
                <a:tab pos="7526655" algn="l"/>
                <a:tab pos="7983855" algn="l"/>
                <a:tab pos="8441055" algn="l"/>
                <a:tab pos="8898255" algn="l"/>
                <a:tab pos="9355455" algn="l"/>
              </a:tabLst>
            </a:pPr>
            <a:r>
              <a:rPr lang="en-US" altLang="en-US" sz="1500" dirty="0" err="1">
                <a:solidFill>
                  <a:srgbClr val="000000"/>
                </a:solidFill>
              </a:rPr>
              <a:t>клейкі овальні карти 6 кольорів</a:t>
            </a:r>
            <a:endParaRPr lang="en-US" altLang="en-US" sz="1500" dirty="0" err="1">
              <a:solidFill>
                <a:srgbClr val="000000"/>
              </a:solidFill>
            </a:endParaRPr>
          </a:p>
          <a:p>
            <a:pPr marL="294005" indent="-285750" defTabSz="457200">
              <a:spcBef>
                <a:spcPts val="500"/>
              </a:spcBef>
              <a:buClrTx/>
              <a:buSzPct val="100000"/>
              <a:buFont typeface="Arial" panose="020B0604020202020204" pitchFamily="34" charset="0"/>
              <a:buChar char="•"/>
              <a:tabLst>
                <a:tab pos="211455" algn="l"/>
                <a:tab pos="668655" algn="l"/>
                <a:tab pos="1125855" algn="l"/>
                <a:tab pos="1583055" algn="l"/>
                <a:tab pos="2040255" algn="l"/>
                <a:tab pos="2497455" algn="l"/>
                <a:tab pos="2954655" algn="l"/>
                <a:tab pos="3411855" algn="l"/>
                <a:tab pos="3869055" algn="l"/>
                <a:tab pos="4326255" algn="l"/>
                <a:tab pos="4783455" algn="l"/>
                <a:tab pos="5240655" algn="l"/>
                <a:tab pos="5697855" algn="l"/>
                <a:tab pos="6155055" algn="l"/>
                <a:tab pos="6612255" algn="l"/>
                <a:tab pos="7069455" algn="l"/>
                <a:tab pos="7526655" algn="l"/>
                <a:tab pos="7983855" algn="l"/>
                <a:tab pos="8441055" algn="l"/>
                <a:tab pos="8898255" algn="l"/>
                <a:tab pos="9355455" algn="l"/>
              </a:tabLst>
            </a:pPr>
            <a:r>
              <a:rPr lang="en-US" altLang="en-US" sz="1500" dirty="0" err="1">
                <a:solidFill>
                  <a:srgbClr val="000000"/>
                </a:solidFill>
              </a:rPr>
              <a:t>клейкі прямокутні карти 6 кольорів</a:t>
            </a:r>
            <a:endParaRPr lang="en-US" altLang="en-US" sz="1500" dirty="0" err="1">
              <a:solidFill>
                <a:srgbClr val="000000"/>
              </a:solidFill>
            </a:endParaRPr>
          </a:p>
          <a:p>
            <a:pPr marL="294005" indent="-285750" defTabSz="457200">
              <a:spcBef>
                <a:spcPts val="500"/>
              </a:spcBef>
              <a:buClrTx/>
              <a:buSzPct val="100000"/>
              <a:buFont typeface="Arial" panose="020B0604020202020204" pitchFamily="34" charset="0"/>
              <a:buChar char="•"/>
              <a:tabLst>
                <a:tab pos="211455" algn="l"/>
                <a:tab pos="668655" algn="l"/>
                <a:tab pos="1125855" algn="l"/>
                <a:tab pos="1583055" algn="l"/>
                <a:tab pos="2040255" algn="l"/>
                <a:tab pos="2497455" algn="l"/>
                <a:tab pos="2954655" algn="l"/>
                <a:tab pos="3411855" algn="l"/>
                <a:tab pos="3869055" algn="l"/>
                <a:tab pos="4326255" algn="l"/>
                <a:tab pos="4783455" algn="l"/>
                <a:tab pos="5240655" algn="l"/>
                <a:tab pos="5697855" algn="l"/>
                <a:tab pos="6155055" algn="l"/>
                <a:tab pos="6612255" algn="l"/>
                <a:tab pos="7069455" algn="l"/>
                <a:tab pos="7526655" algn="l"/>
                <a:tab pos="7983855" algn="l"/>
                <a:tab pos="8441055" algn="l"/>
                <a:tab pos="8898255" algn="l"/>
                <a:tab pos="9355455" algn="l"/>
              </a:tabLst>
            </a:pPr>
            <a:r>
              <a:rPr lang="en-US" altLang="en-US" sz="1500" dirty="0" err="1">
                <a:solidFill>
                  <a:srgbClr val="000000"/>
                </a:solidFill>
              </a:rPr>
              <a:t>фан-стікери (питання, ідея, суперечка, серц</a:t>
            </a:r>
            <a:r>
              <a:rPr lang="uk-UA" altLang="en-US" sz="1500" dirty="0" err="1">
                <a:solidFill>
                  <a:srgbClr val="000000"/>
                </a:solidFill>
              </a:rPr>
              <a:t>е</a:t>
            </a:r>
            <a:r>
              <a:rPr lang="en-US" altLang="en-US" sz="1500" dirty="0" err="1">
                <a:solidFill>
                  <a:srgbClr val="000000"/>
                </a:solidFill>
              </a:rPr>
              <a:t>)</a:t>
            </a:r>
            <a:endParaRPr lang="en-US" altLang="en-US" sz="1500" dirty="0" err="1">
              <a:solidFill>
                <a:srgbClr val="000000"/>
              </a:solidFill>
            </a:endParaRPr>
          </a:p>
          <a:p>
            <a:pPr marL="294005" indent="-285750" defTabSz="457200">
              <a:spcBef>
                <a:spcPts val="500"/>
              </a:spcBef>
              <a:buClrTx/>
              <a:buSzPct val="100000"/>
              <a:buFont typeface="Arial" panose="020B0604020202020204" pitchFamily="34" charset="0"/>
              <a:buChar char="•"/>
              <a:tabLst>
                <a:tab pos="211455" algn="l"/>
                <a:tab pos="668655" algn="l"/>
                <a:tab pos="1125855" algn="l"/>
                <a:tab pos="1583055" algn="l"/>
                <a:tab pos="2040255" algn="l"/>
                <a:tab pos="2497455" algn="l"/>
                <a:tab pos="2954655" algn="l"/>
                <a:tab pos="3411855" algn="l"/>
                <a:tab pos="3869055" algn="l"/>
                <a:tab pos="4326255" algn="l"/>
                <a:tab pos="4783455" algn="l"/>
                <a:tab pos="5240655" algn="l"/>
                <a:tab pos="5697855" algn="l"/>
                <a:tab pos="6155055" algn="l"/>
                <a:tab pos="6612255" algn="l"/>
                <a:tab pos="7069455" algn="l"/>
                <a:tab pos="7526655" algn="l"/>
                <a:tab pos="7983855" algn="l"/>
                <a:tab pos="8441055" algn="l"/>
                <a:tab pos="8898255" algn="l"/>
                <a:tab pos="9355455" algn="l"/>
              </a:tabLst>
            </a:pPr>
            <a:r>
              <a:rPr lang="en-US" altLang="en-US" sz="1500" dirty="0" err="1">
                <a:solidFill>
                  <a:srgbClr val="000000"/>
                </a:solidFill>
              </a:rPr>
              <a:t>шпильки, ніж для різання паперу, клейка стрічка (скотч)</a:t>
            </a:r>
            <a:endParaRPr lang="en-US" altLang="en-US" sz="1500" dirty="0" err="1">
              <a:solidFill>
                <a:srgbClr val="000000"/>
              </a:solidFill>
            </a:endParaRPr>
          </a:p>
          <a:p>
            <a:pPr marL="294005" indent="-285750" defTabSz="457200">
              <a:spcBef>
                <a:spcPts val="500"/>
              </a:spcBef>
              <a:buClrTx/>
              <a:buSzPct val="100000"/>
              <a:buFont typeface="Arial" panose="020B0604020202020204" pitchFamily="34" charset="0"/>
              <a:buChar char="•"/>
              <a:tabLst>
                <a:tab pos="211455" algn="l"/>
                <a:tab pos="668655" algn="l"/>
                <a:tab pos="1125855" algn="l"/>
                <a:tab pos="1583055" algn="l"/>
                <a:tab pos="2040255" algn="l"/>
                <a:tab pos="2497455" algn="l"/>
                <a:tab pos="2954655" algn="l"/>
                <a:tab pos="3411855" algn="l"/>
                <a:tab pos="3869055" algn="l"/>
                <a:tab pos="4326255" algn="l"/>
                <a:tab pos="4783455" algn="l"/>
                <a:tab pos="5240655" algn="l"/>
                <a:tab pos="5697855" algn="l"/>
                <a:tab pos="6155055" algn="l"/>
                <a:tab pos="6612255" algn="l"/>
                <a:tab pos="7069455" algn="l"/>
                <a:tab pos="7526655" algn="l"/>
                <a:tab pos="7983855" algn="l"/>
                <a:tab pos="8441055" algn="l"/>
                <a:tab pos="8898255" algn="l"/>
                <a:tab pos="9355455" algn="l"/>
              </a:tabLst>
            </a:pPr>
            <a:r>
              <a:rPr lang="en-US" altLang="en-US" sz="1500" dirty="0" err="1">
                <a:solidFill>
                  <a:srgbClr val="000000"/>
                </a:solidFill>
              </a:rPr>
              <a:t>колода карт Planning Poker - за кількістю учасників SCRUM Team + одна для скрам-майстра + одна для продукт-оунера</a:t>
            </a:r>
            <a:endParaRPr lang="en-US" altLang="en-US" sz="1500" dirty="0" err="1">
              <a:solidFill>
                <a:srgbClr val="000000"/>
              </a:solidFill>
            </a:endParaRPr>
          </a:p>
          <a:p>
            <a:pPr marL="294005" indent="-285750" defTabSz="457200">
              <a:spcBef>
                <a:spcPts val="500"/>
              </a:spcBef>
              <a:buClrTx/>
              <a:buSzPct val="100000"/>
              <a:buFont typeface="Arial" panose="020B0604020202020204" pitchFamily="34" charset="0"/>
              <a:buChar char="•"/>
              <a:tabLst>
                <a:tab pos="211455" algn="l"/>
                <a:tab pos="668655" algn="l"/>
                <a:tab pos="1125855" algn="l"/>
                <a:tab pos="1583055" algn="l"/>
                <a:tab pos="2040255" algn="l"/>
                <a:tab pos="2497455" algn="l"/>
                <a:tab pos="2954655" algn="l"/>
                <a:tab pos="3411855" algn="l"/>
                <a:tab pos="3869055" algn="l"/>
                <a:tab pos="4326255" algn="l"/>
                <a:tab pos="4783455" algn="l"/>
                <a:tab pos="5240655" algn="l"/>
                <a:tab pos="5697855" algn="l"/>
                <a:tab pos="6155055" algn="l"/>
                <a:tab pos="6612255" algn="l"/>
                <a:tab pos="7069455" algn="l"/>
                <a:tab pos="7526655" algn="l"/>
                <a:tab pos="7983855" algn="l"/>
                <a:tab pos="8441055" algn="l"/>
                <a:tab pos="8898255" algn="l"/>
                <a:tab pos="9355455" algn="l"/>
              </a:tabLst>
            </a:pPr>
            <a:r>
              <a:rPr lang="en-US" altLang="en-US" sz="1500" dirty="0" err="1">
                <a:solidFill>
                  <a:srgbClr val="000000"/>
                </a:solidFill>
              </a:rPr>
              <a:t>колода карт ретроспектив</a:t>
            </a:r>
            <a:endParaRPr lang="en-US" altLang="en-US" sz="1500" dirty="0" err="1">
              <a:solidFill>
                <a:srgbClr val="000000"/>
              </a:solidFill>
            </a:endParaRPr>
          </a:p>
          <a:p>
            <a:pPr marL="294005" indent="-285750" defTabSz="457200">
              <a:spcBef>
                <a:spcPts val="500"/>
              </a:spcBef>
              <a:buClrTx/>
              <a:buSzPct val="100000"/>
              <a:buFont typeface="Arial" panose="020B0604020202020204" pitchFamily="34" charset="0"/>
              <a:buChar char="•"/>
              <a:tabLst>
                <a:tab pos="211455" algn="l"/>
                <a:tab pos="668655" algn="l"/>
                <a:tab pos="1125855" algn="l"/>
                <a:tab pos="1583055" algn="l"/>
                <a:tab pos="2040255" algn="l"/>
                <a:tab pos="2497455" algn="l"/>
                <a:tab pos="2954655" algn="l"/>
                <a:tab pos="3411855" algn="l"/>
                <a:tab pos="3869055" algn="l"/>
                <a:tab pos="4326255" algn="l"/>
                <a:tab pos="4783455" algn="l"/>
                <a:tab pos="5240655" algn="l"/>
                <a:tab pos="5697855" algn="l"/>
                <a:tab pos="6155055" algn="l"/>
                <a:tab pos="6612255" algn="l"/>
                <a:tab pos="7069455" algn="l"/>
                <a:tab pos="7526655" algn="l"/>
                <a:tab pos="7983855" algn="l"/>
                <a:tab pos="8441055" algn="l"/>
                <a:tab pos="8898255" algn="l"/>
                <a:tab pos="9355455" algn="l"/>
              </a:tabLst>
            </a:pPr>
            <a:r>
              <a:rPr lang="en-US" altLang="en-US" sz="1500" dirty="0" err="1">
                <a:solidFill>
                  <a:srgbClr val="000000"/>
                </a:solidFill>
              </a:rPr>
              <a:t>4 плакати "SCRUM" формату A1, що прикріплюються на стіну</a:t>
            </a:r>
            <a:endParaRPr lang="en-US" altLang="en-US" sz="1500" dirty="0" err="1">
              <a:solidFill>
                <a:srgbClr val="000000"/>
              </a:solidFill>
            </a:endParaRPr>
          </a:p>
          <a:p>
            <a:pPr marL="294005" indent="-285750" defTabSz="457200">
              <a:spcBef>
                <a:spcPts val="500"/>
              </a:spcBef>
              <a:buClrTx/>
              <a:buSzPct val="100000"/>
              <a:buFont typeface="Arial" panose="020B0604020202020204" pitchFamily="34" charset="0"/>
              <a:buChar char="•"/>
              <a:tabLst>
                <a:tab pos="211455" algn="l"/>
                <a:tab pos="668655" algn="l"/>
                <a:tab pos="1125855" algn="l"/>
                <a:tab pos="1583055" algn="l"/>
                <a:tab pos="2040255" algn="l"/>
                <a:tab pos="2497455" algn="l"/>
                <a:tab pos="2954655" algn="l"/>
                <a:tab pos="3411855" algn="l"/>
                <a:tab pos="3869055" algn="l"/>
                <a:tab pos="4326255" algn="l"/>
                <a:tab pos="4783455" algn="l"/>
                <a:tab pos="5240655" algn="l"/>
                <a:tab pos="5697855" algn="l"/>
                <a:tab pos="6155055" algn="l"/>
                <a:tab pos="6612255" algn="l"/>
                <a:tab pos="7069455" algn="l"/>
                <a:tab pos="7526655" algn="l"/>
                <a:tab pos="7983855" algn="l"/>
                <a:tab pos="8441055" algn="l"/>
                <a:tab pos="8898255" algn="l"/>
                <a:tab pos="9355455" algn="l"/>
              </a:tabLst>
            </a:pPr>
            <a:r>
              <a:rPr lang="en-US" altLang="en-US" sz="1500" dirty="0" err="1">
                <a:solidFill>
                  <a:srgbClr val="000000"/>
                </a:solidFill>
              </a:rPr>
              <a:t>2 плакати "SCRUM" формату A2, що прикріплюються на двері</a:t>
            </a:r>
            <a:endParaRPr lang="en-US" altLang="en-US" sz="1500" dirty="0" err="1">
              <a:solidFill>
                <a:srgbClr val="000000"/>
              </a:solidFill>
            </a:endParaRPr>
          </a:p>
          <a:p>
            <a:pPr marL="294005" indent="-285750" defTabSz="457200">
              <a:spcBef>
                <a:spcPts val="500"/>
              </a:spcBef>
              <a:buClrTx/>
              <a:buSzPct val="100000"/>
              <a:buFont typeface="Arial" panose="020B0604020202020204" pitchFamily="34" charset="0"/>
              <a:buChar char="•"/>
              <a:tabLst>
                <a:tab pos="211455" algn="l"/>
                <a:tab pos="668655" algn="l"/>
                <a:tab pos="1125855" algn="l"/>
                <a:tab pos="1583055" algn="l"/>
                <a:tab pos="2040255" algn="l"/>
                <a:tab pos="2497455" algn="l"/>
                <a:tab pos="2954655" algn="l"/>
                <a:tab pos="3411855" algn="l"/>
                <a:tab pos="3869055" algn="l"/>
                <a:tab pos="4326255" algn="l"/>
                <a:tab pos="4783455" algn="l"/>
                <a:tab pos="5240655" algn="l"/>
                <a:tab pos="5697855" algn="l"/>
                <a:tab pos="6155055" algn="l"/>
                <a:tab pos="6612255" algn="l"/>
                <a:tab pos="7069455" algn="l"/>
                <a:tab pos="7526655" algn="l"/>
                <a:tab pos="7983855" algn="l"/>
                <a:tab pos="8441055" algn="l"/>
                <a:tab pos="8898255" algn="l"/>
                <a:tab pos="9355455" algn="l"/>
              </a:tabLst>
            </a:pPr>
            <a:r>
              <a:rPr lang="en-US" altLang="en-US" sz="1500" dirty="0" err="1">
                <a:solidFill>
                  <a:srgbClr val="000000"/>
                </a:solidFill>
              </a:rPr>
              <a:t>запасний комплект інвентарю в тій же кількості</a:t>
            </a:r>
            <a:endParaRPr lang="en-US" altLang="en-US" sz="1500" dirty="0" err="1">
              <a:solidFill>
                <a:srgbClr val="000000"/>
              </a:solidFill>
            </a:endParaRPr>
          </a:p>
        </p:txBody>
      </p:sp>
      <p:pic>
        <p:nvPicPr>
          <p:cNvPr id="45059" name="Picture 45058"/>
          <p:cNvPicPr>
            <a:picLocks noChangeAspect="1"/>
          </p:cNvPicPr>
          <p:nvPr/>
        </p:nvPicPr>
        <p:blipFill>
          <a:blip r:embed="rId1"/>
          <a:stretch>
            <a:fillRect/>
          </a:stretch>
        </p:blipFill>
        <p:spPr>
          <a:xfrm>
            <a:off x="6251575" y="3871595"/>
            <a:ext cx="3005455" cy="3005455"/>
          </a:xfrm>
          <a:prstGeom prst="rect">
            <a:avLst/>
          </a:prstGeom>
          <a:noFill/>
          <a:ln w="9525">
            <a:noFill/>
          </a:ln>
        </p:spPr>
      </p:pic>
    </p:spTree>
  </p:cSld>
  <p:clrMapOvr>
    <a:masterClrMapping/>
  </p:clrMapOvr>
  <p:transition spd="med"/>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Text Box 46080"/>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4200" dirty="0" err="1">
                <a:solidFill>
                  <a:srgbClr val="FFFFFF"/>
                </a:solidFill>
              </a:rPr>
              <a:t>Облік інвертаря</a:t>
            </a:r>
            <a:endParaRPr lang="uk-UA" altLang="ru-RU" sz="4200" dirty="0" err="1">
              <a:solidFill>
                <a:srgbClr val="FFFFFF"/>
              </a:solidFill>
            </a:endParaRPr>
          </a:p>
        </p:txBody>
      </p:sp>
      <p:sp>
        <p:nvSpPr>
          <p:cNvPr id="46082" name="Text Box 46081"/>
          <p:cNvSpPr txBox="1"/>
          <p:nvPr/>
        </p:nvSpPr>
        <p:spPr>
          <a:xfrm>
            <a:off x="395288" y="1385888"/>
            <a:ext cx="8208962" cy="4419600"/>
          </a:xfrm>
          <a:prstGeom prst="rect">
            <a:avLst/>
          </a:prstGeom>
          <a:noFill/>
          <a:ln w="9525">
            <a:noFill/>
          </a:ln>
        </p:spPr>
        <p:txBody>
          <a:bodyPr wrap="square" lIns="91440" tIns="45720" rIns="91440" bIns="45720" anchor="t" anchorCtr="0"/>
          <a:p>
            <a:pPr marL="203200" indent="-203200" defTabSz="457200">
              <a:spcBef>
                <a:spcPts val="500"/>
              </a:spcBef>
              <a:buSzPct val="45000"/>
              <a:buFont typeface="Wingdings" panose="05000000000000000000" pitchFamily="2" charset="2"/>
              <a:buChar char=""/>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en-US" altLang="en-US" sz="1500" dirty="0" err="1">
                <a:solidFill>
                  <a:srgbClr val="000000"/>
                </a:solidFill>
              </a:rPr>
              <a:t>Інвентар за винятком плакатів "SCRUM" повинен зберігатися в сейфі у скрам-майстра</a:t>
            </a:r>
            <a:endParaRPr lang="en-US" altLang="en-US" sz="1500" dirty="0" err="1">
              <a:solidFill>
                <a:srgbClr val="000000"/>
              </a:solidFill>
            </a:endParaRPr>
          </a:p>
          <a:p>
            <a:pPr marL="203200" indent="-203200" defTabSz="457200">
              <a:spcBef>
                <a:spcPts val="500"/>
              </a:spcBef>
              <a:buSzPct val="45000"/>
              <a:buFont typeface="Wingdings" panose="05000000000000000000" pitchFamily="2" charset="2"/>
              <a:buChar char=""/>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en-US" altLang="en-US" sz="1500" dirty="0" err="1">
                <a:solidFill>
                  <a:srgbClr val="000000"/>
                </a:solidFill>
              </a:rPr>
              <a:t>Плакати "SCRUM" висять у кімнаті SCRUM-нарад на кожній стіні та на двері зовні </a:t>
            </a:r>
            <a:r>
              <a:rPr lang="uk-UA" altLang="en-US" sz="1500" dirty="0" err="1">
                <a:solidFill>
                  <a:srgbClr val="000000"/>
                </a:solidFill>
              </a:rPr>
              <a:t>       </a:t>
            </a:r>
            <a:r>
              <a:rPr lang="en-US" altLang="en-US" sz="1500" dirty="0" err="1">
                <a:solidFill>
                  <a:srgbClr val="000000"/>
                </a:solidFill>
              </a:rPr>
              <a:t>та зсередини на висоті 200см від підлоги, так щоб кожен член команди у будь-якому положенні бачив плакат</a:t>
            </a:r>
            <a:endParaRPr lang="en-US" altLang="en-US" sz="1500" dirty="0" err="1">
              <a:solidFill>
                <a:srgbClr val="000000"/>
              </a:solidFill>
            </a:endParaRPr>
          </a:p>
          <a:p>
            <a:pPr marL="203200" indent="-203200" defTabSz="457200">
              <a:spcBef>
                <a:spcPts val="500"/>
              </a:spcBef>
              <a:buSzPct val="45000"/>
              <a:buFont typeface="Wingdings" panose="05000000000000000000" pitchFamily="2" charset="2"/>
              <a:buChar char=""/>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en-US" altLang="en-US" sz="1500" dirty="0" err="1">
                <a:solidFill>
                  <a:srgbClr val="000000"/>
                </a:solidFill>
              </a:rPr>
              <a:t>На початку робочого дня скрам-майстер перевіряє цілісність плакатів "SCRUM" </a:t>
            </a:r>
            <a:r>
              <a:rPr lang="uk-UA" altLang="en-US" sz="1500" dirty="0" err="1">
                <a:solidFill>
                  <a:srgbClr val="000000"/>
                </a:solidFill>
              </a:rPr>
              <a:t>                </a:t>
            </a:r>
            <a:r>
              <a:rPr lang="en-US" altLang="en-US" sz="1500" dirty="0" err="1">
                <a:solidFill>
                  <a:srgbClr val="000000"/>
                </a:solidFill>
              </a:rPr>
              <a:t>і за необхідності змінює їх на запасні</a:t>
            </a:r>
            <a:endParaRPr lang="en-US" altLang="en-US" sz="1500" dirty="0" err="1">
              <a:solidFill>
                <a:srgbClr val="000000"/>
              </a:solidFill>
            </a:endParaRPr>
          </a:p>
          <a:p>
            <a:pPr marL="203200" indent="-203200" defTabSz="457200">
              <a:spcBef>
                <a:spcPts val="500"/>
              </a:spcBef>
              <a:buSzPct val="45000"/>
              <a:buFont typeface="Wingdings" panose="05000000000000000000" pitchFamily="2" charset="2"/>
              <a:buChar char=""/>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en-US" altLang="en-US" sz="1500" dirty="0" err="1">
                <a:solidFill>
                  <a:srgbClr val="000000"/>
                </a:solidFill>
              </a:rPr>
              <a:t>Після здачі інвентарю скрам-майстер повинен перерахувати карти, зіпсовані картки замінити на запасні</a:t>
            </a:r>
            <a:endParaRPr lang="en-US" altLang="en-US" sz="1500" dirty="0" err="1">
              <a:solidFill>
                <a:srgbClr val="000000"/>
              </a:solidFill>
            </a:endParaRPr>
          </a:p>
          <a:p>
            <a:pPr marL="203200" indent="-203200" defTabSz="457200">
              <a:spcBef>
                <a:spcPts val="500"/>
              </a:spcBef>
              <a:buSzPct val="45000"/>
              <a:buFont typeface="Wingdings" panose="05000000000000000000" pitchFamily="2" charset="2"/>
              <a:buChar char=""/>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en-US" altLang="en-US" sz="1500" dirty="0" err="1">
                <a:solidFill>
                  <a:srgbClr val="000000"/>
                </a:solidFill>
              </a:rPr>
              <a:t>Після використання предметів інвентарю із запасного комплекту запасний комплект поповнюється того ж дня</a:t>
            </a:r>
            <a:endParaRPr lang="en-US" altLang="en-US" sz="1500" dirty="0" err="1">
              <a:solidFill>
                <a:srgbClr val="000000"/>
              </a:solidFill>
            </a:endParaRPr>
          </a:p>
          <a:p>
            <a:pPr marL="203200" indent="-203200" defTabSz="457200">
              <a:spcBef>
                <a:spcPts val="500"/>
              </a:spcBef>
              <a:buSzPct val="45000"/>
              <a:buFont typeface="Wingdings" panose="05000000000000000000" pitchFamily="2" charset="2"/>
              <a:buChar char=""/>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en-US" altLang="en-US" sz="1500" dirty="0" err="1">
                <a:solidFill>
                  <a:srgbClr val="000000"/>
                </a:solidFill>
              </a:rPr>
              <a:t>Карти Planning Poker та карти ретроспектив замінюються на нові один раз на рік, </a:t>
            </a:r>
            <a:r>
              <a:rPr lang="uk-UA" altLang="en-US" sz="1500" dirty="0" err="1">
                <a:solidFill>
                  <a:srgbClr val="000000"/>
                </a:solidFill>
              </a:rPr>
              <a:t>    </a:t>
            </a:r>
            <a:r>
              <a:rPr lang="en-US" altLang="en-US" sz="1500" dirty="0" err="1">
                <a:solidFill>
                  <a:srgbClr val="000000"/>
                </a:solidFill>
              </a:rPr>
              <a:t>старі карти здаються на утилізацію</a:t>
            </a:r>
            <a:endParaRPr lang="en-US" altLang="en-US" sz="1500" dirty="0" err="1">
              <a:solidFill>
                <a:srgbClr val="000000"/>
              </a:solidFill>
            </a:endParaRPr>
          </a:p>
        </p:txBody>
      </p:sp>
      <p:pic>
        <p:nvPicPr>
          <p:cNvPr id="46083" name="Picture 46082"/>
          <p:cNvPicPr>
            <a:picLocks noChangeAspect="1"/>
          </p:cNvPicPr>
          <p:nvPr/>
        </p:nvPicPr>
        <p:blipFill>
          <a:blip r:embed="rId1"/>
          <a:stretch>
            <a:fillRect/>
          </a:stretch>
        </p:blipFill>
        <p:spPr>
          <a:xfrm>
            <a:off x="4297045" y="4307205"/>
            <a:ext cx="3747135" cy="2811145"/>
          </a:xfrm>
          <a:prstGeom prst="rect">
            <a:avLst/>
          </a:prstGeom>
          <a:noFill/>
          <a:ln w="9525">
            <a:noFill/>
          </a:ln>
        </p:spPr>
      </p:pic>
    </p:spTree>
  </p:cSld>
  <p:clrMapOvr>
    <a:masterClrMapping/>
  </p:clrMapOvr>
  <p:transition spd="med"/>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5" name="Text Box 4710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4200" dirty="0" err="1">
                <a:solidFill>
                  <a:srgbClr val="FFFFFF"/>
                </a:solidFill>
              </a:rPr>
              <a:t>Додаткові ролі </a:t>
            </a:r>
            <a:r>
              <a:rPr lang="ru-RU" altLang="x-none" sz="4200" dirty="0" err="1">
                <a:solidFill>
                  <a:srgbClr val="FFFFFF"/>
                </a:solidFill>
              </a:rPr>
              <a:t>SCRUM</a:t>
            </a:r>
            <a:endParaRPr lang="ru-RU" altLang="x-none" sz="4200" dirty="0" err="1">
              <a:solidFill>
                <a:srgbClr val="FFFFFF"/>
              </a:solidFill>
            </a:endParaRPr>
          </a:p>
        </p:txBody>
      </p:sp>
      <p:sp>
        <p:nvSpPr>
          <p:cNvPr id="47106" name="Text Box 47105"/>
          <p:cNvSpPr txBox="1"/>
          <p:nvPr/>
        </p:nvSpPr>
        <p:spPr>
          <a:xfrm>
            <a:off x="395288" y="1385888"/>
            <a:ext cx="8208962" cy="4419600"/>
          </a:xfrm>
          <a:prstGeom prst="rect">
            <a:avLst/>
          </a:prstGeom>
          <a:noFill/>
          <a:ln w="9525">
            <a:noFill/>
          </a:ln>
        </p:spPr>
        <p:txBody>
          <a:bodyPr wrap="square" lIns="91440" tIns="45720" rIns="91440" bIns="45720" anchor="t" anchorCtr="0"/>
          <a:p>
            <a:pPr marL="203200" indent="-203200" defTabSz="457200">
              <a:spcBef>
                <a:spcPts val="500"/>
              </a:spcBef>
              <a:buSzPct val="45000"/>
              <a:buFont typeface="Wingdings" panose="05000000000000000000" pitchFamily="2" charset="2"/>
              <a:buChar char=""/>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en-US" altLang="en-US" sz="2000" b="1" dirty="0" err="1">
                <a:solidFill>
                  <a:srgbClr val="000000"/>
                </a:solidFill>
              </a:rPr>
              <a:t>Користувачі </a:t>
            </a:r>
            <a:r>
              <a:rPr lang="en-US" altLang="en-US" sz="2000" dirty="0" err="1">
                <a:solidFill>
                  <a:srgbClr val="000000"/>
                </a:solidFill>
              </a:rPr>
              <a:t>(Users)</a:t>
            </a:r>
            <a:endParaRPr lang="en-US" altLang="en-US" sz="2000" dirty="0" err="1">
              <a:solidFill>
                <a:srgbClr val="000000"/>
              </a:solidFill>
            </a:endParaRPr>
          </a:p>
          <a:p>
            <a:pPr marL="203200" indent="-203200" defTabSz="457200">
              <a:spcBef>
                <a:spcPts val="500"/>
              </a:spcBef>
              <a:buSzPct val="45000"/>
              <a:buFont typeface="Wingdings" panose="05000000000000000000" pitchFamily="2" charset="2"/>
              <a:buChar char=""/>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en-US" altLang="en-US" sz="2000" b="1" dirty="0" err="1">
                <a:solidFill>
                  <a:srgbClr val="000000"/>
                </a:solidFill>
              </a:rPr>
              <a:t>Сте</a:t>
            </a:r>
            <a:r>
              <a:rPr lang="uk-UA" altLang="en-US" sz="2000" b="1" dirty="0" err="1">
                <a:solidFill>
                  <a:srgbClr val="000000"/>
                </a:solidFill>
              </a:rPr>
              <a:t>й</a:t>
            </a:r>
            <a:r>
              <a:rPr lang="en-US" altLang="en-US" sz="2000" b="1" dirty="0" err="1">
                <a:solidFill>
                  <a:srgbClr val="000000"/>
                </a:solidFill>
              </a:rPr>
              <a:t>кхолдери </a:t>
            </a:r>
            <a:r>
              <a:rPr lang="en-US" altLang="en-US" sz="2000" dirty="0" err="1">
                <a:solidFill>
                  <a:srgbClr val="000000"/>
                </a:solidFill>
              </a:rPr>
              <a:t>(Stakeholders) - особи, які ініціюють про</a:t>
            </a:r>
            <a:r>
              <a:rPr lang="uk-UA" altLang="en-US" sz="2000" dirty="0" err="1">
                <a:solidFill>
                  <a:srgbClr val="000000"/>
                </a:solidFill>
              </a:rPr>
              <a:t>є</a:t>
            </a:r>
            <a:r>
              <a:rPr lang="en-US" altLang="en-US" sz="2000" dirty="0" err="1">
                <a:solidFill>
                  <a:srgbClr val="000000"/>
                </a:solidFill>
              </a:rPr>
              <a:t>кт (бізнес-замовники), і для кого про</a:t>
            </a:r>
            <a:r>
              <a:rPr lang="uk-UA" altLang="en-US" sz="2000" dirty="0" err="1">
                <a:solidFill>
                  <a:srgbClr val="000000"/>
                </a:solidFill>
              </a:rPr>
              <a:t>є</a:t>
            </a:r>
            <a:r>
              <a:rPr lang="en-US" altLang="en-US" sz="2000" dirty="0" err="1">
                <a:solidFill>
                  <a:srgbClr val="000000"/>
                </a:solidFill>
              </a:rPr>
              <a:t>кт приноситиме вигоду. </a:t>
            </a:r>
            <a:r>
              <a:rPr lang="uk-UA" altLang="en-US" sz="2000" dirty="0" err="1">
                <a:solidFill>
                  <a:srgbClr val="000000"/>
                </a:solidFill>
              </a:rPr>
              <a:t>     </a:t>
            </a:r>
            <a:r>
              <a:rPr lang="en-US" altLang="en-US" sz="2000" dirty="0" err="1">
                <a:solidFill>
                  <a:srgbClr val="000000"/>
                </a:solidFill>
              </a:rPr>
              <a:t>Вони залучені в скрам лише під час оглядової наради зі спринту </a:t>
            </a:r>
            <a:r>
              <a:rPr lang="uk-UA" altLang="en-US" sz="2000" dirty="0" err="1">
                <a:solidFill>
                  <a:srgbClr val="000000"/>
                </a:solidFill>
              </a:rPr>
              <a:t> (</a:t>
            </a:r>
            <a:r>
              <a:rPr lang="en-US" altLang="en-US" sz="2000" dirty="0" err="1">
                <a:solidFill>
                  <a:srgbClr val="000000"/>
                </a:solidFill>
              </a:rPr>
              <a:t>Sprint Review)</a:t>
            </a:r>
            <a:endParaRPr lang="en-US" altLang="en-US" sz="2000" dirty="0" err="1">
              <a:solidFill>
                <a:srgbClr val="000000"/>
              </a:solidFill>
            </a:endParaRPr>
          </a:p>
          <a:p>
            <a:pPr defTabSz="457200">
              <a:spcBef>
                <a:spcPts val="500"/>
              </a:spcBef>
              <a:buSzPct val="45000"/>
              <a:buFont typeface="Wingdings" panose="05000000000000000000" pitchFamily="2" charset="2"/>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endParaRPr lang="en-US" altLang="en-US" sz="2000" dirty="0" err="1">
              <a:solidFill>
                <a:srgbClr val="000000"/>
              </a:solidFill>
            </a:endParaRPr>
          </a:p>
          <a:p>
            <a:pPr defTabSz="457200">
              <a:spcBef>
                <a:spcPts val="500"/>
              </a:spcBef>
              <a:buSzPct val="45000"/>
              <a:buFont typeface="Wingdings" panose="05000000000000000000" pitchFamily="2" charset="2"/>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uk-UA" altLang="en-US" sz="2000" dirty="0" err="1">
                <a:solidFill>
                  <a:srgbClr val="000000"/>
                </a:solidFill>
              </a:rPr>
              <a:t>  </a:t>
            </a:r>
            <a:r>
              <a:rPr lang="en-US" altLang="en-US" sz="2000" dirty="0" err="1">
                <a:solidFill>
                  <a:srgbClr val="000000"/>
                </a:solidFill>
              </a:rPr>
              <a:t>Для основних ролей є ще термін </a:t>
            </a:r>
            <a:r>
              <a:rPr lang="en-US" altLang="en-US" sz="2000" b="1" dirty="0" err="1">
                <a:solidFill>
                  <a:srgbClr val="000000"/>
                </a:solidFill>
              </a:rPr>
              <a:t>свині</a:t>
            </a:r>
            <a:r>
              <a:rPr lang="en-US" altLang="en-US" sz="2000" dirty="0" err="1">
                <a:solidFill>
                  <a:srgbClr val="000000"/>
                </a:solidFill>
              </a:rPr>
              <a:t>,</a:t>
            </a:r>
            <a:endParaRPr lang="en-US" altLang="en-US" sz="2000" dirty="0" err="1">
              <a:solidFill>
                <a:srgbClr val="000000"/>
              </a:solidFill>
            </a:endParaRPr>
          </a:p>
          <a:p>
            <a:pPr defTabSz="457200">
              <a:spcBef>
                <a:spcPts val="500"/>
              </a:spcBef>
              <a:buSzPct val="45000"/>
              <a:buFont typeface="Wingdings" panose="05000000000000000000" pitchFamily="2" charset="2"/>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uk-UA" altLang="en-US" sz="2000" dirty="0" err="1">
                <a:solidFill>
                  <a:srgbClr val="000000"/>
                </a:solidFill>
              </a:rPr>
              <a:t>  </a:t>
            </a:r>
            <a:r>
              <a:rPr lang="en-US" altLang="en-US" sz="2000" dirty="0" err="1">
                <a:solidFill>
                  <a:srgbClr val="000000"/>
                </a:solidFill>
              </a:rPr>
              <a:t>а для додаткових – </a:t>
            </a:r>
            <a:r>
              <a:rPr lang="en-US" altLang="en-US" sz="2000" b="1" dirty="0" err="1">
                <a:solidFill>
                  <a:srgbClr val="000000"/>
                </a:solidFill>
              </a:rPr>
              <a:t>кури</a:t>
            </a:r>
            <a:r>
              <a:rPr lang="en-US" altLang="en-US" sz="2000" dirty="0" err="1">
                <a:solidFill>
                  <a:srgbClr val="000000"/>
                </a:solidFill>
              </a:rPr>
              <a:t>.</a:t>
            </a:r>
            <a:endParaRPr lang="en-US" altLang="en-US" sz="2000" dirty="0" err="1">
              <a:solidFill>
                <a:srgbClr val="000000"/>
              </a:solidFill>
            </a:endParaRPr>
          </a:p>
          <a:p>
            <a:pPr marL="203200" indent="-203200" defTabSz="457200">
              <a:spcBef>
                <a:spcPts val="500"/>
              </a:spcBef>
              <a:buSzPct val="45000"/>
              <a:buFont typeface="Wingdings" panose="05000000000000000000" pitchFamily="2" charset="2"/>
              <a:buChar char=""/>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endParaRPr lang="en-US" altLang="en-US" sz="2000" dirty="0" err="1">
              <a:solidFill>
                <a:srgbClr val="000000"/>
              </a:solidFill>
            </a:endParaRPr>
          </a:p>
          <a:p>
            <a:pPr defTabSz="457200">
              <a:spcBef>
                <a:spcPts val="500"/>
              </a:spcBef>
              <a:buSzPct val="45000"/>
              <a:buFont typeface="Wingdings" panose="05000000000000000000" pitchFamily="2" charset="2"/>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en-US" altLang="en-US" sz="1600" i="1" dirty="0" err="1">
                <a:solidFill>
                  <a:srgbClr val="000000"/>
                </a:solidFill>
              </a:rPr>
              <a:t>Анекдот. Курка каже свині: "Давай відкриємо ресторан!"</a:t>
            </a:r>
            <a:endParaRPr lang="en-US" altLang="en-US" sz="1600" i="1" dirty="0" err="1">
              <a:solidFill>
                <a:srgbClr val="000000"/>
              </a:solidFill>
            </a:endParaRPr>
          </a:p>
          <a:p>
            <a:pPr defTabSz="457200">
              <a:spcBef>
                <a:spcPts val="500"/>
              </a:spcBef>
              <a:buSzPct val="45000"/>
              <a:buFont typeface="Wingdings" panose="05000000000000000000" pitchFamily="2" charset="2"/>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en-US" altLang="en-US" sz="1600" i="1" dirty="0" err="1">
                <a:solidFill>
                  <a:srgbClr val="000000"/>
                </a:solidFill>
              </a:rPr>
              <a:t>Свиня дивиться на курку і відповідає: "Гарна ідея, і як же ми його назвемо?"</a:t>
            </a:r>
            <a:endParaRPr lang="en-US" altLang="en-US" sz="1600" i="1" dirty="0" err="1">
              <a:solidFill>
                <a:srgbClr val="000000"/>
              </a:solidFill>
            </a:endParaRPr>
          </a:p>
          <a:p>
            <a:pPr defTabSz="457200">
              <a:spcBef>
                <a:spcPts val="500"/>
              </a:spcBef>
              <a:buSzPct val="45000"/>
              <a:buFont typeface="Wingdings" panose="05000000000000000000" pitchFamily="2" charset="2"/>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en-US" altLang="en-US" sz="1600" i="1" dirty="0" err="1">
                <a:solidFill>
                  <a:srgbClr val="000000"/>
                </a:solidFill>
              </a:rPr>
              <a:t>Курка подумала і каже: </a:t>
            </a:r>
            <a:r>
              <a:rPr lang="" altLang="en-US" sz="1600" i="1" dirty="0" err="1">
                <a:solidFill>
                  <a:srgbClr val="000000"/>
                </a:solidFill>
              </a:rPr>
              <a:t>«</a:t>
            </a:r>
            <a:r>
              <a:rPr lang="en-US" altLang="en-US" sz="1600" i="1" dirty="0" err="1">
                <a:solidFill>
                  <a:srgbClr val="000000"/>
                </a:solidFill>
              </a:rPr>
              <a:t>Чому б не назвати 'Яєчня з беконом'?</a:t>
            </a:r>
            <a:r>
              <a:rPr lang="" altLang="en-US" sz="1600" i="1" dirty="0" err="1">
                <a:solidFill>
                  <a:srgbClr val="000000"/>
                </a:solidFill>
              </a:rPr>
              <a:t>»</a:t>
            </a:r>
            <a:r>
              <a:rPr lang="en-US" altLang="en-US" sz="1600" i="1" dirty="0" err="1">
                <a:solidFill>
                  <a:srgbClr val="000000"/>
                </a:solidFill>
              </a:rPr>
              <a:t>.</a:t>
            </a:r>
            <a:endParaRPr lang="en-US" altLang="en-US" sz="1600" i="1" dirty="0" err="1">
              <a:solidFill>
                <a:srgbClr val="000000"/>
              </a:solidFill>
            </a:endParaRPr>
          </a:p>
          <a:p>
            <a:pPr defTabSz="457200">
              <a:spcBef>
                <a:spcPts val="500"/>
              </a:spcBef>
              <a:buSzPct val="45000"/>
              <a:buFont typeface="Wingdings" panose="05000000000000000000" pitchFamily="2" charset="2"/>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 altLang="en-US" sz="1600" i="1" dirty="0" err="1">
                <a:solidFill>
                  <a:srgbClr val="000000"/>
                </a:solidFill>
              </a:rPr>
              <a:t>«</a:t>
            </a:r>
            <a:r>
              <a:rPr lang="en-US" altLang="en-US" sz="1600" i="1" dirty="0" err="1">
                <a:solidFill>
                  <a:srgbClr val="000000"/>
                </a:solidFill>
              </a:rPr>
              <a:t>Так не піде</a:t>
            </a:r>
            <a:r>
              <a:rPr lang="" altLang="en-US" sz="1600" i="1" dirty="0" err="1">
                <a:solidFill>
                  <a:srgbClr val="000000"/>
                </a:solidFill>
              </a:rPr>
              <a:t>»</a:t>
            </a:r>
            <a:r>
              <a:rPr lang="en-US" altLang="en-US" sz="1600" i="1" dirty="0" err="1">
                <a:solidFill>
                  <a:srgbClr val="000000"/>
                </a:solidFill>
              </a:rPr>
              <a:t>, — відповідає свиня, </a:t>
            </a:r>
            <a:r>
              <a:rPr lang="" altLang="en-US" sz="1600" i="1" dirty="0" err="1">
                <a:solidFill>
                  <a:srgbClr val="000000"/>
                </a:solidFill>
              </a:rPr>
              <a:t>«</a:t>
            </a:r>
            <a:r>
              <a:rPr lang="en-US" altLang="en-US" sz="1600" i="1" dirty="0" err="1">
                <a:solidFill>
                  <a:srgbClr val="000000"/>
                </a:solidFill>
              </a:rPr>
              <a:t>адже тоді мені доведеться повністю </a:t>
            </a:r>
            <a:r>
              <a:rPr lang="uk-UA" altLang="en-US" sz="1600" i="1" dirty="0" err="1">
                <a:solidFill>
                  <a:srgbClr val="000000"/>
                </a:solidFill>
              </a:rPr>
              <a:t>	</a:t>
            </a:r>
            <a:r>
              <a:rPr lang="en-US" altLang="en-US" sz="1600" i="1" dirty="0" err="1">
                <a:solidFill>
                  <a:srgbClr val="000000"/>
                </a:solidFill>
              </a:rPr>
              <a:t>присвятити себе про</a:t>
            </a:r>
            <a:r>
              <a:rPr lang="uk-UA" altLang="en-US" sz="1600" i="1" dirty="0" err="1">
                <a:solidFill>
                  <a:srgbClr val="000000"/>
                </a:solidFill>
              </a:rPr>
              <a:t>є</a:t>
            </a:r>
            <a:r>
              <a:rPr lang="en-US" altLang="en-US" sz="1600" i="1" dirty="0" err="1">
                <a:solidFill>
                  <a:srgbClr val="000000"/>
                </a:solidFill>
              </a:rPr>
              <a:t>кту, а ти будеш залучена лише частково</a:t>
            </a:r>
            <a:r>
              <a:rPr lang="" altLang="en-US" sz="1600" i="1" dirty="0" err="1">
                <a:solidFill>
                  <a:srgbClr val="000000"/>
                </a:solidFill>
              </a:rPr>
              <a:t>»</a:t>
            </a:r>
            <a:endParaRPr lang="" altLang="en-US" sz="1600" i="1" dirty="0" err="1">
              <a:solidFill>
                <a:srgbClr val="000000"/>
              </a:solidFill>
            </a:endParaRPr>
          </a:p>
        </p:txBody>
      </p:sp>
      <p:pic>
        <p:nvPicPr>
          <p:cNvPr id="47107" name="Picture 47106"/>
          <p:cNvPicPr>
            <a:picLocks noChangeAspect="1"/>
          </p:cNvPicPr>
          <p:nvPr/>
        </p:nvPicPr>
        <p:blipFill>
          <a:blip r:embed="rId1"/>
          <a:stretch>
            <a:fillRect/>
          </a:stretch>
        </p:blipFill>
        <p:spPr>
          <a:xfrm>
            <a:off x="6286500" y="2743200"/>
            <a:ext cx="2286000" cy="1900238"/>
          </a:xfrm>
          <a:prstGeom prst="rect">
            <a:avLst/>
          </a:prstGeom>
          <a:noFill/>
          <a:ln w="9525">
            <a:noFill/>
          </a:ln>
        </p:spPr>
      </p:pic>
    </p:spTree>
  </p:cSld>
  <p:clrMapOvr>
    <a:masterClrMapping/>
  </p:clrMapOvr>
  <p:transition spd="med"/>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29" name="Text Box 48128"/>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4200" dirty="0" err="1">
                <a:solidFill>
                  <a:srgbClr val="FFFFFF"/>
                </a:solidFill>
              </a:rPr>
              <a:t>Свині та кури</a:t>
            </a:r>
            <a:endParaRPr lang="uk-UA" altLang="ru-RU" sz="4200" dirty="0" err="1">
              <a:solidFill>
                <a:srgbClr val="FFFFFF"/>
              </a:solidFill>
            </a:endParaRPr>
          </a:p>
        </p:txBody>
      </p:sp>
      <p:sp>
        <p:nvSpPr>
          <p:cNvPr id="48130" name="Text Box 48129"/>
          <p:cNvSpPr txBox="1"/>
          <p:nvPr/>
        </p:nvSpPr>
        <p:spPr>
          <a:xfrm>
            <a:off x="395288" y="1385888"/>
            <a:ext cx="8208962" cy="4419600"/>
          </a:xfrm>
          <a:prstGeom prst="rect">
            <a:avLst/>
          </a:prstGeom>
          <a:noFill/>
          <a:ln w="9525">
            <a:noFill/>
          </a:ln>
        </p:spPr>
        <p:txBody>
          <a:bodyPr wrap="square" lIns="91440" tIns="45720" rIns="91440" bIns="45720" anchor="t" anchorCtr="0"/>
          <a:p>
            <a:pPr marL="209550" indent="-203200" defTabSz="457200">
              <a:spcBef>
                <a:spcPts val="500"/>
              </a:spcBef>
              <a:buClrTx/>
              <a:buSzPct val="45000"/>
              <a:buFontTx/>
              <a:buNone/>
              <a:tabLst>
                <a:tab pos="209550" algn="l"/>
                <a:tab pos="666750" algn="l"/>
                <a:tab pos="1123950" algn="l"/>
                <a:tab pos="1581150" algn="l"/>
                <a:tab pos="2038350" algn="l"/>
                <a:tab pos="2495550" algn="l"/>
                <a:tab pos="2952750" algn="l"/>
                <a:tab pos="3409950" algn="l"/>
                <a:tab pos="3867150" algn="l"/>
                <a:tab pos="4324350" algn="l"/>
                <a:tab pos="4781550" algn="l"/>
                <a:tab pos="5238750" algn="l"/>
                <a:tab pos="5695950" algn="l"/>
                <a:tab pos="6153150" algn="l"/>
                <a:tab pos="6610350" algn="l"/>
                <a:tab pos="7067550" algn="l"/>
                <a:tab pos="7524750" algn="l"/>
                <a:tab pos="7981950" algn="l"/>
                <a:tab pos="8439150" algn="l"/>
                <a:tab pos="8896350" algn="l"/>
                <a:tab pos="9353550" algn="l"/>
              </a:tabLst>
            </a:pPr>
            <a:r>
              <a:rPr lang="en-US" altLang="en-US" sz="1800" dirty="0" err="1">
                <a:solidFill>
                  <a:srgbClr val="000000"/>
                </a:solidFill>
              </a:rPr>
              <a:t>Метафора використовується методологією Scrum для опису двох типів учасників про</a:t>
            </a:r>
            <a:r>
              <a:rPr lang="uk-UA" altLang="en-US" sz="1800" dirty="0" err="1">
                <a:solidFill>
                  <a:srgbClr val="000000"/>
                </a:solidFill>
              </a:rPr>
              <a:t>є</a:t>
            </a:r>
            <a:r>
              <a:rPr lang="en-US" altLang="en-US" sz="1800" dirty="0" err="1">
                <a:solidFill>
                  <a:srgbClr val="000000"/>
                </a:solidFill>
              </a:rPr>
              <a:t>кту: </a:t>
            </a:r>
            <a:r>
              <a:rPr lang="en-US" altLang="en-US" sz="1800" b="1" dirty="0" err="1">
                <a:solidFill>
                  <a:srgbClr val="000000"/>
                </a:solidFill>
              </a:rPr>
              <a:t>свині</a:t>
            </a:r>
            <a:r>
              <a:rPr lang="en-US" altLang="en-US" sz="1800" dirty="0" err="1">
                <a:solidFill>
                  <a:srgbClr val="000000"/>
                </a:solidFill>
              </a:rPr>
              <a:t>, що повністю присвячують себе роботі </a:t>
            </a:r>
            <a:r>
              <a:rPr lang="uk-UA" altLang="en-US" sz="1800" dirty="0" err="1">
                <a:solidFill>
                  <a:srgbClr val="000000"/>
                </a:solidFill>
              </a:rPr>
              <a:t>          </a:t>
            </a:r>
            <a:r>
              <a:rPr lang="en-US" altLang="en-US" sz="1800" dirty="0" err="1">
                <a:solidFill>
                  <a:srgbClr val="000000"/>
                </a:solidFill>
              </a:rPr>
              <a:t>над про</a:t>
            </a:r>
            <a:r>
              <a:rPr lang="uk-UA" altLang="en-US" sz="1800" dirty="0" err="1">
                <a:solidFill>
                  <a:srgbClr val="000000"/>
                </a:solidFill>
              </a:rPr>
              <a:t>є</a:t>
            </a:r>
            <a:r>
              <a:rPr lang="en-US" altLang="en-US" sz="1800" dirty="0" err="1">
                <a:solidFill>
                  <a:srgbClr val="000000"/>
                </a:solidFill>
              </a:rPr>
              <a:t>ктом, та </a:t>
            </a:r>
            <a:r>
              <a:rPr lang="en-US" altLang="en-US" sz="1800" b="1" dirty="0" err="1">
                <a:solidFill>
                  <a:srgbClr val="000000"/>
                </a:solidFill>
              </a:rPr>
              <a:t>кури</a:t>
            </a:r>
            <a:r>
              <a:rPr lang="en-US" altLang="en-US" sz="1800" dirty="0" err="1">
                <a:solidFill>
                  <a:srgbClr val="000000"/>
                </a:solidFill>
              </a:rPr>
              <a:t>, які консультують та стежать за прогресом про</a:t>
            </a:r>
            <a:r>
              <a:rPr lang="uk-UA" altLang="en-US" sz="1800" dirty="0" err="1">
                <a:solidFill>
                  <a:srgbClr val="000000"/>
                </a:solidFill>
              </a:rPr>
              <a:t>є</a:t>
            </a:r>
            <a:r>
              <a:rPr lang="en-US" altLang="en-US" sz="1800" dirty="0" err="1">
                <a:solidFill>
                  <a:srgbClr val="000000"/>
                </a:solidFill>
              </a:rPr>
              <a:t>кту. Метафора ґрунтується на протиставленні самопожертви свині, </a:t>
            </a:r>
            <a:r>
              <a:rPr lang="uk-UA" altLang="en-US" sz="1800" dirty="0" err="1">
                <a:solidFill>
                  <a:srgbClr val="000000"/>
                </a:solidFill>
              </a:rPr>
              <a:t>            </a:t>
            </a:r>
            <a:r>
              <a:rPr lang="en-US" altLang="en-US" sz="1800" dirty="0" err="1">
                <a:solidFill>
                  <a:srgbClr val="000000"/>
                </a:solidFill>
              </a:rPr>
              <a:t>що віддається про</a:t>
            </a:r>
            <a:r>
              <a:rPr lang="uk-UA" altLang="en-US" sz="1800" dirty="0" err="1">
                <a:solidFill>
                  <a:srgbClr val="000000"/>
                </a:solidFill>
              </a:rPr>
              <a:t>є</a:t>
            </a:r>
            <a:r>
              <a:rPr lang="en-US" altLang="en-US" sz="1800" dirty="0" err="1">
                <a:solidFill>
                  <a:srgbClr val="000000"/>
                </a:solidFill>
              </a:rPr>
              <a:t>кту цілком, та вкладу у про</a:t>
            </a:r>
            <a:r>
              <a:rPr lang="uk-UA" altLang="en-US" sz="1800" dirty="0" err="1">
                <a:solidFill>
                  <a:srgbClr val="000000"/>
                </a:solidFill>
              </a:rPr>
              <a:t>є</a:t>
            </a:r>
            <a:r>
              <a:rPr lang="en-US" altLang="en-US" sz="1800" dirty="0" err="1">
                <a:solidFill>
                  <a:srgbClr val="000000"/>
                </a:solidFill>
              </a:rPr>
              <a:t>кт курки у вигляді яєць.</a:t>
            </a:r>
            <a:endParaRPr lang="en-US" altLang="en-US" sz="1800" dirty="0" err="1">
              <a:solidFill>
                <a:srgbClr val="000000"/>
              </a:solidFill>
            </a:endParaRPr>
          </a:p>
          <a:p>
            <a:pPr marL="209550" indent="-203200" defTabSz="457200">
              <a:spcBef>
                <a:spcPts val="500"/>
              </a:spcBef>
              <a:buClrTx/>
              <a:buSzPct val="45000"/>
              <a:buFontTx/>
              <a:buNone/>
              <a:tabLst>
                <a:tab pos="209550" algn="l"/>
                <a:tab pos="666750" algn="l"/>
                <a:tab pos="1123950" algn="l"/>
                <a:tab pos="1581150" algn="l"/>
                <a:tab pos="2038350" algn="l"/>
                <a:tab pos="2495550" algn="l"/>
                <a:tab pos="2952750" algn="l"/>
                <a:tab pos="3409950" algn="l"/>
                <a:tab pos="3867150" algn="l"/>
                <a:tab pos="4324350" algn="l"/>
                <a:tab pos="4781550" algn="l"/>
                <a:tab pos="5238750" algn="l"/>
                <a:tab pos="5695950" algn="l"/>
                <a:tab pos="6153150" algn="l"/>
                <a:tab pos="6610350" algn="l"/>
                <a:tab pos="7067550" algn="l"/>
                <a:tab pos="7524750" algn="l"/>
                <a:tab pos="7981950" algn="l"/>
                <a:tab pos="8439150" algn="l"/>
                <a:tab pos="8896350" algn="l"/>
                <a:tab pos="9353550" algn="l"/>
              </a:tabLst>
            </a:pPr>
            <a:endParaRPr lang="en-US" altLang="en-US" sz="1800" dirty="0" err="1">
              <a:solidFill>
                <a:srgbClr val="000000"/>
              </a:solidFill>
            </a:endParaRPr>
          </a:p>
          <a:p>
            <a:pPr marL="209550" indent="-203200" defTabSz="457200">
              <a:spcBef>
                <a:spcPts val="500"/>
              </a:spcBef>
              <a:buClrTx/>
              <a:buSzPct val="45000"/>
              <a:buFontTx/>
              <a:buNone/>
              <a:tabLst>
                <a:tab pos="209550" algn="l"/>
                <a:tab pos="666750" algn="l"/>
                <a:tab pos="1123950" algn="l"/>
                <a:tab pos="1581150" algn="l"/>
                <a:tab pos="2038350" algn="l"/>
                <a:tab pos="2495550" algn="l"/>
                <a:tab pos="2952750" algn="l"/>
                <a:tab pos="3409950" algn="l"/>
                <a:tab pos="3867150" algn="l"/>
                <a:tab pos="4324350" algn="l"/>
                <a:tab pos="4781550" algn="l"/>
                <a:tab pos="5238750" algn="l"/>
                <a:tab pos="5695950" algn="l"/>
                <a:tab pos="6153150" algn="l"/>
                <a:tab pos="6610350" algn="l"/>
                <a:tab pos="7067550" algn="l"/>
                <a:tab pos="7524750" algn="l"/>
                <a:tab pos="7981950" algn="l"/>
                <a:tab pos="8439150" algn="l"/>
                <a:tab pos="8896350" algn="l"/>
                <a:tab pos="9353550" algn="l"/>
              </a:tabLst>
            </a:pPr>
            <a:r>
              <a:rPr lang="en-US" altLang="en-US" sz="1800" dirty="0" err="1">
                <a:solidFill>
                  <a:srgbClr val="000000"/>
                </a:solidFill>
              </a:rPr>
              <a:t>Для успіху про</a:t>
            </a:r>
            <a:r>
              <a:rPr lang="uk-UA" altLang="en-US" sz="1800" dirty="0" err="1">
                <a:solidFill>
                  <a:srgbClr val="000000"/>
                </a:solidFill>
              </a:rPr>
              <a:t>є</a:t>
            </a:r>
            <a:r>
              <a:rPr lang="en-US" altLang="en-US" sz="1800" dirty="0" err="1">
                <a:solidFill>
                  <a:srgbClr val="000000"/>
                </a:solidFill>
              </a:rPr>
              <a:t>кту потрібні і курки, і свині. Для того, щоб виступати в ролі свині, необхідно пожертвувати участю в інших про</a:t>
            </a:r>
            <a:r>
              <a:rPr lang="uk-UA" altLang="en-US" sz="1800" dirty="0" err="1">
                <a:solidFill>
                  <a:srgbClr val="000000"/>
                </a:solidFill>
              </a:rPr>
              <a:t>є</a:t>
            </a:r>
            <a:r>
              <a:rPr lang="en-US" altLang="en-US" sz="1800" dirty="0" err="1">
                <a:solidFill>
                  <a:srgbClr val="000000"/>
                </a:solidFill>
              </a:rPr>
              <a:t>ктах, тому свиней зазвичай знайти складніше. Перед початком про</a:t>
            </a:r>
            <a:r>
              <a:rPr lang="uk-UA" altLang="en-US" sz="1800" dirty="0" err="1">
                <a:solidFill>
                  <a:srgbClr val="000000"/>
                </a:solidFill>
              </a:rPr>
              <a:t>є</a:t>
            </a:r>
            <a:r>
              <a:rPr lang="en-US" altLang="en-US" sz="1800" dirty="0" err="1">
                <a:solidFill>
                  <a:srgbClr val="000000"/>
                </a:solidFill>
              </a:rPr>
              <a:t>кту необхідно переконатися в тому, що команда має достатню кількість свиней, і в тому, що в обмін на внесок свиням надано досить широкі повноваження.</a:t>
            </a:r>
            <a:endParaRPr lang="en-US" altLang="en-US" sz="1800" dirty="0" err="1">
              <a:solidFill>
                <a:srgbClr val="000000"/>
              </a:solidFill>
            </a:endParaRPr>
          </a:p>
          <a:p>
            <a:pPr marL="209550" indent="-203200" defTabSz="457200">
              <a:spcBef>
                <a:spcPts val="500"/>
              </a:spcBef>
              <a:buClrTx/>
              <a:buSzPct val="45000"/>
              <a:buFontTx/>
              <a:buNone/>
              <a:tabLst>
                <a:tab pos="209550" algn="l"/>
                <a:tab pos="666750" algn="l"/>
                <a:tab pos="1123950" algn="l"/>
                <a:tab pos="1581150" algn="l"/>
                <a:tab pos="2038350" algn="l"/>
                <a:tab pos="2495550" algn="l"/>
                <a:tab pos="2952750" algn="l"/>
                <a:tab pos="3409950" algn="l"/>
                <a:tab pos="3867150" algn="l"/>
                <a:tab pos="4324350" algn="l"/>
                <a:tab pos="4781550" algn="l"/>
                <a:tab pos="5238750" algn="l"/>
                <a:tab pos="5695950" algn="l"/>
                <a:tab pos="6153150" algn="l"/>
                <a:tab pos="6610350" algn="l"/>
                <a:tab pos="7067550" algn="l"/>
                <a:tab pos="7524750" algn="l"/>
                <a:tab pos="7981950" algn="l"/>
                <a:tab pos="8439150" algn="l"/>
                <a:tab pos="8896350" algn="l"/>
                <a:tab pos="9353550" algn="l"/>
              </a:tabLst>
            </a:pPr>
            <a:endParaRPr lang="en-US" altLang="en-US" sz="1800" dirty="0" err="1">
              <a:solidFill>
                <a:srgbClr val="000000"/>
              </a:solidFill>
            </a:endParaRPr>
          </a:p>
          <a:p>
            <a:pPr marL="209550" indent="-203200" defTabSz="457200">
              <a:spcBef>
                <a:spcPts val="500"/>
              </a:spcBef>
              <a:buClrTx/>
              <a:buSzPct val="45000"/>
              <a:buFontTx/>
              <a:buNone/>
              <a:tabLst>
                <a:tab pos="209550" algn="l"/>
                <a:tab pos="666750" algn="l"/>
                <a:tab pos="1123950" algn="l"/>
                <a:tab pos="1581150" algn="l"/>
                <a:tab pos="2038350" algn="l"/>
                <a:tab pos="2495550" algn="l"/>
                <a:tab pos="2952750" algn="l"/>
                <a:tab pos="3409950" algn="l"/>
                <a:tab pos="3867150" algn="l"/>
                <a:tab pos="4324350" algn="l"/>
                <a:tab pos="4781550" algn="l"/>
                <a:tab pos="5238750" algn="l"/>
                <a:tab pos="5695950" algn="l"/>
                <a:tab pos="6153150" algn="l"/>
                <a:tab pos="6610350" algn="l"/>
                <a:tab pos="7067550" algn="l"/>
                <a:tab pos="7524750" algn="l"/>
                <a:tab pos="7981950" algn="l"/>
                <a:tab pos="8439150" algn="l"/>
                <a:tab pos="8896350" algn="l"/>
                <a:tab pos="9353550" algn="l"/>
              </a:tabLst>
            </a:pPr>
            <a:r>
              <a:rPr lang="en-US" altLang="en-US" sz="1800" dirty="0" err="1">
                <a:solidFill>
                  <a:srgbClr val="000000"/>
                </a:solidFill>
              </a:rPr>
              <a:t>У Scrum про</a:t>
            </a:r>
            <a:r>
              <a:rPr lang="uk-UA" altLang="en-US" sz="1800" dirty="0" err="1">
                <a:solidFill>
                  <a:srgbClr val="000000"/>
                </a:solidFill>
              </a:rPr>
              <a:t>є</a:t>
            </a:r>
            <a:r>
              <a:rPr lang="en-US" altLang="en-US" sz="1800" dirty="0" err="1">
                <a:solidFill>
                  <a:srgbClr val="000000"/>
                </a:solidFill>
              </a:rPr>
              <a:t>кті скрам-майстер, власник про</a:t>
            </a:r>
            <a:r>
              <a:rPr lang="uk-UA" altLang="en-US" sz="1800" dirty="0" err="1">
                <a:solidFill>
                  <a:srgbClr val="000000"/>
                </a:solidFill>
              </a:rPr>
              <a:t>є</a:t>
            </a:r>
            <a:r>
              <a:rPr lang="en-US" altLang="en-US" sz="1800" dirty="0" err="1">
                <a:solidFill>
                  <a:srgbClr val="000000"/>
                </a:solidFill>
              </a:rPr>
              <a:t>кту та скрам-команда відіграють роль свиней, у той час як клієнти, керуючі та експерти-консультанти відіграють роль курок.</a:t>
            </a:r>
            <a:endParaRPr lang="en-US" altLang="en-US" sz="1800" dirty="0" err="1">
              <a:solidFill>
                <a:srgbClr val="000000"/>
              </a:solidFill>
            </a:endParaRPr>
          </a:p>
        </p:txBody>
      </p:sp>
    </p:spTree>
  </p:cSld>
  <p:clrMapOvr>
    <a:masterClrMapping/>
  </p:clrMapOvr>
  <p:transition spd="med"/>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3" name="Text Box 49152"/>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4200" dirty="0" err="1">
                <a:solidFill>
                  <a:srgbClr val="FFFFFF"/>
                </a:solidFill>
              </a:rPr>
              <a:t>Користувацькі історії</a:t>
            </a:r>
            <a:endParaRPr lang="uk-UA" altLang="ru-RU" sz="4200" dirty="0" err="1">
              <a:solidFill>
                <a:srgbClr val="FFFFFF"/>
              </a:solidFill>
            </a:endParaRPr>
          </a:p>
        </p:txBody>
      </p:sp>
      <p:sp>
        <p:nvSpPr>
          <p:cNvPr id="49154" name="Text Box 49153"/>
          <p:cNvSpPr txBox="1"/>
          <p:nvPr/>
        </p:nvSpPr>
        <p:spPr>
          <a:xfrm>
            <a:off x="395288" y="1385888"/>
            <a:ext cx="8208962" cy="4419600"/>
          </a:xfrm>
          <a:prstGeom prst="rect">
            <a:avLst/>
          </a:prstGeom>
          <a:noFill/>
          <a:ln w="9525">
            <a:noFill/>
          </a:ln>
        </p:spPr>
        <p:txBody>
          <a:bodyPr wrap="square" lIns="91440" tIns="45720" rIns="91440" bIns="45720" anchor="t" anchorCtr="0"/>
          <a:p>
            <a:pPr marL="211455" indent="-203200" defTabSz="457200">
              <a:spcBef>
                <a:spcPts val="500"/>
              </a:spcBef>
              <a:buClrTx/>
              <a:buSzPct val="45000"/>
              <a:buFontTx/>
              <a:buNone/>
              <a:tabLst>
                <a:tab pos="211455" algn="l"/>
                <a:tab pos="668655" algn="l"/>
                <a:tab pos="1125855" algn="l"/>
                <a:tab pos="1583055" algn="l"/>
                <a:tab pos="2040255" algn="l"/>
                <a:tab pos="2497455" algn="l"/>
                <a:tab pos="2954655" algn="l"/>
                <a:tab pos="3411855" algn="l"/>
                <a:tab pos="3869055" algn="l"/>
                <a:tab pos="4326255" algn="l"/>
                <a:tab pos="4783455" algn="l"/>
                <a:tab pos="5240655" algn="l"/>
                <a:tab pos="5697855" algn="l"/>
                <a:tab pos="6155055" algn="l"/>
                <a:tab pos="6612255" algn="l"/>
                <a:tab pos="7069455" algn="l"/>
                <a:tab pos="7526655" algn="l"/>
                <a:tab pos="7983855" algn="l"/>
                <a:tab pos="8441055" algn="l"/>
                <a:tab pos="8898255" algn="l"/>
                <a:tab pos="9355455" algn="l"/>
              </a:tabLst>
            </a:pPr>
            <a:r>
              <a:rPr lang="en-US" altLang="en-US" sz="1600" dirty="0" err="1">
                <a:solidFill>
                  <a:srgbClr val="000000"/>
                </a:solidFill>
              </a:rPr>
              <a:t>Обов'язкові поля історій користувача:</a:t>
            </a:r>
            <a:endParaRPr lang="en-US" altLang="en-US" sz="1600" dirty="0" err="1">
              <a:solidFill>
                <a:srgbClr val="000000"/>
              </a:solidFill>
            </a:endParaRPr>
          </a:p>
          <a:p>
            <a:pPr marL="294005" indent="-285750" defTabSz="457200">
              <a:spcBef>
                <a:spcPts val="500"/>
              </a:spcBef>
              <a:buClrTx/>
              <a:buSzPct val="45000"/>
              <a:buFont typeface="Arial" panose="020B0604020202020204" pitchFamily="34" charset="0"/>
              <a:buChar char="•"/>
              <a:tabLst>
                <a:tab pos="211455" algn="l"/>
                <a:tab pos="668655" algn="l"/>
                <a:tab pos="1125855" algn="l"/>
                <a:tab pos="1583055" algn="l"/>
                <a:tab pos="2040255" algn="l"/>
                <a:tab pos="2497455" algn="l"/>
                <a:tab pos="2954655" algn="l"/>
                <a:tab pos="3411855" algn="l"/>
                <a:tab pos="3869055" algn="l"/>
                <a:tab pos="4326255" algn="l"/>
                <a:tab pos="4783455" algn="l"/>
                <a:tab pos="5240655" algn="l"/>
                <a:tab pos="5697855" algn="l"/>
                <a:tab pos="6155055" algn="l"/>
                <a:tab pos="6612255" algn="l"/>
                <a:tab pos="7069455" algn="l"/>
                <a:tab pos="7526655" algn="l"/>
                <a:tab pos="7983855" algn="l"/>
                <a:tab pos="8441055" algn="l"/>
                <a:tab pos="8898255" algn="l"/>
                <a:tab pos="9355455" algn="l"/>
              </a:tabLst>
            </a:pPr>
            <a:r>
              <a:rPr lang="en-US" altLang="en-US" sz="1600" b="1" dirty="0" err="1">
                <a:solidFill>
                  <a:srgbClr val="000000"/>
                </a:solidFill>
              </a:rPr>
              <a:t>ID </a:t>
            </a:r>
            <a:r>
              <a:rPr lang="en-US" altLang="en-US" sz="1600" dirty="0" err="1">
                <a:solidFill>
                  <a:srgbClr val="000000"/>
                </a:solidFill>
              </a:rPr>
              <a:t>— унікальний ідентифікатор, порядковий номер, який використовується</a:t>
            </a:r>
            <a:r>
              <a:rPr lang="uk-UA" altLang="en-US" sz="1600" dirty="0" err="1">
                <a:solidFill>
                  <a:srgbClr val="000000"/>
                </a:solidFill>
              </a:rPr>
              <a:t>     </a:t>
            </a:r>
            <a:r>
              <a:rPr lang="en-US" altLang="en-US" sz="1600" dirty="0" err="1">
                <a:solidFill>
                  <a:srgbClr val="000000"/>
                </a:solidFill>
              </a:rPr>
              <a:t> для ідентифікації історій у разі їх перейменування</a:t>
            </a:r>
            <a:endParaRPr lang="en-US" altLang="en-US" sz="1600" dirty="0" err="1">
              <a:solidFill>
                <a:srgbClr val="000000"/>
              </a:solidFill>
            </a:endParaRPr>
          </a:p>
          <a:p>
            <a:pPr marL="294005" indent="-285750" defTabSz="457200">
              <a:spcBef>
                <a:spcPts val="500"/>
              </a:spcBef>
              <a:buClrTx/>
              <a:buSzPct val="45000"/>
              <a:buFont typeface="Arial" panose="020B0604020202020204" pitchFamily="34" charset="0"/>
              <a:buChar char="•"/>
              <a:tabLst>
                <a:tab pos="211455" algn="l"/>
                <a:tab pos="668655" algn="l"/>
                <a:tab pos="1125855" algn="l"/>
                <a:tab pos="1583055" algn="l"/>
                <a:tab pos="2040255" algn="l"/>
                <a:tab pos="2497455" algn="l"/>
                <a:tab pos="2954655" algn="l"/>
                <a:tab pos="3411855" algn="l"/>
                <a:tab pos="3869055" algn="l"/>
                <a:tab pos="4326255" algn="l"/>
                <a:tab pos="4783455" algn="l"/>
                <a:tab pos="5240655" algn="l"/>
                <a:tab pos="5697855" algn="l"/>
                <a:tab pos="6155055" algn="l"/>
                <a:tab pos="6612255" algn="l"/>
                <a:tab pos="7069455" algn="l"/>
                <a:tab pos="7526655" algn="l"/>
                <a:tab pos="7983855" algn="l"/>
                <a:tab pos="8441055" algn="l"/>
                <a:tab pos="8898255" algn="l"/>
                <a:tab pos="9355455" algn="l"/>
              </a:tabLst>
            </a:pPr>
            <a:r>
              <a:rPr lang="en-US" altLang="en-US" sz="1600" b="1" dirty="0" err="1">
                <a:solidFill>
                  <a:srgbClr val="000000"/>
                </a:solidFill>
              </a:rPr>
              <a:t>Назва </a:t>
            </a:r>
            <a:r>
              <a:rPr lang="en-US" altLang="en-US" sz="1600" dirty="0" err="1">
                <a:solidFill>
                  <a:srgbClr val="000000"/>
                </a:solidFill>
              </a:rPr>
              <a:t>(Name) - короткий опис історії. Воно має бути однозначним, </a:t>
            </a:r>
            <a:r>
              <a:rPr lang="uk-UA" altLang="en-US" sz="1600" dirty="0" err="1">
                <a:solidFill>
                  <a:srgbClr val="000000"/>
                </a:solidFill>
              </a:rPr>
              <a:t>                      </a:t>
            </a:r>
            <a:r>
              <a:rPr lang="en-US" altLang="en-US" sz="1600" dirty="0" err="1">
                <a:solidFill>
                  <a:srgbClr val="000000"/>
                </a:solidFill>
              </a:rPr>
              <a:t>щоб і розробники, </a:t>
            </a:r>
            <a:r>
              <a:rPr lang="uk-UA" altLang="en-US" sz="1600" dirty="0" err="1">
                <a:solidFill>
                  <a:srgbClr val="000000"/>
                </a:solidFill>
              </a:rPr>
              <a:t>і </a:t>
            </a:r>
            <a:r>
              <a:rPr lang="en-US" altLang="en-US" sz="1600" dirty="0" err="1">
                <a:solidFill>
                  <a:srgbClr val="000000"/>
                </a:solidFill>
              </a:rPr>
              <a:t>скрам-майстер, і власник продукту могли зрозуміти, </a:t>
            </a:r>
            <a:r>
              <a:rPr lang="uk-UA" altLang="en-US" sz="1600" dirty="0" err="1">
                <a:solidFill>
                  <a:srgbClr val="000000"/>
                </a:solidFill>
              </a:rPr>
              <a:t>           </a:t>
            </a:r>
            <a:r>
              <a:rPr lang="en-US" altLang="en-US" sz="1600" dirty="0" err="1">
                <a:solidFill>
                  <a:srgbClr val="000000"/>
                </a:solidFill>
              </a:rPr>
              <a:t>про що йдеться і відрізнити одну User Story від іншої</a:t>
            </a:r>
            <a:endParaRPr lang="en-US" altLang="en-US" sz="1600" dirty="0" err="1">
              <a:solidFill>
                <a:srgbClr val="000000"/>
              </a:solidFill>
            </a:endParaRPr>
          </a:p>
          <a:p>
            <a:pPr marL="294005" indent="-285750" defTabSz="457200">
              <a:spcBef>
                <a:spcPts val="500"/>
              </a:spcBef>
              <a:buClrTx/>
              <a:buSzPct val="45000"/>
              <a:buFont typeface="Arial" panose="020B0604020202020204" pitchFamily="34" charset="0"/>
              <a:buChar char="•"/>
              <a:tabLst>
                <a:tab pos="211455" algn="l"/>
                <a:tab pos="668655" algn="l"/>
                <a:tab pos="1125855" algn="l"/>
                <a:tab pos="1583055" algn="l"/>
                <a:tab pos="2040255" algn="l"/>
                <a:tab pos="2497455" algn="l"/>
                <a:tab pos="2954655" algn="l"/>
                <a:tab pos="3411855" algn="l"/>
                <a:tab pos="3869055" algn="l"/>
                <a:tab pos="4326255" algn="l"/>
                <a:tab pos="4783455" algn="l"/>
                <a:tab pos="5240655" algn="l"/>
                <a:tab pos="5697855" algn="l"/>
                <a:tab pos="6155055" algn="l"/>
                <a:tab pos="6612255" algn="l"/>
                <a:tab pos="7069455" algn="l"/>
                <a:tab pos="7526655" algn="l"/>
                <a:tab pos="7983855" algn="l"/>
                <a:tab pos="8441055" algn="l"/>
                <a:tab pos="8898255" algn="l"/>
                <a:tab pos="9355455" algn="l"/>
              </a:tabLst>
            </a:pPr>
            <a:r>
              <a:rPr lang="en-US" altLang="en-US" sz="1600" b="1" dirty="0" err="1">
                <a:solidFill>
                  <a:srgbClr val="000000"/>
                </a:solidFill>
              </a:rPr>
              <a:t>Важливість </a:t>
            </a:r>
            <a:r>
              <a:rPr lang="en-US" altLang="en-US" sz="1600" dirty="0" err="1">
                <a:solidFill>
                  <a:srgbClr val="000000"/>
                </a:solidFill>
              </a:rPr>
              <a:t>(Importance) - ступінь важливості цієї історії, на думку власника товару. Зазвичай </a:t>
            </a:r>
            <a:r>
              <a:rPr lang="uk-UA" altLang="en-US" sz="1600" dirty="0" err="1">
                <a:solidFill>
                  <a:srgbClr val="000000"/>
                </a:solidFill>
              </a:rPr>
              <a:t>це </a:t>
            </a:r>
            <a:r>
              <a:rPr lang="en-US" altLang="en-US" sz="1600" dirty="0" err="1">
                <a:solidFill>
                  <a:srgbClr val="000000"/>
                </a:solidFill>
              </a:rPr>
              <a:t>є ірраціональне число, іноді для цієї мети використовуються числа Фібоначчі. Чим більше значення, тим вищий пріоритет</a:t>
            </a:r>
            <a:endParaRPr lang="en-US" altLang="en-US" sz="1600" dirty="0" err="1">
              <a:solidFill>
                <a:srgbClr val="000000"/>
              </a:solidFill>
            </a:endParaRPr>
          </a:p>
          <a:p>
            <a:pPr marL="294005" indent="-285750" defTabSz="457200">
              <a:spcBef>
                <a:spcPts val="500"/>
              </a:spcBef>
              <a:buClrTx/>
              <a:buSzPct val="45000"/>
              <a:buFont typeface="Arial" panose="020B0604020202020204" pitchFamily="34" charset="0"/>
              <a:buChar char="•"/>
              <a:tabLst>
                <a:tab pos="211455" algn="l"/>
                <a:tab pos="668655" algn="l"/>
                <a:tab pos="1125855" algn="l"/>
                <a:tab pos="1583055" algn="l"/>
                <a:tab pos="2040255" algn="l"/>
                <a:tab pos="2497455" algn="l"/>
                <a:tab pos="2954655" algn="l"/>
                <a:tab pos="3411855" algn="l"/>
                <a:tab pos="3869055" algn="l"/>
                <a:tab pos="4326255" algn="l"/>
                <a:tab pos="4783455" algn="l"/>
                <a:tab pos="5240655" algn="l"/>
                <a:tab pos="5697855" algn="l"/>
                <a:tab pos="6155055" algn="l"/>
                <a:tab pos="6612255" algn="l"/>
                <a:tab pos="7069455" algn="l"/>
                <a:tab pos="7526655" algn="l"/>
                <a:tab pos="7983855" algn="l"/>
                <a:tab pos="8441055" algn="l"/>
                <a:tab pos="8898255" algn="l"/>
                <a:tab pos="9355455" algn="l"/>
              </a:tabLst>
            </a:pPr>
            <a:r>
              <a:rPr lang="en-US" altLang="en-US" sz="1600" b="1" dirty="0" err="1">
                <a:solidFill>
                  <a:srgbClr val="000000"/>
                </a:solidFill>
              </a:rPr>
              <a:t>Попередня оцінка</a:t>
            </a:r>
            <a:r>
              <a:rPr lang="en-US" altLang="en-US" sz="1600" dirty="0" err="1">
                <a:solidFill>
                  <a:srgbClr val="000000"/>
                </a:solidFill>
              </a:rPr>
              <a:t> (Initial Estimate) — початкова оцінка обсягу робіт, який буде необхідний </a:t>
            </a:r>
            <a:r>
              <a:rPr lang="uk-UA" altLang="en-US" sz="1600" dirty="0" err="1">
                <a:solidFill>
                  <a:srgbClr val="000000"/>
                </a:solidFill>
              </a:rPr>
              <a:t>для </a:t>
            </a:r>
            <a:r>
              <a:rPr lang="en-US" altLang="en-US" sz="1600" dirty="0" err="1">
                <a:solidFill>
                  <a:srgbClr val="000000"/>
                </a:solidFill>
              </a:rPr>
              <a:t>реалізації історії. Вимірюється у story point'ах. Приблизно відповідає числу </a:t>
            </a:r>
            <a:r>
              <a:rPr lang="" altLang="en-US" sz="1600" dirty="0" err="1">
                <a:solidFill>
                  <a:srgbClr val="000000"/>
                </a:solidFill>
              </a:rPr>
              <a:t>«</a:t>
            </a:r>
            <a:r>
              <a:rPr lang="en-US" altLang="en-US" sz="1600" dirty="0" err="1">
                <a:solidFill>
                  <a:srgbClr val="000000"/>
                </a:solidFill>
              </a:rPr>
              <a:t>ідеальних людино-годин</a:t>
            </a:r>
            <a:r>
              <a:rPr lang="" altLang="en-US" sz="1600" dirty="0" err="1">
                <a:solidFill>
                  <a:srgbClr val="000000"/>
                </a:solidFill>
              </a:rPr>
              <a:t>»</a:t>
            </a:r>
            <a:endParaRPr lang="" altLang="en-US" sz="1600" dirty="0" err="1">
              <a:solidFill>
                <a:srgbClr val="000000"/>
              </a:solidFill>
            </a:endParaRPr>
          </a:p>
          <a:p>
            <a:pPr marL="294005" indent="-285750" defTabSz="457200">
              <a:spcBef>
                <a:spcPts val="500"/>
              </a:spcBef>
              <a:buClrTx/>
              <a:buSzPct val="45000"/>
              <a:buFont typeface="Arial" panose="020B0604020202020204" pitchFamily="34" charset="0"/>
              <a:buChar char="•"/>
              <a:tabLst>
                <a:tab pos="211455" algn="l"/>
                <a:tab pos="668655" algn="l"/>
                <a:tab pos="1125855" algn="l"/>
                <a:tab pos="1583055" algn="l"/>
                <a:tab pos="2040255" algn="l"/>
                <a:tab pos="2497455" algn="l"/>
                <a:tab pos="2954655" algn="l"/>
                <a:tab pos="3411855" algn="l"/>
                <a:tab pos="3869055" algn="l"/>
                <a:tab pos="4326255" algn="l"/>
                <a:tab pos="4783455" algn="l"/>
                <a:tab pos="5240655" algn="l"/>
                <a:tab pos="5697855" algn="l"/>
                <a:tab pos="6155055" algn="l"/>
                <a:tab pos="6612255" algn="l"/>
                <a:tab pos="7069455" algn="l"/>
                <a:tab pos="7526655" algn="l"/>
                <a:tab pos="7983855" algn="l"/>
                <a:tab pos="8441055" algn="l"/>
                <a:tab pos="8898255" algn="l"/>
                <a:tab pos="9355455" algn="l"/>
              </a:tabLst>
            </a:pPr>
            <a:r>
              <a:rPr lang="en-US" altLang="en-US" sz="1600" b="1" dirty="0" err="1">
                <a:solidFill>
                  <a:srgbClr val="000000"/>
                </a:solidFill>
              </a:rPr>
              <a:t>Як продемонструвати</a:t>
            </a:r>
            <a:r>
              <a:rPr lang="en-US" altLang="en-US" sz="1600" dirty="0" err="1">
                <a:solidFill>
                  <a:srgbClr val="000000"/>
                </a:solidFill>
              </a:rPr>
              <a:t> (How To Demo) — коротке пояснення того, як завершене завдання буде продемонстровано наприкінці спринту</a:t>
            </a:r>
            <a:endParaRPr lang="en-US" altLang="en-US" sz="1600" dirty="0" err="1">
              <a:solidFill>
                <a:srgbClr val="000000"/>
              </a:solidFill>
            </a:endParaRPr>
          </a:p>
          <a:p>
            <a:pPr marL="294005" indent="-285750" defTabSz="457200">
              <a:spcBef>
                <a:spcPts val="500"/>
              </a:spcBef>
              <a:buClrTx/>
              <a:buSzPct val="45000"/>
              <a:buFont typeface="Arial" panose="020B0604020202020204" pitchFamily="34" charset="0"/>
              <a:buChar char="•"/>
              <a:tabLst>
                <a:tab pos="211455" algn="l"/>
                <a:tab pos="668655" algn="l"/>
                <a:tab pos="1125855" algn="l"/>
                <a:tab pos="1583055" algn="l"/>
                <a:tab pos="2040255" algn="l"/>
                <a:tab pos="2497455" algn="l"/>
                <a:tab pos="2954655" algn="l"/>
                <a:tab pos="3411855" algn="l"/>
                <a:tab pos="3869055" algn="l"/>
                <a:tab pos="4326255" algn="l"/>
                <a:tab pos="4783455" algn="l"/>
                <a:tab pos="5240655" algn="l"/>
                <a:tab pos="5697855" algn="l"/>
                <a:tab pos="6155055" algn="l"/>
                <a:tab pos="6612255" algn="l"/>
                <a:tab pos="7069455" algn="l"/>
                <a:tab pos="7526655" algn="l"/>
                <a:tab pos="7983855" algn="l"/>
                <a:tab pos="8441055" algn="l"/>
                <a:tab pos="8898255" algn="l"/>
                <a:tab pos="9355455" algn="l"/>
              </a:tabLst>
            </a:pPr>
            <a:r>
              <a:rPr lang="en-US" altLang="en-US" sz="1600" b="1" dirty="0" err="1">
                <a:solidFill>
                  <a:srgbClr val="000000"/>
                </a:solidFill>
              </a:rPr>
              <a:t>Критерії приймання</a:t>
            </a:r>
            <a:r>
              <a:rPr lang="en-US" altLang="en-US" sz="1600" dirty="0" err="1">
                <a:solidFill>
                  <a:srgbClr val="000000"/>
                </a:solidFill>
              </a:rPr>
              <a:t> (Acceptance Criteria) - значні деталі реалізації історії, </a:t>
            </a:r>
            <a:r>
              <a:rPr lang="uk-UA" altLang="en-US" sz="1600" dirty="0" err="1">
                <a:solidFill>
                  <a:srgbClr val="000000"/>
                </a:solidFill>
              </a:rPr>
              <a:t>       </a:t>
            </a:r>
            <a:r>
              <a:rPr lang="en-US" altLang="en-US" sz="1600" dirty="0" err="1">
                <a:solidFill>
                  <a:srgbClr val="000000"/>
                </a:solidFill>
              </a:rPr>
              <a:t>що уточнюють вимоги власника продукту, зібрані всіма учасниками SCRUM-команди при плануванні спринту</a:t>
            </a:r>
            <a:endParaRPr lang="en-US" altLang="en-US" sz="1600" dirty="0" err="1">
              <a:solidFill>
                <a:srgbClr val="000000"/>
              </a:solidFill>
            </a:endParaRPr>
          </a:p>
        </p:txBody>
      </p:sp>
    </p:spTree>
  </p:cSld>
  <p:clrMapOvr>
    <a:masterClrMapping/>
  </p:clrMapOvr>
  <p:transition spd="med"/>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7" name="Text Box 50176"/>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4200" dirty="0" err="1">
                <a:solidFill>
                  <a:srgbClr val="FFFFFF"/>
                </a:solidFill>
                <a:sym typeface="+mn-ea"/>
              </a:rPr>
              <a:t>Користувацькі історії</a:t>
            </a:r>
            <a:endParaRPr lang="ru-RU" altLang="x-none" sz="4200" dirty="0" err="1">
              <a:solidFill>
                <a:srgbClr val="FFFFFF"/>
              </a:solidFill>
            </a:endParaRPr>
          </a:p>
        </p:txBody>
      </p:sp>
      <p:sp>
        <p:nvSpPr>
          <p:cNvPr id="50178" name="Text Box 50177"/>
          <p:cNvSpPr txBox="1"/>
          <p:nvPr/>
        </p:nvSpPr>
        <p:spPr>
          <a:xfrm>
            <a:off x="395288" y="1385888"/>
            <a:ext cx="8208962" cy="4419600"/>
          </a:xfrm>
          <a:prstGeom prst="rect">
            <a:avLst/>
          </a:prstGeom>
          <a:noFill/>
          <a:ln w="9525">
            <a:noFill/>
          </a:ln>
        </p:spPr>
        <p:txBody>
          <a:bodyPr wrap="square" lIns="91440" tIns="45720" rIns="91440" bIns="45720" anchor="t" anchorCtr="0"/>
          <a:p>
            <a:pPr marL="211455" indent="-203200" defTabSz="457200">
              <a:spcBef>
                <a:spcPts val="500"/>
              </a:spcBef>
              <a:buClrTx/>
              <a:buSzPct val="45000"/>
              <a:buFontTx/>
              <a:buNone/>
              <a:tabLst>
                <a:tab pos="211455" algn="l"/>
                <a:tab pos="668655" algn="l"/>
                <a:tab pos="1125855" algn="l"/>
                <a:tab pos="1583055" algn="l"/>
                <a:tab pos="2040255" algn="l"/>
                <a:tab pos="2497455" algn="l"/>
                <a:tab pos="2954655" algn="l"/>
                <a:tab pos="3411855" algn="l"/>
                <a:tab pos="3869055" algn="l"/>
                <a:tab pos="4326255" algn="l"/>
                <a:tab pos="4783455" algn="l"/>
                <a:tab pos="5240655" algn="l"/>
                <a:tab pos="5697855" algn="l"/>
                <a:tab pos="6155055" algn="l"/>
                <a:tab pos="6612255" algn="l"/>
                <a:tab pos="7069455" algn="l"/>
                <a:tab pos="7526655" algn="l"/>
                <a:tab pos="7983855" algn="l"/>
                <a:tab pos="8441055" algn="l"/>
                <a:tab pos="8898255" algn="l"/>
                <a:tab pos="9355455" algn="l"/>
              </a:tabLst>
            </a:pPr>
            <a:r>
              <a:rPr lang="en-US" altLang="en-US" sz="1800" dirty="0" err="1">
                <a:solidFill>
                  <a:srgbClr val="000000"/>
                </a:solidFill>
              </a:rPr>
              <a:t>Додаткові поля історій користувача (використовуються в основному </a:t>
            </a:r>
            <a:r>
              <a:rPr lang="uk-UA" altLang="en-US" sz="1800" dirty="0" err="1">
                <a:solidFill>
                  <a:srgbClr val="000000"/>
                </a:solidFill>
              </a:rPr>
              <a:t>      </a:t>
            </a:r>
            <a:r>
              <a:rPr lang="en-US" altLang="en-US" sz="1800" dirty="0" err="1">
                <a:solidFill>
                  <a:srgbClr val="000000"/>
                </a:solidFill>
              </a:rPr>
              <a:t>для того, щоб допомогти SCRUM-власнику продукту визначитися </a:t>
            </a:r>
            <a:r>
              <a:rPr lang="uk-UA" altLang="en-US" sz="1800" dirty="0" err="1">
                <a:solidFill>
                  <a:srgbClr val="000000"/>
                </a:solidFill>
              </a:rPr>
              <a:t>           </a:t>
            </a:r>
            <a:r>
              <a:rPr lang="en-US" altLang="en-US" sz="1800" dirty="0" err="1">
                <a:solidFill>
                  <a:srgbClr val="000000"/>
                </a:solidFill>
              </a:rPr>
              <a:t>з пріоритетами).</a:t>
            </a:r>
            <a:endParaRPr lang="en-US" altLang="en-US" sz="1800" dirty="0" err="1">
              <a:solidFill>
                <a:srgbClr val="000000"/>
              </a:solidFill>
            </a:endParaRPr>
          </a:p>
          <a:p>
            <a:pPr marL="294005" indent="-285750" defTabSz="457200">
              <a:spcBef>
                <a:spcPts val="500"/>
              </a:spcBef>
              <a:buClrTx/>
              <a:buSzPct val="45000"/>
              <a:buFont typeface="Arial" panose="020B0604020202020204" pitchFamily="34" charset="0"/>
              <a:buChar char="•"/>
              <a:tabLst>
                <a:tab pos="211455" algn="l"/>
                <a:tab pos="668655" algn="l"/>
                <a:tab pos="1125855" algn="l"/>
                <a:tab pos="1583055" algn="l"/>
                <a:tab pos="2040255" algn="l"/>
                <a:tab pos="2497455" algn="l"/>
                <a:tab pos="2954655" algn="l"/>
                <a:tab pos="3411855" algn="l"/>
                <a:tab pos="3869055" algn="l"/>
                <a:tab pos="4326255" algn="l"/>
                <a:tab pos="4783455" algn="l"/>
                <a:tab pos="5240655" algn="l"/>
                <a:tab pos="5697855" algn="l"/>
                <a:tab pos="6155055" algn="l"/>
                <a:tab pos="6612255" algn="l"/>
                <a:tab pos="7069455" algn="l"/>
                <a:tab pos="7526655" algn="l"/>
                <a:tab pos="7983855" algn="l"/>
                <a:tab pos="8441055" algn="l"/>
                <a:tab pos="8898255" algn="l"/>
                <a:tab pos="9355455" algn="l"/>
              </a:tabLst>
            </a:pPr>
            <a:r>
              <a:rPr lang="uk-UA" altLang="en-US" sz="1800" b="1" dirty="0" err="1">
                <a:solidFill>
                  <a:srgbClr val="000000"/>
                </a:solidFill>
              </a:rPr>
              <a:t>К</a:t>
            </a:r>
            <a:r>
              <a:rPr lang="en-US" altLang="en-US" sz="1800" b="1" dirty="0" err="1">
                <a:solidFill>
                  <a:srgbClr val="000000"/>
                </a:solidFill>
              </a:rPr>
              <a:t>атегорія </a:t>
            </a:r>
            <a:r>
              <a:rPr lang="en-US" altLang="en-US" sz="1800" dirty="0" err="1">
                <a:solidFill>
                  <a:srgbClr val="000000"/>
                </a:solidFill>
              </a:rPr>
              <a:t>(Track). Наприклад, панель керування або оптимізація. </a:t>
            </a:r>
            <a:r>
              <a:rPr lang="uk-UA" altLang="en-US" sz="1800" dirty="0" err="1">
                <a:solidFill>
                  <a:srgbClr val="000000"/>
                </a:solidFill>
              </a:rPr>
              <a:t>       </a:t>
            </a:r>
            <a:r>
              <a:rPr lang="en-US" altLang="en-US" sz="1800" dirty="0" err="1">
                <a:solidFill>
                  <a:srgbClr val="000000"/>
                </a:solidFill>
              </a:rPr>
              <a:t>За допомогою цього поля скрам-власник продукту може легко вибрати всі пункти категорії </a:t>
            </a:r>
            <a:r>
              <a:rPr lang="" altLang="en-US" sz="1800" dirty="0" err="1">
                <a:solidFill>
                  <a:srgbClr val="000000"/>
                </a:solidFill>
              </a:rPr>
              <a:t>«</a:t>
            </a:r>
            <a:r>
              <a:rPr lang="en-US" altLang="en-US" sz="1800" dirty="0" err="1">
                <a:solidFill>
                  <a:srgbClr val="000000"/>
                </a:solidFill>
              </a:rPr>
              <a:t>оптимізація</a:t>
            </a:r>
            <a:r>
              <a:rPr lang="" altLang="en-US" sz="1800" dirty="0" err="1">
                <a:solidFill>
                  <a:srgbClr val="000000"/>
                </a:solidFill>
              </a:rPr>
              <a:t>»</a:t>
            </a:r>
            <a:r>
              <a:rPr lang="en-US" altLang="en-US" sz="1800" dirty="0" err="1">
                <a:solidFill>
                  <a:srgbClr val="000000"/>
                </a:solidFill>
              </a:rPr>
              <a:t> та встановити їм низький пріоритет</a:t>
            </a:r>
            <a:endParaRPr lang="en-US" altLang="en-US" sz="1800" dirty="0" err="1">
              <a:solidFill>
                <a:srgbClr val="000000"/>
              </a:solidFill>
            </a:endParaRPr>
          </a:p>
          <a:p>
            <a:pPr marL="294005" indent="-285750" defTabSz="457200">
              <a:spcBef>
                <a:spcPts val="500"/>
              </a:spcBef>
              <a:buClrTx/>
              <a:buSzPct val="45000"/>
              <a:buFont typeface="Arial" panose="020B0604020202020204" pitchFamily="34" charset="0"/>
              <a:buChar char="•"/>
              <a:tabLst>
                <a:tab pos="211455" algn="l"/>
                <a:tab pos="668655" algn="l"/>
                <a:tab pos="1125855" algn="l"/>
                <a:tab pos="1583055" algn="l"/>
                <a:tab pos="2040255" algn="l"/>
                <a:tab pos="2497455" algn="l"/>
                <a:tab pos="2954655" algn="l"/>
                <a:tab pos="3411855" algn="l"/>
                <a:tab pos="3869055" algn="l"/>
                <a:tab pos="4326255" algn="l"/>
                <a:tab pos="4783455" algn="l"/>
                <a:tab pos="5240655" algn="l"/>
                <a:tab pos="5697855" algn="l"/>
                <a:tab pos="6155055" algn="l"/>
                <a:tab pos="6612255" algn="l"/>
                <a:tab pos="7069455" algn="l"/>
                <a:tab pos="7526655" algn="l"/>
                <a:tab pos="7983855" algn="l"/>
                <a:tab pos="8441055" algn="l"/>
                <a:tab pos="8898255" algn="l"/>
                <a:tab pos="9355455" algn="l"/>
              </a:tabLst>
            </a:pPr>
            <a:r>
              <a:rPr lang="en-US" altLang="en-US" sz="1800" b="1" dirty="0" err="1">
                <a:solidFill>
                  <a:srgbClr val="000000"/>
                </a:solidFill>
              </a:rPr>
              <a:t>Компоненти </a:t>
            </a:r>
            <a:r>
              <a:rPr lang="en-US" altLang="en-US" sz="1800" dirty="0" err="1">
                <a:solidFill>
                  <a:srgbClr val="000000"/>
                </a:solidFill>
              </a:rPr>
              <a:t>(Components) — вказує, які компоненти (наприклад, </a:t>
            </a:r>
            <a:r>
              <a:rPr lang="uk-UA" altLang="en-US" sz="1800" dirty="0" err="1">
                <a:solidFill>
                  <a:srgbClr val="000000"/>
                </a:solidFill>
              </a:rPr>
              <a:t>     </a:t>
            </a:r>
            <a:r>
              <a:rPr lang="en-US" altLang="en-US" sz="1800" dirty="0" err="1">
                <a:solidFill>
                  <a:srgbClr val="000000"/>
                </a:solidFill>
              </a:rPr>
              <a:t>база даних, сервер, клієнт) торкнуться реалізації історії</a:t>
            </a:r>
            <a:endParaRPr lang="en-US" altLang="en-US" sz="1800" dirty="0" err="1">
              <a:solidFill>
                <a:srgbClr val="000000"/>
              </a:solidFill>
            </a:endParaRPr>
          </a:p>
          <a:p>
            <a:pPr marL="294005" indent="-285750" defTabSz="457200">
              <a:spcBef>
                <a:spcPts val="500"/>
              </a:spcBef>
              <a:buClrTx/>
              <a:buSzPct val="45000"/>
              <a:buFont typeface="Arial" panose="020B0604020202020204" pitchFamily="34" charset="0"/>
              <a:buChar char="•"/>
              <a:tabLst>
                <a:tab pos="211455" algn="l"/>
                <a:tab pos="668655" algn="l"/>
                <a:tab pos="1125855" algn="l"/>
                <a:tab pos="1583055" algn="l"/>
                <a:tab pos="2040255" algn="l"/>
                <a:tab pos="2497455" algn="l"/>
                <a:tab pos="2954655" algn="l"/>
                <a:tab pos="3411855" algn="l"/>
                <a:tab pos="3869055" algn="l"/>
                <a:tab pos="4326255" algn="l"/>
                <a:tab pos="4783455" algn="l"/>
                <a:tab pos="5240655" algn="l"/>
                <a:tab pos="5697855" algn="l"/>
                <a:tab pos="6155055" algn="l"/>
                <a:tab pos="6612255" algn="l"/>
                <a:tab pos="7069455" algn="l"/>
                <a:tab pos="7526655" algn="l"/>
                <a:tab pos="7983855" algn="l"/>
                <a:tab pos="8441055" algn="l"/>
                <a:tab pos="8898255" algn="l"/>
                <a:tab pos="9355455" algn="l"/>
              </a:tabLst>
            </a:pPr>
            <a:r>
              <a:rPr lang="en-US" altLang="en-US" sz="1800" b="1" dirty="0" err="1">
                <a:solidFill>
                  <a:srgbClr val="000000"/>
                </a:solidFill>
              </a:rPr>
              <a:t>Ініціатор запиту</a:t>
            </a:r>
            <a:r>
              <a:rPr lang="en-US" altLang="en-US" sz="1800" dirty="0" err="1">
                <a:solidFill>
                  <a:srgbClr val="000000"/>
                </a:solidFill>
              </a:rPr>
              <a:t> (Requestor) – власник продукту може захотіти зберігати інформацію про всіх замовників, зацікавлених у даному бізнес-завданні. Це потрібно для того, щоб тримати їх у курсі справи про хід виконання робіт</a:t>
            </a:r>
            <a:endParaRPr lang="en-US" altLang="en-US" sz="1800" dirty="0" err="1">
              <a:solidFill>
                <a:srgbClr val="000000"/>
              </a:solidFill>
            </a:endParaRPr>
          </a:p>
          <a:p>
            <a:pPr marL="294005" indent="-285750" defTabSz="457200">
              <a:spcBef>
                <a:spcPts val="500"/>
              </a:spcBef>
              <a:buClrTx/>
              <a:buSzPct val="45000"/>
              <a:buFont typeface="Arial" panose="020B0604020202020204" pitchFamily="34" charset="0"/>
              <a:buChar char="•"/>
              <a:tabLst>
                <a:tab pos="211455" algn="l"/>
                <a:tab pos="668655" algn="l"/>
                <a:tab pos="1125855" algn="l"/>
                <a:tab pos="1583055" algn="l"/>
                <a:tab pos="2040255" algn="l"/>
                <a:tab pos="2497455" algn="l"/>
                <a:tab pos="2954655" algn="l"/>
                <a:tab pos="3411855" algn="l"/>
                <a:tab pos="3869055" algn="l"/>
                <a:tab pos="4326255" algn="l"/>
                <a:tab pos="4783455" algn="l"/>
                <a:tab pos="5240655" algn="l"/>
                <a:tab pos="5697855" algn="l"/>
                <a:tab pos="6155055" algn="l"/>
                <a:tab pos="6612255" algn="l"/>
                <a:tab pos="7069455" algn="l"/>
                <a:tab pos="7526655" algn="l"/>
                <a:tab pos="7983855" algn="l"/>
                <a:tab pos="8441055" algn="l"/>
                <a:tab pos="8898255" algn="l"/>
                <a:tab pos="9355455" algn="l"/>
              </a:tabLst>
            </a:pPr>
            <a:r>
              <a:rPr lang="en-US" altLang="en-US" sz="1800" b="1" dirty="0" err="1">
                <a:solidFill>
                  <a:srgbClr val="000000"/>
                </a:solidFill>
              </a:rPr>
              <a:t>ID </a:t>
            </a:r>
            <a:r>
              <a:rPr lang="en-US" altLang="en-US" sz="1800" dirty="0" err="1">
                <a:solidFill>
                  <a:srgbClr val="000000"/>
                </a:solidFill>
              </a:rPr>
              <a:t>в системі обліку дефектів (Bug Tracking ID) - якщо </a:t>
            </a:r>
            <a:r>
              <a:rPr lang="uk-UA" altLang="en-US" sz="1800" dirty="0" err="1">
                <a:solidFill>
                  <a:srgbClr val="000000"/>
                </a:solidFill>
              </a:rPr>
              <a:t>використовується </a:t>
            </a:r>
            <a:r>
              <a:rPr lang="en-US" altLang="en-US" sz="1800" dirty="0" err="1">
                <a:solidFill>
                  <a:srgbClr val="000000"/>
                </a:solidFill>
              </a:rPr>
              <a:t>систем</a:t>
            </a:r>
            <a:r>
              <a:rPr lang="uk-UA" altLang="en-US" sz="1800" dirty="0" err="1">
                <a:solidFill>
                  <a:srgbClr val="000000"/>
                </a:solidFill>
              </a:rPr>
              <a:t>а</a:t>
            </a:r>
            <a:r>
              <a:rPr lang="en-US" altLang="en-US" sz="1800" dirty="0" err="1">
                <a:solidFill>
                  <a:srgbClr val="000000"/>
                </a:solidFill>
              </a:rPr>
              <a:t> відстеження помилок, тоді в описі історії корисно зберігати посилання на всі баги, які до неї належать</a:t>
            </a:r>
            <a:endParaRPr lang="en-US" altLang="en-US" sz="1800" dirty="0" err="1">
              <a:solidFill>
                <a:srgbClr val="000000"/>
              </a:solidFill>
            </a:endParaRPr>
          </a:p>
        </p:txBody>
      </p:sp>
    </p:spTree>
  </p:cSld>
  <p:clrMapOvr>
    <a:masterClrMapping/>
  </p:clrMapOvr>
  <p:transition spd="med"/>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1" name="Text Box 51200"/>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ru-RU" altLang="x-none" sz="4200" dirty="0" err="1">
                <a:solidFill>
                  <a:srgbClr val="FFFFFF"/>
                </a:solidFill>
              </a:rPr>
              <a:t>Ритуал</a:t>
            </a:r>
            <a:r>
              <a:rPr lang="uk-UA" altLang="ru-RU" sz="4200" dirty="0" err="1">
                <a:solidFill>
                  <a:srgbClr val="FFFFFF"/>
                </a:solidFill>
              </a:rPr>
              <a:t>и</a:t>
            </a:r>
            <a:r>
              <a:rPr lang="ru-RU" altLang="x-none" sz="4200" dirty="0" err="1">
                <a:solidFill>
                  <a:srgbClr val="FFFFFF"/>
                </a:solidFill>
              </a:rPr>
              <a:t> SCRUM</a:t>
            </a:r>
            <a:endParaRPr lang="ru-RU" altLang="x-none" sz="4200" dirty="0" err="1">
              <a:solidFill>
                <a:srgbClr val="FFFFFF"/>
              </a:solidFill>
            </a:endParaRPr>
          </a:p>
        </p:txBody>
      </p:sp>
      <p:sp>
        <p:nvSpPr>
          <p:cNvPr id="51202" name="Text Box 51201"/>
          <p:cNvSpPr txBox="1"/>
          <p:nvPr/>
        </p:nvSpPr>
        <p:spPr>
          <a:xfrm>
            <a:off x="395288" y="1385888"/>
            <a:ext cx="8208962" cy="4419600"/>
          </a:xfrm>
          <a:prstGeom prst="rect">
            <a:avLst/>
          </a:prstGeom>
          <a:noFill/>
          <a:ln w="9525">
            <a:noFill/>
          </a:ln>
        </p:spPr>
        <p:txBody>
          <a:bodyPr wrap="square" lIns="91440" tIns="45720" rIns="91440" bIns="45720" anchor="t" anchorCtr="0"/>
          <a:p>
            <a:pPr marL="203200" indent="-203200" defTabSz="457200">
              <a:spcBef>
                <a:spcPts val="500"/>
              </a:spcBef>
              <a:buSzPct val="45000"/>
              <a:buFont typeface="Wingdings" panose="05000000000000000000" pitchFamily="2" charset="2"/>
              <a:buChar char=""/>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en-US" altLang="en-US" sz="2000" b="1" dirty="0" err="1">
                <a:solidFill>
                  <a:srgbClr val="000000"/>
                </a:solidFill>
              </a:rPr>
              <a:t>Планування спринту </a:t>
            </a:r>
            <a:r>
              <a:rPr lang="en-US" altLang="en-US" sz="2000" dirty="0" err="1">
                <a:solidFill>
                  <a:srgbClr val="000000"/>
                </a:solidFill>
              </a:rPr>
              <a:t>(Sprint Planning Meeting)</a:t>
            </a:r>
            <a:endParaRPr lang="en-US" altLang="en-US" sz="2000" dirty="0" err="1">
              <a:solidFill>
                <a:srgbClr val="000000"/>
              </a:solidFill>
            </a:endParaRPr>
          </a:p>
          <a:p>
            <a:pPr marL="203200" indent="-203200" defTabSz="457200">
              <a:spcBef>
                <a:spcPts val="500"/>
              </a:spcBef>
              <a:buSzPct val="45000"/>
              <a:buFont typeface="Wingdings" panose="05000000000000000000" pitchFamily="2" charset="2"/>
              <a:buChar char=""/>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en-US" altLang="en-US" sz="2000" b="1" dirty="0" err="1">
                <a:solidFill>
                  <a:srgbClr val="000000"/>
                </a:solidFill>
              </a:rPr>
              <a:t>Покер планування</a:t>
            </a:r>
            <a:r>
              <a:rPr lang="en-US" altLang="en-US" sz="2000" dirty="0" err="1">
                <a:solidFill>
                  <a:srgbClr val="000000"/>
                </a:solidFill>
              </a:rPr>
              <a:t> (Planning Poker)</a:t>
            </a:r>
            <a:endParaRPr lang="en-US" altLang="en-US" sz="2000" dirty="0" err="1">
              <a:solidFill>
                <a:srgbClr val="000000"/>
              </a:solidFill>
            </a:endParaRPr>
          </a:p>
          <a:p>
            <a:pPr marL="203200" indent="-203200" defTabSz="457200">
              <a:spcBef>
                <a:spcPts val="500"/>
              </a:spcBef>
              <a:buSzPct val="45000"/>
              <a:buFont typeface="Wingdings" panose="05000000000000000000" pitchFamily="2" charset="2"/>
              <a:buChar char=""/>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en-US" altLang="en-US" sz="2000" b="1" dirty="0" err="1">
                <a:solidFill>
                  <a:srgbClr val="000000"/>
                </a:solidFill>
              </a:rPr>
              <a:t>Щоденна стояча SCRUM-нарада</a:t>
            </a:r>
            <a:r>
              <a:rPr lang="en-US" altLang="en-US" sz="2000" dirty="0" err="1">
                <a:solidFill>
                  <a:srgbClr val="000000"/>
                </a:solidFill>
              </a:rPr>
              <a:t> (Daily SCRUM)</a:t>
            </a:r>
            <a:endParaRPr lang="en-US" altLang="en-US" sz="2000" dirty="0" err="1">
              <a:solidFill>
                <a:srgbClr val="000000"/>
              </a:solidFill>
            </a:endParaRPr>
          </a:p>
          <a:p>
            <a:pPr marL="203200" indent="-203200" defTabSz="457200">
              <a:spcBef>
                <a:spcPts val="500"/>
              </a:spcBef>
              <a:buSzPct val="45000"/>
              <a:buFont typeface="Wingdings" panose="05000000000000000000" pitchFamily="2" charset="2"/>
              <a:buChar char=""/>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en-US" altLang="en-US" sz="2000" b="1" dirty="0" err="1">
                <a:solidFill>
                  <a:srgbClr val="000000"/>
                </a:solidFill>
              </a:rPr>
              <a:t>Скрам над скрамом</a:t>
            </a:r>
            <a:r>
              <a:rPr lang="en-US" altLang="en-US" sz="2000" dirty="0" err="1">
                <a:solidFill>
                  <a:srgbClr val="000000"/>
                </a:solidFill>
              </a:rPr>
              <a:t> (SCRUM of SCRUMs)</a:t>
            </a:r>
            <a:endParaRPr lang="en-US" altLang="en-US" sz="2000" dirty="0" err="1">
              <a:solidFill>
                <a:srgbClr val="000000"/>
              </a:solidFill>
            </a:endParaRPr>
          </a:p>
          <a:p>
            <a:pPr marL="203200" indent="-203200" defTabSz="457200">
              <a:spcBef>
                <a:spcPts val="500"/>
              </a:spcBef>
              <a:buSzPct val="45000"/>
              <a:buFont typeface="Wingdings" panose="05000000000000000000" pitchFamily="2" charset="2"/>
              <a:buChar char=""/>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en-US" altLang="en-US" sz="2000" b="1" dirty="0" err="1">
                <a:solidFill>
                  <a:srgbClr val="000000"/>
                </a:solidFill>
              </a:rPr>
              <a:t>Огляд підсумків спринту</a:t>
            </a:r>
            <a:r>
              <a:rPr lang="en-US" altLang="en-US" sz="2000" dirty="0" err="1">
                <a:solidFill>
                  <a:srgbClr val="000000"/>
                </a:solidFill>
              </a:rPr>
              <a:t> (Sprint review meeting)</a:t>
            </a:r>
            <a:endParaRPr lang="en-US" altLang="en-US" sz="2000" dirty="0" err="1">
              <a:solidFill>
                <a:srgbClr val="000000"/>
              </a:solidFill>
            </a:endParaRPr>
          </a:p>
          <a:p>
            <a:pPr marL="203200" indent="-203200" defTabSz="457200">
              <a:spcBef>
                <a:spcPts val="500"/>
              </a:spcBef>
              <a:buSzPct val="45000"/>
              <a:buFont typeface="Wingdings" panose="05000000000000000000" pitchFamily="2" charset="2"/>
              <a:buChar char=""/>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en-US" altLang="en-US" sz="2000" b="1" dirty="0" err="1">
                <a:solidFill>
                  <a:srgbClr val="000000"/>
                </a:solidFill>
              </a:rPr>
              <a:t>Ретроспективна нарада</a:t>
            </a:r>
            <a:r>
              <a:rPr lang="en-US" altLang="en-US" sz="2000" dirty="0" err="1">
                <a:solidFill>
                  <a:srgbClr val="000000"/>
                </a:solidFill>
              </a:rPr>
              <a:t> (Retrospective meeting)</a:t>
            </a:r>
            <a:endParaRPr lang="en-US" altLang="en-US" sz="2000" dirty="0" err="1">
              <a:solidFill>
                <a:srgbClr val="000000"/>
              </a:solidFill>
            </a:endParaRPr>
          </a:p>
          <a:p>
            <a:pPr marL="203200" indent="-203200" defTabSz="457200">
              <a:spcBef>
                <a:spcPts val="500"/>
              </a:spcBef>
              <a:buSzPct val="45000"/>
              <a:buFont typeface="Wingdings" panose="05000000000000000000" pitchFamily="2" charset="2"/>
              <a:buChar char=""/>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en-US" altLang="en-US" sz="2000" b="1" dirty="0" err="1">
                <a:solidFill>
                  <a:srgbClr val="000000"/>
                </a:solidFill>
              </a:rPr>
              <a:t>Навчання та сертифікація фахівців з SCRUM</a:t>
            </a:r>
            <a:endParaRPr lang="en-US" altLang="en-US" sz="2000" b="1" dirty="0" err="1">
              <a:solidFill>
                <a:srgbClr val="000000"/>
              </a:solidFill>
            </a:endParaRPr>
          </a:p>
          <a:p>
            <a:pPr marL="203200" indent="-203200" defTabSz="457200">
              <a:spcBef>
                <a:spcPts val="500"/>
              </a:spcBef>
              <a:buSzPct val="45000"/>
              <a:buFont typeface="Wingdings" panose="05000000000000000000" pitchFamily="2" charset="2"/>
              <a:buChar char=""/>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en-US" altLang="en-US" sz="2000" b="1" dirty="0" err="1">
                <a:solidFill>
                  <a:srgbClr val="000000"/>
                </a:solidFill>
              </a:rPr>
              <a:t>SCRUMbut</a:t>
            </a:r>
            <a:endParaRPr lang="en-US" altLang="en-US" sz="2000" b="1" dirty="0" err="1">
              <a:solidFill>
                <a:srgbClr val="000000"/>
              </a:solidFill>
            </a:endParaRPr>
          </a:p>
        </p:txBody>
      </p:sp>
      <p:pic>
        <p:nvPicPr>
          <p:cNvPr id="51203" name="Picture 51202"/>
          <p:cNvPicPr>
            <a:picLocks noChangeAspect="1"/>
          </p:cNvPicPr>
          <p:nvPr/>
        </p:nvPicPr>
        <p:blipFill>
          <a:blip r:embed="rId1"/>
          <a:stretch>
            <a:fillRect/>
          </a:stretch>
        </p:blipFill>
        <p:spPr>
          <a:xfrm>
            <a:off x="2754313" y="4022725"/>
            <a:ext cx="4743450" cy="2795588"/>
          </a:xfrm>
          <a:prstGeom prst="rect">
            <a:avLst/>
          </a:prstGeom>
          <a:noFill/>
          <a:ln w="9525">
            <a:noFill/>
          </a:ln>
        </p:spPr>
      </p:pic>
    </p:spTree>
  </p:cSld>
  <p:clrMapOvr>
    <a:masterClrMapping/>
  </p:clrMapOvr>
  <p:transition spd="med"/>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Text Box 5222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4200" dirty="0" err="1">
                <a:solidFill>
                  <a:srgbClr val="FFFFFF"/>
                </a:solidFill>
              </a:rPr>
              <a:t>Планування спринту</a:t>
            </a:r>
            <a:endParaRPr lang="uk-UA" altLang="ru-RU" sz="4200" dirty="0" err="1">
              <a:solidFill>
                <a:srgbClr val="FFFFFF"/>
              </a:solidFill>
            </a:endParaRPr>
          </a:p>
        </p:txBody>
      </p:sp>
      <p:sp>
        <p:nvSpPr>
          <p:cNvPr id="52226" name="Text Box 52225"/>
          <p:cNvSpPr txBox="1"/>
          <p:nvPr/>
        </p:nvSpPr>
        <p:spPr>
          <a:xfrm>
            <a:off x="395288" y="1385888"/>
            <a:ext cx="8208962" cy="4419600"/>
          </a:xfrm>
          <a:prstGeom prst="rect">
            <a:avLst/>
          </a:prstGeom>
          <a:noFill/>
          <a:ln w="9525">
            <a:noFill/>
          </a:ln>
        </p:spPr>
        <p:txBody>
          <a:bodyPr wrap="square" lIns="91440" tIns="45720" rIns="91440" bIns="45720" anchor="t" anchorCtr="0"/>
          <a:p>
            <a:pPr marL="211455" indent="-203200" defTabSz="457200">
              <a:spcBef>
                <a:spcPts val="500"/>
              </a:spcBef>
              <a:buClrTx/>
              <a:buSzPct val="45000"/>
              <a:buFontTx/>
              <a:buNone/>
              <a:tabLst>
                <a:tab pos="211455" algn="l"/>
                <a:tab pos="668655" algn="l"/>
                <a:tab pos="1125855" algn="l"/>
                <a:tab pos="1583055" algn="l"/>
                <a:tab pos="2040255" algn="l"/>
                <a:tab pos="2497455" algn="l"/>
                <a:tab pos="2954655" algn="l"/>
                <a:tab pos="3411855" algn="l"/>
                <a:tab pos="3869055" algn="l"/>
                <a:tab pos="4326255" algn="l"/>
                <a:tab pos="4783455" algn="l"/>
                <a:tab pos="5240655" algn="l"/>
                <a:tab pos="5697855" algn="l"/>
                <a:tab pos="6155055" algn="l"/>
                <a:tab pos="6612255" algn="l"/>
                <a:tab pos="7069455" algn="l"/>
                <a:tab pos="7526655" algn="l"/>
                <a:tab pos="7983855" algn="l"/>
                <a:tab pos="8441055" algn="l"/>
                <a:tab pos="8898255" algn="l"/>
                <a:tab pos="9355455" algn="l"/>
              </a:tabLst>
            </a:pPr>
            <a:r>
              <a:rPr lang="en-US" altLang="en-US" sz="1700" baseline="0" dirty="0" err="1">
                <a:solidFill>
                  <a:srgbClr val="000000"/>
                </a:solidFill>
                <a:latin typeface="Arial" panose="020B0604020202020204" pitchFamily="34" charset="0"/>
                <a:ea typeface="Microsoft YaHei" panose="020B0503020204020204" charset="-122"/>
              </a:rPr>
              <a:t>Відбувається на початку нової ітерації спринту.</a:t>
            </a:r>
            <a:endParaRPr lang="en-US" altLang="en-US" sz="1700" baseline="0" dirty="0" err="1">
              <a:solidFill>
                <a:srgbClr val="000000"/>
              </a:solidFill>
              <a:latin typeface="Arial" panose="020B0604020202020204" pitchFamily="34" charset="0"/>
              <a:ea typeface="Microsoft YaHei" panose="020B0503020204020204" charset="-122"/>
            </a:endParaRPr>
          </a:p>
          <a:p>
            <a:pPr marL="294005" indent="-285750" defTabSz="457200">
              <a:spcBef>
                <a:spcPts val="500"/>
              </a:spcBef>
              <a:buClrTx/>
              <a:buSzPct val="45000"/>
              <a:buFont typeface="Arial" panose="020B0604020202020204" pitchFamily="34" charset="0"/>
              <a:buChar char="•"/>
              <a:tabLst>
                <a:tab pos="211455" algn="l"/>
                <a:tab pos="668655" algn="l"/>
                <a:tab pos="1125855" algn="l"/>
                <a:tab pos="1583055" algn="l"/>
                <a:tab pos="2040255" algn="l"/>
                <a:tab pos="2497455" algn="l"/>
                <a:tab pos="2954655" algn="l"/>
                <a:tab pos="3411855" algn="l"/>
                <a:tab pos="3869055" algn="l"/>
                <a:tab pos="4326255" algn="l"/>
                <a:tab pos="4783455" algn="l"/>
                <a:tab pos="5240655" algn="l"/>
                <a:tab pos="5697855" algn="l"/>
                <a:tab pos="6155055" algn="l"/>
                <a:tab pos="6612255" algn="l"/>
                <a:tab pos="7069455" algn="l"/>
                <a:tab pos="7526655" algn="l"/>
                <a:tab pos="7983855" algn="l"/>
                <a:tab pos="8441055" algn="l"/>
                <a:tab pos="8898255" algn="l"/>
                <a:tab pos="9355455" algn="l"/>
              </a:tabLst>
            </a:pPr>
            <a:r>
              <a:rPr lang="en-US" altLang="en-US" sz="1700" baseline="0" dirty="0" err="1">
                <a:solidFill>
                  <a:srgbClr val="000000"/>
                </a:solidFill>
                <a:latin typeface="Arial" panose="020B0604020202020204" pitchFamily="34" charset="0"/>
                <a:ea typeface="Microsoft YaHei" panose="020B0503020204020204" charset="-122"/>
              </a:rPr>
              <a:t>З беклогу про</a:t>
            </a:r>
            <a:r>
              <a:rPr lang="uk-UA" altLang="en-US" sz="1700" baseline="0" dirty="0" err="1">
                <a:solidFill>
                  <a:srgbClr val="000000"/>
                </a:solidFill>
                <a:latin typeface="Arial" panose="020B0604020202020204" pitchFamily="34" charset="0"/>
                <a:ea typeface="Microsoft YaHei" panose="020B0503020204020204" charset="-122"/>
              </a:rPr>
              <a:t>є</a:t>
            </a:r>
            <a:r>
              <a:rPr lang="en-US" altLang="en-US" sz="1700" baseline="0" dirty="0" err="1">
                <a:solidFill>
                  <a:srgbClr val="000000"/>
                </a:solidFill>
                <a:latin typeface="Arial" panose="020B0604020202020204" pitchFamily="34" charset="0"/>
                <a:ea typeface="Microsoft YaHei" panose="020B0503020204020204" charset="-122"/>
              </a:rPr>
              <a:t>кту вибираються завдання, зобов'язання щодо виконання яких за один спринт приймає </a:t>
            </a:r>
            <a:r>
              <a:rPr lang="uk-UA" altLang="en-US" sz="1700" baseline="0" dirty="0" err="1">
                <a:solidFill>
                  <a:srgbClr val="000000"/>
                </a:solidFill>
                <a:latin typeface="Arial" panose="020B0604020202020204" pitchFamily="34" charset="0"/>
                <a:ea typeface="Microsoft YaHei" panose="020B0503020204020204" charset="-122"/>
              </a:rPr>
              <a:t>на себе</a:t>
            </a:r>
            <a:r>
              <a:rPr lang="en-US" altLang="en-US" sz="1700" baseline="0" dirty="0" err="1">
                <a:solidFill>
                  <a:srgbClr val="000000"/>
                </a:solidFill>
                <a:latin typeface="Arial" panose="020B0604020202020204" pitchFamily="34" charset="0"/>
                <a:ea typeface="Microsoft YaHei" panose="020B0503020204020204" charset="-122"/>
              </a:rPr>
              <a:t> команда</a:t>
            </a:r>
            <a:endParaRPr lang="en-US" altLang="en-US" sz="1700" baseline="0" dirty="0" err="1">
              <a:solidFill>
                <a:srgbClr val="000000"/>
              </a:solidFill>
              <a:latin typeface="Arial" panose="020B0604020202020204" pitchFamily="34" charset="0"/>
              <a:ea typeface="Microsoft YaHei" panose="020B0503020204020204" charset="-122"/>
            </a:endParaRPr>
          </a:p>
          <a:p>
            <a:pPr marL="294005" indent="-285750" defTabSz="457200">
              <a:spcBef>
                <a:spcPts val="500"/>
              </a:spcBef>
              <a:buClrTx/>
              <a:buSzPct val="45000"/>
              <a:buFont typeface="Arial" panose="020B0604020202020204" pitchFamily="34" charset="0"/>
              <a:buChar char="•"/>
              <a:tabLst>
                <a:tab pos="211455" algn="l"/>
                <a:tab pos="668655" algn="l"/>
                <a:tab pos="1125855" algn="l"/>
                <a:tab pos="1583055" algn="l"/>
                <a:tab pos="2040255" algn="l"/>
                <a:tab pos="2497455" algn="l"/>
                <a:tab pos="2954655" algn="l"/>
                <a:tab pos="3411855" algn="l"/>
                <a:tab pos="3869055" algn="l"/>
                <a:tab pos="4326255" algn="l"/>
                <a:tab pos="4783455" algn="l"/>
                <a:tab pos="5240655" algn="l"/>
                <a:tab pos="5697855" algn="l"/>
                <a:tab pos="6155055" algn="l"/>
                <a:tab pos="6612255" algn="l"/>
                <a:tab pos="7069455" algn="l"/>
                <a:tab pos="7526655" algn="l"/>
                <a:tab pos="7983855" algn="l"/>
                <a:tab pos="8441055" algn="l"/>
                <a:tab pos="8898255" algn="l"/>
                <a:tab pos="9355455" algn="l"/>
              </a:tabLst>
            </a:pPr>
            <a:r>
              <a:rPr lang="en-US" altLang="en-US" sz="1700" baseline="0" dirty="0" err="1">
                <a:solidFill>
                  <a:srgbClr val="000000"/>
                </a:solidFill>
                <a:latin typeface="Arial" panose="020B0604020202020204" pitchFamily="34" charset="0"/>
                <a:ea typeface="Microsoft YaHei" panose="020B0503020204020204" charset="-122"/>
              </a:rPr>
              <a:t>На основі вибраних завдань створюється беклог спринту. Кожне завдання оцінюється в ідеаль</a:t>
            </a:r>
            <a:r>
              <a:rPr lang="uk-UA" altLang="en-US" sz="1700" baseline="0" dirty="0" err="1">
                <a:solidFill>
                  <a:srgbClr val="000000"/>
                </a:solidFill>
                <a:latin typeface="Arial" panose="020B0604020202020204" pitchFamily="34" charset="0"/>
                <a:ea typeface="Microsoft YaHei" panose="020B0503020204020204" charset="-122"/>
              </a:rPr>
              <a:t>них людино-годинах</a:t>
            </a:r>
            <a:endParaRPr lang="en-US" altLang="en-US" sz="1700" baseline="0" dirty="0" err="1">
              <a:solidFill>
                <a:srgbClr val="000000"/>
              </a:solidFill>
              <a:latin typeface="Arial" panose="020B0604020202020204" pitchFamily="34" charset="0"/>
              <a:ea typeface="Microsoft YaHei" panose="020B0503020204020204" charset="-122"/>
            </a:endParaRPr>
          </a:p>
          <a:p>
            <a:pPr marL="294005" indent="-285750" defTabSz="457200">
              <a:spcBef>
                <a:spcPts val="500"/>
              </a:spcBef>
              <a:buClrTx/>
              <a:buSzPct val="45000"/>
              <a:buFont typeface="Arial" panose="020B0604020202020204" pitchFamily="34" charset="0"/>
              <a:buChar char="•"/>
              <a:tabLst>
                <a:tab pos="211455" algn="l"/>
                <a:tab pos="668655" algn="l"/>
                <a:tab pos="1125855" algn="l"/>
                <a:tab pos="1583055" algn="l"/>
                <a:tab pos="2040255" algn="l"/>
                <a:tab pos="2497455" algn="l"/>
                <a:tab pos="2954655" algn="l"/>
                <a:tab pos="3411855" algn="l"/>
                <a:tab pos="3869055" algn="l"/>
                <a:tab pos="4326255" algn="l"/>
                <a:tab pos="4783455" algn="l"/>
                <a:tab pos="5240655" algn="l"/>
                <a:tab pos="5697855" algn="l"/>
                <a:tab pos="6155055" algn="l"/>
                <a:tab pos="6612255" algn="l"/>
                <a:tab pos="7069455" algn="l"/>
                <a:tab pos="7526655" algn="l"/>
                <a:tab pos="7983855" algn="l"/>
                <a:tab pos="8441055" algn="l"/>
                <a:tab pos="8898255" algn="l"/>
                <a:tab pos="9355455" algn="l"/>
              </a:tabLst>
            </a:pPr>
            <a:r>
              <a:rPr lang="en-US" altLang="en-US" sz="1700" baseline="0" dirty="0" err="1">
                <a:solidFill>
                  <a:srgbClr val="000000"/>
                </a:solidFill>
                <a:latin typeface="Arial" panose="020B0604020202020204" pitchFamily="34" charset="0"/>
                <a:ea typeface="Microsoft YaHei" panose="020B0503020204020204" charset="-122"/>
              </a:rPr>
              <a:t>Вирішення завдання не повинно займати більше 8 годин або одного дня. </a:t>
            </a:r>
            <a:r>
              <a:rPr lang="uk-UA" altLang="en-US" sz="1700" baseline="0" dirty="0" err="1">
                <a:solidFill>
                  <a:srgbClr val="000000"/>
                </a:solidFill>
                <a:latin typeface="Arial" panose="020B0604020202020204" pitchFamily="34" charset="0"/>
                <a:ea typeface="Microsoft YaHei" panose="020B0503020204020204" charset="-122"/>
              </a:rPr>
              <a:t>  </a:t>
            </a:r>
            <a:r>
              <a:rPr lang="en-US" altLang="en-US" sz="1700" baseline="0" dirty="0" err="1">
                <a:solidFill>
                  <a:srgbClr val="000000"/>
                </a:solidFill>
                <a:latin typeface="Arial" panose="020B0604020202020204" pitchFamily="34" charset="0"/>
                <a:ea typeface="Microsoft YaHei" panose="020B0503020204020204" charset="-122"/>
              </a:rPr>
              <a:t>За необхідності завдання розбивається на підзавдання</a:t>
            </a:r>
            <a:endParaRPr lang="en-US" altLang="en-US" sz="1700" baseline="0" dirty="0" err="1">
              <a:solidFill>
                <a:srgbClr val="000000"/>
              </a:solidFill>
              <a:latin typeface="Arial" panose="020B0604020202020204" pitchFamily="34" charset="0"/>
              <a:ea typeface="Microsoft YaHei" panose="020B0503020204020204" charset="-122"/>
            </a:endParaRPr>
          </a:p>
          <a:p>
            <a:pPr marL="294005" indent="-285750" defTabSz="457200">
              <a:spcBef>
                <a:spcPts val="500"/>
              </a:spcBef>
              <a:buClrTx/>
              <a:buSzPct val="45000"/>
              <a:buFont typeface="Arial" panose="020B0604020202020204" pitchFamily="34" charset="0"/>
              <a:buChar char="•"/>
              <a:tabLst>
                <a:tab pos="211455" algn="l"/>
                <a:tab pos="668655" algn="l"/>
                <a:tab pos="1125855" algn="l"/>
                <a:tab pos="1583055" algn="l"/>
                <a:tab pos="2040255" algn="l"/>
                <a:tab pos="2497455" algn="l"/>
                <a:tab pos="2954655" algn="l"/>
                <a:tab pos="3411855" algn="l"/>
                <a:tab pos="3869055" algn="l"/>
                <a:tab pos="4326255" algn="l"/>
                <a:tab pos="4783455" algn="l"/>
                <a:tab pos="5240655" algn="l"/>
                <a:tab pos="5697855" algn="l"/>
                <a:tab pos="6155055" algn="l"/>
                <a:tab pos="6612255" algn="l"/>
                <a:tab pos="7069455" algn="l"/>
                <a:tab pos="7526655" algn="l"/>
                <a:tab pos="7983855" algn="l"/>
                <a:tab pos="8441055" algn="l"/>
                <a:tab pos="8898255" algn="l"/>
                <a:tab pos="9355455" algn="l"/>
              </a:tabLst>
            </a:pPr>
            <a:r>
              <a:rPr lang="en-US" altLang="en-US" sz="1700" baseline="0" dirty="0" err="1">
                <a:solidFill>
                  <a:srgbClr val="000000"/>
                </a:solidFill>
                <a:latin typeface="Arial" panose="020B0604020202020204" pitchFamily="34" charset="0"/>
                <a:ea typeface="Microsoft YaHei" panose="020B0503020204020204" charset="-122"/>
              </a:rPr>
              <a:t>Обговорюється та визначається, яким чином буде реалізовано цей обсяг робіт</a:t>
            </a:r>
            <a:endParaRPr lang="en-US" altLang="en-US" sz="1700" baseline="0" dirty="0" err="1">
              <a:solidFill>
                <a:srgbClr val="000000"/>
              </a:solidFill>
              <a:latin typeface="Arial" panose="020B0604020202020204" pitchFamily="34" charset="0"/>
              <a:ea typeface="Microsoft YaHei" panose="020B0503020204020204" charset="-122"/>
            </a:endParaRPr>
          </a:p>
          <a:p>
            <a:pPr marL="294005" indent="-285750" defTabSz="457200">
              <a:spcBef>
                <a:spcPts val="500"/>
              </a:spcBef>
              <a:buClrTx/>
              <a:buSzPct val="45000"/>
              <a:buFont typeface="Arial" panose="020B0604020202020204" pitchFamily="34" charset="0"/>
              <a:buChar char="•"/>
              <a:tabLst>
                <a:tab pos="211455" algn="l"/>
                <a:tab pos="668655" algn="l"/>
                <a:tab pos="1125855" algn="l"/>
                <a:tab pos="1583055" algn="l"/>
                <a:tab pos="2040255" algn="l"/>
                <a:tab pos="2497455" algn="l"/>
                <a:tab pos="2954655" algn="l"/>
                <a:tab pos="3411855" algn="l"/>
                <a:tab pos="3869055" algn="l"/>
                <a:tab pos="4326255" algn="l"/>
                <a:tab pos="4783455" algn="l"/>
                <a:tab pos="5240655" algn="l"/>
                <a:tab pos="5697855" algn="l"/>
                <a:tab pos="6155055" algn="l"/>
                <a:tab pos="6612255" algn="l"/>
                <a:tab pos="7069455" algn="l"/>
                <a:tab pos="7526655" algn="l"/>
                <a:tab pos="7983855" algn="l"/>
                <a:tab pos="8441055" algn="l"/>
                <a:tab pos="8898255" algn="l"/>
                <a:tab pos="9355455" algn="l"/>
              </a:tabLst>
            </a:pPr>
            <a:r>
              <a:rPr lang="en-US" altLang="en-US" sz="1700" baseline="0" dirty="0" err="1">
                <a:solidFill>
                  <a:srgbClr val="000000"/>
                </a:solidFill>
                <a:latin typeface="Arial" panose="020B0604020202020204" pitchFamily="34" charset="0"/>
                <a:ea typeface="Microsoft YaHei" panose="020B0503020204020204" charset="-122"/>
              </a:rPr>
              <a:t>Тривалість мітингу обмежена зверху 8 годин</a:t>
            </a:r>
            <a:r>
              <a:rPr lang="uk-UA" altLang="en-US" sz="1700" baseline="0" dirty="0" err="1">
                <a:solidFill>
                  <a:srgbClr val="000000"/>
                </a:solidFill>
                <a:latin typeface="Arial" panose="020B0604020202020204" pitchFamily="34" charset="0"/>
                <a:ea typeface="Microsoft YaHei" panose="020B0503020204020204" charset="-122"/>
              </a:rPr>
              <a:t>ами </a:t>
            </a:r>
            <a:r>
              <a:rPr lang="en-US" altLang="en-US" sz="1700" baseline="0" dirty="0" err="1">
                <a:solidFill>
                  <a:srgbClr val="000000"/>
                </a:solidFill>
                <a:latin typeface="Arial" panose="020B0604020202020204" pitchFamily="34" charset="0"/>
                <a:ea typeface="Microsoft YaHei" panose="020B0503020204020204" charset="-122"/>
              </a:rPr>
              <a:t>залежно від тривалості спринту, досвіду команди тощо</a:t>
            </a:r>
            <a:endParaRPr lang="en-US" altLang="en-US" sz="1700" baseline="0" dirty="0" err="1">
              <a:solidFill>
                <a:srgbClr val="000000"/>
              </a:solidFill>
              <a:latin typeface="Arial" panose="020B0604020202020204" pitchFamily="34" charset="0"/>
              <a:ea typeface="Microsoft YaHei" panose="020B0503020204020204" charset="-122"/>
            </a:endParaRPr>
          </a:p>
          <a:p>
            <a:pPr marL="294005" indent="-285750" defTabSz="457200">
              <a:spcBef>
                <a:spcPts val="500"/>
              </a:spcBef>
              <a:buClrTx/>
              <a:buSzPct val="45000"/>
              <a:buFont typeface="Arial" panose="020B0604020202020204" pitchFamily="34" charset="0"/>
              <a:buChar char="•"/>
              <a:tabLst>
                <a:tab pos="211455" algn="l"/>
                <a:tab pos="668655" algn="l"/>
                <a:tab pos="1125855" algn="l"/>
                <a:tab pos="1583055" algn="l"/>
                <a:tab pos="2040255" algn="l"/>
                <a:tab pos="2497455" algn="l"/>
                <a:tab pos="2954655" algn="l"/>
                <a:tab pos="3411855" algn="l"/>
                <a:tab pos="3869055" algn="l"/>
                <a:tab pos="4326255" algn="l"/>
                <a:tab pos="4783455" algn="l"/>
                <a:tab pos="5240655" algn="l"/>
                <a:tab pos="5697855" algn="l"/>
                <a:tab pos="6155055" algn="l"/>
                <a:tab pos="6612255" algn="l"/>
                <a:tab pos="7069455" algn="l"/>
                <a:tab pos="7526655" algn="l"/>
                <a:tab pos="7983855" algn="l"/>
                <a:tab pos="8441055" algn="l"/>
                <a:tab pos="8898255" algn="l"/>
                <a:tab pos="9355455" algn="l"/>
              </a:tabLst>
            </a:pPr>
            <a:r>
              <a:rPr lang="en-US" altLang="en-US" sz="1700" baseline="0" dirty="0" err="1">
                <a:solidFill>
                  <a:srgbClr val="000000"/>
                </a:solidFill>
                <a:latin typeface="Arial" panose="020B0604020202020204" pitchFamily="34" charset="0"/>
                <a:ea typeface="Microsoft YaHei" panose="020B0503020204020204" charset="-122"/>
              </a:rPr>
              <a:t>[</a:t>
            </a:r>
            <a:r>
              <a:rPr lang="uk-UA" altLang="en-US" sz="1700" baseline="0" dirty="0" err="1">
                <a:solidFill>
                  <a:srgbClr val="000000"/>
                </a:solidFill>
                <a:latin typeface="Arial" panose="020B0604020202020204" pitchFamily="34" charset="0"/>
                <a:ea typeface="Microsoft YaHei" panose="020B0503020204020204" charset="-122"/>
              </a:rPr>
              <a:t>П</a:t>
            </a:r>
            <a:r>
              <a:rPr lang="en-US" altLang="en-US" sz="1700" baseline="0" dirty="0" err="1">
                <a:solidFill>
                  <a:srgbClr val="000000"/>
                </a:solidFill>
                <a:latin typeface="Arial" panose="020B0604020202020204" pitchFamily="34" charset="0"/>
                <a:ea typeface="Microsoft YaHei" panose="020B0503020204020204" charset="-122"/>
              </a:rPr>
              <a:t>ерша частина наради] Беруть участь скрам-майстер, власник продукту </a:t>
            </a:r>
            <a:r>
              <a:rPr lang="uk-UA" altLang="en-US" sz="1700" baseline="0" dirty="0" err="1">
                <a:solidFill>
                  <a:srgbClr val="000000"/>
                </a:solidFill>
                <a:latin typeface="Arial" panose="020B0604020202020204" pitchFamily="34" charset="0"/>
                <a:ea typeface="Microsoft YaHei" panose="020B0503020204020204" charset="-122"/>
              </a:rPr>
              <a:t>   </a:t>
            </a:r>
            <a:r>
              <a:rPr lang="en-US" altLang="en-US" sz="1700" baseline="0" dirty="0" err="1">
                <a:solidFill>
                  <a:srgbClr val="000000"/>
                </a:solidFill>
                <a:latin typeface="Arial" panose="020B0604020202020204" pitchFamily="34" charset="0"/>
                <a:ea typeface="Microsoft YaHei" panose="020B0503020204020204" charset="-122"/>
              </a:rPr>
              <a:t>та скрам-команда: вибирають завдання з беклогу продукту</a:t>
            </a:r>
            <a:endParaRPr lang="en-US" altLang="en-US" sz="1700" baseline="0" dirty="0" err="1">
              <a:solidFill>
                <a:srgbClr val="000000"/>
              </a:solidFill>
              <a:latin typeface="Arial" panose="020B0604020202020204" pitchFamily="34" charset="0"/>
              <a:ea typeface="Microsoft YaHei" panose="020B0503020204020204" charset="-122"/>
            </a:endParaRPr>
          </a:p>
          <a:p>
            <a:pPr marL="294005" indent="-285750" defTabSz="457200">
              <a:spcBef>
                <a:spcPts val="500"/>
              </a:spcBef>
              <a:buClrTx/>
              <a:buSzPct val="45000"/>
              <a:buFont typeface="Arial" panose="020B0604020202020204" pitchFamily="34" charset="0"/>
              <a:buChar char="•"/>
              <a:tabLst>
                <a:tab pos="211455" algn="l"/>
                <a:tab pos="668655" algn="l"/>
                <a:tab pos="1125855" algn="l"/>
                <a:tab pos="1583055" algn="l"/>
                <a:tab pos="2040255" algn="l"/>
                <a:tab pos="2497455" algn="l"/>
                <a:tab pos="2954655" algn="l"/>
                <a:tab pos="3411855" algn="l"/>
                <a:tab pos="3869055" algn="l"/>
                <a:tab pos="4326255" algn="l"/>
                <a:tab pos="4783455" algn="l"/>
                <a:tab pos="5240655" algn="l"/>
                <a:tab pos="5697855" algn="l"/>
                <a:tab pos="6155055" algn="l"/>
                <a:tab pos="6612255" algn="l"/>
                <a:tab pos="7069455" algn="l"/>
                <a:tab pos="7526655" algn="l"/>
                <a:tab pos="7983855" algn="l"/>
                <a:tab pos="8441055" algn="l"/>
                <a:tab pos="8898255" algn="l"/>
                <a:tab pos="9355455" algn="l"/>
              </a:tabLst>
            </a:pPr>
            <a:r>
              <a:rPr lang="en-US" altLang="en-US" sz="1700" baseline="0" dirty="0" err="1">
                <a:solidFill>
                  <a:srgbClr val="000000"/>
                </a:solidFill>
                <a:latin typeface="Arial" panose="020B0604020202020204" pitchFamily="34" charset="0"/>
                <a:ea typeface="Microsoft YaHei" panose="020B0503020204020204" charset="-122"/>
              </a:rPr>
              <a:t>[Друга частина наради] Бере участь тільки скрам-команда: обговорюють технічні деталі реалізації, наповнюють беклог спринту</a:t>
            </a:r>
            <a:endParaRPr lang="en-US" altLang="en-US" sz="1700" baseline="0" dirty="0" err="1">
              <a:solidFill>
                <a:srgbClr val="000000"/>
              </a:solidFill>
              <a:latin typeface="Arial" panose="020B0604020202020204" pitchFamily="34" charset="0"/>
              <a:ea typeface="Microsoft YaHei" panose="020B0503020204020204" charset="-122"/>
            </a:endParaRPr>
          </a:p>
        </p:txBody>
      </p:sp>
    </p:spTree>
  </p:cSld>
  <p:clrMapOvr>
    <a:masterClrMapping/>
  </p:clrMapOvr>
  <p:transition spd="med"/>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Text Box 53248"/>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ru-RU" altLang="x-none" sz="4200" dirty="0" err="1">
                <a:solidFill>
                  <a:srgbClr val="FFFFFF"/>
                </a:solidFill>
              </a:rPr>
              <a:t>Покер план</a:t>
            </a:r>
            <a:r>
              <a:rPr lang="uk-UA" altLang="ru-RU" sz="4200" dirty="0" err="1">
                <a:solidFill>
                  <a:srgbClr val="FFFFFF"/>
                </a:solidFill>
              </a:rPr>
              <a:t>ування</a:t>
            </a:r>
            <a:endParaRPr lang="uk-UA" altLang="ru-RU" sz="4200" dirty="0" err="1">
              <a:solidFill>
                <a:srgbClr val="FFFFFF"/>
              </a:solidFill>
            </a:endParaRPr>
          </a:p>
        </p:txBody>
      </p:sp>
      <p:sp>
        <p:nvSpPr>
          <p:cNvPr id="53250" name="Text Box 53249"/>
          <p:cNvSpPr txBox="1"/>
          <p:nvPr/>
        </p:nvSpPr>
        <p:spPr>
          <a:xfrm>
            <a:off x="395288" y="1385888"/>
            <a:ext cx="8208962" cy="4419600"/>
          </a:xfrm>
          <a:prstGeom prst="rect">
            <a:avLst/>
          </a:prstGeom>
          <a:noFill/>
          <a:ln w="9525">
            <a:noFill/>
          </a:ln>
        </p:spPr>
        <p:txBody>
          <a:bodyPr wrap="square" lIns="91440" tIns="45720" rIns="91440" bIns="45720" anchor="t" anchorCtr="0"/>
          <a:p>
            <a:pPr defTabSz="457200">
              <a:spcBef>
                <a:spcPts val="500"/>
              </a:spcBef>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600" b="1" dirty="0" err="1">
                <a:solidFill>
                  <a:srgbClr val="000000"/>
                </a:solidFill>
              </a:rPr>
              <a:t>Покер планування</a:t>
            </a:r>
            <a:r>
              <a:rPr lang="en-US" altLang="en-US" sz="1600" dirty="0" err="1">
                <a:solidFill>
                  <a:srgbClr val="000000"/>
                </a:solidFill>
              </a:rPr>
              <a:t> (Planning Poker, Scrum Poker) — техніка оцінки, заснована </a:t>
            </a:r>
            <a:r>
              <a:rPr lang="uk-UA" altLang="en-US" sz="1600" dirty="0" err="1">
                <a:solidFill>
                  <a:srgbClr val="000000"/>
                </a:solidFill>
              </a:rPr>
              <a:t>      </a:t>
            </a:r>
            <a:r>
              <a:rPr lang="en-US" altLang="en-US" sz="1600" dirty="0" err="1">
                <a:solidFill>
                  <a:srgbClr val="000000"/>
                </a:solidFill>
              </a:rPr>
              <a:t>на досягненні домовленості, що </a:t>
            </a:r>
            <a:r>
              <a:rPr lang="uk-UA" altLang="en-US" sz="1600" dirty="0" err="1">
                <a:solidFill>
                  <a:srgbClr val="000000"/>
                </a:solidFill>
              </a:rPr>
              <a:t>саме </a:t>
            </a:r>
            <a:r>
              <a:rPr lang="en-US" altLang="en-US" sz="1600" dirty="0" err="1">
                <a:solidFill>
                  <a:srgbClr val="000000"/>
                </a:solidFill>
              </a:rPr>
              <a:t>головним чином використовується для оцінки складності майбутньої роботи або відносного обсягу розв'язуваних завдань </a:t>
            </a:r>
            <a:r>
              <a:rPr lang="uk-UA" altLang="en-US" sz="1600" dirty="0" err="1">
                <a:solidFill>
                  <a:srgbClr val="000000"/>
                </a:solidFill>
              </a:rPr>
              <a:t>         </a:t>
            </a:r>
            <a:r>
              <a:rPr lang="en-US" altLang="en-US" sz="1600" dirty="0" err="1">
                <a:solidFill>
                  <a:srgbClr val="000000"/>
                </a:solidFill>
              </a:rPr>
              <a:t>при розробці програмного забезпечення. Planning Poker проводиться на Sprint Planning Meeting.</a:t>
            </a:r>
            <a:endParaRPr lang="en-US" altLang="en-US" sz="1600" dirty="0" err="1">
              <a:solidFill>
                <a:srgbClr val="000000"/>
              </a:solidFill>
            </a:endParaRPr>
          </a:p>
          <a:p>
            <a:pPr defTabSz="457200">
              <a:spcBef>
                <a:spcPts val="500"/>
              </a:spcBef>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600" dirty="0" err="1">
                <a:solidFill>
                  <a:srgbClr val="000000"/>
                </a:solidFill>
              </a:rPr>
              <a:t>Для проведення покеру планування необхідно підготувати список функцій, </a:t>
            </a:r>
            <a:r>
              <a:rPr lang="uk-UA" altLang="en-US" sz="1600" dirty="0" err="1">
                <a:solidFill>
                  <a:srgbClr val="000000"/>
                </a:solidFill>
              </a:rPr>
              <a:t>            </a:t>
            </a:r>
            <a:r>
              <a:rPr lang="en-US" altLang="en-US" sz="1600" dirty="0" err="1">
                <a:solidFill>
                  <a:srgbClr val="000000"/>
                </a:solidFill>
              </a:rPr>
              <a:t>що обговорюються, і кілька колод пронумерованих карт. Колода карток містить карти 0, ½, 1, 2, 3, 5, 8, 13, 20, 40, 100, </a:t>
            </a:r>
            <a:r>
              <a:rPr lang="" altLang="en-US" sz="1600" dirty="0" err="1">
                <a:solidFill>
                  <a:srgbClr val="000000"/>
                </a:solidFill>
              </a:rPr>
              <a:t>«</a:t>
            </a:r>
            <a:r>
              <a:rPr lang="en-US" altLang="en-US" sz="1600" dirty="0" err="1">
                <a:solidFill>
                  <a:srgbClr val="000000"/>
                </a:solidFill>
              </a:rPr>
              <a:t>?</a:t>
            </a:r>
            <a:r>
              <a:rPr lang="" altLang="en-US" sz="1600" dirty="0" err="1">
                <a:solidFill>
                  <a:srgbClr val="000000"/>
                </a:solidFill>
              </a:rPr>
              <a:t>»</a:t>
            </a:r>
            <a:r>
              <a:rPr lang="en-US" altLang="en-US" sz="1600" dirty="0" err="1">
                <a:solidFill>
                  <a:srgbClr val="000000"/>
                </a:solidFill>
              </a:rPr>
              <a:t>, </a:t>
            </a:r>
            <a:r>
              <a:rPr lang="" altLang="en-US" sz="1600" dirty="0" err="1">
                <a:solidFill>
                  <a:srgbClr val="000000"/>
                </a:solidFill>
              </a:rPr>
              <a:t>«</a:t>
            </a:r>
            <a:r>
              <a:rPr lang="uk-UA" altLang="en-US" sz="1600" dirty="0" err="1">
                <a:solidFill>
                  <a:srgbClr val="000000"/>
                </a:solidFill>
              </a:rPr>
              <a:t>Чашка </a:t>
            </a:r>
            <a:r>
              <a:rPr lang="en-US" altLang="en-US" sz="1600" dirty="0" err="1">
                <a:solidFill>
                  <a:srgbClr val="000000"/>
                </a:solidFill>
              </a:rPr>
              <a:t>кав</a:t>
            </a:r>
            <a:r>
              <a:rPr lang="uk-UA" altLang="en-US" sz="1600" dirty="0" err="1">
                <a:solidFill>
                  <a:srgbClr val="000000"/>
                </a:solidFill>
              </a:rPr>
              <a:t>и</a:t>
            </a:r>
            <a:r>
              <a:rPr lang="" altLang="en-US" sz="1600" dirty="0" err="1">
                <a:solidFill>
                  <a:srgbClr val="000000"/>
                </a:solidFill>
              </a:rPr>
              <a:t>»</a:t>
            </a:r>
            <a:r>
              <a:rPr lang="en-US" altLang="en-US" sz="1600" dirty="0" err="1">
                <a:solidFill>
                  <a:srgbClr val="000000"/>
                </a:solidFill>
              </a:rPr>
              <a:t>. Знак питання означає, що гравець не зрозумів до кінця сенс обговорюваного або не має достатньої інформації, щоб оцінити її. Чашка кави, у свою чергу, означає </a:t>
            </a:r>
            <a:r>
              <a:rPr lang="" altLang="en-US" sz="1600" dirty="0" err="1">
                <a:solidFill>
                  <a:srgbClr val="000000"/>
                </a:solidFill>
              </a:rPr>
              <a:t>«</a:t>
            </a:r>
            <a:r>
              <a:rPr lang="en-US" altLang="en-US" sz="1600" dirty="0" err="1">
                <a:solidFill>
                  <a:srgbClr val="000000"/>
                </a:solidFill>
              </a:rPr>
              <a:t>Я втомився, давайте перепочинемо</a:t>
            </a:r>
            <a:r>
              <a:rPr lang="" altLang="en-US" sz="1600" dirty="0" err="1">
                <a:solidFill>
                  <a:srgbClr val="000000"/>
                </a:solidFill>
              </a:rPr>
              <a:t>»</a:t>
            </a:r>
            <a:r>
              <a:rPr lang="en-US" altLang="en-US" sz="1600" dirty="0" err="1">
                <a:solidFill>
                  <a:srgbClr val="000000"/>
                </a:solidFill>
              </a:rPr>
              <a:t>.</a:t>
            </a:r>
            <a:endParaRPr lang="en-US" altLang="en-US" sz="1600" dirty="0" err="1">
              <a:solidFill>
                <a:srgbClr val="000000"/>
              </a:solidFill>
            </a:endParaRPr>
          </a:p>
          <a:p>
            <a:pPr defTabSz="457200">
              <a:spcBef>
                <a:spcPts val="500"/>
              </a:spcBef>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600" dirty="0" err="1">
                <a:solidFill>
                  <a:srgbClr val="000000"/>
                </a:solidFill>
              </a:rPr>
              <a:t>Кожному учаснику обговорення видається по одній колоді карток. Усі колоди ідентичні од</a:t>
            </a:r>
            <a:r>
              <a:rPr lang="uk-UA" altLang="en-US" sz="1600" dirty="0" err="1">
                <a:solidFill>
                  <a:srgbClr val="000000"/>
                </a:solidFill>
              </a:rPr>
              <a:t>на</a:t>
            </a:r>
            <a:r>
              <a:rPr lang="en-US" altLang="en-US" sz="1600" dirty="0" err="1">
                <a:solidFill>
                  <a:srgbClr val="000000"/>
                </a:solidFill>
              </a:rPr>
              <a:t> одн</a:t>
            </a:r>
            <a:r>
              <a:rPr lang="uk-UA" altLang="en-US" sz="1600" dirty="0" err="1">
                <a:solidFill>
                  <a:srgbClr val="000000"/>
                </a:solidFill>
              </a:rPr>
              <a:t>ій</a:t>
            </a:r>
            <a:r>
              <a:rPr lang="en-US" altLang="en-US" sz="1600" dirty="0" err="1">
                <a:solidFill>
                  <a:srgbClr val="000000"/>
                </a:solidFill>
              </a:rPr>
              <a:t>.</a:t>
            </a:r>
            <a:endParaRPr lang="en-US" altLang="en-US" sz="1600" dirty="0" err="1">
              <a:solidFill>
                <a:srgbClr val="000000"/>
              </a:solidFill>
            </a:endParaRPr>
          </a:p>
        </p:txBody>
      </p:sp>
      <p:pic>
        <p:nvPicPr>
          <p:cNvPr id="53251" name="Picture 53250"/>
          <p:cNvPicPr>
            <a:picLocks noChangeAspect="1"/>
          </p:cNvPicPr>
          <p:nvPr/>
        </p:nvPicPr>
        <p:blipFill>
          <a:blip r:embed="rId1"/>
          <a:stretch>
            <a:fillRect/>
          </a:stretch>
        </p:blipFill>
        <p:spPr>
          <a:xfrm>
            <a:off x="4211638" y="4530725"/>
            <a:ext cx="5129212" cy="2625725"/>
          </a:xfrm>
          <a:prstGeom prst="rect">
            <a:avLst/>
          </a:prstGeom>
          <a:noFill/>
          <a:ln w="9525">
            <a:noFill/>
          </a:ln>
        </p:spPr>
      </p:pic>
      <p:pic>
        <p:nvPicPr>
          <p:cNvPr id="53252" name="Picture 53251"/>
          <p:cNvPicPr>
            <a:picLocks noChangeAspect="1"/>
          </p:cNvPicPr>
          <p:nvPr/>
        </p:nvPicPr>
        <p:blipFill>
          <a:blip r:embed="rId2"/>
          <a:stretch>
            <a:fillRect/>
          </a:stretch>
        </p:blipFill>
        <p:spPr>
          <a:xfrm>
            <a:off x="-31750" y="4754563"/>
            <a:ext cx="4432300" cy="2089150"/>
          </a:xfrm>
          <a:prstGeom prst="rect">
            <a:avLst/>
          </a:prstGeom>
          <a:noFill/>
          <a:ln w="9525">
            <a:noFill/>
          </a:ln>
        </p:spPr>
      </p:pic>
    </p:spTree>
  </p:cSld>
  <p:clrMapOvr>
    <a:masterClrMapping/>
  </p:clrMapOvr>
  <p:transition spd="med"/>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3" name="Text Box 54272"/>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ru-RU" altLang="x-none" sz="4200" dirty="0" err="1">
                <a:solidFill>
                  <a:srgbClr val="FFFFFF"/>
                </a:solidFill>
                <a:sym typeface="+mn-ea"/>
              </a:rPr>
              <a:t>Покер план</a:t>
            </a:r>
            <a:r>
              <a:rPr lang="uk-UA" altLang="ru-RU" sz="4200" dirty="0" err="1">
                <a:solidFill>
                  <a:srgbClr val="FFFFFF"/>
                </a:solidFill>
                <a:sym typeface="+mn-ea"/>
              </a:rPr>
              <a:t>ування. Практика</a:t>
            </a:r>
            <a:endParaRPr lang="ru-RU" altLang="x-none" sz="4200" dirty="0" err="1">
              <a:solidFill>
                <a:srgbClr val="FFFFFF"/>
              </a:solidFill>
            </a:endParaRPr>
          </a:p>
        </p:txBody>
      </p:sp>
      <p:sp>
        <p:nvSpPr>
          <p:cNvPr id="54274" name="Text Box 54273"/>
          <p:cNvSpPr txBox="1"/>
          <p:nvPr/>
        </p:nvSpPr>
        <p:spPr>
          <a:xfrm>
            <a:off x="395288" y="1385888"/>
            <a:ext cx="8208962" cy="4419600"/>
          </a:xfrm>
          <a:prstGeom prst="rect">
            <a:avLst/>
          </a:prstGeom>
          <a:noFill/>
          <a:ln w="9525">
            <a:noFill/>
          </a:ln>
        </p:spPr>
        <p:txBody>
          <a:bodyPr wrap="square" lIns="91440" tIns="45720" rIns="91440" bIns="45720" anchor="t" anchorCtr="0"/>
          <a:p>
            <a:pPr defTabSz="457200">
              <a:spcBef>
                <a:spcPts val="500"/>
              </a:spcBef>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500" dirty="0" err="1">
                <a:solidFill>
                  <a:srgbClr val="000000"/>
                </a:solidFill>
              </a:rPr>
              <a:t>Обговорення проводиться так:</a:t>
            </a:r>
            <a:endParaRPr lang="en-US" altLang="en-US" sz="1500" dirty="0" err="1">
              <a:solidFill>
                <a:srgbClr val="000000"/>
              </a:solidFill>
            </a:endParaRPr>
          </a:p>
          <a:p>
            <a:pPr defTabSz="457200">
              <a:spcBef>
                <a:spcPts val="500"/>
              </a:spcBef>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500" dirty="0" err="1">
                <a:solidFill>
                  <a:srgbClr val="000000"/>
                </a:solidFill>
              </a:rPr>
              <a:t>Скрам-майстер, який не бере участі в обговоренні, веде збори. Власник продукту надає короткі огляди кожного з пунктів. Команда може ставити запитання та вести обговорення пропозицій та ризиків. Підсумок обговорення записується скрам-майстром. Учасники вибирають по одній карті і кладуть їх сорочкою нагору, показуючи таким чином, що вибір зроблено. Числові переваги карток можуть використовуватися по-різному: вони можуть означати кількість днів або відносні одиниці складності (story points). Кожен учасник називає свою карту та перевертає її. Учасникам з найвищими та найнижчими оцінками дається можливість висловитися та обґрунтувати свою оцінку. Процес обговорення триває доти, доки не буде досягнуто консенсусу. Голос учасника, який, швидше за все, займатиметься розробкою, має більшу вагу у </a:t>
            </a:r>
            <a:r>
              <a:rPr lang="" altLang="en-US" sz="1500" dirty="0" err="1">
                <a:solidFill>
                  <a:srgbClr val="000000"/>
                </a:solidFill>
              </a:rPr>
              <a:t>«</a:t>
            </a:r>
            <a:r>
              <a:rPr lang="en-US" altLang="en-US" sz="1500" dirty="0" err="1">
                <a:solidFill>
                  <a:srgbClr val="000000"/>
                </a:solidFill>
              </a:rPr>
              <a:t>голосуванні на основі консенсусу</a:t>
            </a:r>
            <a:r>
              <a:rPr lang="" altLang="en-US" sz="1500" dirty="0" err="1">
                <a:solidFill>
                  <a:srgbClr val="000000"/>
                </a:solidFill>
              </a:rPr>
              <a:t>»</a:t>
            </a:r>
            <a:r>
              <a:rPr lang="en-US" altLang="en-US" sz="1500" dirty="0" err="1">
                <a:solidFill>
                  <a:srgbClr val="000000"/>
                </a:solidFill>
              </a:rPr>
              <a:t>. Таймер використовується для забезпечення структурованості обговорення; скрам-майстер може в будь-який час перезапустити таймер, після закінчення часу всі обговорення повинні бути припинені, потім починається нове покерне коло.</a:t>
            </a:r>
            <a:endParaRPr lang="en-US" altLang="en-US" sz="1500" dirty="0" err="1">
              <a:solidFill>
                <a:srgbClr val="000000"/>
              </a:solidFill>
            </a:endParaRPr>
          </a:p>
        </p:txBody>
      </p:sp>
      <p:pic>
        <p:nvPicPr>
          <p:cNvPr id="54275" name="Picture 54274"/>
          <p:cNvPicPr>
            <a:picLocks noChangeAspect="1"/>
          </p:cNvPicPr>
          <p:nvPr/>
        </p:nvPicPr>
        <p:blipFill>
          <a:blip r:embed="rId1"/>
          <a:stretch>
            <a:fillRect/>
          </a:stretch>
        </p:blipFill>
        <p:spPr>
          <a:xfrm>
            <a:off x="5148263" y="4746625"/>
            <a:ext cx="3835400" cy="2176463"/>
          </a:xfrm>
          <a:prstGeom prst="rect">
            <a:avLst/>
          </a:prstGeom>
          <a:noFill/>
          <a:ln w="9525">
            <a:noFill/>
          </a:ln>
        </p:spPr>
      </p:pic>
      <p:sp>
        <p:nvSpPr>
          <p:cNvPr id="2" name="Text Box 1"/>
          <p:cNvSpPr txBox="1"/>
          <p:nvPr/>
        </p:nvSpPr>
        <p:spPr>
          <a:xfrm>
            <a:off x="521335" y="4778375"/>
            <a:ext cx="4572000" cy="368300"/>
          </a:xfrm>
          <a:prstGeom prst="rect">
            <a:avLst/>
          </a:prstGeom>
          <a:noFill/>
        </p:spPr>
        <p:txBody>
          <a:bodyPr wrap="square" rtlCol="0" anchor="t">
            <a:spAutoFit/>
          </a:bodyPr>
          <a:p>
            <a:r>
              <a:rPr lang="en-US" altLang="en-US" b="1">
                <a:solidFill>
                  <a:srgbClr val="0070C0"/>
                </a:solidFill>
                <a:hlinkClick r:id="rId2" tooltip="" action="ppaction://hlinkfile"/>
              </a:rPr>
              <a:t>https://planningpokeronline.com/</a:t>
            </a:r>
            <a:endParaRPr lang="en-US" altLang="en-US" b="1">
              <a:solidFill>
                <a:srgbClr val="0070C0"/>
              </a:solidFill>
            </a:endParaRPr>
          </a:p>
        </p:txBody>
      </p:sp>
      <p:sp>
        <p:nvSpPr>
          <p:cNvPr id="3" name="Text Box 2"/>
          <p:cNvSpPr txBox="1"/>
          <p:nvPr/>
        </p:nvSpPr>
        <p:spPr>
          <a:xfrm>
            <a:off x="566420" y="5589270"/>
            <a:ext cx="4345305" cy="645160"/>
          </a:xfrm>
          <a:prstGeom prst="rect">
            <a:avLst/>
          </a:prstGeom>
          <a:noFill/>
        </p:spPr>
        <p:txBody>
          <a:bodyPr wrap="square" rtlCol="0" anchor="t">
            <a:spAutoFit/>
          </a:bodyPr>
          <a:p>
            <a:pPr algn="r"/>
            <a:r>
              <a:rPr lang="en-US" altLang="en-US" b="1">
                <a:hlinkClick r:id="rId3" tooltip="" action="ppaction://hlinkfile"/>
              </a:rPr>
              <a:t>https://gist.github.com/sunmeat/4fa668c75b72f1cc063b4e7b7b183260</a:t>
            </a:r>
            <a:endParaRPr lang="en-US" altLang="en-US" b="1">
              <a:hlinkClick r:id="rId3" tooltip="" action="ppaction://hlinkfile"/>
            </a:endParaRPr>
          </a:p>
        </p:txBody>
      </p:sp>
      <p:sp>
        <p:nvSpPr>
          <p:cNvPr id="4" name="Text Box 3"/>
          <p:cNvSpPr txBox="1"/>
          <p:nvPr/>
        </p:nvSpPr>
        <p:spPr>
          <a:xfrm>
            <a:off x="1106170" y="5364480"/>
            <a:ext cx="4572000" cy="321945"/>
          </a:xfrm>
          <a:prstGeom prst="rect">
            <a:avLst/>
          </a:prstGeom>
          <a:noFill/>
        </p:spPr>
        <p:txBody>
          <a:bodyPr wrap="square" rtlCol="0" anchor="t">
            <a:spAutoFit/>
          </a:bodyPr>
          <a:p>
            <a:r>
              <a:rPr lang="uk-UA" altLang="en-US" sz="1500" dirty="0" err="1">
                <a:solidFill>
                  <a:srgbClr val="000000"/>
                </a:solidFill>
                <a:sym typeface="+mn-ea"/>
              </a:rPr>
              <a:t>питання на голосування</a:t>
            </a:r>
            <a:endParaRPr lang="uk-UA" altLang="en-US" sz="1500" dirty="0" err="1">
              <a:solidFill>
                <a:srgbClr val="000000"/>
              </a:solidFill>
              <a:sym typeface="+mn-ea"/>
            </a:endParaRPr>
          </a:p>
        </p:txBody>
      </p:sp>
    </p:spTree>
  </p:cSld>
  <p:clrMapOvr>
    <a:masterClrMapping/>
  </p:clrMapOvr>
  <p:transition spd="med"/>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7" name="Text Box 55296"/>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4200" dirty="0" err="1">
                <a:solidFill>
                  <a:srgbClr val="FFFFFF"/>
                </a:solidFill>
              </a:rPr>
              <a:t>Щоденна нарада</a:t>
            </a:r>
            <a:endParaRPr lang="uk-UA" altLang="ru-RU" sz="4200" dirty="0" err="1">
              <a:solidFill>
                <a:srgbClr val="FFFFFF"/>
              </a:solidFill>
            </a:endParaRPr>
          </a:p>
        </p:txBody>
      </p:sp>
      <p:sp>
        <p:nvSpPr>
          <p:cNvPr id="55298" name="Text Box 55297"/>
          <p:cNvSpPr txBox="1"/>
          <p:nvPr/>
        </p:nvSpPr>
        <p:spPr>
          <a:xfrm>
            <a:off x="395288" y="1385888"/>
            <a:ext cx="8208962" cy="4419600"/>
          </a:xfrm>
          <a:prstGeom prst="rect">
            <a:avLst/>
          </a:prstGeom>
          <a:noFill/>
          <a:ln w="9525">
            <a:noFill/>
          </a:ln>
        </p:spPr>
        <p:txBody>
          <a:bodyPr wrap="square" lIns="91440" tIns="45720" rIns="91440" bIns="45720" anchor="t" anchorCtr="0"/>
          <a:p>
            <a:pPr marL="203200" indent="-203200" defTabSz="457200">
              <a:spcBef>
                <a:spcPts val="500"/>
              </a:spcBef>
              <a:buSzPct val="45000"/>
              <a:buFont typeface="Wingdings" panose="05000000000000000000" pitchFamily="2" charset="2"/>
              <a:buChar char=""/>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en-US" altLang="en-US" sz="1800" baseline="0" dirty="0" err="1">
                <a:solidFill>
                  <a:srgbClr val="000000"/>
                </a:solidFill>
                <a:latin typeface="Arial" panose="020B0604020202020204" pitchFamily="34" charset="0"/>
                <a:ea typeface="Microsoft YaHei" panose="020B0503020204020204" charset="-122"/>
              </a:rPr>
              <a:t>починається в один і той же час в одному місці</a:t>
            </a:r>
            <a:endParaRPr lang="en-US" altLang="en-US" sz="1800" baseline="0" dirty="0" err="1">
              <a:solidFill>
                <a:srgbClr val="000000"/>
              </a:solidFill>
              <a:latin typeface="Arial" panose="020B0604020202020204" pitchFamily="34" charset="0"/>
              <a:ea typeface="Microsoft YaHei" panose="020B0503020204020204" charset="-122"/>
            </a:endParaRPr>
          </a:p>
          <a:p>
            <a:pPr marL="203200" indent="-203200" defTabSz="457200">
              <a:spcBef>
                <a:spcPts val="500"/>
              </a:spcBef>
              <a:buSzPct val="45000"/>
              <a:buFont typeface="Wingdings" panose="05000000000000000000" pitchFamily="2" charset="2"/>
              <a:buChar char=""/>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en-US" altLang="en-US" sz="1800" baseline="0" dirty="0" err="1">
                <a:solidFill>
                  <a:srgbClr val="000000"/>
                </a:solidFill>
                <a:latin typeface="Arial" panose="020B0604020202020204" pitchFamily="34" charset="0"/>
                <a:ea typeface="Microsoft YaHei" panose="020B0503020204020204" charset="-122"/>
              </a:rPr>
              <a:t>всі можуть спостерігати, але тільки </a:t>
            </a:r>
            <a:r>
              <a:rPr lang="" altLang="en-US" sz="1800" baseline="0" dirty="0" err="1">
                <a:solidFill>
                  <a:srgbClr val="000000"/>
                </a:solidFill>
                <a:latin typeface="Arial" panose="020B0604020202020204" pitchFamily="34" charset="0"/>
                <a:ea typeface="Microsoft YaHei" panose="020B0503020204020204" charset="-122"/>
              </a:rPr>
              <a:t>«</a:t>
            </a:r>
            <a:r>
              <a:rPr lang="en-US" altLang="en-US" sz="1800" baseline="0" dirty="0" err="1">
                <a:solidFill>
                  <a:srgbClr val="000000"/>
                </a:solidFill>
                <a:latin typeface="Arial" panose="020B0604020202020204" pitchFamily="34" charset="0"/>
                <a:ea typeface="Microsoft YaHei" panose="020B0503020204020204" charset="-122"/>
              </a:rPr>
              <a:t>свині</a:t>
            </a:r>
            <a:r>
              <a:rPr lang="" altLang="en-US" sz="1800" baseline="0" dirty="0" err="1">
                <a:solidFill>
                  <a:srgbClr val="000000"/>
                </a:solidFill>
                <a:latin typeface="Arial" panose="020B0604020202020204" pitchFamily="34" charset="0"/>
                <a:ea typeface="Microsoft YaHei" panose="020B0503020204020204" charset="-122"/>
              </a:rPr>
              <a:t>»</a:t>
            </a:r>
            <a:r>
              <a:rPr lang="en-US" altLang="en-US" sz="1800" baseline="0" dirty="0" err="1">
                <a:solidFill>
                  <a:srgbClr val="000000"/>
                </a:solidFill>
                <a:latin typeface="Arial" panose="020B0604020202020204" pitchFamily="34" charset="0"/>
                <a:ea typeface="Microsoft YaHei" panose="020B0503020204020204" charset="-122"/>
              </a:rPr>
              <a:t> кажуть</a:t>
            </a:r>
            <a:endParaRPr lang="en-US" altLang="en-US" sz="1800" baseline="0" dirty="0" err="1">
              <a:solidFill>
                <a:srgbClr val="000000"/>
              </a:solidFill>
              <a:latin typeface="Arial" panose="020B0604020202020204" pitchFamily="34" charset="0"/>
              <a:ea typeface="Microsoft YaHei" panose="020B0503020204020204" charset="-122"/>
            </a:endParaRPr>
          </a:p>
          <a:p>
            <a:pPr marL="203200" indent="-203200" defTabSz="457200">
              <a:spcBef>
                <a:spcPts val="500"/>
              </a:spcBef>
              <a:buSzPct val="45000"/>
              <a:buFont typeface="Wingdings" panose="05000000000000000000" pitchFamily="2" charset="2"/>
              <a:buChar char=""/>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en-US" altLang="en-US" sz="1800" baseline="0" dirty="0" err="1">
                <a:solidFill>
                  <a:srgbClr val="000000"/>
                </a:solidFill>
                <a:latin typeface="Arial" panose="020B0604020202020204" pitchFamily="34" charset="0"/>
                <a:ea typeface="Microsoft YaHei" panose="020B0503020204020204" charset="-122"/>
              </a:rPr>
              <a:t>у мітингу беруть участь SCRUM Master, Product Owner та SCRUM Team</a:t>
            </a:r>
            <a:endParaRPr lang="en-US" altLang="en-US" sz="1800" baseline="0" dirty="0" err="1">
              <a:solidFill>
                <a:srgbClr val="000000"/>
              </a:solidFill>
              <a:latin typeface="Arial" panose="020B0604020202020204" pitchFamily="34" charset="0"/>
              <a:ea typeface="Microsoft YaHei" panose="020B0503020204020204" charset="-122"/>
            </a:endParaRPr>
          </a:p>
          <a:p>
            <a:pPr marL="203200" indent="-203200" defTabSz="457200">
              <a:spcBef>
                <a:spcPts val="500"/>
              </a:spcBef>
              <a:buSzPct val="45000"/>
              <a:buFont typeface="Wingdings" panose="05000000000000000000" pitchFamily="2" charset="2"/>
              <a:buChar char=""/>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en-US" altLang="en-US" sz="1800" baseline="0" dirty="0" err="1">
                <a:solidFill>
                  <a:srgbClr val="000000"/>
                </a:solidFill>
                <a:latin typeface="Arial" panose="020B0604020202020204" pitchFamily="34" charset="0"/>
                <a:ea typeface="Microsoft YaHei" panose="020B0503020204020204" charset="-122"/>
              </a:rPr>
              <a:t>триває рівно 15 хвилин</a:t>
            </a:r>
            <a:endParaRPr lang="en-US" altLang="en-US" sz="1800" baseline="0" dirty="0" err="1">
              <a:solidFill>
                <a:srgbClr val="000000"/>
              </a:solidFill>
              <a:latin typeface="Arial" panose="020B0604020202020204" pitchFamily="34" charset="0"/>
              <a:ea typeface="Microsoft YaHei" panose="020B0503020204020204" charset="-122"/>
            </a:endParaRPr>
          </a:p>
          <a:p>
            <a:pPr marL="203200" indent="-203200" defTabSz="457200">
              <a:spcBef>
                <a:spcPts val="500"/>
              </a:spcBef>
              <a:buSzPct val="45000"/>
              <a:buFont typeface="Wingdings" panose="05000000000000000000" pitchFamily="2" charset="2"/>
              <a:buChar char=""/>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en-US" altLang="en-US" sz="1800" baseline="0" dirty="0" err="1">
                <a:solidFill>
                  <a:srgbClr val="000000"/>
                </a:solidFill>
                <a:latin typeface="Arial" panose="020B0604020202020204" pitchFamily="34" charset="0"/>
                <a:ea typeface="Microsoft YaHei" panose="020B0503020204020204" charset="-122"/>
              </a:rPr>
              <a:t>всі учасники під час Daily SCRUM стоять (мітинг у форматі Daily Standup)</a:t>
            </a:r>
            <a:endParaRPr lang="en-US" altLang="en-US" sz="1800" baseline="0" dirty="0" err="1">
              <a:solidFill>
                <a:srgbClr val="000000"/>
              </a:solidFill>
              <a:latin typeface="Arial" panose="020B0604020202020204" pitchFamily="34" charset="0"/>
              <a:ea typeface="Microsoft YaHei" panose="020B0503020204020204" charset="-122"/>
            </a:endParaRPr>
          </a:p>
          <a:p>
            <a:pPr marL="203200" indent="-203200" defTabSz="457200">
              <a:spcBef>
                <a:spcPts val="500"/>
              </a:spcBef>
              <a:buSzPct val="45000"/>
              <a:buFont typeface="Wingdings" panose="05000000000000000000" pitchFamily="2" charset="2"/>
              <a:buChar char=""/>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en-US" altLang="en-US" sz="1800" baseline="0" dirty="0" err="1">
                <a:solidFill>
                  <a:srgbClr val="000000"/>
                </a:solidFill>
                <a:latin typeface="Arial" panose="020B0604020202020204" pitchFamily="34" charset="0"/>
                <a:ea typeface="Microsoft YaHei" panose="020B0503020204020204" charset="-122"/>
              </a:rPr>
              <a:t>SCRUM-майстер задає кожному члену SCRUM-команди 3 питання:</a:t>
            </a:r>
            <a:endParaRPr lang="en-US" altLang="en-US" sz="1800" baseline="0" dirty="0" err="1">
              <a:solidFill>
                <a:srgbClr val="000000"/>
              </a:solidFill>
              <a:latin typeface="Arial" panose="020B0604020202020204" pitchFamily="34" charset="0"/>
              <a:ea typeface="Microsoft YaHei" panose="020B0503020204020204" charset="-122"/>
            </a:endParaRPr>
          </a:p>
          <a:p>
            <a:pPr marL="660400" lvl="1" indent="-203200" defTabSz="457200">
              <a:spcBef>
                <a:spcPts val="500"/>
              </a:spcBef>
              <a:buSzPct val="45000"/>
              <a:buFont typeface="Wingdings" panose="05000000000000000000" pitchFamily="2" charset="2"/>
              <a:buChar char=""/>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en-US" altLang="en-US" sz="1800" baseline="0" dirty="0" err="1">
                <a:solidFill>
                  <a:srgbClr val="000000"/>
                </a:solidFill>
                <a:latin typeface="Arial" panose="020B0604020202020204" pitchFamily="34" charset="0"/>
                <a:ea typeface="Microsoft YaHei" panose="020B0503020204020204" charset="-122"/>
              </a:rPr>
              <a:t>Що ти зробив з моменту минулої зустрічі, щоб допомогти Команді Розробки досягти Цілі Спринту?</a:t>
            </a:r>
            <a:endParaRPr lang="en-US" altLang="en-US" sz="1800" baseline="0" dirty="0" err="1">
              <a:solidFill>
                <a:srgbClr val="000000"/>
              </a:solidFill>
              <a:latin typeface="Arial" panose="020B0604020202020204" pitchFamily="34" charset="0"/>
              <a:ea typeface="Microsoft YaHei" panose="020B0503020204020204" charset="-122"/>
            </a:endParaRPr>
          </a:p>
          <a:p>
            <a:pPr marL="660400" lvl="1" indent="-203200" defTabSz="457200">
              <a:spcBef>
                <a:spcPts val="500"/>
              </a:spcBef>
              <a:buSzPct val="45000"/>
              <a:buFont typeface="Wingdings" panose="05000000000000000000" pitchFamily="2" charset="2"/>
              <a:buChar char=""/>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en-US" altLang="en-US" sz="1800" baseline="0" dirty="0" err="1">
                <a:solidFill>
                  <a:srgbClr val="000000"/>
                </a:solidFill>
                <a:latin typeface="Arial" panose="020B0604020202020204" pitchFamily="34" charset="0"/>
                <a:ea typeface="Microsoft YaHei" panose="020B0503020204020204" charset="-122"/>
              </a:rPr>
              <a:t>Що ти зробиш сьогодні для того, щоб допомогти Команді Розробки досягти Цілі Спринту?</a:t>
            </a:r>
            <a:endParaRPr lang="en-US" altLang="en-US" sz="1800" baseline="0" dirty="0" err="1">
              <a:solidFill>
                <a:srgbClr val="000000"/>
              </a:solidFill>
              <a:latin typeface="Arial" panose="020B0604020202020204" pitchFamily="34" charset="0"/>
              <a:ea typeface="Microsoft YaHei" panose="020B0503020204020204" charset="-122"/>
            </a:endParaRPr>
          </a:p>
          <a:p>
            <a:pPr marL="660400" lvl="1" indent="-203200" defTabSz="457200">
              <a:spcBef>
                <a:spcPts val="500"/>
              </a:spcBef>
              <a:buSzPct val="45000"/>
              <a:buFont typeface="Wingdings" panose="05000000000000000000" pitchFamily="2" charset="2"/>
              <a:buChar char=""/>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en-US" altLang="en-US" sz="1800" baseline="0" dirty="0" err="1">
                <a:solidFill>
                  <a:srgbClr val="000000"/>
                </a:solidFill>
                <a:latin typeface="Arial" panose="020B0604020202020204" pitchFamily="34" charset="0"/>
                <a:ea typeface="Microsoft YaHei" panose="020B0503020204020204" charset="-122"/>
              </a:rPr>
              <a:t>Чи бачиш ти перешкоди для себе чи Команди Розробки, які могли б у</a:t>
            </a:r>
            <a:r>
              <a:rPr lang="uk-UA" altLang="en-US" sz="1800" baseline="0" dirty="0" err="1">
                <a:solidFill>
                  <a:srgbClr val="000000"/>
                </a:solidFill>
                <a:latin typeface="Arial" panose="020B0604020202020204" pitchFamily="34" charset="0"/>
                <a:ea typeface="Microsoft YaHei" panose="020B0503020204020204" charset="-122"/>
              </a:rPr>
              <a:t>складнити</a:t>
            </a:r>
            <a:r>
              <a:rPr lang="en-US" altLang="en-US" sz="1800" baseline="0" dirty="0" err="1">
                <a:solidFill>
                  <a:srgbClr val="000000"/>
                </a:solidFill>
                <a:latin typeface="Arial" panose="020B0604020202020204" pitchFamily="34" charset="0"/>
                <a:ea typeface="Microsoft YaHei" panose="020B0503020204020204" charset="-122"/>
              </a:rPr>
              <a:t> досягнення Цілі Спринту? (Над вирішенням цих проблем методом фасилітації працює скрам-майстер. Зазвичай це рішення проходить за рамками щоденної наради та у складі осіб, </a:t>
            </a:r>
            <a:r>
              <a:rPr lang="uk-UA" altLang="en-US" sz="1800" baseline="0" dirty="0" err="1">
                <a:solidFill>
                  <a:srgbClr val="000000"/>
                </a:solidFill>
                <a:latin typeface="Arial" panose="020B0604020202020204" pitchFamily="34" charset="0"/>
                <a:ea typeface="Microsoft YaHei" panose="020B0503020204020204" charset="-122"/>
              </a:rPr>
              <a:t>                 </a:t>
            </a:r>
            <a:r>
              <a:rPr lang="en-US" altLang="en-US" sz="1800" baseline="0" dirty="0" err="1">
                <a:solidFill>
                  <a:srgbClr val="000000"/>
                </a:solidFill>
                <a:latin typeface="Arial" panose="020B0604020202020204" pitchFamily="34" charset="0"/>
                <a:ea typeface="Microsoft YaHei" panose="020B0503020204020204" charset="-122"/>
              </a:rPr>
              <a:t>як</a:t>
            </a:r>
            <a:r>
              <a:rPr lang="uk-UA" altLang="en-US" sz="1800" baseline="0" dirty="0" err="1">
                <a:solidFill>
                  <a:srgbClr val="000000"/>
                </a:solidFill>
                <a:latin typeface="Arial" panose="020B0604020202020204" pitchFamily="34" charset="0"/>
                <a:ea typeface="Microsoft YaHei" panose="020B0503020204020204" charset="-122"/>
              </a:rPr>
              <a:t>их </a:t>
            </a:r>
            <a:r>
              <a:rPr lang="en-US" altLang="en-US" sz="1800" baseline="0" dirty="0" err="1">
                <a:solidFill>
                  <a:srgbClr val="000000"/>
                </a:solidFill>
                <a:latin typeface="Arial" panose="020B0604020202020204" pitchFamily="34" charset="0"/>
                <a:ea typeface="Microsoft YaHei" panose="020B0503020204020204" charset="-122"/>
              </a:rPr>
              <a:t>безпосередньо </a:t>
            </a:r>
            <a:r>
              <a:rPr lang="uk-UA" altLang="en-US" sz="1800" baseline="0" dirty="0" err="1">
                <a:solidFill>
                  <a:srgbClr val="000000"/>
                </a:solidFill>
                <a:latin typeface="Arial" panose="020B0604020202020204" pitchFamily="34" charset="0"/>
                <a:ea typeface="Microsoft YaHei" panose="020B0503020204020204" charset="-122"/>
              </a:rPr>
              <a:t>стосується дана</a:t>
            </a:r>
            <a:r>
              <a:rPr lang="en-US" altLang="en-US" sz="1800" baseline="0" dirty="0" err="1">
                <a:solidFill>
                  <a:srgbClr val="000000"/>
                </a:solidFill>
                <a:latin typeface="Arial" panose="020B0604020202020204" pitchFamily="34" charset="0"/>
                <a:ea typeface="Microsoft YaHei" panose="020B0503020204020204" charset="-122"/>
              </a:rPr>
              <a:t> перешкод</a:t>
            </a:r>
            <a:r>
              <a:rPr lang="uk-UA" altLang="en-US" sz="1800" baseline="0" dirty="0" err="1">
                <a:solidFill>
                  <a:srgbClr val="000000"/>
                </a:solidFill>
                <a:latin typeface="Arial" panose="020B0604020202020204" pitchFamily="34" charset="0"/>
                <a:ea typeface="Microsoft YaHei" panose="020B0503020204020204" charset="-122"/>
              </a:rPr>
              <a:t>а</a:t>
            </a:r>
            <a:r>
              <a:rPr lang="en-US" altLang="en-US" sz="1800" baseline="0" dirty="0" err="1">
                <a:solidFill>
                  <a:srgbClr val="000000"/>
                </a:solidFill>
                <a:latin typeface="Arial" panose="020B0604020202020204" pitchFamily="34" charset="0"/>
                <a:ea typeface="Microsoft YaHei" panose="020B0503020204020204" charset="-122"/>
              </a:rPr>
              <a:t>)</a:t>
            </a:r>
            <a:endParaRPr lang="en-US" altLang="en-US" sz="1800" baseline="0" dirty="0" err="1">
              <a:solidFill>
                <a:srgbClr val="000000"/>
              </a:solidFill>
              <a:latin typeface="Arial" panose="020B0604020202020204" pitchFamily="34" charset="0"/>
              <a:ea typeface="Microsoft YaHei" panose="020B0503020204020204" charset="-122"/>
            </a:endParaRPr>
          </a:p>
        </p:txBody>
      </p:sp>
    </p:spTree>
  </p:cSld>
  <p:clrMapOvr>
    <a:masterClrMapping/>
  </p:clrMapOvr>
  <p:transition spd="med"/>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1" name="Text Box 56320"/>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ru-RU" altLang="x-none" sz="4200" dirty="0" err="1">
                <a:solidFill>
                  <a:srgbClr val="FFFFFF"/>
                </a:solidFill>
              </a:rPr>
              <a:t>Скрам над скрамом</a:t>
            </a:r>
            <a:endParaRPr lang="ru-RU" altLang="x-none" sz="4200" dirty="0" err="1">
              <a:solidFill>
                <a:srgbClr val="FFFFFF"/>
              </a:solidFill>
            </a:endParaRPr>
          </a:p>
        </p:txBody>
      </p:sp>
      <p:sp>
        <p:nvSpPr>
          <p:cNvPr id="56322" name="Text Box 56321"/>
          <p:cNvSpPr txBox="1"/>
          <p:nvPr/>
        </p:nvSpPr>
        <p:spPr>
          <a:xfrm>
            <a:off x="395288" y="1385888"/>
            <a:ext cx="8208962" cy="4419600"/>
          </a:xfrm>
          <a:prstGeom prst="rect">
            <a:avLst/>
          </a:prstGeom>
          <a:noFill/>
          <a:ln w="9525">
            <a:noFill/>
          </a:ln>
        </p:spPr>
        <p:txBody>
          <a:bodyPr wrap="square" lIns="91440" tIns="45720" rIns="91440" bIns="45720" anchor="t" anchorCtr="0"/>
          <a:p>
            <a:pPr marL="209550" indent="-203200" defTabSz="457200">
              <a:spcBef>
                <a:spcPts val="500"/>
              </a:spcBef>
              <a:buClrTx/>
              <a:buSzPct val="45000"/>
              <a:buFontTx/>
              <a:buNone/>
              <a:tabLst>
                <a:tab pos="209550" algn="l"/>
                <a:tab pos="666750" algn="l"/>
                <a:tab pos="1123950" algn="l"/>
                <a:tab pos="1581150" algn="l"/>
                <a:tab pos="2038350" algn="l"/>
                <a:tab pos="2495550" algn="l"/>
                <a:tab pos="2952750" algn="l"/>
                <a:tab pos="3409950" algn="l"/>
                <a:tab pos="3867150" algn="l"/>
                <a:tab pos="4324350" algn="l"/>
                <a:tab pos="4781550" algn="l"/>
                <a:tab pos="5238750" algn="l"/>
                <a:tab pos="5695950" algn="l"/>
                <a:tab pos="6153150" algn="l"/>
                <a:tab pos="6610350" algn="l"/>
                <a:tab pos="7067550" algn="l"/>
                <a:tab pos="7524750" algn="l"/>
                <a:tab pos="7981950" algn="l"/>
                <a:tab pos="8439150" algn="l"/>
                <a:tab pos="8896350" algn="l"/>
                <a:tab pos="9353550" algn="l"/>
              </a:tabLst>
            </a:pPr>
            <a:r>
              <a:rPr lang="en-US" altLang="en-US" dirty="0" err="1">
                <a:solidFill>
                  <a:srgbClr val="000000"/>
                </a:solidFill>
              </a:rPr>
              <a:t>Якщо колектив більше 9 осіб, то команда більша за рекомендований SCRUM розмір. Для розширення SCRUM запропоновано методику </a:t>
            </a:r>
            <a:r>
              <a:rPr lang="en-US" altLang="en-US" b="1" dirty="0" err="1">
                <a:solidFill>
                  <a:srgbClr val="000000"/>
                </a:solidFill>
              </a:rPr>
              <a:t>SCRUM of SCRUMs</a:t>
            </a:r>
            <a:r>
              <a:rPr lang="en-US" altLang="en-US" dirty="0" err="1">
                <a:solidFill>
                  <a:srgbClr val="000000"/>
                </a:solidFill>
              </a:rPr>
              <a:t>. Тоді колектив розбивається на кілька команд SCRUM. У кожній свій скрам-майстер і скрам-власник продукту. Команди проводять Daily SCRUM. Після щоденної скрам-наради проводиться мітинг SCRUM of SCRUMs. Це означає </a:t>
            </a:r>
            <a:r>
              <a:rPr lang="uk-UA" altLang="en-US" dirty="0" err="1">
                <a:solidFill>
                  <a:srgbClr val="000000"/>
                </a:solidFill>
              </a:rPr>
              <a:t>наступне: в</a:t>
            </a:r>
            <a:r>
              <a:rPr lang="en-US" altLang="en-US" dirty="0" err="1">
                <a:solidFill>
                  <a:srgbClr val="000000"/>
                </a:solidFill>
              </a:rPr>
              <a:t>ід кожної команди обирається представник. Кожній групі призначається головний скрам-майстер (Chief SCRUM Master) та головний скрам-власник продукту (Chief SCRUM Product Owner) з числа скрам-майстрів та скрам-власників продукту, що беруть участь у про</a:t>
            </a:r>
            <a:r>
              <a:rPr lang="uk-UA" altLang="en-US" dirty="0" err="1">
                <a:solidFill>
                  <a:srgbClr val="000000"/>
                </a:solidFill>
              </a:rPr>
              <a:t>є</a:t>
            </a:r>
            <a:r>
              <a:rPr lang="en-US" altLang="en-US" dirty="0" err="1">
                <a:solidFill>
                  <a:srgbClr val="000000"/>
                </a:solidFill>
              </a:rPr>
              <a:t>кті. Команда представників із різних SCRUM Team називається SCRUM of SCRUMs Team. У такому складі проводять 15-хвилинний стоячий скрам-мітинг - SCRUM of SCRUMs </a:t>
            </a:r>
            <a:r>
              <a:rPr lang="uk-UA" altLang="en-US" dirty="0" err="1">
                <a:solidFill>
                  <a:srgbClr val="000000"/>
                </a:solidFill>
              </a:rPr>
              <a:t>  </a:t>
            </a:r>
            <a:r>
              <a:rPr lang="en-US" altLang="en-US" dirty="0" err="1">
                <a:solidFill>
                  <a:srgbClr val="000000"/>
                </a:solidFill>
              </a:rPr>
              <a:t>або Meta SCRUM. Додається 4 питання - </a:t>
            </a:r>
            <a:r>
              <a:rPr lang="en-US" altLang="en-US" b="1" dirty="0" err="1">
                <a:solidFill>
                  <a:srgbClr val="000000"/>
                </a:solidFill>
              </a:rPr>
              <a:t>Чи потрібно іншій команді зробити щось із завдань вашої команди для того, щоб допомогти їй досягти мети спринту?</a:t>
            </a:r>
            <a:endParaRPr lang="en-US" altLang="en-US" b="1" dirty="0" err="1">
              <a:solidFill>
                <a:srgbClr val="000000"/>
              </a:solidFill>
            </a:endParaRPr>
          </a:p>
        </p:txBody>
      </p:sp>
    </p:spTree>
  </p:cSld>
  <p:clrMapOvr>
    <a:masterClrMapping/>
  </p:clrMapOvr>
  <p:transition spd="med"/>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5" name="Text Box 573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ru-RU" sz="4200" dirty="0" err="1">
                <a:solidFill>
                  <a:srgbClr val="FFFFFF"/>
                </a:solidFill>
              </a:rPr>
              <a:t>Sprint Review</a:t>
            </a:r>
            <a:endParaRPr lang="en-US" altLang="ru-RU" sz="4200" dirty="0" err="1">
              <a:solidFill>
                <a:srgbClr val="FFFFFF"/>
              </a:solidFill>
            </a:endParaRPr>
          </a:p>
        </p:txBody>
      </p:sp>
      <p:sp>
        <p:nvSpPr>
          <p:cNvPr id="57346" name="Text Box 57345"/>
          <p:cNvSpPr txBox="1"/>
          <p:nvPr/>
        </p:nvSpPr>
        <p:spPr>
          <a:xfrm>
            <a:off x="395288" y="1385888"/>
            <a:ext cx="8208962" cy="4419600"/>
          </a:xfrm>
          <a:prstGeom prst="rect">
            <a:avLst/>
          </a:prstGeom>
          <a:noFill/>
          <a:ln w="9525">
            <a:noFill/>
          </a:ln>
        </p:spPr>
        <p:txBody>
          <a:bodyPr wrap="square" lIns="91440" tIns="45720" rIns="91440" bIns="45720" anchor="t" anchorCtr="0"/>
          <a:p>
            <a:pPr marL="203200" indent="-203200" defTabSz="457200">
              <a:spcBef>
                <a:spcPts val="500"/>
              </a:spcBef>
              <a:buSzPct val="45000"/>
              <a:buFont typeface="Wingdings" panose="05000000000000000000" pitchFamily="2" charset="2"/>
              <a:buChar char=""/>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en-US" altLang="en-US" sz="2300" dirty="0" err="1">
                <a:solidFill>
                  <a:srgbClr val="000000"/>
                </a:solidFill>
              </a:rPr>
              <a:t>Проводиться в кінці спринту</a:t>
            </a:r>
            <a:endParaRPr lang="en-US" altLang="en-US" sz="2300" dirty="0" err="1">
              <a:solidFill>
                <a:srgbClr val="000000"/>
              </a:solidFill>
            </a:endParaRPr>
          </a:p>
          <a:p>
            <a:pPr marL="203200" indent="-203200" defTabSz="457200">
              <a:spcBef>
                <a:spcPts val="500"/>
              </a:spcBef>
              <a:buSzPct val="45000"/>
              <a:buFont typeface="Wingdings" panose="05000000000000000000" pitchFamily="2" charset="2"/>
              <a:buChar char=""/>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en-US" altLang="en-US" sz="2300" dirty="0" err="1">
                <a:solidFill>
                  <a:srgbClr val="000000"/>
                </a:solidFill>
              </a:rPr>
              <a:t>Команда демонструє приріст інкременту продукту всім зацікавленим особам</a:t>
            </a:r>
            <a:endParaRPr lang="en-US" altLang="en-US" sz="2300" dirty="0" err="1">
              <a:solidFill>
                <a:srgbClr val="000000"/>
              </a:solidFill>
            </a:endParaRPr>
          </a:p>
          <a:p>
            <a:pPr marL="203200" indent="-203200" defTabSz="457200">
              <a:spcBef>
                <a:spcPts val="500"/>
              </a:spcBef>
              <a:buSzPct val="45000"/>
              <a:buFont typeface="Wingdings" panose="05000000000000000000" pitchFamily="2" charset="2"/>
              <a:buChar char=""/>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en-US" altLang="en-US" sz="2300" dirty="0" err="1">
                <a:solidFill>
                  <a:srgbClr val="000000"/>
                </a:solidFill>
              </a:rPr>
              <a:t>Усі члени команди беруть участь у демонстрації (одна людина на демонстрацію або кожен показує, що зробив за спринт)</a:t>
            </a:r>
            <a:endParaRPr lang="en-US" altLang="en-US" sz="2300" dirty="0" err="1">
              <a:solidFill>
                <a:srgbClr val="000000"/>
              </a:solidFill>
            </a:endParaRPr>
          </a:p>
          <a:p>
            <a:pPr marL="203200" indent="-203200" defTabSz="457200">
              <a:spcBef>
                <a:spcPts val="500"/>
              </a:spcBef>
              <a:buSzPct val="45000"/>
              <a:buFont typeface="Wingdings" panose="05000000000000000000" pitchFamily="2" charset="2"/>
              <a:buChar char=""/>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en-US" altLang="en-US" sz="2300" dirty="0" err="1">
                <a:solidFill>
                  <a:srgbClr val="000000"/>
                </a:solidFill>
              </a:rPr>
              <a:t>Не можна демонструвати незавершену функціональність</a:t>
            </a:r>
            <a:endParaRPr lang="en-US" altLang="en-US" sz="2300" dirty="0" err="1">
              <a:solidFill>
                <a:srgbClr val="000000"/>
              </a:solidFill>
            </a:endParaRPr>
          </a:p>
          <a:p>
            <a:pPr marL="203200" indent="-203200" defTabSz="457200">
              <a:spcBef>
                <a:spcPts val="500"/>
              </a:spcBef>
              <a:buSzPct val="45000"/>
              <a:buFont typeface="Wingdings" panose="05000000000000000000" pitchFamily="2" charset="2"/>
              <a:buChar char=""/>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en-US" altLang="en-US" sz="2300" dirty="0" err="1">
                <a:solidFill>
                  <a:srgbClr val="000000"/>
                </a:solidFill>
              </a:rPr>
              <a:t>Обмежена чотирма годинами залежно від тривалості ітерації та приросту функціональності продукту</a:t>
            </a:r>
            <a:endParaRPr lang="en-US" altLang="en-US" sz="2300" dirty="0" err="1">
              <a:solidFill>
                <a:srgbClr val="000000"/>
              </a:solidFill>
            </a:endParaRPr>
          </a:p>
        </p:txBody>
      </p:sp>
    </p:spTree>
  </p:cSld>
  <p:clrMapOvr>
    <a:masterClrMapping/>
  </p:clrMapOvr>
  <p:transition spd="med"/>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69" name="Text Box 58368"/>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4200" dirty="0" err="1">
                <a:solidFill>
                  <a:srgbClr val="FFFFFF"/>
                </a:solidFill>
              </a:rPr>
              <a:t>Ретроспективна нарада</a:t>
            </a:r>
            <a:endParaRPr lang="uk-UA" altLang="ru-RU" sz="4200" dirty="0" err="1">
              <a:solidFill>
                <a:srgbClr val="FFFFFF"/>
              </a:solidFill>
            </a:endParaRPr>
          </a:p>
        </p:txBody>
      </p:sp>
      <p:sp>
        <p:nvSpPr>
          <p:cNvPr id="58370" name="Text Box 58369"/>
          <p:cNvSpPr txBox="1"/>
          <p:nvPr/>
        </p:nvSpPr>
        <p:spPr>
          <a:xfrm>
            <a:off x="395288" y="1385888"/>
            <a:ext cx="8208962" cy="4419600"/>
          </a:xfrm>
          <a:prstGeom prst="rect">
            <a:avLst/>
          </a:prstGeom>
          <a:noFill/>
          <a:ln w="9525">
            <a:noFill/>
          </a:ln>
        </p:spPr>
        <p:txBody>
          <a:bodyPr wrap="square" lIns="91440" tIns="45720" rIns="91440" bIns="45720" anchor="t" anchorCtr="0"/>
          <a:p>
            <a:pPr marL="203200" indent="-203200" defTabSz="457200">
              <a:spcBef>
                <a:spcPts val="500"/>
              </a:spcBef>
              <a:buSzPct val="45000"/>
              <a:buFont typeface="Wingdings" panose="05000000000000000000" pitchFamily="2" charset="2"/>
              <a:buChar char=""/>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en-US" altLang="en-US" sz="2300" dirty="0" err="1">
                <a:solidFill>
                  <a:srgbClr val="000000"/>
                </a:solidFill>
              </a:rPr>
              <a:t>Проводиться в кінці спринту</a:t>
            </a:r>
            <a:endParaRPr lang="en-US" altLang="en-US" sz="2300" dirty="0" err="1">
              <a:solidFill>
                <a:srgbClr val="000000"/>
              </a:solidFill>
            </a:endParaRPr>
          </a:p>
          <a:p>
            <a:pPr marL="203200" indent="-203200" defTabSz="457200">
              <a:spcBef>
                <a:spcPts val="500"/>
              </a:spcBef>
              <a:buSzPct val="45000"/>
              <a:buFont typeface="Wingdings" panose="05000000000000000000" pitchFamily="2" charset="2"/>
              <a:buChar char=""/>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en-US" altLang="en-US" sz="2300" dirty="0" err="1">
                <a:solidFill>
                  <a:srgbClr val="000000"/>
                </a:solidFill>
              </a:rPr>
              <a:t>Члени скрам-команди, скрам-майстер і продукт-оунер висловлюють свою думку про минулий спринт</a:t>
            </a:r>
            <a:endParaRPr lang="en-US" altLang="en-US" sz="2300" dirty="0" err="1">
              <a:solidFill>
                <a:srgbClr val="000000"/>
              </a:solidFill>
            </a:endParaRPr>
          </a:p>
          <a:p>
            <a:pPr marL="203200" indent="-203200" defTabSz="457200">
              <a:spcBef>
                <a:spcPts val="500"/>
              </a:spcBef>
              <a:buSzPct val="45000"/>
              <a:buFont typeface="Wingdings" panose="05000000000000000000" pitchFamily="2" charset="2"/>
              <a:buChar char=""/>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en-US" altLang="en-US" sz="2300" dirty="0" err="1">
                <a:solidFill>
                  <a:srgbClr val="000000"/>
                </a:solidFill>
              </a:rPr>
              <a:t>Скрам-майстер ставить два питання всім членам команди:</a:t>
            </a:r>
            <a:endParaRPr lang="en-US" altLang="en-US" sz="2300" dirty="0" err="1">
              <a:solidFill>
                <a:srgbClr val="000000"/>
              </a:solidFill>
            </a:endParaRPr>
          </a:p>
          <a:p>
            <a:pPr marL="660400" lvl="1" indent="-203200" defTabSz="457200">
              <a:spcBef>
                <a:spcPts val="500"/>
              </a:spcBef>
              <a:buSzPct val="45000"/>
              <a:buFont typeface="Wingdings" panose="05000000000000000000" pitchFamily="2" charset="2"/>
              <a:buChar char=""/>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en-US" altLang="en-US" sz="2300" dirty="0" err="1">
                <a:solidFill>
                  <a:srgbClr val="000000"/>
                </a:solidFill>
              </a:rPr>
              <a:t>Що було зроблено добре в минулому спринті?</a:t>
            </a:r>
            <a:endParaRPr lang="en-US" altLang="en-US" sz="2300" dirty="0" err="1">
              <a:solidFill>
                <a:srgbClr val="000000"/>
              </a:solidFill>
            </a:endParaRPr>
          </a:p>
          <a:p>
            <a:pPr marL="660400" lvl="1" indent="-203200" defTabSz="457200">
              <a:spcBef>
                <a:spcPts val="500"/>
              </a:spcBef>
              <a:buSzPct val="45000"/>
              <a:buFont typeface="Wingdings" panose="05000000000000000000" pitchFamily="2" charset="2"/>
              <a:buChar char=""/>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en-US" altLang="en-US" sz="2300" dirty="0" err="1">
                <a:solidFill>
                  <a:srgbClr val="000000"/>
                </a:solidFill>
              </a:rPr>
              <a:t>Що треба покращити у наступному?</a:t>
            </a:r>
            <a:endParaRPr lang="en-US" altLang="en-US" sz="2300" dirty="0" err="1">
              <a:solidFill>
                <a:srgbClr val="000000"/>
              </a:solidFill>
            </a:endParaRPr>
          </a:p>
          <a:p>
            <a:pPr marL="203200" indent="-203200" defTabSz="457200">
              <a:spcBef>
                <a:spcPts val="500"/>
              </a:spcBef>
              <a:buSzPct val="45000"/>
              <a:buFont typeface="Wingdings" panose="05000000000000000000" pitchFamily="2" charset="2"/>
              <a:buChar char=""/>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en-US" altLang="en-US" sz="2300" dirty="0" err="1">
                <a:solidFill>
                  <a:srgbClr val="000000"/>
                </a:solidFill>
              </a:rPr>
              <a:t>Виконують поліпшення процесу розробки (обговорюють варіанти вирішення проблем, фіксують вдалі рішення)</a:t>
            </a:r>
            <a:endParaRPr lang="en-US" altLang="en-US" sz="2300" dirty="0" err="1">
              <a:solidFill>
                <a:srgbClr val="000000"/>
              </a:solidFill>
            </a:endParaRPr>
          </a:p>
          <a:p>
            <a:pPr marL="203200" indent="-203200" defTabSz="457200">
              <a:spcBef>
                <a:spcPts val="500"/>
              </a:spcBef>
              <a:buSzPct val="45000"/>
              <a:buFont typeface="Wingdings" panose="05000000000000000000" pitchFamily="2" charset="2"/>
              <a:buChar char=""/>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en-US" altLang="en-US" sz="2300" dirty="0" err="1">
                <a:solidFill>
                  <a:srgbClr val="000000"/>
                </a:solidFill>
              </a:rPr>
              <a:t>Обмежена чотирма годинами для спринту будь-якої довжини</a:t>
            </a:r>
            <a:endParaRPr lang="en-US" altLang="en-US" sz="2300" dirty="0" err="1">
              <a:solidFill>
                <a:srgbClr val="000000"/>
              </a:solidFill>
            </a:endParaRPr>
          </a:p>
        </p:txBody>
      </p:sp>
    </p:spTree>
  </p:cSld>
  <p:clrMapOvr>
    <a:masterClrMapping/>
  </p:clrMapOvr>
  <p:transition spd="med"/>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3" name="Text Box 59392"/>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4200" dirty="0" err="1">
                <a:solidFill>
                  <a:srgbClr val="FFFFFF"/>
                </a:solidFill>
              </a:rPr>
              <a:t>Сертифікація учасників</a:t>
            </a:r>
            <a:endParaRPr lang="uk-UA" altLang="ru-RU" sz="4200" dirty="0" err="1">
              <a:solidFill>
                <a:srgbClr val="FFFFFF"/>
              </a:solidFill>
            </a:endParaRPr>
          </a:p>
        </p:txBody>
      </p:sp>
      <p:sp>
        <p:nvSpPr>
          <p:cNvPr id="59394" name="Text Box 59393"/>
          <p:cNvSpPr txBox="1"/>
          <p:nvPr/>
        </p:nvSpPr>
        <p:spPr>
          <a:xfrm>
            <a:off x="395288" y="1385888"/>
            <a:ext cx="8208962" cy="4419600"/>
          </a:xfrm>
          <a:prstGeom prst="rect">
            <a:avLst/>
          </a:prstGeom>
          <a:noFill/>
          <a:ln w="9525">
            <a:noFill/>
          </a:ln>
        </p:spPr>
        <p:txBody>
          <a:bodyPr wrap="square" lIns="91440" tIns="45720" rIns="91440" bIns="45720" anchor="t" anchorCtr="0"/>
          <a:p>
            <a:pPr marL="203200" indent="-203200" defTabSz="457200">
              <a:spcBef>
                <a:spcPts val="500"/>
              </a:spcBef>
              <a:buSzPct val="45000"/>
              <a:buFont typeface="Wingdings" panose="05000000000000000000" pitchFamily="2" charset="2"/>
              <a:buChar char=""/>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en-US" altLang="en-US" sz="1900" dirty="0" err="1">
                <a:solidFill>
                  <a:srgbClr val="000000"/>
                </a:solidFill>
              </a:rPr>
              <a:t>У SCRUM найважливішу роль відіграють кваліфіковані SCRUM Master, SCRUM Product Owner та SCRUM Team. Засновники SCRUM та сертифіковані тренери проводять навчальні курси з подальшою сертифікацією фахівців із SCRUM. Обов'язкову основу для всіх становлять навички скрам-майстра. Далі йде спеціалізація </a:t>
            </a:r>
            <a:r>
              <a:rPr lang="uk-UA" altLang="en-US" sz="1900" dirty="0" err="1">
                <a:solidFill>
                  <a:srgbClr val="000000"/>
                </a:solidFill>
              </a:rPr>
              <a:t>                  </a:t>
            </a:r>
            <a:r>
              <a:rPr lang="en-US" altLang="en-US" sz="1900" dirty="0" err="1">
                <a:solidFill>
                  <a:srgbClr val="000000"/>
                </a:solidFill>
              </a:rPr>
              <a:t>на SCRUM Master, SCRUM Product Owner та SCRUM Developer (член SCRUM Team). </a:t>
            </a:r>
            <a:r>
              <a:rPr lang="uk-UA" altLang="en-US" sz="1900" dirty="0" err="1">
                <a:solidFill>
                  <a:srgbClr val="000000"/>
                </a:solidFill>
              </a:rPr>
              <a:t>Тим, хто успішно здає іспит,</a:t>
            </a:r>
            <a:r>
              <a:rPr lang="en-US" altLang="en-US" sz="1900" dirty="0" err="1">
                <a:solidFill>
                  <a:srgbClr val="000000"/>
                </a:solidFill>
              </a:rPr>
              <a:t> видаються сертифікати: Certified SCRUM Master, Certified SCRUM Product Owner, Certified SCRUM Developer, Professional SCRUM Master, Professional SCRUM Product Owner, Professional SCRUM Developer.</a:t>
            </a:r>
            <a:endParaRPr lang="en-US" altLang="en-US" sz="1900" dirty="0" err="1">
              <a:solidFill>
                <a:srgbClr val="000000"/>
              </a:solidFill>
            </a:endParaRPr>
          </a:p>
          <a:p>
            <a:pPr marL="203200" indent="-203200" defTabSz="457200">
              <a:spcBef>
                <a:spcPts val="500"/>
              </a:spcBef>
              <a:buSzPct val="45000"/>
              <a:buFont typeface="Wingdings" panose="05000000000000000000" pitchFamily="2" charset="2"/>
              <a:buChar char=""/>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en-US" altLang="en-US" sz="1900" dirty="0" err="1">
                <a:solidFill>
                  <a:srgbClr val="000000"/>
                </a:solidFill>
              </a:rPr>
              <a:t>Можливе подальше навчання з видачею сертифіката </a:t>
            </a:r>
            <a:r>
              <a:rPr lang="uk-UA" altLang="en-US" sz="1900" dirty="0" err="1">
                <a:solidFill>
                  <a:srgbClr val="000000"/>
                </a:solidFill>
              </a:rPr>
              <a:t>              </a:t>
            </a:r>
            <a:r>
              <a:rPr lang="en-US" altLang="en-US" sz="1900" dirty="0" err="1">
                <a:solidFill>
                  <a:srgbClr val="000000"/>
                </a:solidFill>
              </a:rPr>
              <a:t>Certified SCRUM Trainer або Professional SCRUM Trainer.</a:t>
            </a:r>
            <a:endParaRPr lang="en-US" altLang="en-US" sz="1900" dirty="0" err="1">
              <a:solidFill>
                <a:srgbClr val="000000"/>
              </a:solidFill>
            </a:endParaRPr>
          </a:p>
          <a:p>
            <a:pPr marL="203200" indent="-203200" defTabSz="457200">
              <a:spcBef>
                <a:spcPts val="500"/>
              </a:spcBef>
              <a:buSzPct val="45000"/>
              <a:buFont typeface="Wingdings" panose="05000000000000000000" pitchFamily="2" charset="2"/>
              <a:buChar char=""/>
              <a:tabLst>
                <a:tab pos="203200" algn="l"/>
                <a:tab pos="660400" algn="l"/>
                <a:tab pos="1117600" algn="l"/>
                <a:tab pos="1574800" algn="l"/>
                <a:tab pos="2032000" algn="l"/>
                <a:tab pos="2489200" algn="l"/>
                <a:tab pos="2946400" algn="l"/>
                <a:tab pos="3403600" algn="l"/>
                <a:tab pos="3860800" algn="l"/>
                <a:tab pos="4318000" algn="l"/>
                <a:tab pos="4775200" algn="l"/>
                <a:tab pos="5232400" algn="l"/>
                <a:tab pos="5689600" algn="l"/>
                <a:tab pos="6146800" algn="l"/>
                <a:tab pos="6604000" algn="l"/>
                <a:tab pos="7061200" algn="l"/>
                <a:tab pos="7518400" algn="l"/>
                <a:tab pos="7975600" algn="l"/>
                <a:tab pos="8432800" algn="l"/>
                <a:tab pos="8890000" algn="l"/>
                <a:tab pos="9347200" algn="l"/>
              </a:tabLst>
            </a:pPr>
            <a:r>
              <a:rPr lang="en-US" altLang="en-US" sz="1900" dirty="0" err="1">
                <a:solidFill>
                  <a:srgbClr val="000000"/>
                </a:solidFill>
              </a:rPr>
              <a:t>У рамках сертифікації виділяються тренери скрам-майстрів, скрам-власників продукту та скрам-розробників. Також є курси тренерів тренерів – train-the-trainer.</a:t>
            </a:r>
            <a:endParaRPr lang="en-US" altLang="en-US" sz="1900" dirty="0" err="1">
              <a:solidFill>
                <a:srgbClr val="000000"/>
              </a:solidFill>
            </a:endParaRPr>
          </a:p>
        </p:txBody>
      </p:sp>
    </p:spTree>
  </p:cSld>
  <p:clrMapOvr>
    <a:masterClrMapping/>
  </p:clrMapOvr>
  <p:transition spd="med"/>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7" name="Text Box 60416"/>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ru-RU" altLang="x-none" sz="4200" dirty="0" err="1">
                <a:solidFill>
                  <a:srgbClr val="FFFFFF"/>
                </a:solidFill>
              </a:rPr>
              <a:t>SCRUMbut</a:t>
            </a:r>
            <a:endParaRPr lang="ru-RU" altLang="x-none" sz="4200" dirty="0" err="1">
              <a:solidFill>
                <a:srgbClr val="FFFFFF"/>
              </a:solidFill>
            </a:endParaRPr>
          </a:p>
        </p:txBody>
      </p:sp>
      <p:sp>
        <p:nvSpPr>
          <p:cNvPr id="60418" name="Text Box 60417"/>
          <p:cNvSpPr txBox="1"/>
          <p:nvPr/>
        </p:nvSpPr>
        <p:spPr>
          <a:xfrm>
            <a:off x="395288" y="1385888"/>
            <a:ext cx="8208962" cy="4419600"/>
          </a:xfrm>
          <a:prstGeom prst="rect">
            <a:avLst/>
          </a:prstGeom>
          <a:noFill/>
          <a:ln w="9525">
            <a:noFill/>
          </a:ln>
        </p:spPr>
        <p:txBody>
          <a:bodyPr wrap="square" lIns="91440" tIns="45720" rIns="91440" bIns="45720" anchor="t" anchorCtr="0"/>
          <a:p>
            <a:pPr marL="292100" indent="-285750" defTabSz="457200">
              <a:spcBef>
                <a:spcPts val="500"/>
              </a:spcBef>
              <a:buClrTx/>
              <a:buSzPct val="45000"/>
              <a:buFont typeface="Arial" panose="020B0604020202020204" pitchFamily="34" charset="0"/>
              <a:buChar char="•"/>
              <a:tabLst>
                <a:tab pos="209550" algn="l"/>
                <a:tab pos="666750" algn="l"/>
                <a:tab pos="1123950" algn="l"/>
                <a:tab pos="1581150" algn="l"/>
                <a:tab pos="2038350" algn="l"/>
                <a:tab pos="2495550" algn="l"/>
                <a:tab pos="2952750" algn="l"/>
                <a:tab pos="3409950" algn="l"/>
                <a:tab pos="3867150" algn="l"/>
                <a:tab pos="4324350" algn="l"/>
                <a:tab pos="4781550" algn="l"/>
                <a:tab pos="5238750" algn="l"/>
                <a:tab pos="5695950" algn="l"/>
                <a:tab pos="6153150" algn="l"/>
                <a:tab pos="6610350" algn="l"/>
                <a:tab pos="7067550" algn="l"/>
                <a:tab pos="7524750" algn="l"/>
                <a:tab pos="7981950" algn="l"/>
                <a:tab pos="8439150" algn="l"/>
                <a:tab pos="8896350" algn="l"/>
                <a:tab pos="9353550" algn="l"/>
              </a:tabLst>
            </a:pPr>
            <a:r>
              <a:rPr lang="en-US" altLang="en-US" sz="1700" b="1" baseline="0" dirty="0" err="1">
                <a:solidFill>
                  <a:srgbClr val="000000"/>
                </a:solidFill>
                <a:latin typeface="Arial" panose="020B0604020202020204" pitchFamily="34" charset="0"/>
                <a:ea typeface="Microsoft YaHei" panose="020B0503020204020204" charset="-122"/>
              </a:rPr>
              <a:t>SCRUMbut </a:t>
            </a:r>
            <a:r>
              <a:rPr lang="en-US" altLang="en-US" sz="1700" baseline="0" dirty="0" err="1">
                <a:solidFill>
                  <a:srgbClr val="000000"/>
                </a:solidFill>
                <a:latin typeface="Arial" panose="020B0604020202020204" pitchFamily="34" charset="0"/>
                <a:ea typeface="Microsoft YaHei" panose="020B0503020204020204" charset="-122"/>
              </a:rPr>
              <a:t>- це використання лише частини принципів SCRUM, зберігаючи переконаність у роботі з</a:t>
            </a:r>
            <a:r>
              <a:rPr lang="uk-UA" altLang="en-US" sz="1700" baseline="0" dirty="0" err="1">
                <a:solidFill>
                  <a:srgbClr val="000000"/>
                </a:solidFill>
                <a:latin typeface="Arial" panose="020B0604020202020204" pitchFamily="34" charset="0"/>
                <a:ea typeface="Microsoft YaHei" panose="020B0503020204020204" charset="-122"/>
              </a:rPr>
              <a:t>і</a:t>
            </a:r>
            <a:r>
              <a:rPr lang="en-US" altLang="en-US" sz="1700" baseline="0" dirty="0" err="1">
                <a:solidFill>
                  <a:srgbClr val="000000"/>
                </a:solidFill>
                <a:latin typeface="Arial" panose="020B0604020202020204" pitchFamily="34" charset="0"/>
                <a:ea typeface="Microsoft YaHei" panose="020B0503020204020204" charset="-122"/>
              </a:rPr>
              <a:t> SCRUM. Це не тільки не дозволяє повною мірою використовувати всі переваги SCRUM, а й погіршує продуктивність порівняно з повною відсутністю методології</a:t>
            </a:r>
            <a:r>
              <a:rPr lang="uk-UA" altLang="en-US" sz="1700" baseline="0" dirty="0" err="1">
                <a:solidFill>
                  <a:srgbClr val="000000"/>
                </a:solidFill>
                <a:latin typeface="Arial" panose="020B0604020202020204" pitchFamily="34" charset="0"/>
                <a:ea typeface="Microsoft YaHei" panose="020B0503020204020204" charset="-122"/>
              </a:rPr>
              <a:t>.</a:t>
            </a:r>
            <a:endParaRPr lang="en-US" altLang="en-US" sz="1700" baseline="0" dirty="0" err="1">
              <a:solidFill>
                <a:srgbClr val="000000"/>
              </a:solidFill>
              <a:latin typeface="Arial" panose="020B0604020202020204" pitchFamily="34" charset="0"/>
              <a:ea typeface="Microsoft YaHei" panose="020B0503020204020204" charset="-122"/>
            </a:endParaRPr>
          </a:p>
          <a:p>
            <a:pPr marL="292100" indent="-285750" defTabSz="457200">
              <a:spcBef>
                <a:spcPts val="500"/>
              </a:spcBef>
              <a:buClrTx/>
              <a:buSzPct val="45000"/>
              <a:buFont typeface="Arial" panose="020B0604020202020204" pitchFamily="34" charset="0"/>
              <a:buChar char="•"/>
              <a:tabLst>
                <a:tab pos="209550" algn="l"/>
                <a:tab pos="666750" algn="l"/>
                <a:tab pos="1123950" algn="l"/>
                <a:tab pos="1581150" algn="l"/>
                <a:tab pos="2038350" algn="l"/>
                <a:tab pos="2495550" algn="l"/>
                <a:tab pos="2952750" algn="l"/>
                <a:tab pos="3409950" algn="l"/>
                <a:tab pos="3867150" algn="l"/>
                <a:tab pos="4324350" algn="l"/>
                <a:tab pos="4781550" algn="l"/>
                <a:tab pos="5238750" algn="l"/>
                <a:tab pos="5695950" algn="l"/>
                <a:tab pos="6153150" algn="l"/>
                <a:tab pos="6610350" algn="l"/>
                <a:tab pos="7067550" algn="l"/>
                <a:tab pos="7524750" algn="l"/>
                <a:tab pos="7981950" algn="l"/>
                <a:tab pos="8439150" algn="l"/>
                <a:tab pos="8896350" algn="l"/>
                <a:tab pos="9353550" algn="l"/>
              </a:tabLst>
            </a:pPr>
            <a:r>
              <a:rPr lang="en-US" altLang="en-US" sz="1700" baseline="0" dirty="0" err="1">
                <a:solidFill>
                  <a:srgbClr val="000000"/>
                </a:solidFill>
                <a:latin typeface="Arial" panose="020B0604020202020204" pitchFamily="34" charset="0"/>
                <a:ea typeface="Microsoft YaHei" panose="020B0503020204020204" charset="-122"/>
              </a:rPr>
              <a:t>Дослідження показали, що SCRUMbut знижує щорічний прибуток з 400%</a:t>
            </a:r>
            <a:r>
              <a:rPr lang="uk-UA" altLang="en-US" sz="1700" baseline="0" dirty="0" err="1">
                <a:solidFill>
                  <a:srgbClr val="000000"/>
                </a:solidFill>
                <a:latin typeface="Arial" panose="020B0604020202020204" pitchFamily="34" charset="0"/>
                <a:ea typeface="Microsoft YaHei" panose="020B0503020204020204" charset="-122"/>
              </a:rPr>
              <a:t>   </a:t>
            </a:r>
            <a:r>
              <a:rPr lang="en-US" altLang="en-US" sz="1700" baseline="0" dirty="0" err="1">
                <a:solidFill>
                  <a:srgbClr val="000000"/>
                </a:solidFill>
                <a:latin typeface="Arial" panose="020B0604020202020204" pitchFamily="34" charset="0"/>
                <a:ea typeface="Microsoft YaHei" panose="020B0503020204020204" charset="-122"/>
              </a:rPr>
              <a:t>до 0-35%</a:t>
            </a:r>
            <a:endParaRPr lang="en-US" altLang="en-US" sz="1700" baseline="0" dirty="0" err="1">
              <a:solidFill>
                <a:srgbClr val="000000"/>
              </a:solidFill>
              <a:latin typeface="Arial" panose="020B0604020202020204" pitchFamily="34" charset="0"/>
              <a:ea typeface="Microsoft YaHei" panose="020B0503020204020204" charset="-122"/>
            </a:endParaRPr>
          </a:p>
          <a:p>
            <a:pPr marL="292100" indent="-285750" defTabSz="457200">
              <a:spcBef>
                <a:spcPts val="500"/>
              </a:spcBef>
              <a:buClrTx/>
              <a:buSzPct val="45000"/>
              <a:buFont typeface="Arial" panose="020B0604020202020204" pitchFamily="34" charset="0"/>
              <a:buChar char="•"/>
              <a:tabLst>
                <a:tab pos="209550" algn="l"/>
                <a:tab pos="666750" algn="l"/>
                <a:tab pos="1123950" algn="l"/>
                <a:tab pos="1581150" algn="l"/>
                <a:tab pos="2038350" algn="l"/>
                <a:tab pos="2495550" algn="l"/>
                <a:tab pos="2952750" algn="l"/>
                <a:tab pos="3409950" algn="l"/>
                <a:tab pos="3867150" algn="l"/>
                <a:tab pos="4324350" algn="l"/>
                <a:tab pos="4781550" algn="l"/>
                <a:tab pos="5238750" algn="l"/>
                <a:tab pos="5695950" algn="l"/>
                <a:tab pos="6153150" algn="l"/>
                <a:tab pos="6610350" algn="l"/>
                <a:tab pos="7067550" algn="l"/>
                <a:tab pos="7524750" algn="l"/>
                <a:tab pos="7981950" algn="l"/>
                <a:tab pos="8439150" algn="l"/>
                <a:tab pos="8896350" algn="l"/>
                <a:tab pos="9353550" algn="l"/>
              </a:tabLst>
            </a:pPr>
            <a:r>
              <a:rPr lang="en-US" altLang="en-US" sz="1700" baseline="0" dirty="0" err="1">
                <a:solidFill>
                  <a:srgbClr val="000000"/>
                </a:solidFill>
                <a:latin typeface="Arial" panose="020B0604020202020204" pitchFamily="34" charset="0"/>
                <a:ea typeface="Microsoft YaHei" panose="020B0503020204020204" charset="-122"/>
              </a:rPr>
              <a:t>Класичні приклади SCRUMbut:</a:t>
            </a:r>
            <a:endParaRPr lang="en-US" altLang="en-US" sz="1700" baseline="0" dirty="0" err="1">
              <a:solidFill>
                <a:srgbClr val="000000"/>
              </a:solidFill>
              <a:latin typeface="Arial" panose="020B0604020202020204" pitchFamily="34" charset="0"/>
              <a:ea typeface="Microsoft YaHei" panose="020B0503020204020204" charset="-122"/>
            </a:endParaRPr>
          </a:p>
          <a:p>
            <a:pPr marL="749300" lvl="1" indent="-285750" defTabSz="457200">
              <a:spcBef>
                <a:spcPts val="500"/>
              </a:spcBef>
              <a:buClrTx/>
              <a:buSzPct val="45000"/>
              <a:buFont typeface="Arial" panose="020B0604020202020204" pitchFamily="34" charset="0"/>
              <a:buChar char="•"/>
              <a:tabLst>
                <a:tab pos="209550" algn="l"/>
                <a:tab pos="666750" algn="l"/>
                <a:tab pos="1123950" algn="l"/>
                <a:tab pos="1581150" algn="l"/>
                <a:tab pos="2038350" algn="l"/>
                <a:tab pos="2495550" algn="l"/>
                <a:tab pos="2952750" algn="l"/>
                <a:tab pos="3409950" algn="l"/>
                <a:tab pos="3867150" algn="l"/>
                <a:tab pos="4324350" algn="l"/>
                <a:tab pos="4781550" algn="l"/>
                <a:tab pos="5238750" algn="l"/>
                <a:tab pos="5695950" algn="l"/>
                <a:tab pos="6153150" algn="l"/>
                <a:tab pos="6610350" algn="l"/>
                <a:tab pos="7067550" algn="l"/>
                <a:tab pos="7524750" algn="l"/>
                <a:tab pos="7981950" algn="l"/>
                <a:tab pos="8439150" algn="l"/>
                <a:tab pos="8896350" algn="l"/>
                <a:tab pos="9353550" algn="l"/>
              </a:tabLst>
            </a:pPr>
            <a:r>
              <a:rPr lang="en-US" altLang="en-US" sz="1700" baseline="0" dirty="0" err="1">
                <a:solidFill>
                  <a:srgbClr val="000000"/>
                </a:solidFill>
                <a:latin typeface="Arial" panose="020B0604020202020204" pitchFamily="34" charset="0"/>
                <a:ea typeface="Microsoft YaHei" panose="020B0503020204020204" charset="-122"/>
              </a:rPr>
              <a:t>Проведення Daily SCRUM не щодня</a:t>
            </a:r>
            <a:endParaRPr lang="en-US" altLang="en-US" sz="1700" baseline="0" dirty="0" err="1">
              <a:solidFill>
                <a:srgbClr val="000000"/>
              </a:solidFill>
              <a:latin typeface="Arial" panose="020B0604020202020204" pitchFamily="34" charset="0"/>
              <a:ea typeface="Microsoft YaHei" panose="020B0503020204020204" charset="-122"/>
            </a:endParaRPr>
          </a:p>
          <a:p>
            <a:pPr marL="749300" lvl="1" indent="-285750" defTabSz="457200">
              <a:spcBef>
                <a:spcPts val="500"/>
              </a:spcBef>
              <a:buClrTx/>
              <a:buSzPct val="45000"/>
              <a:buFont typeface="Arial" panose="020B0604020202020204" pitchFamily="34" charset="0"/>
              <a:buChar char="•"/>
              <a:tabLst>
                <a:tab pos="209550" algn="l"/>
                <a:tab pos="666750" algn="l"/>
                <a:tab pos="1123950" algn="l"/>
                <a:tab pos="1581150" algn="l"/>
                <a:tab pos="2038350" algn="l"/>
                <a:tab pos="2495550" algn="l"/>
                <a:tab pos="2952750" algn="l"/>
                <a:tab pos="3409950" algn="l"/>
                <a:tab pos="3867150" algn="l"/>
                <a:tab pos="4324350" algn="l"/>
                <a:tab pos="4781550" algn="l"/>
                <a:tab pos="5238750" algn="l"/>
                <a:tab pos="5695950" algn="l"/>
                <a:tab pos="6153150" algn="l"/>
                <a:tab pos="6610350" algn="l"/>
                <a:tab pos="7067550" algn="l"/>
                <a:tab pos="7524750" algn="l"/>
                <a:tab pos="7981950" algn="l"/>
                <a:tab pos="8439150" algn="l"/>
                <a:tab pos="8896350" algn="l"/>
                <a:tab pos="9353550" algn="l"/>
              </a:tabLst>
            </a:pPr>
            <a:r>
              <a:rPr lang="en-US" altLang="en-US" sz="1700" baseline="0" dirty="0" err="1">
                <a:solidFill>
                  <a:srgbClr val="000000"/>
                </a:solidFill>
                <a:latin typeface="Arial" panose="020B0604020202020204" pitchFamily="34" charset="0"/>
                <a:ea typeface="Microsoft YaHei" panose="020B0503020204020204" charset="-122"/>
              </a:rPr>
              <a:t>Відсутність ретроспектив</a:t>
            </a:r>
            <a:endParaRPr lang="en-US" altLang="en-US" sz="1700" baseline="0" dirty="0" err="1">
              <a:solidFill>
                <a:srgbClr val="000000"/>
              </a:solidFill>
              <a:latin typeface="Arial" panose="020B0604020202020204" pitchFamily="34" charset="0"/>
              <a:ea typeface="Microsoft YaHei" panose="020B0503020204020204" charset="-122"/>
            </a:endParaRPr>
          </a:p>
          <a:p>
            <a:pPr marL="749300" lvl="1" indent="-285750" defTabSz="457200">
              <a:spcBef>
                <a:spcPts val="500"/>
              </a:spcBef>
              <a:buClrTx/>
              <a:buSzPct val="45000"/>
              <a:buFont typeface="Arial" panose="020B0604020202020204" pitchFamily="34" charset="0"/>
              <a:buChar char="•"/>
              <a:tabLst>
                <a:tab pos="209550" algn="l"/>
                <a:tab pos="666750" algn="l"/>
                <a:tab pos="1123950" algn="l"/>
                <a:tab pos="1581150" algn="l"/>
                <a:tab pos="2038350" algn="l"/>
                <a:tab pos="2495550" algn="l"/>
                <a:tab pos="2952750" algn="l"/>
                <a:tab pos="3409950" algn="l"/>
                <a:tab pos="3867150" algn="l"/>
                <a:tab pos="4324350" algn="l"/>
                <a:tab pos="4781550" algn="l"/>
                <a:tab pos="5238750" algn="l"/>
                <a:tab pos="5695950" algn="l"/>
                <a:tab pos="6153150" algn="l"/>
                <a:tab pos="6610350" algn="l"/>
                <a:tab pos="7067550" algn="l"/>
                <a:tab pos="7524750" algn="l"/>
                <a:tab pos="7981950" algn="l"/>
                <a:tab pos="8439150" algn="l"/>
                <a:tab pos="8896350" algn="l"/>
                <a:tab pos="9353550" algn="l"/>
              </a:tabLst>
            </a:pPr>
            <a:r>
              <a:rPr lang="en-US" altLang="en-US" sz="1700" baseline="0" dirty="0" err="1">
                <a:solidFill>
                  <a:srgbClr val="000000"/>
                </a:solidFill>
                <a:latin typeface="Arial" panose="020B0604020202020204" pitchFamily="34" charset="0"/>
                <a:ea typeface="Microsoft YaHei" panose="020B0503020204020204" charset="-122"/>
              </a:rPr>
              <a:t>Спринти довші за 4 тижні</a:t>
            </a:r>
            <a:endParaRPr lang="en-US" altLang="en-US" sz="1700" baseline="0" dirty="0" err="1">
              <a:solidFill>
                <a:srgbClr val="000000"/>
              </a:solidFill>
              <a:latin typeface="Arial" panose="020B0604020202020204" pitchFamily="34" charset="0"/>
              <a:ea typeface="Microsoft YaHei" panose="020B0503020204020204" charset="-122"/>
            </a:endParaRPr>
          </a:p>
          <a:p>
            <a:pPr marL="749300" lvl="1" indent="-285750" defTabSz="457200">
              <a:spcBef>
                <a:spcPts val="500"/>
              </a:spcBef>
              <a:buClrTx/>
              <a:buSzPct val="45000"/>
              <a:buFont typeface="Arial" panose="020B0604020202020204" pitchFamily="34" charset="0"/>
              <a:buChar char="•"/>
              <a:tabLst>
                <a:tab pos="209550" algn="l"/>
                <a:tab pos="666750" algn="l"/>
                <a:tab pos="1123950" algn="l"/>
                <a:tab pos="1581150" algn="l"/>
                <a:tab pos="2038350" algn="l"/>
                <a:tab pos="2495550" algn="l"/>
                <a:tab pos="2952750" algn="l"/>
                <a:tab pos="3409950" algn="l"/>
                <a:tab pos="3867150" algn="l"/>
                <a:tab pos="4324350" algn="l"/>
                <a:tab pos="4781550" algn="l"/>
                <a:tab pos="5238750" algn="l"/>
                <a:tab pos="5695950" algn="l"/>
                <a:tab pos="6153150" algn="l"/>
                <a:tab pos="6610350" algn="l"/>
                <a:tab pos="7067550" algn="l"/>
                <a:tab pos="7524750" algn="l"/>
                <a:tab pos="7981950" algn="l"/>
                <a:tab pos="8439150" algn="l"/>
                <a:tab pos="8896350" algn="l"/>
                <a:tab pos="9353550" algn="l"/>
              </a:tabLst>
            </a:pPr>
            <a:r>
              <a:rPr lang="en-US" altLang="en-US" sz="1700" baseline="0" dirty="0" err="1">
                <a:solidFill>
                  <a:srgbClr val="000000"/>
                </a:solidFill>
                <a:latin typeface="Arial" panose="020B0604020202020204" pitchFamily="34" charset="0"/>
                <a:ea typeface="Microsoft YaHei" panose="020B0503020204020204" charset="-122"/>
              </a:rPr>
              <a:t>Відсутність Definition Of Done</a:t>
            </a:r>
            <a:endParaRPr lang="en-US" altLang="en-US" sz="1700" baseline="0" dirty="0" err="1">
              <a:solidFill>
                <a:srgbClr val="000000"/>
              </a:solidFill>
              <a:latin typeface="Arial" panose="020B0604020202020204" pitchFamily="34" charset="0"/>
              <a:ea typeface="Microsoft YaHei" panose="020B0503020204020204" charset="-122"/>
            </a:endParaRPr>
          </a:p>
        </p:txBody>
      </p:sp>
      <p:pic>
        <p:nvPicPr>
          <p:cNvPr id="60419" name="Picture 60418"/>
          <p:cNvPicPr>
            <a:picLocks noChangeAspect="1"/>
          </p:cNvPicPr>
          <p:nvPr/>
        </p:nvPicPr>
        <p:blipFill>
          <a:blip r:embed="rId1"/>
          <a:stretch>
            <a:fillRect/>
          </a:stretch>
        </p:blipFill>
        <p:spPr>
          <a:xfrm>
            <a:off x="4197350" y="4022725"/>
            <a:ext cx="5064125" cy="2847975"/>
          </a:xfrm>
          <a:prstGeom prst="rect">
            <a:avLst/>
          </a:prstGeom>
          <a:noFill/>
          <a:ln w="9525">
            <a:noFill/>
          </a:ln>
        </p:spPr>
      </p:pic>
    </p:spTree>
  </p:cSld>
  <p:clrMapOvr>
    <a:masterClrMapping/>
  </p:clrMapOvr>
  <p:transition spd="med"/>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1" name="Text Box 61440"/>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4200" dirty="0" err="1">
                <a:solidFill>
                  <a:srgbClr val="FFFFFF"/>
                </a:solidFill>
              </a:rPr>
              <a:t>Додаткова інформація</a:t>
            </a:r>
            <a:endParaRPr lang="uk-UA" altLang="ru-RU" sz="4200" dirty="0" err="1">
              <a:solidFill>
                <a:srgbClr val="FFFFFF"/>
              </a:solidFill>
            </a:endParaRPr>
          </a:p>
        </p:txBody>
      </p:sp>
      <p:sp>
        <p:nvSpPr>
          <p:cNvPr id="61442" name="Text Box 61441"/>
          <p:cNvSpPr txBox="1"/>
          <p:nvPr/>
        </p:nvSpPr>
        <p:spPr>
          <a:xfrm>
            <a:off x="395288" y="1385888"/>
            <a:ext cx="8208962" cy="4419600"/>
          </a:xfrm>
          <a:prstGeom prst="rect">
            <a:avLst/>
          </a:prstGeom>
          <a:noFill/>
          <a:ln w="9525">
            <a:noFill/>
          </a:ln>
        </p:spPr>
        <p:txBody>
          <a:bodyPr wrap="square" lIns="91440" tIns="45720" rIns="91440" bIns="45720" anchor="t" anchorCtr="0"/>
          <a:p>
            <a:pPr marL="421005" indent="-421005" defTabSz="457200">
              <a:spcBef>
                <a:spcPts val="500"/>
              </a:spcBef>
              <a:buSzPct val="45000"/>
              <a:buFont typeface="Wingdings" panose="05000000000000000000" pitchFamily="2" charset="2"/>
              <a:buChar char=""/>
              <a:tabLst>
                <a:tab pos="421005" algn="l"/>
                <a:tab pos="878205" algn="l"/>
                <a:tab pos="1335405" algn="l"/>
                <a:tab pos="1792605" algn="l"/>
                <a:tab pos="2249805" algn="l"/>
                <a:tab pos="2707005" algn="l"/>
                <a:tab pos="3164205" algn="l"/>
                <a:tab pos="3621405" algn="l"/>
                <a:tab pos="4078605" algn="l"/>
                <a:tab pos="4535805" algn="l"/>
                <a:tab pos="4993005" algn="l"/>
                <a:tab pos="5450205" algn="l"/>
                <a:tab pos="5907405" algn="l"/>
                <a:tab pos="6364605" algn="l"/>
                <a:tab pos="6821805" algn="l"/>
                <a:tab pos="7279005" algn="l"/>
                <a:tab pos="7736205" algn="l"/>
                <a:tab pos="8193405" algn="l"/>
                <a:tab pos="8650605" algn="l"/>
                <a:tab pos="9107805" algn="l"/>
                <a:tab pos="9565005" algn="l"/>
              </a:tabLst>
            </a:pPr>
            <a:r>
              <a:rPr lang="ru-RU" altLang="x-none" sz="3500" baseline="0" dirty="0" err="1">
                <a:solidFill>
                  <a:srgbClr val="CCCCFF"/>
                </a:solidFill>
                <a:latin typeface="Arial" panose="020B0604020202020204" pitchFamily="34" charset="0"/>
                <a:ea typeface="Microsoft YaHei" panose="020B0503020204020204" charset="-122"/>
                <a:hlinkClick r:id="rId1"/>
              </a:rPr>
              <a:t>https://habr.com/ru/post/464861/</a:t>
            </a:r>
            <a:endParaRPr lang="ru-RU" altLang="x-none" sz="3500" baseline="0" dirty="0" err="1">
              <a:solidFill>
                <a:srgbClr val="CCCCFF"/>
              </a:solidFill>
              <a:latin typeface="Arial" panose="020B0604020202020204" pitchFamily="34" charset="0"/>
              <a:ea typeface="Microsoft YaHei" panose="020B0503020204020204" charset="-122"/>
              <a:hlinkClick r:id="rId1"/>
            </a:endParaRPr>
          </a:p>
          <a:p>
            <a:pPr marL="421005" indent="-421005" defTabSz="457200">
              <a:spcBef>
                <a:spcPts val="500"/>
              </a:spcBef>
              <a:buSzPct val="45000"/>
              <a:buFont typeface="Wingdings" panose="05000000000000000000" pitchFamily="2" charset="2"/>
              <a:buChar char=""/>
              <a:tabLst>
                <a:tab pos="421005" algn="l"/>
                <a:tab pos="878205" algn="l"/>
                <a:tab pos="1335405" algn="l"/>
                <a:tab pos="1792605" algn="l"/>
                <a:tab pos="2249805" algn="l"/>
                <a:tab pos="2707005" algn="l"/>
                <a:tab pos="3164205" algn="l"/>
                <a:tab pos="3621405" algn="l"/>
                <a:tab pos="4078605" algn="l"/>
                <a:tab pos="4535805" algn="l"/>
                <a:tab pos="4993005" algn="l"/>
                <a:tab pos="5450205" algn="l"/>
                <a:tab pos="5907405" algn="l"/>
                <a:tab pos="6364605" algn="l"/>
                <a:tab pos="6821805" algn="l"/>
                <a:tab pos="7279005" algn="l"/>
                <a:tab pos="7736205" algn="l"/>
                <a:tab pos="8193405" algn="l"/>
                <a:tab pos="8650605" algn="l"/>
                <a:tab pos="9107805" algn="l"/>
                <a:tab pos="9565005" algn="l"/>
              </a:tabLst>
            </a:pPr>
            <a:r>
              <a:rPr lang="ru-RU" altLang="x-none" sz="3500" baseline="0" dirty="0" err="1">
                <a:solidFill>
                  <a:srgbClr val="CCCCFF"/>
                </a:solidFill>
                <a:latin typeface="Arial" panose="020B0604020202020204" pitchFamily="34" charset="0"/>
                <a:ea typeface="Microsoft YaHei" panose="020B0503020204020204" charset="-122"/>
                <a:hlinkClick r:id="rId2"/>
              </a:rPr>
              <a:t>https://habr.com/ru/post/247319/</a:t>
            </a:r>
            <a:endParaRPr lang="ru-RU" altLang="x-none" sz="3500" baseline="0" dirty="0" err="1">
              <a:solidFill>
                <a:srgbClr val="CCCCFF"/>
              </a:solidFill>
              <a:latin typeface="Arial" panose="020B0604020202020204" pitchFamily="34" charset="0"/>
              <a:ea typeface="Microsoft YaHei" panose="020B0503020204020204" charset="-122"/>
              <a:hlinkClick r:id="rId2"/>
            </a:endParaRPr>
          </a:p>
          <a:p>
            <a:pPr marL="421005" indent="-421005" defTabSz="457200">
              <a:spcBef>
                <a:spcPts val="500"/>
              </a:spcBef>
              <a:buSzPct val="45000"/>
              <a:buFont typeface="Wingdings" panose="05000000000000000000" pitchFamily="2" charset="2"/>
              <a:buChar char=""/>
              <a:tabLst>
                <a:tab pos="421005" algn="l"/>
                <a:tab pos="878205" algn="l"/>
                <a:tab pos="1335405" algn="l"/>
                <a:tab pos="1792605" algn="l"/>
                <a:tab pos="2249805" algn="l"/>
                <a:tab pos="2707005" algn="l"/>
                <a:tab pos="3164205" algn="l"/>
                <a:tab pos="3621405" algn="l"/>
                <a:tab pos="4078605" algn="l"/>
                <a:tab pos="4535805" algn="l"/>
                <a:tab pos="4993005" algn="l"/>
                <a:tab pos="5450205" algn="l"/>
                <a:tab pos="5907405" algn="l"/>
                <a:tab pos="6364605" algn="l"/>
                <a:tab pos="6821805" algn="l"/>
                <a:tab pos="7279005" algn="l"/>
                <a:tab pos="7736205" algn="l"/>
                <a:tab pos="8193405" algn="l"/>
                <a:tab pos="8650605" algn="l"/>
                <a:tab pos="9107805" algn="l"/>
                <a:tab pos="9565005" algn="l"/>
              </a:tabLst>
            </a:pPr>
            <a:r>
              <a:rPr lang="ru-RU" altLang="x-none" sz="3500" baseline="0" dirty="0" err="1">
                <a:solidFill>
                  <a:srgbClr val="CCCCFF"/>
                </a:solidFill>
                <a:latin typeface="Arial" panose="020B0604020202020204" pitchFamily="34" charset="0"/>
                <a:ea typeface="Microsoft YaHei" panose="020B0503020204020204" charset="-122"/>
                <a:hlinkClick r:id="rId3"/>
              </a:rPr>
              <a:t>https://habr.com/ru/post/443914/</a:t>
            </a:r>
            <a:endParaRPr lang="ru-RU" altLang="x-none" sz="3500" baseline="0" dirty="0" err="1">
              <a:solidFill>
                <a:srgbClr val="CCCCFF"/>
              </a:solidFill>
              <a:latin typeface="Arial" panose="020B0604020202020204" pitchFamily="34" charset="0"/>
              <a:ea typeface="Microsoft YaHei" panose="020B0503020204020204" charset="-122"/>
              <a:hlinkClick r:id="rId3"/>
            </a:endParaRPr>
          </a:p>
          <a:p>
            <a:pPr marL="421005" indent="-421005" defTabSz="457200">
              <a:spcBef>
                <a:spcPts val="500"/>
              </a:spcBef>
              <a:buSzPct val="45000"/>
              <a:buFont typeface="Wingdings" panose="05000000000000000000" pitchFamily="2" charset="2"/>
              <a:buChar char=""/>
              <a:tabLst>
                <a:tab pos="421005" algn="l"/>
                <a:tab pos="878205" algn="l"/>
                <a:tab pos="1335405" algn="l"/>
                <a:tab pos="1792605" algn="l"/>
                <a:tab pos="2249805" algn="l"/>
                <a:tab pos="2707005" algn="l"/>
                <a:tab pos="3164205" algn="l"/>
                <a:tab pos="3621405" algn="l"/>
                <a:tab pos="4078605" algn="l"/>
                <a:tab pos="4535805" algn="l"/>
                <a:tab pos="4993005" algn="l"/>
                <a:tab pos="5450205" algn="l"/>
                <a:tab pos="5907405" algn="l"/>
                <a:tab pos="6364605" algn="l"/>
                <a:tab pos="6821805" algn="l"/>
                <a:tab pos="7279005" algn="l"/>
                <a:tab pos="7736205" algn="l"/>
                <a:tab pos="8193405" algn="l"/>
                <a:tab pos="8650605" algn="l"/>
                <a:tab pos="9107805" algn="l"/>
                <a:tab pos="9565005" algn="l"/>
              </a:tabLst>
            </a:pPr>
            <a:r>
              <a:rPr lang="ru-RU" altLang="x-none" sz="3500" baseline="0" dirty="0" err="1">
                <a:solidFill>
                  <a:srgbClr val="CCCCFF"/>
                </a:solidFill>
                <a:latin typeface="Arial" panose="020B0604020202020204" pitchFamily="34" charset="0"/>
                <a:ea typeface="Microsoft YaHei" panose="020B0503020204020204" charset="-122"/>
                <a:hlinkClick r:id="rId4"/>
              </a:rPr>
              <a:t>https://habr.com/ru/post/456196/</a:t>
            </a:r>
            <a:endParaRPr lang="ru-RU" altLang="x-none" sz="3500" baseline="0" dirty="0" err="1">
              <a:solidFill>
                <a:srgbClr val="CCCCFF"/>
              </a:solidFill>
              <a:latin typeface="Arial" panose="020B0604020202020204" pitchFamily="34" charset="0"/>
              <a:ea typeface="Microsoft YaHei" panose="020B0503020204020204" charset="-122"/>
              <a:hlinkClick r:id="rId4"/>
            </a:endParaRPr>
          </a:p>
          <a:p>
            <a:pPr marL="421005" indent="-421005" defTabSz="457200">
              <a:spcBef>
                <a:spcPts val="500"/>
              </a:spcBef>
              <a:buSzPct val="45000"/>
              <a:buFont typeface="Wingdings" panose="05000000000000000000" pitchFamily="2" charset="2"/>
              <a:buChar char=""/>
              <a:tabLst>
                <a:tab pos="421005" algn="l"/>
                <a:tab pos="878205" algn="l"/>
                <a:tab pos="1335405" algn="l"/>
                <a:tab pos="1792605" algn="l"/>
                <a:tab pos="2249805" algn="l"/>
                <a:tab pos="2707005" algn="l"/>
                <a:tab pos="3164205" algn="l"/>
                <a:tab pos="3621405" algn="l"/>
                <a:tab pos="4078605" algn="l"/>
                <a:tab pos="4535805" algn="l"/>
                <a:tab pos="4993005" algn="l"/>
                <a:tab pos="5450205" algn="l"/>
                <a:tab pos="5907405" algn="l"/>
                <a:tab pos="6364605" algn="l"/>
                <a:tab pos="6821805" algn="l"/>
                <a:tab pos="7279005" algn="l"/>
                <a:tab pos="7736205" algn="l"/>
                <a:tab pos="8193405" algn="l"/>
                <a:tab pos="8650605" algn="l"/>
                <a:tab pos="9107805" algn="l"/>
                <a:tab pos="9565005" algn="l"/>
              </a:tabLst>
            </a:pPr>
            <a:r>
              <a:rPr lang="ru-RU" altLang="x-none" sz="3500" baseline="0" dirty="0" err="1">
                <a:solidFill>
                  <a:srgbClr val="CCCCFF"/>
                </a:solidFill>
                <a:latin typeface="Arial" panose="020B0604020202020204" pitchFamily="34" charset="0"/>
                <a:ea typeface="Microsoft YaHei" panose="020B0503020204020204" charset="-122"/>
                <a:hlinkClick r:id="rId5"/>
              </a:rPr>
              <a:t>https://habr.com/ru/post/499160/</a:t>
            </a:r>
            <a:endParaRPr lang="ru-RU" altLang="x-none" sz="3500" baseline="0" dirty="0" err="1">
              <a:solidFill>
                <a:srgbClr val="CCCCFF"/>
              </a:solidFill>
              <a:latin typeface="Arial" panose="020B0604020202020204" pitchFamily="34" charset="0"/>
              <a:ea typeface="Microsoft YaHei" panose="020B0503020204020204" charset="-122"/>
              <a:hlinkClick r:id="rId5"/>
            </a:endParaRPr>
          </a:p>
          <a:p>
            <a:pPr marL="421005" indent="-421005" defTabSz="457200">
              <a:spcBef>
                <a:spcPts val="500"/>
              </a:spcBef>
              <a:buClrTx/>
              <a:buSzPct val="45000"/>
              <a:buFontTx/>
              <a:buNone/>
              <a:tabLst>
                <a:tab pos="421005" algn="l"/>
                <a:tab pos="878205" algn="l"/>
                <a:tab pos="1335405" algn="l"/>
                <a:tab pos="1792605" algn="l"/>
                <a:tab pos="2249805" algn="l"/>
                <a:tab pos="2707005" algn="l"/>
                <a:tab pos="3164205" algn="l"/>
                <a:tab pos="3621405" algn="l"/>
                <a:tab pos="4078605" algn="l"/>
                <a:tab pos="4535805" algn="l"/>
                <a:tab pos="4993005" algn="l"/>
                <a:tab pos="5450205" algn="l"/>
                <a:tab pos="5907405" algn="l"/>
                <a:tab pos="6364605" algn="l"/>
                <a:tab pos="6821805" algn="l"/>
                <a:tab pos="7279005" algn="l"/>
                <a:tab pos="7736205" algn="l"/>
                <a:tab pos="8193405" algn="l"/>
                <a:tab pos="8650605" algn="l"/>
                <a:tab pos="9107805" algn="l"/>
                <a:tab pos="9565005" algn="l"/>
              </a:tabLst>
            </a:pPr>
            <a:endParaRPr lang="ru-RU" altLang="x-none" sz="3500" baseline="0" dirty="0" err="1">
              <a:solidFill>
                <a:srgbClr val="CCCCFF"/>
              </a:solidFill>
              <a:latin typeface="Arial" panose="020B0604020202020204" pitchFamily="34" charset="0"/>
              <a:ea typeface="Microsoft YaHei" panose="020B0503020204020204" charset="-122"/>
            </a:endParaRPr>
          </a:p>
        </p:txBody>
      </p:sp>
    </p:spTree>
  </p:cSld>
  <p:clrMapOvr>
    <a:masterClrMapping/>
  </p:clrMapOvr>
  <p:transition spd="med"/>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3" name="Text Box 64512"/>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4200" dirty="0" err="1">
                <a:solidFill>
                  <a:srgbClr val="FFFFFF"/>
                </a:solidFill>
              </a:rPr>
              <a:t>ДЗ</a:t>
            </a:r>
            <a:endParaRPr lang="uk-UA" altLang="ru-RU" sz="4200" dirty="0" err="1">
              <a:solidFill>
                <a:srgbClr val="FFFFFF"/>
              </a:solidFill>
            </a:endParaRPr>
          </a:p>
        </p:txBody>
      </p:sp>
      <p:sp>
        <p:nvSpPr>
          <p:cNvPr id="64514" name="Text Box 64513"/>
          <p:cNvSpPr txBox="1"/>
          <p:nvPr/>
        </p:nvSpPr>
        <p:spPr>
          <a:xfrm>
            <a:off x="395288" y="1430338"/>
            <a:ext cx="8208962" cy="4419600"/>
          </a:xfrm>
          <a:prstGeom prst="rect">
            <a:avLst/>
          </a:prstGeom>
          <a:noFill/>
          <a:ln w="9525">
            <a:noFill/>
          </a:ln>
        </p:spPr>
        <p:txBody>
          <a:bodyPr wrap="square" lIns="91440" tIns="45720" rIns="91440" bIns="45720" anchor="t" anchorCtr="0"/>
          <a:p>
            <a:pPr marL="421005" indent="-421005" defTabSz="457200">
              <a:spcBef>
                <a:spcPts val="500"/>
              </a:spcBef>
              <a:buSzPct val="45000"/>
              <a:buFont typeface="Wingdings" panose="05000000000000000000" pitchFamily="2" charset="2"/>
              <a:buChar char=""/>
              <a:tabLst>
                <a:tab pos="421005" algn="l"/>
                <a:tab pos="878205" algn="l"/>
                <a:tab pos="1335405" algn="l"/>
                <a:tab pos="1792605" algn="l"/>
                <a:tab pos="2249805" algn="l"/>
                <a:tab pos="2707005" algn="l"/>
                <a:tab pos="3164205" algn="l"/>
                <a:tab pos="3621405" algn="l"/>
                <a:tab pos="4078605" algn="l"/>
                <a:tab pos="4535805" algn="l"/>
                <a:tab pos="4993005" algn="l"/>
                <a:tab pos="5450205" algn="l"/>
                <a:tab pos="5907405" algn="l"/>
                <a:tab pos="6364605" algn="l"/>
                <a:tab pos="6821805" algn="l"/>
                <a:tab pos="7279005" algn="l"/>
                <a:tab pos="7736205" algn="l"/>
                <a:tab pos="8193405" algn="l"/>
                <a:tab pos="8650605" algn="l"/>
                <a:tab pos="9107805" algn="l"/>
                <a:tab pos="9565005" algn="l"/>
              </a:tabLst>
            </a:pPr>
            <a:r>
              <a:rPr lang="uk-UA" altLang="en-US" sz="1700" baseline="0" dirty="0" err="1">
                <a:solidFill>
                  <a:schemeClr val="tx1"/>
                </a:solidFill>
                <a:latin typeface="Arial" panose="020B0604020202020204" pitchFamily="34" charset="0"/>
                <a:ea typeface="Microsoft YaHei" panose="020B0503020204020204" charset="-122"/>
              </a:rPr>
              <a:t>З</a:t>
            </a:r>
            <a:r>
              <a:rPr lang="en-US" altLang="en-US" sz="1700" baseline="0" dirty="0" err="1">
                <a:solidFill>
                  <a:schemeClr val="tx1"/>
                </a:solidFill>
                <a:latin typeface="Arial" panose="020B0604020202020204" pitchFamily="34" charset="0"/>
                <a:ea typeface="Microsoft YaHei" panose="020B0503020204020204" charset="-122"/>
              </a:rPr>
              <a:t>ареєструватись на сайті </a:t>
            </a:r>
            <a:r>
              <a:rPr lang="en-US" altLang="en-US" sz="1700" b="1" baseline="0" dirty="0" err="1">
                <a:solidFill>
                  <a:schemeClr val="tx1"/>
                </a:solidFill>
                <a:latin typeface="Arial" panose="020B0604020202020204" pitchFamily="34" charset="0"/>
                <a:ea typeface="Microsoft YaHei" panose="020B0503020204020204" charset="-122"/>
                <a:hlinkClick r:id="rId1" tooltip="" action="ppaction://hlinkfile"/>
              </a:rPr>
              <a:t>https://www.atlassian.com/ru/software/jira</a:t>
            </a:r>
            <a:endParaRPr lang="en-US" altLang="en-US" sz="1700" baseline="0" dirty="0" err="1">
              <a:solidFill>
                <a:schemeClr val="tx1"/>
              </a:solidFill>
              <a:latin typeface="Arial" panose="020B0604020202020204" pitchFamily="34" charset="0"/>
              <a:ea typeface="Microsoft YaHei" panose="020B0503020204020204" charset="-122"/>
            </a:endParaRPr>
          </a:p>
          <a:p>
            <a:pPr marL="421005" indent="-421005" defTabSz="457200">
              <a:spcBef>
                <a:spcPts val="500"/>
              </a:spcBef>
              <a:buSzPct val="45000"/>
              <a:buFont typeface="Wingdings" panose="05000000000000000000" pitchFamily="2" charset="2"/>
              <a:buChar char=""/>
              <a:tabLst>
                <a:tab pos="421005" algn="l"/>
                <a:tab pos="878205" algn="l"/>
                <a:tab pos="1335405" algn="l"/>
                <a:tab pos="1792605" algn="l"/>
                <a:tab pos="2249805" algn="l"/>
                <a:tab pos="2707005" algn="l"/>
                <a:tab pos="3164205" algn="l"/>
                <a:tab pos="3621405" algn="l"/>
                <a:tab pos="4078605" algn="l"/>
                <a:tab pos="4535805" algn="l"/>
                <a:tab pos="4993005" algn="l"/>
                <a:tab pos="5450205" algn="l"/>
                <a:tab pos="5907405" algn="l"/>
                <a:tab pos="6364605" algn="l"/>
                <a:tab pos="6821805" algn="l"/>
                <a:tab pos="7279005" algn="l"/>
                <a:tab pos="7736205" algn="l"/>
                <a:tab pos="8193405" algn="l"/>
                <a:tab pos="8650605" algn="l"/>
                <a:tab pos="9107805" algn="l"/>
                <a:tab pos="9565005" algn="l"/>
              </a:tabLst>
            </a:pPr>
            <a:r>
              <a:rPr lang="en-US" altLang="en-US" sz="1700" baseline="0" dirty="0" err="1">
                <a:solidFill>
                  <a:schemeClr val="tx1"/>
                </a:solidFill>
                <a:latin typeface="Arial" panose="020B0604020202020204" pitchFamily="34" charset="0"/>
                <a:ea typeface="Microsoft YaHei" panose="020B0503020204020204" charset="-122"/>
              </a:rPr>
              <a:t>SCRUM-MASTER </a:t>
            </a:r>
            <a:r>
              <a:rPr lang="uk-UA" altLang="en-US" sz="1700" baseline="0" dirty="0" err="1">
                <a:solidFill>
                  <a:schemeClr val="tx1"/>
                </a:solidFill>
                <a:latin typeface="Arial" panose="020B0604020202020204" pitchFamily="34" charset="0"/>
                <a:ea typeface="Microsoft YaHei" panose="020B0503020204020204" charset="-122"/>
              </a:rPr>
              <a:t>команди </a:t>
            </a:r>
            <a:r>
              <a:rPr lang="en-US" altLang="en-US" sz="1700" baseline="0" dirty="0" err="1">
                <a:solidFill>
                  <a:schemeClr val="tx1"/>
                </a:solidFill>
                <a:latin typeface="Arial" panose="020B0604020202020204" pitchFamily="34" charset="0"/>
                <a:ea typeface="Microsoft YaHei" panose="020B0503020204020204" charset="-122"/>
              </a:rPr>
              <a:t>створює </a:t>
            </a:r>
            <a:r>
              <a:rPr lang="uk-UA" altLang="en-US" sz="1700" baseline="0" dirty="0" err="1">
                <a:solidFill>
                  <a:schemeClr val="tx1"/>
                </a:solidFill>
                <a:latin typeface="Arial" panose="020B0604020202020204" pitchFamily="34" charset="0"/>
                <a:ea typeface="Microsoft YaHei" panose="020B0503020204020204" charset="-122"/>
              </a:rPr>
              <a:t>проє</a:t>
            </a:r>
            <a:r>
              <a:rPr lang="en-US" altLang="en-US" sz="1700" baseline="0" dirty="0" err="1">
                <a:solidFill>
                  <a:schemeClr val="tx1"/>
                </a:solidFill>
                <a:latin typeface="Arial" panose="020B0604020202020204" pitchFamily="34" charset="0"/>
                <a:ea typeface="Microsoft YaHei" panose="020B0503020204020204" charset="-122"/>
              </a:rPr>
              <a:t>кт на цьому сайті</a:t>
            </a:r>
            <a:endParaRPr lang="en-US" altLang="en-US" sz="1700" baseline="0" dirty="0" err="1">
              <a:solidFill>
                <a:schemeClr val="tx1"/>
              </a:solidFill>
              <a:latin typeface="Arial" panose="020B0604020202020204" pitchFamily="34" charset="0"/>
              <a:ea typeface="Microsoft YaHei" panose="020B0503020204020204" charset="-122"/>
            </a:endParaRPr>
          </a:p>
          <a:p>
            <a:pPr marL="421005" indent="-421005" defTabSz="457200">
              <a:spcBef>
                <a:spcPts val="500"/>
              </a:spcBef>
              <a:buSzPct val="45000"/>
              <a:buFont typeface="Wingdings" panose="05000000000000000000" pitchFamily="2" charset="2"/>
              <a:buChar char=""/>
              <a:tabLst>
                <a:tab pos="421005" algn="l"/>
                <a:tab pos="878205" algn="l"/>
                <a:tab pos="1335405" algn="l"/>
                <a:tab pos="1792605" algn="l"/>
                <a:tab pos="2249805" algn="l"/>
                <a:tab pos="2707005" algn="l"/>
                <a:tab pos="3164205" algn="l"/>
                <a:tab pos="3621405" algn="l"/>
                <a:tab pos="4078605" algn="l"/>
                <a:tab pos="4535805" algn="l"/>
                <a:tab pos="4993005" algn="l"/>
                <a:tab pos="5450205" algn="l"/>
                <a:tab pos="5907405" algn="l"/>
                <a:tab pos="6364605" algn="l"/>
                <a:tab pos="6821805" algn="l"/>
                <a:tab pos="7279005" algn="l"/>
                <a:tab pos="7736205" algn="l"/>
                <a:tab pos="8193405" algn="l"/>
                <a:tab pos="8650605" algn="l"/>
                <a:tab pos="9107805" algn="l"/>
                <a:tab pos="9565005" algn="l"/>
              </a:tabLst>
            </a:pPr>
            <a:r>
              <a:rPr lang="en-US" altLang="en-US" sz="1700" baseline="0" dirty="0" err="1">
                <a:solidFill>
                  <a:schemeClr val="tx1"/>
                </a:solidFill>
                <a:latin typeface="Arial" panose="020B0604020202020204" pitchFamily="34" charset="0"/>
                <a:ea typeface="Microsoft YaHei" panose="020B0503020204020204" charset="-122"/>
              </a:rPr>
              <a:t>SCRUM-MASTER визначає назву своєї команди на сайті, запрошує решту учасників SCRUM-TEAM до своєї команди</a:t>
            </a:r>
            <a:endParaRPr lang="en-US" altLang="en-US" sz="1700" baseline="0" dirty="0" err="1">
              <a:solidFill>
                <a:schemeClr val="tx1"/>
              </a:solidFill>
              <a:latin typeface="Arial" panose="020B0604020202020204" pitchFamily="34" charset="0"/>
              <a:ea typeface="Microsoft YaHei" panose="020B0503020204020204" charset="-122"/>
            </a:endParaRPr>
          </a:p>
          <a:p>
            <a:pPr marL="421005" indent="-421005" defTabSz="457200">
              <a:spcBef>
                <a:spcPts val="500"/>
              </a:spcBef>
              <a:buSzPct val="45000"/>
              <a:buFont typeface="Wingdings" panose="05000000000000000000" pitchFamily="2" charset="2"/>
              <a:buChar char=""/>
              <a:tabLst>
                <a:tab pos="421005" algn="l"/>
                <a:tab pos="878205" algn="l"/>
                <a:tab pos="1335405" algn="l"/>
                <a:tab pos="1792605" algn="l"/>
                <a:tab pos="2249805" algn="l"/>
                <a:tab pos="2707005" algn="l"/>
                <a:tab pos="3164205" algn="l"/>
                <a:tab pos="3621405" algn="l"/>
                <a:tab pos="4078605" algn="l"/>
                <a:tab pos="4535805" algn="l"/>
                <a:tab pos="4993005" algn="l"/>
                <a:tab pos="5450205" algn="l"/>
                <a:tab pos="5907405" algn="l"/>
                <a:tab pos="6364605" algn="l"/>
                <a:tab pos="6821805" algn="l"/>
                <a:tab pos="7279005" algn="l"/>
                <a:tab pos="7736205" algn="l"/>
                <a:tab pos="8193405" algn="l"/>
                <a:tab pos="8650605" algn="l"/>
                <a:tab pos="9107805" algn="l"/>
                <a:tab pos="9565005" algn="l"/>
              </a:tabLst>
            </a:pPr>
            <a:r>
              <a:rPr lang="en-US" altLang="en-US" sz="1700" baseline="0" dirty="0" err="1">
                <a:solidFill>
                  <a:schemeClr val="tx1"/>
                </a:solidFill>
                <a:latin typeface="Arial" panose="020B0604020202020204" pitchFamily="34" charset="0"/>
                <a:ea typeface="Microsoft YaHei" panose="020B0503020204020204" charset="-122"/>
              </a:rPr>
              <a:t>Інші учасники SCRUM-TEAM приймають запрошення</a:t>
            </a:r>
            <a:endParaRPr lang="en-US" altLang="en-US" sz="1700" baseline="0" dirty="0" err="1">
              <a:solidFill>
                <a:schemeClr val="tx1"/>
              </a:solidFill>
              <a:latin typeface="Arial" panose="020B0604020202020204" pitchFamily="34" charset="0"/>
              <a:ea typeface="Microsoft YaHei" panose="020B0503020204020204" charset="-122"/>
            </a:endParaRPr>
          </a:p>
          <a:p>
            <a:pPr marL="421005" indent="-421005" defTabSz="457200">
              <a:spcBef>
                <a:spcPts val="500"/>
              </a:spcBef>
              <a:buSzPct val="45000"/>
              <a:buFont typeface="Wingdings" panose="05000000000000000000" pitchFamily="2" charset="2"/>
              <a:buChar char=""/>
              <a:tabLst>
                <a:tab pos="421005" algn="l"/>
                <a:tab pos="878205" algn="l"/>
                <a:tab pos="1335405" algn="l"/>
                <a:tab pos="1792605" algn="l"/>
                <a:tab pos="2249805" algn="l"/>
                <a:tab pos="2707005" algn="l"/>
                <a:tab pos="3164205" algn="l"/>
                <a:tab pos="3621405" algn="l"/>
                <a:tab pos="4078605" algn="l"/>
                <a:tab pos="4535805" algn="l"/>
                <a:tab pos="4993005" algn="l"/>
                <a:tab pos="5450205" algn="l"/>
                <a:tab pos="5907405" algn="l"/>
                <a:tab pos="6364605" algn="l"/>
                <a:tab pos="6821805" algn="l"/>
                <a:tab pos="7279005" algn="l"/>
                <a:tab pos="7736205" algn="l"/>
                <a:tab pos="8193405" algn="l"/>
                <a:tab pos="8650605" algn="l"/>
                <a:tab pos="9107805" algn="l"/>
                <a:tab pos="9565005" algn="l"/>
              </a:tabLst>
            </a:pPr>
            <a:r>
              <a:rPr lang="en-US" altLang="en-US" sz="1700" baseline="0" dirty="0" err="1">
                <a:solidFill>
                  <a:schemeClr val="tx1"/>
                </a:solidFill>
                <a:latin typeface="Arial" panose="020B0604020202020204" pitchFamily="34" charset="0"/>
                <a:ea typeface="Microsoft YaHei" panose="020B0503020204020204" charset="-122"/>
              </a:rPr>
              <a:t>SCRUM-MASTER наповнює беклог проекту на основі вимог до командного про</a:t>
            </a:r>
            <a:r>
              <a:rPr lang="uk-UA" altLang="en-US" sz="1700" baseline="0" dirty="0" err="1">
                <a:solidFill>
                  <a:schemeClr val="tx1"/>
                </a:solidFill>
                <a:latin typeface="Arial" panose="020B0604020202020204" pitchFamily="34" charset="0"/>
                <a:ea typeface="Microsoft YaHei" panose="020B0503020204020204" charset="-122"/>
              </a:rPr>
              <a:t>є</a:t>
            </a:r>
            <a:r>
              <a:rPr lang="en-US" altLang="en-US" sz="1700" baseline="0" dirty="0" err="1">
                <a:solidFill>
                  <a:schemeClr val="tx1"/>
                </a:solidFill>
                <a:latin typeface="Arial" panose="020B0604020202020204" pitchFamily="34" charset="0"/>
                <a:ea typeface="Microsoft YaHei" panose="020B0503020204020204" charset="-122"/>
              </a:rPr>
              <a:t>кту + додаткові пункти на розсуд SCRUM-TEAM</a:t>
            </a:r>
            <a:endParaRPr lang="en-US" altLang="en-US" sz="1700" baseline="0" dirty="0" err="1">
              <a:solidFill>
                <a:schemeClr val="tx1"/>
              </a:solidFill>
              <a:latin typeface="Arial" panose="020B0604020202020204" pitchFamily="34" charset="0"/>
              <a:ea typeface="Microsoft YaHei" panose="020B0503020204020204" charset="-122"/>
            </a:endParaRPr>
          </a:p>
          <a:p>
            <a:pPr marL="421005" indent="-421005" defTabSz="457200">
              <a:spcBef>
                <a:spcPts val="500"/>
              </a:spcBef>
              <a:buSzPct val="45000"/>
              <a:buFont typeface="Wingdings" panose="05000000000000000000" pitchFamily="2" charset="2"/>
              <a:buChar char=""/>
              <a:tabLst>
                <a:tab pos="421005" algn="l"/>
                <a:tab pos="878205" algn="l"/>
                <a:tab pos="1335405" algn="l"/>
                <a:tab pos="1792605" algn="l"/>
                <a:tab pos="2249805" algn="l"/>
                <a:tab pos="2707005" algn="l"/>
                <a:tab pos="3164205" algn="l"/>
                <a:tab pos="3621405" algn="l"/>
                <a:tab pos="4078605" algn="l"/>
                <a:tab pos="4535805" algn="l"/>
                <a:tab pos="4993005" algn="l"/>
                <a:tab pos="5450205" algn="l"/>
                <a:tab pos="5907405" algn="l"/>
                <a:tab pos="6364605" algn="l"/>
                <a:tab pos="6821805" algn="l"/>
                <a:tab pos="7279005" algn="l"/>
                <a:tab pos="7736205" algn="l"/>
                <a:tab pos="8193405" algn="l"/>
                <a:tab pos="8650605" algn="l"/>
                <a:tab pos="9107805" algn="l"/>
                <a:tab pos="9565005" algn="l"/>
              </a:tabLst>
            </a:pPr>
            <a:r>
              <a:rPr lang="en-US" altLang="en-US" sz="1700" baseline="0" dirty="0" err="1">
                <a:solidFill>
                  <a:schemeClr val="tx1"/>
                </a:solidFill>
                <a:latin typeface="Arial" panose="020B0604020202020204" pitchFamily="34" charset="0"/>
                <a:ea typeface="Microsoft YaHei" panose="020B0503020204020204" charset="-122"/>
              </a:rPr>
              <a:t>Команда спільно у своїй окремій </a:t>
            </a:r>
            <a:r>
              <a:rPr lang="uk-UA" altLang="en-US" sz="1700" baseline="0" dirty="0" err="1">
                <a:solidFill>
                  <a:schemeClr val="tx1"/>
                </a:solidFill>
                <a:latin typeface="Arial" panose="020B0604020202020204" pitchFamily="34" charset="0"/>
                <a:ea typeface="Microsoft YaHei" panose="020B0503020204020204" charset="-122"/>
              </a:rPr>
              <a:t>бесіді </a:t>
            </a:r>
            <a:r>
              <a:rPr lang="en-US" altLang="en-US" sz="1700" baseline="0" dirty="0" err="1">
                <a:solidFill>
                  <a:schemeClr val="tx1"/>
                </a:solidFill>
                <a:latin typeface="Arial" panose="020B0604020202020204" pitchFamily="34" charset="0"/>
                <a:ea typeface="Microsoft YaHei" panose="020B0503020204020204" charset="-122"/>
              </a:rPr>
              <a:t>телеграм/зборах т</a:t>
            </a:r>
            <a:r>
              <a:rPr lang="uk-UA" altLang="en-US" sz="1700" baseline="0" dirty="0" err="1">
                <a:solidFill>
                  <a:schemeClr val="tx1"/>
                </a:solidFill>
                <a:latin typeface="Arial" panose="020B0604020202020204" pitchFamily="34" charset="0"/>
                <a:ea typeface="Microsoft YaHei" panose="020B0503020204020204" charset="-122"/>
              </a:rPr>
              <a:t>і</a:t>
            </a:r>
            <a:r>
              <a:rPr lang="en-US" altLang="en-US" sz="1700" baseline="0" dirty="0" err="1">
                <a:solidFill>
                  <a:schemeClr val="tx1"/>
                </a:solidFill>
                <a:latin typeface="Arial" panose="020B0604020202020204" pitchFamily="34" charset="0"/>
                <a:ea typeface="Microsoft YaHei" panose="020B0503020204020204" charset="-122"/>
              </a:rPr>
              <a:t>мс проводить зустріч перед спринтом і оцінює складність завдань, якщо складність завдання вище 13 - вона розбивається на підзавдання</a:t>
            </a:r>
            <a:endParaRPr lang="en-US" altLang="en-US" sz="1700" baseline="0" dirty="0" err="1">
              <a:solidFill>
                <a:schemeClr val="tx1"/>
              </a:solidFill>
              <a:latin typeface="Arial" panose="020B0604020202020204" pitchFamily="34" charset="0"/>
              <a:ea typeface="Microsoft YaHei" panose="020B0503020204020204" charset="-122"/>
            </a:endParaRPr>
          </a:p>
          <a:p>
            <a:pPr marL="421005" indent="-421005" defTabSz="457200">
              <a:spcBef>
                <a:spcPts val="500"/>
              </a:spcBef>
              <a:buSzPct val="45000"/>
              <a:buFont typeface="Wingdings" panose="05000000000000000000" pitchFamily="2" charset="2"/>
              <a:buChar char=""/>
              <a:tabLst>
                <a:tab pos="421005" algn="l"/>
                <a:tab pos="878205" algn="l"/>
                <a:tab pos="1335405" algn="l"/>
                <a:tab pos="1792605" algn="l"/>
                <a:tab pos="2249805" algn="l"/>
                <a:tab pos="2707005" algn="l"/>
                <a:tab pos="3164205" algn="l"/>
                <a:tab pos="3621405" algn="l"/>
                <a:tab pos="4078605" algn="l"/>
                <a:tab pos="4535805" algn="l"/>
                <a:tab pos="4993005" algn="l"/>
                <a:tab pos="5450205" algn="l"/>
                <a:tab pos="5907405" algn="l"/>
                <a:tab pos="6364605" algn="l"/>
                <a:tab pos="6821805" algn="l"/>
                <a:tab pos="7279005" algn="l"/>
                <a:tab pos="7736205" algn="l"/>
                <a:tab pos="8193405" algn="l"/>
                <a:tab pos="8650605" algn="l"/>
                <a:tab pos="9107805" algn="l"/>
                <a:tab pos="9565005" algn="l"/>
              </a:tabLst>
            </a:pPr>
            <a:r>
              <a:rPr lang="en-US" altLang="en-US" sz="1700" baseline="0" dirty="0" err="1">
                <a:solidFill>
                  <a:schemeClr val="tx1"/>
                </a:solidFill>
                <a:latin typeface="Arial" panose="020B0604020202020204" pitchFamily="34" charset="0"/>
                <a:ea typeface="Microsoft YaHei" panose="020B0503020204020204" charset="-122"/>
              </a:rPr>
              <a:t>SCRUM-MASTER відкриває спринт тривалістю 1 тиждень, призначає виконавців завдань та години роботи в рамках першого спринту</a:t>
            </a:r>
            <a:endParaRPr lang="en-US" altLang="en-US" sz="1700" baseline="0" dirty="0" err="1">
              <a:solidFill>
                <a:schemeClr val="tx1"/>
              </a:solidFill>
              <a:latin typeface="Arial" panose="020B0604020202020204" pitchFamily="34" charset="0"/>
              <a:ea typeface="Microsoft YaHei" panose="020B0503020204020204" charset="-122"/>
            </a:endParaRPr>
          </a:p>
          <a:p>
            <a:pPr marL="421005" indent="-421005" defTabSz="457200">
              <a:spcBef>
                <a:spcPts val="500"/>
              </a:spcBef>
              <a:buSzPct val="45000"/>
              <a:buFont typeface="Wingdings" panose="05000000000000000000" pitchFamily="2" charset="2"/>
              <a:buChar char=""/>
              <a:tabLst>
                <a:tab pos="421005" algn="l"/>
                <a:tab pos="878205" algn="l"/>
                <a:tab pos="1335405" algn="l"/>
                <a:tab pos="1792605" algn="l"/>
                <a:tab pos="2249805" algn="l"/>
                <a:tab pos="2707005" algn="l"/>
                <a:tab pos="3164205" algn="l"/>
                <a:tab pos="3621405" algn="l"/>
                <a:tab pos="4078605" algn="l"/>
                <a:tab pos="4535805" algn="l"/>
                <a:tab pos="4993005" algn="l"/>
                <a:tab pos="5450205" algn="l"/>
                <a:tab pos="5907405" algn="l"/>
                <a:tab pos="6364605" algn="l"/>
                <a:tab pos="6821805" algn="l"/>
                <a:tab pos="7279005" algn="l"/>
                <a:tab pos="7736205" algn="l"/>
                <a:tab pos="8193405" algn="l"/>
                <a:tab pos="8650605" algn="l"/>
                <a:tab pos="9107805" algn="l"/>
                <a:tab pos="9565005" algn="l"/>
              </a:tabLst>
            </a:pPr>
            <a:r>
              <a:rPr lang="en-US" altLang="en-US" sz="1700" baseline="0" dirty="0" err="1">
                <a:solidFill>
                  <a:schemeClr val="tx1"/>
                </a:solidFill>
                <a:latin typeface="Arial" panose="020B0604020202020204" pitchFamily="34" charset="0"/>
                <a:ea typeface="Microsoft YaHei" panose="020B0503020204020204" charset="-122"/>
              </a:rPr>
              <a:t>Через тиждень, потрібно буде продемонструвати на сайті JIRA звіти BurnDown / Velocity, а також провести спільну міні-презентацію </a:t>
            </a:r>
            <a:r>
              <a:rPr lang="uk-UA" altLang="en-US" sz="1700" baseline="0" dirty="0" err="1">
                <a:solidFill>
                  <a:schemeClr val="tx1"/>
                </a:solidFill>
                <a:latin typeface="Arial" panose="020B0604020202020204" pitchFamily="34" charset="0"/>
                <a:ea typeface="Microsoft YaHei" panose="020B0503020204020204" charset="-122"/>
              </a:rPr>
              <a:t>                    </a:t>
            </a:r>
            <a:r>
              <a:rPr lang="en-US" altLang="en-US" sz="1700" baseline="0" dirty="0" err="1">
                <a:solidFill>
                  <a:schemeClr val="tx1"/>
                </a:solidFill>
                <a:latin typeface="Arial" panose="020B0604020202020204" pitchFamily="34" charset="0"/>
                <a:ea typeface="Microsoft YaHei" panose="020B0503020204020204" charset="-122"/>
              </a:rPr>
              <a:t>про виконану роботу + демонстрацію продукту</a:t>
            </a:r>
            <a:endParaRPr lang="en-US" altLang="en-US" sz="1700" baseline="0" dirty="0" err="1">
              <a:solidFill>
                <a:schemeClr val="tx1"/>
              </a:solidFill>
              <a:latin typeface="Arial" panose="020B0604020202020204" pitchFamily="34" charset="0"/>
              <a:ea typeface="Microsoft YaHei" panose="020B0503020204020204" charset="-122"/>
            </a:endParaRPr>
          </a:p>
        </p:txBody>
      </p:sp>
    </p:spTree>
  </p:cSld>
  <p:clrMapOvr>
    <a:masterClrMapping/>
  </p:clrMapOvr>
  <p:transition spd="med"/>
  <p:timing>
    <p:tnLst>
      <p:par>
        <p:cTn id="1" dur="indefinite" restart="never" nodeType="tmRoot"/>
      </p:par>
    </p:tnLst>
  </p:timing>
</p:sld>
</file>

<file path=ppt/theme/theme1.xml><?xml version="1.0" encoding="utf-8"?>
<a:theme xmlns:a="http://schemas.openxmlformats.org/drawingml/2006/mai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
        <a:dk1>
          <a:srgbClr val="FFFFFF"/>
        </a:dk1>
        <a:lt1>
          <a:srgbClr val="0000FF"/>
        </a:lt1>
        <a:dk2>
          <a:srgbClr val="FFFF00"/>
        </a:dk2>
        <a:lt2>
          <a:srgbClr val="000000"/>
        </a:lt2>
        <a:accent1>
          <a:srgbClr val="FF9900"/>
        </a:accent1>
        <a:accent2>
          <a:srgbClr val="00FFFF"/>
        </a:accent2>
        <a:accent3>
          <a:srgbClr val="AAAAFF"/>
        </a:accent3>
        <a:accent4>
          <a:srgbClr val="DCDCDC"/>
        </a:accent4>
        <a:accent5>
          <a:srgbClr val="FFCAAA"/>
        </a:accent5>
        <a:accent6>
          <a:srgbClr val="00E5E5"/>
        </a:accent6>
        <a:hlink>
          <a:srgbClr val="FF0000"/>
        </a:hlink>
        <a:folHlink>
          <a:srgbClr val="969696"/>
        </a:folHlink>
      </a:clrScheme>
      <a:clrMap bg1="lt1" tx1="dk1" bg2="lt2" tx2="dk2" accent1="accent1" accent2="accent2" accent3="accent3" accent4="accent4" accent5="accent5" accent6="accent6" hlink="hlink" folHlink="folHlink"/>
    </a:extraClrScheme>
    <a:extraClrScheme>
      <a:clrScheme name="">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2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27272"/>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9"/>
        </a:accent5>
        <a:accent6>
          <a:srgbClr val="0000E5"/>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BE5"/>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9E5B7"/>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
        <a:dk1>
          <a:srgbClr val="FFFFFF"/>
        </a:dk1>
        <a:lt1>
          <a:srgbClr val="0000FF"/>
        </a:lt1>
        <a:dk2>
          <a:srgbClr val="FFFF00"/>
        </a:dk2>
        <a:lt2>
          <a:srgbClr val="000000"/>
        </a:lt2>
        <a:accent1>
          <a:srgbClr val="FF9900"/>
        </a:accent1>
        <a:accent2>
          <a:srgbClr val="00FFFF"/>
        </a:accent2>
        <a:accent3>
          <a:srgbClr val="AAAAFF"/>
        </a:accent3>
        <a:accent4>
          <a:srgbClr val="DCDCDC"/>
        </a:accent4>
        <a:accent5>
          <a:srgbClr val="FFCAAA"/>
        </a:accent5>
        <a:accent6>
          <a:srgbClr val="00E5E5"/>
        </a:accent6>
        <a:hlink>
          <a:srgbClr val="FF0000"/>
        </a:hlink>
        <a:folHlink>
          <a:srgbClr val="969696"/>
        </a:folHlink>
      </a:clrScheme>
      <a:clrMap bg1="lt1" tx1="dk1" bg2="lt2" tx2="dk2" accent1="accent1" accent2="accent2" accent3="accent3" accent4="accent4" accent5="accent5" accent6="accent6" hlink="hlink" folHlink="folHlink"/>
    </a:extraClrScheme>
    <a:extraClrScheme>
      <a:clrScheme name="">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2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27272"/>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9"/>
        </a:accent5>
        <a:accent6>
          <a:srgbClr val="0000E5"/>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BE5"/>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9E5B7"/>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Документ" ma:contentTypeID="0x010100CB973167729B9844A7328B341F515C98" ma:contentTypeVersion="12" ma:contentTypeDescription="Создание документа." ma:contentTypeScope="" ma:versionID="d6ee7b10c34e512e5b0e393e1ebaa933">
  <xsd:schema xmlns:xsd="http://www.w3.org/2001/XMLSchema" xmlns:xs="http://www.w3.org/2001/XMLSchema" xmlns:p="http://schemas.microsoft.com/office/2006/metadata/properties" xmlns:ns2="d6ce6581-db8d-4dc6-8601-0a8e8076c593" xmlns:ns3="bbbe7e71-a692-48df-be9d-e5dc64190325" targetNamespace="http://schemas.microsoft.com/office/2006/metadata/properties" ma:root="true" ma:fieldsID="0b92462fc06dbb24bfa1325724e44fec" ns2:_="" ns3:_="">
    <xsd:import namespace="d6ce6581-db8d-4dc6-8601-0a8e8076c593"/>
    <xsd:import namespace="bbbe7e71-a692-48df-be9d-e5dc6419032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6ce6581-db8d-4dc6-8601-0a8e8076c59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Теги изображений" ma:readOnly="false" ma:fieldId="{5cf76f15-5ced-4ddc-b409-7134ff3c332f}" ma:taxonomyMulti="true" ma:sspId="168b2bcd-3960-4df8-afb5-1b38f073375d"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bbe7e71-a692-48df-be9d-e5dc64190325"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92df2618-9916-4c02-9aa1-42dcc332f6bf}" ma:internalName="TaxCatchAll" ma:showField="CatchAllData" ma:web="bbbe7e71-a692-48df-be9d-e5dc6419032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контента"/>
        <xsd:element ref="dc:title" minOccurs="0" maxOccurs="1" ma:index="4" ma:displayName="Назван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bbbe7e71-a692-48df-be9d-e5dc64190325" xsi:nil="true"/>
    <lcf76f155ced4ddcb4097134ff3c332f xmlns="d6ce6581-db8d-4dc6-8601-0a8e8076c593">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4801BD14-64FF-4375-B09D-1F50B0C38155}"/>
</file>

<file path=customXml/itemProps2.xml><?xml version="1.0" encoding="utf-8"?>
<ds:datastoreItem xmlns:ds="http://schemas.openxmlformats.org/officeDocument/2006/customXml" ds:itemID="{12687FBB-D37A-4CB7-AB25-6774F08895FB}"/>
</file>

<file path=customXml/itemProps3.xml><?xml version="1.0" encoding="utf-8"?>
<ds:datastoreItem xmlns:ds="http://schemas.openxmlformats.org/officeDocument/2006/customXml" ds:itemID="{9C932C5C-F4FD-4A94-BD48-B24DE89EC492}"/>
</file>

<file path=docProps/app.xml><?xml version="1.0" encoding="utf-8"?>
<Properties xmlns="http://schemas.openxmlformats.org/officeDocument/2006/extended-properties" xmlns:vt="http://schemas.openxmlformats.org/officeDocument/2006/docPropsVTypes">
  <TotalTime>0</TotalTime>
  <Words>28917</Words>
  <Application>WPS Presentation</Application>
  <PresentationFormat/>
  <Paragraphs>383</Paragraphs>
  <Slides>49</Slides>
  <Notes>0</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49</vt:i4>
      </vt:variant>
    </vt:vector>
  </HeadingPairs>
  <TitlesOfParts>
    <vt:vector size="59" baseType="lpstr">
      <vt:lpstr>Arial</vt:lpstr>
      <vt:lpstr>SimSun</vt:lpstr>
      <vt:lpstr>Wingdings</vt:lpstr>
      <vt:lpstr>Times New Roman</vt:lpstr>
      <vt:lpstr>Microsoft YaHei</vt:lpstr>
      <vt:lpstr>Arial Black</vt:lpstr>
      <vt:lpstr>Arial Unicode MS</vt:lpstr>
      <vt:lpstr>Arial Unicode MS</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Alex</cp:lastModifiedBy>
  <cp:revision>79</cp:revision>
  <dcterms:created xsi:type="dcterms:W3CDTF">2005-09-22T16:26:00Z</dcterms:created>
  <dcterms:modified xsi:type="dcterms:W3CDTF">2026-02-01T10:51:32Z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88202296253F431A9DC5B73F9C110873_12</vt:lpwstr>
  </property>
  <property fmtid="{D5CDD505-2E9C-101B-9397-08002B2CF9AE}" pid="3" name="KSOProductBuildVer">
    <vt:lpwstr>1033-12.2.0.23155</vt:lpwstr>
  </property>
  <property fmtid="{D5CDD505-2E9C-101B-9397-08002B2CF9AE}" pid="4" name="ContentTypeId">
    <vt:lpwstr>0x010100CB973167729B9844A7328B341F515C98</vt:lpwstr>
  </property>
</Properties>
</file>