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notesMasters/notesMaster1.xml" ContentType="application/vnd.openxmlformats-officedocument.presentationml.notesMaster+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ommentAuthors.xml" ContentType="application/vnd.openxmlformats-officedocument.presentationml.comme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notesMasterIdLst>
    <p:notesMasterId r:id="rId5"/>
  </p:notesMasterIdLst>
  <p:sldIdLst>
    <p:sldId id="256" r:id="rId4"/>
    <p:sldId id="815" r:id="rId6"/>
    <p:sldId id="880" r:id="rId7"/>
    <p:sldId id="890" r:id="rId8"/>
    <p:sldId id="891" r:id="rId9"/>
    <p:sldId id="889" r:id="rId10"/>
    <p:sldId id="892" r:id="rId11"/>
    <p:sldId id="893" r:id="rId12"/>
    <p:sldId id="894" r:id="rId13"/>
    <p:sldId id="895" r:id="rId14"/>
    <p:sldId id="896" r:id="rId15"/>
    <p:sldId id="897" r:id="rId16"/>
    <p:sldId id="898" r:id="rId17"/>
    <p:sldId id="899" r:id="rId18"/>
    <p:sldId id="881" r:id="rId19"/>
    <p:sldId id="882" r:id="rId20"/>
    <p:sldId id="900" r:id="rId21"/>
    <p:sldId id="901" r:id="rId22"/>
    <p:sldId id="902" r:id="rId23"/>
    <p:sldId id="903" r:id="rId24"/>
    <p:sldId id="908" r:id="rId25"/>
    <p:sldId id="904" r:id="rId26"/>
    <p:sldId id="879" r:id="rId27"/>
  </p:sldIdLst>
  <p:sldSz cx="9144000" cy="6858000" type="screen4x3"/>
  <p:notesSz cx="6858000" cy="9144000"/>
  <p:defaultTextStyle>
    <a:defPPr>
      <a:defRPr lang="en-GB"/>
    </a:defPPr>
    <a:lvl1pPr marL="0" lvl="0" indent="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b="0" i="0" u="none" kern="1200" baseline="0">
        <a:solidFill>
          <a:schemeClr val="bg1"/>
        </a:solidFill>
        <a:latin typeface="Arial" panose="020B0604020202020204" pitchFamily="34" charset="0"/>
        <a:ea typeface="Microsoft YaHei" panose="020B0503020204020204" charset="-122"/>
        <a:cs typeface="+mn-cs"/>
      </a:defRPr>
    </a:lvl1pPr>
    <a:lvl2pPr marL="742950" lvl="1" indent="-28575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defaultTextStyle>
  <p:extLst>
    <p:ext uri="{EFAFB233-063F-42B5-8137-9DF3F51BA10A}">
      <p15:sldGuideLst xmlns:p15="http://schemas.microsoft.com/office/powerpoint/2012/main">
        <p15:guide id="1" orient="horz" pos="2265" userDrawn="1">
          <p15:clr>
            <a:srgbClr val="A4A3A4"/>
          </p15:clr>
        </p15:guide>
        <p15:guide id="2" pos="28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780" y="-84"/>
      </p:cViewPr>
      <p:guideLst>
        <p:guide orient="horz" pos="2265"/>
        <p:guide pos="2878"/>
      </p:guideLst>
    </p:cSldViewPr>
  </p:slideViewPr>
  <p:outlineViewPr>
    <p:cViewPr varScale="1">
      <p:scale>
        <a:sx n="170" d="200"/>
        <a:sy n="170" d="200"/>
      </p:scale>
      <p:origin x="-780" y="-84"/>
    </p:cViewPr>
  </p:outline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8" Type="http://schemas.openxmlformats.org/officeDocument/2006/relationships/slide" Target="slides/slide14.xml"/><Relationship Id="rId13" Type="http://schemas.openxmlformats.org/officeDocument/2006/relationships/slide" Target="slides/slide9.xml"/><Relationship Id="rId3" Type="http://schemas.openxmlformats.org/officeDocument/2006/relationships/slideMaster" Target="slideMasters/slideMaster2.xml"/><Relationship Id="rId21" Type="http://schemas.openxmlformats.org/officeDocument/2006/relationships/slide" Target="slides/slide17.xml"/><Relationship Id="rId34" Type="http://schemas.openxmlformats.org/officeDocument/2006/relationships/customXml" Target="../customXml/item3.xml"/><Relationship Id="rId7" Type="http://schemas.openxmlformats.org/officeDocument/2006/relationships/slide" Target="slides/slide3.xml"/><Relationship Id="rId25" Type="http://schemas.openxmlformats.org/officeDocument/2006/relationships/slide" Target="slides/slide21.xml"/><Relationship Id="rId17" Type="http://schemas.openxmlformats.org/officeDocument/2006/relationships/slide" Target="slides/slide13.xml"/><Relationship Id="rId12" Type="http://schemas.openxmlformats.org/officeDocument/2006/relationships/slide" Target="slides/slide8.xml"/><Relationship Id="rId33" Type="http://schemas.openxmlformats.org/officeDocument/2006/relationships/customXml" Target="../customXml/item2.xml"/><Relationship Id="rId29" Type="http://schemas.openxmlformats.org/officeDocument/2006/relationships/viewProps" Target="viewProps.xml"/><Relationship Id="rId20" Type="http://schemas.openxmlformats.org/officeDocument/2006/relationships/slide" Target="slides/slide16.xml"/><Relationship Id="rId2" Type="http://schemas.openxmlformats.org/officeDocument/2006/relationships/theme" Target="theme/theme1.xml"/><Relationship Id="rId16" Type="http://schemas.openxmlformats.org/officeDocument/2006/relationships/slide" Target="slides/slide12.xml"/><Relationship Id="rId6" Type="http://schemas.openxmlformats.org/officeDocument/2006/relationships/slide" Target="slides/slide2.xml"/><Relationship Id="rId24" Type="http://schemas.openxmlformats.org/officeDocument/2006/relationships/slide" Target="slides/slide20.xml"/><Relationship Id="rId11" Type="http://schemas.openxmlformats.org/officeDocument/2006/relationships/slide" Target="slides/slide7.xml"/><Relationship Id="rId1" Type="http://schemas.openxmlformats.org/officeDocument/2006/relationships/slideMaster" Target="slideMasters/slideMaster1.xml"/><Relationship Id="rId32" Type="http://schemas.openxmlformats.org/officeDocument/2006/relationships/customXml" Target="../customXml/item1.xml"/><Relationship Id="rId5" Type="http://schemas.openxmlformats.org/officeDocument/2006/relationships/notesMaster" Target="notesMasters/notesMaster1.xml"/><Relationship Id="rId28" Type="http://schemas.openxmlformats.org/officeDocument/2006/relationships/presProps" Target="presProps.xml"/><Relationship Id="rId23" Type="http://schemas.openxmlformats.org/officeDocument/2006/relationships/slide" Target="slides/slide19.xml"/><Relationship Id="rId15" Type="http://schemas.openxmlformats.org/officeDocument/2006/relationships/slide" Target="slides/slide11.xml"/><Relationship Id="rId31" Type="http://schemas.openxmlformats.org/officeDocument/2006/relationships/commentAuthors" Target="commentAuthors.xml"/><Relationship Id="rId19" Type="http://schemas.openxmlformats.org/officeDocument/2006/relationships/slide" Target="slides/slide15.xml"/><Relationship Id="rId10" Type="http://schemas.openxmlformats.org/officeDocument/2006/relationships/slide" Target="slides/slide6.xml"/><Relationship Id="rId9" Type="http://schemas.openxmlformats.org/officeDocument/2006/relationships/slide" Target="slides/slide5.xml"/><Relationship Id="rId4" Type="http://schemas.openxmlformats.org/officeDocument/2006/relationships/slide" Target="slides/slide1.xml"/><Relationship Id="rId30" Type="http://schemas.openxmlformats.org/officeDocument/2006/relationships/tableStyles" Target="tableStyles.xml"/><Relationship Id="rId27" Type="http://schemas.openxmlformats.org/officeDocument/2006/relationships/slide" Target="slides/slide23.xml"/><Relationship Id="rId22" Type="http://schemas.openxmlformats.org/officeDocument/2006/relationships/slide" Target="slides/slide18.xml"/><Relationship Id="rId14" Type="http://schemas.openxmlformats.org/officeDocument/2006/relationships/slide" Target="slides/slide10.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8" name="Rounded Rectangle 3072"/>
          <p:cNvSpPr/>
          <p:nvPr/>
        </p:nvSpPr>
        <p:spPr>
          <a:xfrm>
            <a:off x="0" y="0"/>
            <a:ext cx="6858000" cy="9144000"/>
          </a:xfrm>
          <a:prstGeom prst="roundRect">
            <a:avLst>
              <a:gd name="adj" fmla="val 23"/>
            </a:avLst>
          </a:prstGeom>
          <a:solidFill>
            <a:srgbClr val="FFFFFF"/>
          </a:solidFill>
          <a:ln w="9360">
            <a:noFill/>
          </a:ln>
        </p:spPr>
        <p:txBody>
          <a:bodyPr anchor="t" anchorCtr="0"/>
          <a:p>
            <a:pPr lvl="0"/>
            <a:endParaRPr lang="en-US" altLang="zh-CN"/>
          </a:p>
        </p:txBody>
      </p:sp>
      <p:sp>
        <p:nvSpPr>
          <p:cNvPr id="4099" name="Rounded Rectangle 3073"/>
          <p:cNvSpPr/>
          <p:nvPr/>
        </p:nvSpPr>
        <p:spPr>
          <a:xfrm>
            <a:off x="0" y="0"/>
            <a:ext cx="6858000" cy="9144000"/>
          </a:xfrm>
          <a:prstGeom prst="roundRect">
            <a:avLst>
              <a:gd name="adj" fmla="val 23"/>
            </a:avLst>
          </a:prstGeom>
          <a:solidFill>
            <a:srgbClr val="FFFFFF"/>
          </a:solidFill>
          <a:ln w="9525">
            <a:noFill/>
          </a:ln>
        </p:spPr>
        <p:txBody>
          <a:bodyPr anchor="t" anchorCtr="0"/>
          <a:p>
            <a:pPr lvl="0"/>
            <a:endParaRPr lang="en-US" altLang="zh-CN"/>
          </a:p>
        </p:txBody>
      </p:sp>
      <p:sp>
        <p:nvSpPr>
          <p:cNvPr id="4100" name="Text Box 3074"/>
          <p:cNvSpPr txBox="1"/>
          <p:nvPr/>
        </p:nvSpPr>
        <p:spPr>
          <a:xfrm>
            <a:off x="0" y="0"/>
            <a:ext cx="2971800" cy="457200"/>
          </a:xfrm>
          <a:prstGeom prst="rect">
            <a:avLst/>
          </a:prstGeom>
          <a:noFill/>
          <a:ln w="9525">
            <a:noFill/>
          </a:ln>
        </p:spPr>
        <p:txBody>
          <a:bodyPr anchor="t" anchorCtr="0"/>
          <a:p>
            <a:pPr lvl="0"/>
            <a:endParaRPr lang="en-US" altLang="zh-CN"/>
          </a:p>
        </p:txBody>
      </p:sp>
      <p:sp>
        <p:nvSpPr>
          <p:cNvPr id="4101" name="Text Box 3075"/>
          <p:cNvSpPr txBox="1"/>
          <p:nvPr/>
        </p:nvSpPr>
        <p:spPr>
          <a:xfrm>
            <a:off x="3884613" y="0"/>
            <a:ext cx="2971800" cy="457200"/>
          </a:xfrm>
          <a:prstGeom prst="rect">
            <a:avLst/>
          </a:prstGeom>
          <a:noFill/>
          <a:ln w="9525">
            <a:noFill/>
          </a:ln>
        </p:spPr>
        <p:txBody>
          <a:bodyPr anchor="t" anchorCtr="0"/>
          <a:p>
            <a:pPr lvl="0"/>
            <a:endParaRPr lang="en-US" altLang="zh-CN"/>
          </a:p>
        </p:txBody>
      </p:sp>
      <p:sp>
        <p:nvSpPr>
          <p:cNvPr id="4102" name="Slide Image Placeholder 3076"/>
          <p:cNvSpPr>
            <a:spLocks noGrp="1"/>
          </p:cNvSpPr>
          <p:nvPr>
            <p:ph type="sldImg"/>
          </p:nvPr>
        </p:nvSpPr>
        <p:spPr>
          <a:xfrm>
            <a:off x="1143000" y="685800"/>
            <a:ext cx="4568825" cy="3425825"/>
          </a:xfrm>
          <a:prstGeom prst="rect">
            <a:avLst/>
          </a:prstGeom>
          <a:noFill/>
          <a:ln w="9360" cap="sq" cmpd="sng">
            <a:solidFill>
              <a:srgbClr val="000000"/>
            </a:solidFill>
            <a:prstDash val="solid"/>
            <a:miter/>
            <a:headEnd type="none" w="med" len="med"/>
            <a:tailEnd type="none" w="med" len="med"/>
          </a:ln>
        </p:spPr>
      </p:sp>
      <p:sp>
        <p:nvSpPr>
          <p:cNvPr id="4103" name="Text Placeholder 3077"/>
          <p:cNvSpPr>
            <a:spLocks noGrp="1"/>
          </p:cNvSpPr>
          <p:nvPr>
            <p:ph type="body"/>
          </p:nvPr>
        </p:nvSpPr>
        <p:spPr>
          <a:xfrm>
            <a:off x="685800" y="4343400"/>
            <a:ext cx="5483225" cy="4111625"/>
          </a:xfrm>
          <a:prstGeom prst="rect">
            <a:avLst/>
          </a:prstGeom>
          <a:noFill/>
          <a:ln w="9525">
            <a:noFill/>
          </a:ln>
        </p:spPr>
        <p:txBody>
          <a:bodyPr wrap="square" lIns="90000" tIns="46800" rIns="90000" bIns="46800" anchor="t" anchorCtr="0"/>
          <a:p>
            <a:pPr lvl="0"/>
            <a:endParaRPr lang="en-GB"/>
          </a:p>
        </p:txBody>
      </p:sp>
      <p:sp>
        <p:nvSpPr>
          <p:cNvPr id="4104" name="Text Box 3078"/>
          <p:cNvSpPr txBox="1"/>
          <p:nvPr/>
        </p:nvSpPr>
        <p:spPr>
          <a:xfrm>
            <a:off x="0" y="8685213"/>
            <a:ext cx="2971800" cy="457200"/>
          </a:xfrm>
          <a:prstGeom prst="rect">
            <a:avLst/>
          </a:prstGeom>
          <a:noFill/>
          <a:ln w="9525">
            <a:noFill/>
          </a:ln>
        </p:spPr>
        <p:txBody>
          <a:bodyPr anchor="t" anchorCtr="0"/>
          <a:p>
            <a:pPr lvl="0"/>
            <a:endParaRPr lang="en-US" altLang="zh-CN"/>
          </a:p>
        </p:txBody>
      </p:sp>
      <p:sp>
        <p:nvSpPr>
          <p:cNvPr id="3080" name="Slide Number Placeholder 3079"/>
          <p:cNvSpPr>
            <a:spLocks noGrp="1"/>
          </p:cNvSpPr>
          <p:nvPr>
            <p:ph type="sldNum"/>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eaLnBrk="1" fontAlgn="base"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strike="noStrike" noProof="1" dirty="0" err="1">
                <a:latin typeface="Times New Roman" panose="02020603050405020304" pitchFamily="16" charset="0"/>
                <a:ea typeface="Arial Unicode MS" charset="-122"/>
                <a:cs typeface="+mn-cs"/>
              </a:rPr>
            </a:fld>
            <a:endParaRPr lang="ru-RU" altLang="x-none" sz="1200" strike="noStrike" noProof="1" dirty="0" err="1">
              <a:latin typeface="Times New Roman" panose="02020603050405020304" pitchFamily="16" charset="0"/>
              <a:ea typeface="Arial Unicode MS"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1pPr>
    <a:lvl2pPr marL="742950" lvl="1" indent="-28575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2pPr>
    <a:lvl3pPr marL="1143000" lvl="2"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3pPr>
    <a:lvl4pPr marL="1600200" lvl="3"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4pPr>
    <a:lvl5pPr marL="2057400" lvl="4"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5pPr>
    <a:lvl6pPr marL="2286000" lvl="5"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6pPr>
    <a:lvl7pPr marL="2743200" lvl="6"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7pPr>
    <a:lvl8pPr marL="3200400" lvl="7"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8pPr>
    <a:lvl9pPr marL="3657600" lvl="8"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614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solidFill>
                  <a:srgbClr val="000000"/>
                </a:solidFill>
                <a:latin typeface="Times New Roman" panose="02020603050405020304" pitchFamily="16" charset="0"/>
                <a:ea typeface="Arial Unicode MS" charset="-122"/>
              </a:rPr>
            </a:fld>
            <a:endParaRPr lang="ru-RU" altLang="x-none" sz="1200" dirty="0" err="1">
              <a:solidFill>
                <a:srgbClr val="000000"/>
              </a:solidFill>
              <a:latin typeface="Times New Roman" panose="02020603050405020304" pitchFamily="16" charset="0"/>
              <a:ea typeface="Arial Unicode MS" charset="-122"/>
            </a:endParaRPr>
          </a:p>
        </p:txBody>
      </p:sp>
      <p:sp>
        <p:nvSpPr>
          <p:cNvPr id="6147" name="Slide Image Placeholder 38912"/>
          <p:cNvSpPr txBox="1">
            <a:spLocks noGrp="1"/>
          </p:cNvSpPr>
          <p:nvPr>
            <p:ph type="sldImg"/>
          </p:nvPr>
        </p:nvSpPr>
        <p:spPr>
          <a:xfrm>
            <a:off x="1143000" y="685800"/>
            <a:ext cx="4572000" cy="3429000"/>
          </a:xfrm>
          <a:solidFill>
            <a:srgbClr val="FFFFFF"/>
          </a:solidFill>
          <a:ln cap="flat"/>
        </p:spPr>
      </p:sp>
      <p:sp>
        <p:nvSpPr>
          <p:cNvPr id="6148" name="Text Placeholder 38913"/>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Slide Number Placeholder 1"/>
          <p:cNvSpPr/>
          <p:nvPr>
            <p:ph type="sldNum" idx="2"/>
          </p:nvPr>
        </p:nvSpPr>
        <p:spPr/>
        <p:txBody>
          <a:bodyPr/>
          <a:p>
            <a:pPr marL="215900" lvl="0" indent="-215900" algn="r" defTabSz="457200" eaLnBrk="1" hangingPunct="1">
              <a:buClr>
                <a:srgbClr val="000000"/>
              </a:buClr>
              <a:buSzPct val="45000"/>
              <a:buFont typeface="Wingdings" panose="05000000000000000000" pitchFamily="2" charset="2"/>
              <a:buNone/>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cs typeface="Arial Unicode MS" charset="0"/>
              </a:rPr>
            </a:fld>
            <a:endParaRPr lang="ru-RU" altLang="x-none" sz="1200" dirty="0" err="1">
              <a:latin typeface="Times New Roman" panose="02020603050405020304" pitchFamily="16" charset="0"/>
              <a:ea typeface="Arial Unicode MS" charset="0"/>
              <a:cs typeface="Arial Unicode MS" charset="0"/>
            </a:endParaRPr>
          </a:p>
        </p:txBody>
      </p:sp>
      <p:sp>
        <p:nvSpPr>
          <p:cNvPr id="74753" name="Slide Image Placeholder 74752"/>
          <p:cNvSpPr txBox="1"/>
          <p:nvPr>
            <p:ph type="sldImg"/>
          </p:nvPr>
        </p:nvSpPr>
        <p:spPr>
          <a:xfrm>
            <a:off x="1143000" y="685800"/>
            <a:ext cx="4572000" cy="3429000"/>
          </a:xfrm>
          <a:prstGeom prst="rect">
            <a:avLst/>
          </a:prstGeom>
          <a:solidFill>
            <a:srgbClr val="FFFFFF"/>
          </a:solidFill>
          <a:ln w="9525" cap="flat" cmpd="sng">
            <a:solidFill>
              <a:srgbClr val="000000"/>
            </a:solidFill>
            <a:prstDash val="solid"/>
            <a:miter/>
            <a:headEnd type="none" w="med" len="med"/>
            <a:tailEnd type="none" w="med" len="med"/>
          </a:ln>
        </p:spPr>
      </p:sp>
      <p:sp>
        <p:nvSpPr>
          <p:cNvPr id="74754" name="Text Placeholder 74753"/>
          <p:cNvSpPr txBox="1"/>
          <p:nvPr>
            <p:ph type="body" idx="1"/>
          </p:nvPr>
        </p:nvSpPr>
        <p:spPr>
          <a:xfrm>
            <a:off x="685800" y="4343400"/>
            <a:ext cx="5486400" cy="4114800"/>
          </a:xfrm>
          <a:prstGeom prst="rect">
            <a:avLst/>
          </a:prstGeom>
          <a:noFill/>
          <a:ln w="9525">
            <a:noFill/>
          </a:ln>
        </p:spPr>
        <p:txBody>
          <a:bodyPr wrap="none" anchor="ctr" anchorCtr="0"/>
          <a:p>
            <a:pPr lvl="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26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1267" name="Slide Image Placeholder 81920"/>
          <p:cNvSpPr>
            <a:spLocks noGrp="1"/>
          </p:cNvSpPr>
          <p:nvPr>
            <p:ph type="sldImg"/>
          </p:nvPr>
        </p:nvSpPr>
        <p:spPr>
          <a:xfrm>
            <a:off x="1143000" y="685800"/>
            <a:ext cx="4572000" cy="3429000"/>
          </a:xfrm>
          <a:solidFill>
            <a:srgbClr val="FFFFFF"/>
          </a:solidFill>
          <a:ln cap="flat"/>
        </p:spPr>
      </p:sp>
      <p:sp>
        <p:nvSpPr>
          <p:cNvPr id="11268" name="Text Placeholder 8192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026" name="Group 1024"/>
          <p:cNvGrpSpPr/>
          <p:nvPr/>
        </p:nvGrpSpPr>
        <p:grpSpPr>
          <a:xfrm>
            <a:off x="0" y="152400"/>
            <a:ext cx="8683625" cy="6092825"/>
            <a:chOff x="0" y="96"/>
            <a:chExt cx="5470" cy="3838"/>
          </a:xfrm>
        </p:grpSpPr>
        <p:sp>
          <p:nvSpPr>
            <p:cNvPr id="1027" name="Rounded Rectangle 1025"/>
            <p:cNvSpPr/>
            <p:nvPr/>
          </p:nvSpPr>
          <p:spPr>
            <a:xfrm>
              <a:off x="240" y="336"/>
              <a:ext cx="5230" cy="3598"/>
            </a:xfrm>
            <a:prstGeom prst="roundRect">
              <a:avLst>
                <a:gd name="adj" fmla="val 1372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1028" name="Freeform 1026"/>
            <p:cNvSpPr/>
            <p:nvPr/>
          </p:nvSpPr>
          <p:spPr>
            <a:xfrm>
              <a:off x="0" y="96"/>
              <a:ext cx="5374" cy="766"/>
            </a:xfrm>
            <a:custGeom>
              <a:avLst/>
              <a:gdLst/>
              <a:ahLst/>
              <a:cxnLst>
                <a:cxn ang="0">
                  <a:pos x="0" y="0"/>
                </a:cxn>
                <a:cxn ang="0">
                  <a:pos x="2" y="0"/>
                </a:cxn>
                <a:cxn ang="0">
                  <a:pos x="2" y="2"/>
                </a:cxn>
                <a:cxn ang="0">
                  <a:pos x="2" y="2"/>
                </a:cxn>
                <a:cxn ang="0">
                  <a:pos x="0" y="2"/>
                </a:cxn>
              </a:cxnLst>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rgbClr val="6666CC"/>
            </a:solidFill>
            <a:ln w="9525">
              <a:noFill/>
            </a:ln>
          </p:spPr>
          <p:txBody>
            <a:bodyPr/>
            <a:p>
              <a:endParaRPr lang="en-US"/>
            </a:p>
          </p:txBody>
        </p:sp>
        <p:sp>
          <p:nvSpPr>
            <p:cNvPr id="1029" name="Straight Connector 1027"/>
            <p:cNvSpPr/>
            <p:nvPr/>
          </p:nvSpPr>
          <p:spPr>
            <a:xfrm>
              <a:off x="0" y="768"/>
              <a:ext cx="5086" cy="0"/>
            </a:xfrm>
            <a:prstGeom prst="line">
              <a:avLst/>
            </a:prstGeom>
            <a:ln w="38160" cap="sq" cmpd="sng">
              <a:solidFill>
                <a:srgbClr val="FFFFFF"/>
              </a:solidFill>
              <a:prstDash val="solid"/>
              <a:miter/>
              <a:headEnd type="none" w="med" len="med"/>
              <a:tailEnd type="none" w="med" len="med"/>
            </a:ln>
          </p:spPr>
        </p:sp>
      </p:grpSp>
      <p:sp>
        <p:nvSpPr>
          <p:cNvPr id="1030" name="Title 1028"/>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1031" name="Text Placeholder 1029"/>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1032" name="Text Box 1030"/>
          <p:cNvSpPr txBox="1"/>
          <p:nvPr/>
        </p:nvSpPr>
        <p:spPr>
          <a:xfrm>
            <a:off x="457200" y="6248400"/>
            <a:ext cx="2133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1033" name="Text Box 1031"/>
          <p:cNvSpPr txBox="1"/>
          <p:nvPr/>
        </p:nvSpPr>
        <p:spPr>
          <a:xfrm>
            <a:off x="3124200" y="6248400"/>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1032"/>
          <p:cNvSpPr>
            <a:spLocks noGrp="1"/>
          </p:cNvSpPr>
          <p:nvPr>
            <p:ph type="sldNum"/>
          </p:nvPr>
        </p:nvSpPr>
        <p:spPr>
          <a:xfrm>
            <a:off x="6553200" y="6248400"/>
            <a:ext cx="2130425" cy="454025"/>
          </a:xfrm>
          <a:prstGeom prst="rect">
            <a:avLst/>
          </a:prstGeom>
          <a:noFill/>
          <a:ln w="9525">
            <a:noFill/>
          </a:ln>
        </p:spPr>
        <p:txBody>
          <a:bodyPr wrap="square" lIns="90000" tIns="46800" rIns="90000" bIns="46800" anchor="b" anchorCtr="0"/>
          <a:lstStyle>
            <a:lvl1pPr>
              <a:buFontTx/>
              <a:defRPr/>
            </a:lvl1pPr>
          </a:lstStyle>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050" name="Group 2048"/>
          <p:cNvGrpSpPr/>
          <p:nvPr/>
        </p:nvGrpSpPr>
        <p:grpSpPr>
          <a:xfrm>
            <a:off x="0" y="927100"/>
            <a:ext cx="8988425" cy="4492625"/>
            <a:chOff x="0" y="584"/>
            <a:chExt cx="5662" cy="2830"/>
          </a:xfrm>
        </p:grpSpPr>
        <p:sp>
          <p:nvSpPr>
            <p:cNvPr id="2051" name="Rounded Rectangle 2049"/>
            <p:cNvSpPr/>
            <p:nvPr/>
          </p:nvSpPr>
          <p:spPr>
            <a:xfrm>
              <a:off x="432" y="1304"/>
              <a:ext cx="4654" cy="2110"/>
            </a:xfrm>
            <a:prstGeom prst="roundRect">
              <a:avLst>
                <a:gd name="adj" fmla="val 1666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2" name="Rectangles 2050"/>
            <p:cNvSpPr/>
            <p:nvPr/>
          </p:nvSpPr>
          <p:spPr>
            <a:xfrm>
              <a:off x="144" y="584"/>
              <a:ext cx="4510" cy="622"/>
            </a:xfrm>
            <a:prstGeom prst="rect">
              <a:avLst/>
            </a:prstGeom>
            <a:solidFill>
              <a:srgbClr val="FFFFFF"/>
            </a:solidFill>
            <a:ln w="5724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3" name="Freeform 2051"/>
            <p:cNvSpPr/>
            <p:nvPr/>
          </p:nvSpPr>
          <p:spPr>
            <a:xfrm>
              <a:off x="0" y="872"/>
              <a:ext cx="5662" cy="1150"/>
            </a:xfrm>
            <a:custGeom>
              <a:avLst/>
              <a:gdLst/>
              <a:ahLst/>
              <a:cxnLst>
                <a:cxn ang="0">
                  <a:pos x="0" y="0"/>
                </a:cxn>
                <a:cxn ang="0">
                  <a:pos x="178537909" y="0"/>
                </a:cxn>
                <a:cxn ang="0">
                  <a:pos x="198785821" y="20342807"/>
                </a:cxn>
                <a:cxn ang="0">
                  <a:pos x="178577890" y="40617799"/>
                </a:cxn>
                <a:cxn ang="0">
                  <a:pos x="0" y="40617799"/>
                </a:cxn>
              </a:cxnLst>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rgbClr val="6666CC"/>
            </a:solidFill>
            <a:ln w="9525">
              <a:noFill/>
            </a:ln>
          </p:spPr>
          <p:txBody>
            <a:bodyPr/>
            <a:p>
              <a:endParaRPr lang="en-US"/>
            </a:p>
          </p:txBody>
        </p:sp>
        <p:sp>
          <p:nvSpPr>
            <p:cNvPr id="2054" name="Straight Connector 2052"/>
            <p:cNvSpPr/>
            <p:nvPr/>
          </p:nvSpPr>
          <p:spPr>
            <a:xfrm>
              <a:off x="0" y="1928"/>
              <a:ext cx="5230" cy="0"/>
            </a:xfrm>
            <a:prstGeom prst="line">
              <a:avLst/>
            </a:prstGeom>
            <a:ln w="50760" cap="sq" cmpd="sng">
              <a:solidFill>
                <a:srgbClr val="FFFFFF"/>
              </a:solidFill>
              <a:prstDash val="solid"/>
              <a:miter/>
              <a:headEnd type="none" w="med" len="med"/>
              <a:tailEnd type="none" w="med" len="med"/>
            </a:ln>
          </p:spPr>
        </p:sp>
      </p:grpSp>
      <p:sp>
        <p:nvSpPr>
          <p:cNvPr id="2055" name="Title 2053"/>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dirty="0"/>
              <a:t>Для правки текста заголовка щелкните мышью</a:t>
            </a:r>
            <a:endParaRPr lang="en-GB" dirty="0"/>
          </a:p>
        </p:txBody>
      </p:sp>
      <p:sp>
        <p:nvSpPr>
          <p:cNvPr id="2056" name="Text Placeholder 2054"/>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dirty="0"/>
              <a:t>Для правки структуры щелкните мышью</a:t>
            </a:r>
            <a:endParaRPr lang="en-GB" dirty="0"/>
          </a:p>
          <a:p>
            <a:pPr lvl="1"/>
            <a:r>
              <a:rPr lang="en-GB" dirty="0"/>
              <a:t>Второй уровень структуры</a:t>
            </a:r>
            <a:endParaRPr lang="en-GB" dirty="0"/>
          </a:p>
          <a:p>
            <a:pPr lvl="2"/>
            <a:r>
              <a:rPr lang="en-GB" dirty="0"/>
              <a:t>Третий уровень структуры</a:t>
            </a:r>
            <a:endParaRPr lang="en-GB" dirty="0"/>
          </a:p>
          <a:p>
            <a:pPr lvl="3"/>
            <a:r>
              <a:rPr lang="en-GB" dirty="0"/>
              <a:t>Четвёртый уровень структуры</a:t>
            </a:r>
            <a:endParaRPr lang="en-GB" dirty="0"/>
          </a:p>
          <a:p>
            <a:pPr lvl="4"/>
            <a:r>
              <a:rPr lang="en-GB" dirty="0"/>
              <a:t>Пятый уровень структуры</a:t>
            </a:r>
            <a:endParaRPr lang="en-GB" dirty="0"/>
          </a:p>
          <a:p>
            <a:pPr lvl="4"/>
            <a:r>
              <a:rPr lang="en-GB" dirty="0"/>
              <a:t>Шестой уровень структуры</a:t>
            </a:r>
            <a:endParaRPr lang="en-GB" dirty="0"/>
          </a:p>
          <a:p>
            <a:pPr lvl="4"/>
            <a:r>
              <a:rPr lang="en-GB" dirty="0"/>
              <a:t>Седьмой уровень структуры</a:t>
            </a:r>
            <a:endParaRPr lang="en-GB" dirty="0"/>
          </a:p>
          <a:p>
            <a:pPr lvl="4"/>
            <a:r>
              <a:rPr lang="en-GB" dirty="0"/>
              <a:t>Восьмой уровень структуры</a:t>
            </a:r>
            <a:endParaRPr lang="en-GB" dirty="0"/>
          </a:p>
          <a:p>
            <a:pPr lvl="4"/>
            <a:r>
              <a:rPr lang="en-GB" dirty="0"/>
              <a:t>Девятый уровень структуры</a:t>
            </a:r>
            <a:endParaRPr lang="en-GB" dirty="0"/>
          </a:p>
        </p:txBody>
      </p:sp>
      <p:sp>
        <p:nvSpPr>
          <p:cNvPr id="2057" name="Text Box 2055"/>
          <p:cNvSpPr txBox="1"/>
          <p:nvPr/>
        </p:nvSpPr>
        <p:spPr>
          <a:xfrm>
            <a:off x="457200" y="6248400"/>
            <a:ext cx="2133600" cy="471488"/>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058" name="Text Box 2056"/>
          <p:cNvSpPr txBox="1"/>
          <p:nvPr/>
        </p:nvSpPr>
        <p:spPr>
          <a:xfrm>
            <a:off x="3124200" y="6253163"/>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2057"/>
          <p:cNvSpPr>
            <a:spLocks noGrp="1"/>
          </p:cNvSpPr>
          <p:nvPr>
            <p:ph type="sldNum"/>
          </p:nvPr>
        </p:nvSpPr>
        <p:spPr>
          <a:xfrm>
            <a:off x="6553200" y="6248400"/>
            <a:ext cx="2130425" cy="468313"/>
          </a:xfrm>
          <a:prstGeom prst="rect">
            <a:avLst/>
          </a:prstGeom>
          <a:noFill/>
          <a:ln w="9525">
            <a:noFill/>
          </a:ln>
        </p:spPr>
        <p:txBody>
          <a:bodyPr wrap="square" lIns="90000" tIns="46800" rIns="90000" bIns="46800" anchor="b" anchorCtr="0"/>
          <a:lstStyle>
            <a:lvl1pPr algn="r">
              <a:buFontTx/>
              <a:defRPr sz="1200">
                <a:latin typeface="Arial Black" panose="020B0A04020102020204" pitchFamily="32" charset="0"/>
                <a:ea typeface="Arial Unicode MS" charset="-122"/>
              </a:defRPr>
            </a:lvl1pPr>
          </a:lstStyle>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9.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hyperlink" Target="https://openid.net/specs/openid-connect-core-1_0.html" TargetMode="External"/><Relationship Id="rId1" Type="http://schemas.openxmlformats.org/officeDocument/2006/relationships/hyperlink" Target="https://datatracker.ietf.org/doc/html/rfc6749"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7.xml"/><Relationship Id="rId1" Type="http://schemas.openxmlformats.org/officeDocument/2006/relationships/hyperlink" Target="https://gist.github.com/sunmeat/bddc18483070e3b976944e25cbff7e44"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7.xml"/><Relationship Id="rId1" Type="http://schemas.openxmlformats.org/officeDocument/2006/relationships/hyperlink" Target="https://gist.github.com/sunmeat/cda213a386fe270754dce5384310bacd"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hyperlink" Target="https://github.com/sunmeat/aspnetcore_auth" TargetMode="Externa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hyperlink" Target="https://gist.github.com/sunmeat/caa1fc8c1d7065eadb8a513a68b953b7" TargetMode="External"/></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hyperlink" Target="https://gist.github.com/sunmeat/150bff13d6f1f365e9f1e7a3822fc895" TargetMode="Externa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hyperlink" Target="https://gist.github.com/sunmeat/48dd4936fbe4bfb90bbe3fc3907e3a85" TargetMode="Externa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hyperlink" Target="https://gist.github.com/sunmeat/41cc4f7e4b2d4cb18ae35bc84702954f" TargetMode="Externa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hyperlink" Target="https://gist.github.com/sunmeat/bc5e852f6402e6b4d16b48229a2cd565" TargetMode="Externa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hyperlink" Target="https://github.com/sunmeat/aspnetcore_auth2.0"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Text Box 4096"/>
          <p:cNvSpPr txBox="1"/>
          <p:nvPr/>
        </p:nvSpPr>
        <p:spPr>
          <a:xfrm>
            <a:off x="228600" y="1427480"/>
            <a:ext cx="8987155" cy="1609725"/>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5000" dirty="0" err="1">
                <a:solidFill>
                  <a:srgbClr val="FFFFFF"/>
                </a:solidFill>
                <a:sym typeface="+mn-ea"/>
              </a:rPr>
              <a:t>Authentication / Authorization</a:t>
            </a:r>
            <a:endParaRPr lang="ru-RU" altLang="en-US" sz="5000" dirty="0" err="1">
              <a:solidFill>
                <a:srgbClr val="FFFFFF"/>
              </a:solidFill>
              <a:latin typeface="Arial" panose="020B0604020202020204" pitchFamily="34" charset="0"/>
            </a:endParaRPr>
          </a:p>
        </p:txBody>
      </p:sp>
      <p:sp>
        <p:nvSpPr>
          <p:cNvPr id="5123" name="Rectangles 4097"/>
          <p:cNvSpPr/>
          <p:nvPr/>
        </p:nvSpPr>
        <p:spPr>
          <a:xfrm>
            <a:off x="5867400" y="44450"/>
            <a:ext cx="3280410" cy="369570"/>
          </a:xfrm>
          <a:prstGeom prst="rect">
            <a:avLst/>
          </a:prstGeom>
          <a:noFill/>
          <a:ln w="9525">
            <a:noFill/>
          </a:ln>
        </p:spPr>
        <p:txBody>
          <a:bodyPr wrap="none" lIns="90000" tIns="46800" rIns="90000" bIns="46800" anchor="t" anchorCtr="0">
            <a:spAutoFit/>
          </a:bodyPr>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dirty="0" err="1">
                <a:solidFill>
                  <a:srgbClr val="F7F7F7"/>
                </a:solidFill>
                <a:latin typeface="Arial" panose="020B0604020202020204" pitchFamily="34" charset="0"/>
              </a:rPr>
              <a:t>О</a:t>
            </a:r>
            <a:r>
              <a:rPr lang="ru-RU" altLang="x-none" dirty="0" err="1">
                <a:solidFill>
                  <a:srgbClr val="F7F7F7"/>
                </a:solidFill>
                <a:latin typeface="Arial" panose="020B0604020202020204" pitchFamily="34" charset="0"/>
              </a:rPr>
              <a:t>лександр Загоруйко © 20</a:t>
            </a:r>
            <a:r>
              <a:rPr lang="en-US" altLang="x-none" dirty="0" err="1">
                <a:solidFill>
                  <a:srgbClr val="F7F7F7"/>
                </a:solidFill>
                <a:latin typeface="Arial" panose="020B0604020202020204" pitchFamily="34" charset="0"/>
              </a:rPr>
              <a:t>2</a:t>
            </a:r>
            <a:r>
              <a:rPr lang="uk-UA" altLang="ru-RU" dirty="0" err="1">
                <a:solidFill>
                  <a:srgbClr val="F7F7F7"/>
                </a:solidFill>
                <a:latin typeface="Arial" panose="020B0604020202020204" pitchFamily="34" charset="0"/>
              </a:rPr>
              <a:t>6</a:t>
            </a:r>
            <a:endParaRPr lang="uk-UA" altLang="ru-RU" dirty="0" err="1">
              <a:solidFill>
                <a:srgbClr val="F7F7F7"/>
              </a:solidFill>
              <a:latin typeface="Arial" panose="020B0604020202020204" pitchFamily="34" charset="0"/>
            </a:endParaRPr>
          </a:p>
        </p:txBody>
      </p:sp>
      <p:pic>
        <p:nvPicPr>
          <p:cNvPr id="4" name="Picture 3" descr="ASP.NET-Core-Logo"/>
          <p:cNvPicPr>
            <a:picLocks noChangeAspect="1"/>
          </p:cNvPicPr>
          <p:nvPr/>
        </p:nvPicPr>
        <p:blipFill>
          <a:blip r:embed="rId1"/>
          <a:stretch>
            <a:fillRect/>
          </a:stretch>
        </p:blipFill>
        <p:spPr>
          <a:xfrm>
            <a:off x="113665" y="3361690"/>
            <a:ext cx="6657975" cy="3382010"/>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rgbClr val="FFFFFF"/>
                </a:solidFill>
                <a:ea typeface="Microsoft YaHei" panose="020B0503020204020204" charset="-122"/>
              </a:rPr>
              <a:t>Authentication та Authorization</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Автентифікація </a:t>
            </a:r>
            <a:r>
              <a:rPr lang="en-US" altLang="en-US" sz="2100" dirty="0" err="1">
                <a:solidFill>
                  <a:srgbClr val="000000"/>
                </a:solidFill>
                <a:ea typeface="Microsoft YaHei" panose="020B0503020204020204" charset="-122"/>
              </a:rPr>
              <a:t>відповідає на питання «Хто ти?». Користувач надає певні докази своєї особи, наприклад логін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і пароль, cookie сесії або токен. Сервер перевіряє ці дані та встановлює, з яким користувачем пов'язаний поточний запит.</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Авторизація </a:t>
            </a:r>
            <a:r>
              <a:rPr lang="en-US" altLang="en-US" sz="2100" dirty="0" err="1">
                <a:solidFill>
                  <a:srgbClr val="000000"/>
                </a:solidFill>
                <a:ea typeface="Microsoft YaHei" panose="020B0503020204020204" charset="-122"/>
              </a:rPr>
              <a:t>відповідає на інше питання: «Що цьому користувачу дозволено робити?». Наприклад, авторизований користувач може переглядати власні замовлення,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а адміністратор додатково може видаляти користувачів.</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 Тому authentication відбувається раніше, а authorization використовує результат автентифікації: identity, claims</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пари ключ-значення</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про користувача, зашит</a:t>
            </a:r>
            <a:r>
              <a:rPr lang="uk-UA" altLang="en-US" sz="2100" dirty="0" err="1">
                <a:solidFill>
                  <a:srgbClr val="000000"/>
                </a:solidFill>
                <a:ea typeface="Microsoft YaHei" panose="020B0503020204020204" charset="-122"/>
              </a:rPr>
              <a:t>і</a:t>
            </a:r>
            <a:r>
              <a:rPr lang="en-US" altLang="en-US" sz="2100" dirty="0" err="1">
                <a:solidFill>
                  <a:srgbClr val="000000"/>
                </a:solidFill>
                <a:ea typeface="Microsoft YaHei" panose="020B0503020204020204" charset="-122"/>
              </a:rPr>
              <a:t> всередині токена</a:t>
            </a:r>
            <a:r>
              <a:rPr lang="uk-UA" altLang="en-US" sz="2100" dirty="0" err="1">
                <a:solidFill>
                  <a:srgbClr val="000000"/>
                </a:solidFill>
                <a:ea typeface="Microsoft YaHei" panose="020B0503020204020204" charset="-122"/>
              </a:rPr>
              <a:t>)</a:t>
            </a:r>
            <a:r>
              <a:rPr lang="en-US" altLang="en-US" sz="2100" dirty="0" err="1">
                <a:solidFill>
                  <a:srgbClr val="000000"/>
                </a:solidFill>
                <a:ea typeface="Microsoft YaHei" panose="020B0503020204020204" charset="-122"/>
              </a:rPr>
              <a:t>, roles та permissions</a:t>
            </a:r>
            <a:r>
              <a:rPr lang="uk-UA" altLang="en-US" sz="2100" dirty="0" err="1">
                <a:solidFill>
                  <a:srgbClr val="000000"/>
                </a:solidFill>
                <a:ea typeface="Microsoft YaHei" panose="020B0503020204020204" charset="-122"/>
              </a:rPr>
              <a:t> (атомарні правила доступу)</a:t>
            </a:r>
            <a:r>
              <a:rPr lang="en-US" altLang="en-US" sz="2100" dirty="0" err="1">
                <a:solidFill>
                  <a:srgbClr val="000000"/>
                </a:solidFill>
                <a:ea typeface="Microsoft YaHei" panose="020B0503020204020204" charset="-122"/>
              </a:rPr>
              <a:t>.</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rgbClr val="FFFFFF"/>
                </a:solidFill>
                <a:ea typeface="Microsoft YaHei" panose="020B0503020204020204" charset="-122"/>
              </a:rPr>
              <a:t>HTTP та Stateless</a:t>
            </a:r>
            <a:endParaRPr lang="en-US"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HTTP за своєю природою є протоколом без збереження стану між окремими запитами. Якщо клієнт сьогодні виконав GET /api/players, а через секунду виконав POST /api/players,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сам протокол HTTP не пам'ятає, що обидва запити належать одному користувачу.</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Саме тому механізм автентифікації повинен якимось чином зв'язати наступний HTTP-запит із користувачем. Cookie-сесія робить це через ідентифікатор сесії, JWT через токен,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а OAuth/OIDC використовує спеціальні протоколи та токени для взаємодії між клієнтом, сервером і зовнішнім Identity Provider.</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sz="4200" dirty="0" err="1">
                <a:solidFill>
                  <a:schemeClr val="bg1"/>
                </a:solidFill>
                <a:sym typeface="+mn-ea"/>
              </a:rPr>
              <a:t>Поняття токену</a:t>
            </a:r>
            <a:endParaRPr 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000" b="1" dirty="0" err="1">
                <a:solidFill>
                  <a:srgbClr val="000000"/>
                </a:solidFill>
                <a:ea typeface="Microsoft YaHei" panose="020B0503020204020204" charset="-122"/>
              </a:rPr>
              <a:t>Токен </a:t>
            </a:r>
            <a:r>
              <a:rPr lang="en-US" altLang="en-US" sz="2000" dirty="0" err="1">
                <a:solidFill>
                  <a:srgbClr val="000000"/>
                </a:solidFill>
                <a:ea typeface="Microsoft YaHei" panose="020B0503020204020204" charset="-122"/>
              </a:rPr>
              <a:t>— це цифровий набір даних, який сервер видає клієнту після успішної автентифікації або авторизації. Його можна уявити як тимчасовий електронний «пропуск»: замість того щоб передавати логін і пароль при кожному запиті, клієнт передає токен, а сервер перевіряє його та визначає, кому і які права він </a:t>
            </a:r>
            <a:r>
              <a:rPr lang="uk-UA" altLang="en-US" sz="2000" dirty="0" err="1">
                <a:solidFill>
                  <a:srgbClr val="000000"/>
                </a:solidFill>
                <a:ea typeface="Microsoft YaHei" panose="020B0503020204020204" charset="-122"/>
              </a:rPr>
              <a:t>надає</a:t>
            </a:r>
            <a:r>
              <a:rPr lang="en-US" altLang="en-US" sz="2000" dirty="0" err="1">
                <a:solidFill>
                  <a:srgbClr val="000000"/>
                </a:solidFill>
                <a:ea typeface="Microsoft YaHei" panose="020B0503020204020204" charset="-122"/>
              </a:rPr>
              <a:t>.</a:t>
            </a:r>
            <a:endParaRPr lang="en-US" altLang="en-US" sz="20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0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000" dirty="0" err="1">
                <a:solidFill>
                  <a:srgbClr val="000000"/>
                </a:solidFill>
                <a:ea typeface="Microsoft YaHei" panose="020B0503020204020204" charset="-122"/>
              </a:rPr>
              <a:t>Наприклад, після входу</a:t>
            </a:r>
            <a:r>
              <a:rPr lang="uk-UA" altLang="en-US" sz="2000" dirty="0" err="1">
                <a:solidFill>
                  <a:srgbClr val="000000"/>
                </a:solidFill>
                <a:ea typeface="Microsoft YaHei" panose="020B0503020204020204" charset="-122"/>
              </a:rPr>
              <a:t>,</a:t>
            </a:r>
            <a:r>
              <a:rPr lang="en-US" altLang="en-US" sz="2000" dirty="0" err="1">
                <a:solidFill>
                  <a:srgbClr val="000000"/>
                </a:solidFill>
                <a:ea typeface="Microsoft YaHei" panose="020B0503020204020204" charset="-122"/>
              </a:rPr>
              <a:t> WebAPI</a:t>
            </a:r>
            <a:r>
              <a:rPr lang="uk-UA" altLang="en-US" sz="2000" dirty="0" err="1">
                <a:solidFill>
                  <a:srgbClr val="000000"/>
                </a:solidFill>
                <a:ea typeface="Microsoft YaHei" panose="020B0503020204020204" charset="-122"/>
              </a:rPr>
              <a:t>-бекенд</a:t>
            </a:r>
            <a:r>
              <a:rPr lang="en-US" altLang="en-US" sz="2000" dirty="0" err="1">
                <a:solidFill>
                  <a:srgbClr val="000000"/>
                </a:solidFill>
                <a:ea typeface="Microsoft YaHei" panose="020B0503020204020204" charset="-122"/>
              </a:rPr>
              <a:t> може видати Access Token. React додає його до наступних запитів у заголовку Authorization: Bearer &lt;token&gt;. Сервер перевіряє токен, його підпис, термін дії та claims і після цього вирішує, чи дозволити доступ </a:t>
            </a:r>
            <a:r>
              <a:rPr lang="uk-UA" altLang="en-US" sz="2000" dirty="0" err="1">
                <a:solidFill>
                  <a:srgbClr val="000000"/>
                </a:solidFill>
                <a:ea typeface="Microsoft YaHei" panose="020B0503020204020204" charset="-122"/>
              </a:rPr>
              <a:t>   </a:t>
            </a:r>
            <a:r>
              <a:rPr lang="en-US" altLang="en-US" sz="2000" dirty="0" err="1">
                <a:solidFill>
                  <a:srgbClr val="000000"/>
                </a:solidFill>
                <a:ea typeface="Microsoft YaHei" panose="020B0503020204020204" charset="-122"/>
              </a:rPr>
              <a:t>до захищеного ресурсу. Токен не є самим паролем, а </a:t>
            </a:r>
            <a:r>
              <a:rPr lang="uk-UA" altLang="en-US" sz="2000" dirty="0" err="1">
                <a:solidFill>
                  <a:srgbClr val="000000"/>
                </a:solidFill>
                <a:ea typeface="Microsoft YaHei" panose="020B0503020204020204" charset="-122"/>
              </a:rPr>
              <a:t>лише</a:t>
            </a:r>
            <a:r>
              <a:rPr lang="en-US" altLang="en-US" sz="2000" dirty="0" err="1">
                <a:solidFill>
                  <a:srgbClr val="000000"/>
                </a:solidFill>
                <a:ea typeface="Microsoft YaHei" panose="020B0503020204020204" charset="-122"/>
              </a:rPr>
              <a:t> </a:t>
            </a:r>
            <a:r>
              <a:rPr lang="en-US" altLang="en-US" sz="2000" b="1" dirty="0" err="1">
                <a:solidFill>
                  <a:srgbClr val="000000"/>
                </a:solidFill>
                <a:ea typeface="Microsoft YaHei" panose="020B0503020204020204" charset="-122"/>
              </a:rPr>
              <a:t>доказом того, що користувач уже пройшов необхідну процедуру автентифікації</a:t>
            </a:r>
            <a:r>
              <a:rPr lang="en-US" altLang="en-US" sz="2000" dirty="0" err="1">
                <a:solidFill>
                  <a:srgbClr val="000000"/>
                </a:solidFill>
                <a:ea typeface="Microsoft YaHei" panose="020B0503020204020204" charset="-122"/>
              </a:rPr>
              <a:t>.</a:t>
            </a:r>
            <a:endParaRPr lang="en-US" altLang="en-US" sz="20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sz="4200" dirty="0" err="1">
                <a:solidFill>
                  <a:schemeClr val="bg1"/>
                </a:solidFill>
                <a:sym typeface="+mn-ea"/>
              </a:rPr>
              <a:t>JWT</a:t>
            </a:r>
            <a:endParaRPr 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b="1" dirty="0" err="1">
                <a:solidFill>
                  <a:srgbClr val="000000"/>
                </a:solidFill>
                <a:ea typeface="Microsoft YaHei" panose="020B0503020204020204" charset="-122"/>
              </a:rPr>
              <a:t>JWT (JSON Web Token) </a:t>
            </a:r>
            <a:r>
              <a:rPr lang="en-US" altLang="en-US" sz="1800" dirty="0" err="1">
                <a:solidFill>
                  <a:srgbClr val="000000"/>
                </a:solidFill>
                <a:ea typeface="Microsoft YaHei" panose="020B0503020204020204" charset="-122"/>
              </a:rPr>
              <a:t>— це стандартизований формат токена, який використовується для безпечної передачі інформації між сторонами. Найчастіше у Web API JWT застосовується як доказ того, що користувач уже пройшов автентифікацію. Токен містить інформацію про користувача та його права у вигляді claims, наприклад ідентифікатор користувача, роль або час завершення дії токена.</a:t>
            </a: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dirty="0" err="1">
                <a:solidFill>
                  <a:srgbClr val="000000"/>
                </a:solidFill>
                <a:ea typeface="Microsoft YaHei" panose="020B0503020204020204" charset="-122"/>
              </a:rPr>
              <a:t>JWT складається з трьох частин: Header, Payload та Signature, які розділяються крапками. Header містить інформацію про алгоритм підпису, Payload містить claims, а Signature дозволяє серверу перевірити цілісність токена. Важливо розуміти, що </a:t>
            </a:r>
            <a:r>
              <a:rPr lang="en-US" altLang="en-US" sz="1800" b="1" dirty="0" err="1">
                <a:solidFill>
                  <a:srgbClr val="000000"/>
                </a:solidFill>
                <a:ea typeface="Microsoft YaHei" panose="020B0503020204020204" charset="-122"/>
              </a:rPr>
              <a:t>Payload </a:t>
            </a:r>
            <a:r>
              <a:rPr lang="uk-UA" altLang="en-US" sz="1800" b="1" dirty="0" err="1">
                <a:solidFill>
                  <a:srgbClr val="000000"/>
                </a:solidFill>
                <a:ea typeface="Microsoft YaHei" panose="020B0503020204020204" charset="-122"/>
              </a:rPr>
              <a:t>кодується,                    але </a:t>
            </a:r>
            <a:r>
              <a:rPr lang="en-US" altLang="en-US" sz="1800" b="1" dirty="0" err="1">
                <a:solidFill>
                  <a:srgbClr val="000000"/>
                </a:solidFill>
                <a:ea typeface="Microsoft YaHei" panose="020B0503020204020204" charset="-122"/>
              </a:rPr>
              <a:t>не шифрується</a:t>
            </a:r>
            <a:r>
              <a:rPr lang="en-US" altLang="en-US" sz="1800" dirty="0" err="1">
                <a:solidFill>
                  <a:srgbClr val="000000"/>
                </a:solidFill>
                <a:ea typeface="Microsoft YaHei" panose="020B0503020204020204" charset="-122"/>
              </a:rPr>
              <a:t>, тому JWT не слід використовувати для зберігання секретних даних. Підпис гарантує, що вміст токена не був змінений після його видачі.</a:t>
            </a:r>
            <a:endParaRPr lang="en-US" altLang="en-US" sz="1800"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dirty="0" err="1">
                <a:solidFill>
                  <a:srgbClr val="000000"/>
                </a:solidFill>
                <a:ea typeface="Microsoft YaHei" panose="020B0503020204020204" charset="-122"/>
              </a:rPr>
              <a:t>Payload можна прочитати і технічно можна спробувати змінити.</a:t>
            </a:r>
            <a:endParaRPr lang="en-US" altLang="en-US" sz="1800"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uk-UA" altLang="en-US" sz="1800" dirty="0" err="1">
                <a:solidFill>
                  <a:srgbClr val="000000"/>
                </a:solidFill>
                <a:ea typeface="Microsoft YaHei" panose="020B0503020204020204" charset="-122"/>
              </a:rPr>
              <a:t>Але </a:t>
            </a:r>
            <a:r>
              <a:rPr lang="en-US" altLang="en-US" sz="1800" dirty="0" err="1">
                <a:solidFill>
                  <a:srgbClr val="000000"/>
                </a:solidFill>
                <a:ea typeface="Microsoft YaHei" panose="020B0503020204020204" charset="-122"/>
              </a:rPr>
              <a:t>Signature не дозвол</a:t>
            </a:r>
            <a:r>
              <a:rPr lang="uk-UA" altLang="en-US" sz="1800" dirty="0" err="1">
                <a:solidFill>
                  <a:srgbClr val="000000"/>
                </a:solidFill>
                <a:ea typeface="Microsoft YaHei" panose="020B0503020204020204" charset="-122"/>
              </a:rPr>
              <a:t>ить</a:t>
            </a:r>
            <a:r>
              <a:rPr lang="en-US" altLang="en-US" sz="1800" dirty="0" err="1">
                <a:solidFill>
                  <a:srgbClr val="000000"/>
                </a:solidFill>
                <a:ea typeface="Microsoft YaHei" panose="020B0503020204020204" charset="-122"/>
              </a:rPr>
              <a:t> непомітно підмінити Payload.</a:t>
            </a: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1800" dirty="0" err="1">
              <a:solidFill>
                <a:srgbClr val="000000"/>
              </a:solidFill>
              <a:ea typeface="Microsoft YaHei" panose="020B0503020204020204" charset="-122"/>
            </a:endParaRPr>
          </a:p>
        </p:txBody>
      </p:sp>
      <p:sp>
        <p:nvSpPr>
          <p:cNvPr id="2" name="Text Box 1"/>
          <p:cNvSpPr txBox="1"/>
          <p:nvPr/>
        </p:nvSpPr>
        <p:spPr>
          <a:xfrm>
            <a:off x="73025" y="6337300"/>
            <a:ext cx="9010015" cy="423545"/>
          </a:xfrm>
          <a:prstGeom prst="rect">
            <a:avLst/>
          </a:prstGeom>
        </p:spPr>
        <p:txBody>
          <a:bodyPr wrap="square">
            <a:noAutofit/>
          </a:bodyPr>
          <a:p>
            <a:pPr algn="ctr"/>
            <a:r>
              <a:rPr sz="2200" b="1">
                <a:solidFill>
                  <a:srgbClr val="FF0000"/>
                </a:solidFill>
              </a:rPr>
              <a:t>JWT можна розкодувати ≠ JWT можна підробити</a:t>
            </a:r>
            <a:endParaRPr sz="2200" b="1">
              <a:solidFill>
                <a:srgbClr val="FF0000"/>
              </a:solidFill>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sym typeface="+mn-ea"/>
              </a:rPr>
              <a:t>OAuth</a:t>
            </a:r>
            <a:r>
              <a:rPr lang="ru-RU" altLang="en-US" sz="4200" dirty="0" err="1">
                <a:solidFill>
                  <a:schemeClr val="bg1"/>
                </a:solidFill>
                <a:sym typeface="+mn-ea"/>
              </a:rPr>
              <a:t> </a:t>
            </a:r>
            <a:r>
              <a:rPr lang="en-US" altLang="en-US" sz="4200" dirty="0" err="1">
                <a:solidFill>
                  <a:schemeClr val="bg1"/>
                </a:solidFill>
                <a:sym typeface="+mn-ea"/>
              </a:rPr>
              <a:t>/</a:t>
            </a:r>
            <a:r>
              <a:rPr lang="ru-RU" altLang="en-US" sz="4200" dirty="0" err="1">
                <a:solidFill>
                  <a:schemeClr val="bg1"/>
                </a:solidFill>
                <a:sym typeface="+mn-ea"/>
              </a:rPr>
              <a:t> </a:t>
            </a:r>
            <a:r>
              <a:rPr lang="en-US" altLang="en-US" sz="4200" dirty="0" err="1">
                <a:solidFill>
                  <a:schemeClr val="bg1"/>
                </a:solidFill>
                <a:sym typeface="+mn-ea"/>
              </a:rPr>
              <a:t>OIDC</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b="1" dirty="0" err="1">
                <a:solidFill>
                  <a:srgbClr val="000000"/>
                </a:solidFill>
                <a:ea typeface="Microsoft YaHei" panose="020B0503020204020204" charset="-122"/>
                <a:hlinkClick r:id="rId1" tooltip="" action="ppaction://hlinkfile"/>
              </a:rPr>
              <a:t>OAuth</a:t>
            </a:r>
            <a:r>
              <a:rPr lang="en-US" altLang="en-US" sz="1800" b="1" dirty="0" err="1">
                <a:solidFill>
                  <a:srgbClr val="000000"/>
                </a:solidFill>
                <a:ea typeface="Microsoft YaHei" panose="020B0503020204020204" charset="-122"/>
              </a:rPr>
              <a:t> </a:t>
            </a:r>
            <a:r>
              <a:rPr lang="en-US" altLang="en-US" sz="1800" dirty="0" err="1">
                <a:solidFill>
                  <a:srgbClr val="000000"/>
                </a:solidFill>
                <a:ea typeface="Microsoft YaHei" panose="020B0503020204020204" charset="-122"/>
              </a:rPr>
              <a:t>розшифровується як Open Authorization («відкрита авторизація»). Це відкритий стандарт для делегування доступу до ресурсів користувача без необхідності передавати його пароль сторонньому застосунку. Наприклад, користувач може дозволити певному застосунку отримати доступ до свого профілю або email у Google.</a:t>
            </a: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dirty="0" err="1">
                <a:solidFill>
                  <a:srgbClr val="000000"/>
                </a:solidFill>
                <a:ea typeface="Microsoft YaHei" panose="020B0503020204020204" charset="-122"/>
              </a:rPr>
              <a:t>Історично OAuth був створений саме для делегування прав, а не для перевірки особи користувача. Тому ситуація «Увійти через Google» трохи заплутує: OAuth сам по собі не відповідає на питання «хто ти?», </a:t>
            </a:r>
            <a:r>
              <a:rPr lang="uk-UA" altLang="en-US" sz="1800" dirty="0" err="1">
                <a:solidFill>
                  <a:srgbClr val="000000"/>
                </a:solidFill>
                <a:ea typeface="Microsoft YaHei" panose="020B0503020204020204" charset="-122"/>
              </a:rPr>
              <a:t>              </a:t>
            </a:r>
            <a:r>
              <a:rPr lang="en-US" altLang="en-US" sz="1800" dirty="0" err="1">
                <a:solidFill>
                  <a:srgbClr val="000000"/>
                </a:solidFill>
                <a:ea typeface="Microsoft YaHei" panose="020B0503020204020204" charset="-122"/>
              </a:rPr>
              <a:t>він відповідає на питання «що цьому застосунку дозволено робити </a:t>
            </a:r>
            <a:r>
              <a:rPr lang="uk-UA" altLang="en-US" sz="1800" dirty="0" err="1">
                <a:solidFill>
                  <a:srgbClr val="000000"/>
                </a:solidFill>
                <a:ea typeface="Microsoft YaHei" panose="020B0503020204020204" charset="-122"/>
              </a:rPr>
              <a:t>          </a:t>
            </a:r>
            <a:r>
              <a:rPr lang="en-US" altLang="en-US" sz="1800" dirty="0" err="1">
                <a:solidFill>
                  <a:srgbClr val="000000"/>
                </a:solidFill>
                <a:ea typeface="Microsoft YaHei" panose="020B0503020204020204" charset="-122"/>
              </a:rPr>
              <a:t>від твого імені?».</a:t>
            </a:r>
            <a:endParaRPr lang="en-US" altLang="en-US" sz="18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800" dirty="0" err="1">
                <a:solidFill>
                  <a:srgbClr val="000000"/>
                </a:solidFill>
                <a:ea typeface="Microsoft YaHei" panose="020B0503020204020204" charset="-122"/>
              </a:rPr>
              <a:t>Для вирішення задачі автентифікації поверх OAuth 2.0 з'явився OpenID Connect (</a:t>
            </a:r>
            <a:r>
              <a:rPr lang="en-US" altLang="en-US" sz="1800" b="1" dirty="0" err="1">
                <a:solidFill>
                  <a:srgbClr val="000000"/>
                </a:solidFill>
                <a:ea typeface="Microsoft YaHei" panose="020B0503020204020204" charset="-122"/>
                <a:hlinkClick r:id="rId2" tooltip="" action="ppaction://hlinkfile"/>
              </a:rPr>
              <a:t>OIDC</a:t>
            </a:r>
            <a:r>
              <a:rPr lang="en-US" altLang="en-US" sz="1800" dirty="0" err="1">
                <a:solidFill>
                  <a:srgbClr val="000000"/>
                </a:solidFill>
                <a:ea typeface="Microsoft YaHei" panose="020B0503020204020204" charset="-122"/>
              </a:rPr>
              <a:t>). Тому сьогодні їх часто використовують разом: OAuth 2.0 відповідає за authorization/delegation та Access Token, а OIDC </a:t>
            </a:r>
            <a:r>
              <a:rPr lang="uk-UA" altLang="en-US" sz="1800" dirty="0" err="1">
                <a:solidFill>
                  <a:srgbClr val="000000"/>
                </a:solidFill>
                <a:ea typeface="Microsoft YaHei" panose="020B0503020204020204" charset="-122"/>
              </a:rPr>
              <a:t>                    </a:t>
            </a:r>
            <a:r>
              <a:rPr lang="en-US" altLang="en-US" sz="1800" dirty="0" err="1">
                <a:solidFill>
                  <a:srgbClr val="000000"/>
                </a:solidFill>
                <a:ea typeface="Microsoft YaHei" panose="020B0503020204020204" charset="-122"/>
              </a:rPr>
              <a:t>за authentication та ID Token.</a:t>
            </a:r>
            <a:endParaRPr lang="en-US" altLang="en-US" sz="18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ea typeface="Microsoft YaHei" panose="020B0503020204020204" charset="-122"/>
                <a:sym typeface="+mn-ea"/>
              </a:rPr>
              <a:t>React + Web API</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500" dirty="0" err="1">
                <a:solidFill>
                  <a:srgbClr val="000000"/>
                </a:solidFill>
                <a:ea typeface="Microsoft YaHei" panose="020B0503020204020204" charset="-122"/>
              </a:rPr>
              <a:t>У типовій архітектурі React відповідає за UI </a:t>
            </a:r>
            <a:r>
              <a:rPr lang="uk-UA" altLang="en-US" sz="2500" dirty="0" err="1">
                <a:solidFill>
                  <a:srgbClr val="000000"/>
                </a:solidFill>
                <a:ea typeface="Microsoft YaHei" panose="020B0503020204020204" charset="-122"/>
              </a:rPr>
              <a:t>               </a:t>
            </a:r>
            <a:r>
              <a:rPr lang="en-US" altLang="en-US" sz="2500" dirty="0" err="1">
                <a:solidFill>
                  <a:srgbClr val="000000"/>
                </a:solidFill>
                <a:ea typeface="Microsoft YaHei" panose="020B0503020204020204" charset="-122"/>
              </a:rPr>
              <a:t>та взаємодію з користувачем, а Web API виконує автентифікацію, авторизацію та захищає ресурси. React не повинен самостійно вирішувати, чи має користувач доступ</a:t>
            </a:r>
            <a:r>
              <a:rPr lang="uk-UA" altLang="en-US" sz="2500" dirty="0" err="1">
                <a:solidFill>
                  <a:srgbClr val="000000"/>
                </a:solidFill>
                <a:ea typeface="Microsoft YaHei" panose="020B0503020204020204" charset="-122"/>
              </a:rPr>
              <a:t> </a:t>
            </a:r>
            <a:r>
              <a:rPr lang="en-US" altLang="en-US" sz="2500" dirty="0" err="1">
                <a:solidFill>
                  <a:srgbClr val="000000"/>
                </a:solidFill>
                <a:ea typeface="Microsoft YaHei" panose="020B0503020204020204" charset="-122"/>
              </a:rPr>
              <a:t>до DELETE /api/users/10. Остаточна перевірка завжди повинна виконуватися на сервері.</a:t>
            </a:r>
            <a:endParaRPr lang="en-US" altLang="en-US" sz="25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5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ea typeface="Microsoft YaHei" panose="020B0503020204020204" charset="-122"/>
                <a:sym typeface="+mn-ea"/>
              </a:rPr>
              <a:t>Session-Cookie Authentication</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ea typeface="Microsoft YaHei" panose="020B0503020204020204" charset="-122"/>
              </a:rPr>
              <a:t>Класичний підхід полягає в тому, що після успішного входу сервер створює сесію та пов'язує її з конкретним користувачем. Наприклад, Web API може зберегти </a:t>
            </a:r>
            <a:r>
              <a:rPr lang="uk-UA" altLang="en-US" sz="2200" dirty="0" err="1">
                <a:solidFill>
                  <a:srgbClr val="000000"/>
                </a:solidFill>
                <a:ea typeface="Microsoft YaHei" panose="020B0503020204020204" charset="-122"/>
              </a:rPr>
              <a:t>               </a:t>
            </a:r>
            <a:r>
              <a:rPr lang="en-US" altLang="en-US" sz="2200" dirty="0" err="1">
                <a:solidFill>
                  <a:srgbClr val="000000"/>
                </a:solidFill>
                <a:ea typeface="Microsoft YaHei" panose="020B0503020204020204" charset="-122"/>
              </a:rPr>
              <a:t>на сервері інформацію про користувача з ідентифікатором abc123, а браузеру відправити Set-Cookie: sessionId=abc123.</a:t>
            </a:r>
            <a:endParaRPr lang="en-US" altLang="en-US" sz="22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ea typeface="Microsoft YaHei" panose="020B0503020204020204" charset="-122"/>
              </a:rPr>
              <a:t>Під час наступних запитів браузер автоматично відправляє cookie. Сервер отримує sessionId, знаходить відповідну сесію та розуміє, хто виконує запит. </a:t>
            </a:r>
            <a:endParaRPr lang="en-US" altLang="en-US" sz="22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sym typeface="+mn-ea"/>
              </a:rPr>
              <a:t>Головна перевага цього підходу полягає в тому, що браузер дуже добре вміє працювати з cookies. HttpOnly cookie недоступна JavaScript-коду, </a:t>
            </a:r>
            <a:r>
              <a:rPr lang="uk-UA" altLang="en-US" sz="2200" dirty="0" err="1">
                <a:solidFill>
                  <a:srgbClr val="000000"/>
                </a:solidFill>
                <a:sym typeface="+mn-ea"/>
              </a:rPr>
              <a:t>а </a:t>
            </a:r>
            <a:r>
              <a:rPr lang="en-US" altLang="en-US" sz="2200" dirty="0" err="1">
                <a:solidFill>
                  <a:srgbClr val="000000"/>
                </a:solidFill>
                <a:sym typeface="+mn-ea"/>
              </a:rPr>
              <a:t>Secure дозволяє передавати </a:t>
            </a:r>
            <a:r>
              <a:rPr lang="uk-UA" altLang="en-US" sz="2200" dirty="0" err="1">
                <a:solidFill>
                  <a:srgbClr val="000000"/>
                </a:solidFill>
                <a:sym typeface="+mn-ea"/>
              </a:rPr>
              <a:t>	</a:t>
            </a:r>
            <a:r>
              <a:rPr lang="en-US" altLang="en-US" sz="2200" dirty="0" err="1">
                <a:solidFill>
                  <a:srgbClr val="000000"/>
                </a:solidFill>
                <a:sym typeface="+mn-ea"/>
              </a:rPr>
              <a:t>її тільки через HTTPS.</a:t>
            </a:r>
            <a:endParaRPr lang="en-US" altLang="en-US" sz="22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2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ea typeface="Microsoft YaHei" panose="020B0503020204020204" charset="-122"/>
                <a:sym typeface="+mn-ea"/>
              </a:rPr>
              <a:t>JWT та Stateless Authentication</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JWT</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дозволяє передавати інформацію про автентифікованого користувача без необхідності зберігати класичну серверну сесію. Після успішного входу сервер формує підписаний токен, який складається з Header, Payload та Signature.</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React отримує токен і під час звернення до захищеного API передає його в HTTP-заголовку Authorization</a:t>
            </a:r>
            <a:r>
              <a:rPr lang="uk-UA" altLang="en-US" sz="2100" dirty="0" err="1">
                <a:solidFill>
                  <a:srgbClr val="000000"/>
                </a:solidFill>
                <a:ea typeface="Microsoft YaHei" panose="020B0503020204020204" charset="-122"/>
              </a:rPr>
              <a:t>.</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Web API перевіряє підпис, термін дії та claims токена. Якщо все коректно, ASP.NET Core створює ClaimsPrincipal,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і подальша авторизація може використовувати [Authorize]</a:t>
            </a:r>
            <a:r>
              <a:rPr lang="uk-UA" altLang="en-US" sz="2100" dirty="0" err="1">
                <a:solidFill>
                  <a:srgbClr val="000000"/>
                </a:solidFill>
                <a:ea typeface="Microsoft YaHei" panose="020B0503020204020204" charset="-122"/>
              </a:rPr>
              <a:t>.</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Основна перевага JWT полягає в тому, що серверу не потрібно шукати session ID у сховищі на кожному запиті.</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 Це добре підходить для API, мобільних застосунків та розподіленої архітектури</a:t>
            </a:r>
            <a:r>
              <a:rPr lang="uk-UA" altLang="en-US" sz="2100" dirty="0" err="1">
                <a:solidFill>
                  <a:srgbClr val="000000"/>
                </a:solidFill>
                <a:ea typeface="Microsoft YaHei" panose="020B0503020204020204" charset="-122"/>
              </a:rPr>
              <a:t>.</a:t>
            </a:r>
            <a:endParaRPr lang="uk-UA" altLang="en-US" sz="2100" dirty="0" err="1">
              <a:solidFill>
                <a:srgbClr val="000000"/>
              </a:solidFill>
              <a:ea typeface="Microsoft YaHei" panose="020B0503020204020204" charset="-122"/>
            </a:endParaRPr>
          </a:p>
        </p:txBody>
      </p:sp>
      <p:sp>
        <p:nvSpPr>
          <p:cNvPr id="2" name="Text Box 1"/>
          <p:cNvSpPr txBox="1"/>
          <p:nvPr/>
        </p:nvSpPr>
        <p:spPr>
          <a:xfrm>
            <a:off x="133350" y="6351905"/>
            <a:ext cx="9065895" cy="429895"/>
          </a:xfrm>
          <a:prstGeom prst="rect">
            <a:avLst/>
          </a:prstGeom>
          <a:noFill/>
        </p:spPr>
        <p:txBody>
          <a:bodyPr wrap="square" rtlCol="0" anchor="t">
            <a:spAutoFit/>
          </a:bodyPr>
          <a:p>
            <a:r>
              <a:rPr lang="en-US" altLang="en-US" sz="2200" dirty="0" err="1">
                <a:solidFill>
                  <a:srgbClr val="000000"/>
                </a:solidFill>
                <a:sym typeface="+mn-ea"/>
                <a:hlinkClick r:id="rId1" action="ppaction://hlinkfile"/>
              </a:rPr>
              <a:t>https://gist.github.com/sunmeat/bddc18483070e3b976944e25cbff7e44</a:t>
            </a:r>
            <a:endParaRPr lang="en-US" altLang="en-US" sz="2200" dirty="0" err="1">
              <a:solidFill>
                <a:srgbClr val="000000"/>
              </a:solidFill>
              <a:sym typeface="+mn-ea"/>
              <a:hlinkClick r:id="rId1" action="ppaction://hlinkfile"/>
            </a:endParaRP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ea typeface="Microsoft YaHei" panose="020B0503020204020204" charset="-122"/>
                <a:sym typeface="+mn-ea"/>
              </a:rPr>
              <a:t>Access Token + Refresh Token</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У реальних системах часто не хочуть робити Access Token довгоживучим. Якщо токен діє декілька годин або днів і його буде викрадено, зловмисник може використовувати його протягом усього цього часу. Тому Access Token зазвичай роблять короткоживучим.</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dirty="0" err="1">
                <a:solidFill>
                  <a:srgbClr val="000000"/>
                </a:solidFill>
                <a:ea typeface="Microsoft YaHei" panose="020B0503020204020204" charset="-122"/>
              </a:rPr>
              <a:t>Refresh Token вирішує проблему повторного входу. Коли Access Token закінчується, клієнт звертається до endpoint </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на кшталт /auth/refresh. Сервер перевіряє Refresh Token і, якщо він дійсний, видає новий Access Token. Для браузерного застосунку Refresh Token часто зберігають у HttpOnly, Secure cookie, щоб JavaScript не мав прямого доступу до нього.</a:t>
            </a:r>
            <a:endParaRPr lang="en-US" altLang="en-US" sz="21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en-US" sz="4200" dirty="0" err="1">
                <a:solidFill>
                  <a:schemeClr val="bg1"/>
                </a:solidFill>
                <a:ea typeface="Microsoft YaHei" panose="020B0503020204020204" charset="-122"/>
                <a:sym typeface="+mn-ea"/>
              </a:rPr>
              <a:t>OAuth 2.0 та Social Login</a:t>
            </a:r>
            <a:endParaRPr lang="en-US"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900" dirty="0" err="1">
                <a:solidFill>
                  <a:srgbClr val="000000"/>
                </a:solidFill>
                <a:ea typeface="Microsoft YaHei" panose="020B0503020204020204" charset="-122"/>
              </a:rPr>
              <a:t>Коли користувач натискає «Увійти через Google</a:t>
            </a:r>
            <a:r>
              <a:rPr lang="uk-UA" altLang="en-US" sz="1900" dirty="0" err="1">
                <a:solidFill>
                  <a:srgbClr val="000000"/>
                </a:solidFill>
                <a:ea typeface="Microsoft YaHei" panose="020B0503020204020204" charset="-122"/>
              </a:rPr>
              <a:t> </a:t>
            </a:r>
            <a:r>
              <a:rPr lang="en-US" altLang="en-US" sz="1900" dirty="0" err="1">
                <a:solidFill>
                  <a:srgbClr val="000000"/>
                </a:solidFill>
                <a:ea typeface="Microsoft YaHei" panose="020B0503020204020204" charset="-122"/>
              </a:rPr>
              <a:t>/ GitHub», пароль   від Google / GitHub не передається нашому Web API. Замість цього застосунок використовує зовнішнього Identity Provider, який виконує автентифікацію користувача.</a:t>
            </a:r>
            <a:endParaRPr lang="en-US" altLang="en-US" sz="19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900" dirty="0" err="1">
                <a:solidFill>
                  <a:srgbClr val="000000"/>
                </a:solidFill>
                <a:ea typeface="Microsoft YaHei" panose="020B0503020204020204" charset="-122"/>
              </a:rPr>
              <a:t>React-застосунок перенаправляє користувача до Identity Provider (Google, GitHub тощо через сервіси Firebase). Після успішного входу сервер повертає короткочасний </a:t>
            </a:r>
            <a:r>
              <a:rPr lang="en-US" altLang="en-US" sz="1900" b="1" dirty="0" err="1">
                <a:solidFill>
                  <a:srgbClr val="000000"/>
                </a:solidFill>
                <a:ea typeface="Microsoft YaHei" panose="020B0503020204020204" charset="-122"/>
              </a:rPr>
              <a:t>authorization code</a:t>
            </a:r>
            <a:r>
              <a:rPr lang="en-US" altLang="en-US" sz="1900" dirty="0" err="1">
                <a:solidFill>
                  <a:srgbClr val="000000"/>
                </a:solidFill>
                <a:ea typeface="Microsoft YaHei" panose="020B0503020204020204" charset="-122"/>
              </a:rPr>
              <a:t> у пам'ять Firebase SDK (бібліотеки, що виконується у браузері), яка автоматично витягує його з адресного рядка URL після редиректу.</a:t>
            </a:r>
            <a:endParaRPr lang="en-US" altLang="en-US" sz="19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1900" dirty="0" err="1">
                <a:solidFill>
                  <a:srgbClr val="000000"/>
                </a:solidFill>
                <a:ea typeface="Microsoft YaHei" panose="020B0503020204020204" charset="-122"/>
              </a:rPr>
              <a:t>Далі застосунок робить прямий запит на обмін цього коду на токени на захищені сервери Google/Firebase Authentication API. Разом          із кодом надсилається секретний </a:t>
            </a:r>
            <a:r>
              <a:rPr lang="en-US" altLang="en-US" sz="1900" b="1" dirty="0" err="1">
                <a:solidFill>
                  <a:srgbClr val="000000"/>
                </a:solidFill>
                <a:ea typeface="Microsoft YaHei" panose="020B0503020204020204" charset="-122"/>
              </a:rPr>
              <a:t>code verifier</a:t>
            </a:r>
            <a:r>
              <a:rPr lang="en-US" altLang="en-US" sz="1900" dirty="0" err="1">
                <a:solidFill>
                  <a:srgbClr val="000000"/>
                </a:solidFill>
                <a:ea typeface="Microsoft YaHei" panose="020B0503020204020204" charset="-122"/>
              </a:rPr>
              <a:t>, який створює та тимчасово зберігає у sessionStorage браузера сам Firebase SDK. Це захищає від атак перехоплення, адже навіть якщо зловмисник вкраде 	код, він не зможе обміняти його на токени без цього секрету.</a:t>
            </a:r>
            <a:endParaRPr lang="en-US" altLang="en-US" sz="19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chemeClr val="bg1"/>
                </a:solidFill>
                <a:ea typeface="Microsoft YaHei" panose="020B0503020204020204" charset="-122"/>
                <a:sym typeface="+mn-ea"/>
              </a:rPr>
              <a:t>Рекомендації по безпеці</a:t>
            </a:r>
            <a:endParaRPr lang="uk-UA"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ea typeface="Microsoft YaHei" panose="020B0503020204020204" charset="-122"/>
              </a:rPr>
              <a:t>Незалежно від обраного способу автентифікації, базові правила безпеки залишаються актуальними. Production API повинен працювати через HTTPS. Паролі не можна зберігати у відкритому вигляді, а секрети</a:t>
            </a:r>
            <a:r>
              <a:rPr lang="uk-UA" altLang="en-US" sz="2200" dirty="0" err="1">
                <a:solidFill>
                  <a:srgbClr val="000000"/>
                </a:solidFill>
                <a:ea typeface="Microsoft YaHei" panose="020B0503020204020204" charset="-122"/>
              </a:rPr>
              <a:t> та ключі підписів </a:t>
            </a:r>
            <a:r>
              <a:rPr lang="en-US" altLang="en-US" sz="2200" dirty="0" err="1">
                <a:solidFill>
                  <a:srgbClr val="000000"/>
                </a:solidFill>
                <a:ea typeface="Microsoft YaHei" panose="020B0503020204020204" charset="-122"/>
              </a:rPr>
              <a:t>не повинні потрапляти в Git</a:t>
            </a:r>
            <a:r>
              <a:rPr lang="uk-UA" altLang="en-US" sz="2200" dirty="0" err="1">
                <a:solidFill>
                  <a:srgbClr val="000000"/>
                </a:solidFill>
                <a:ea typeface="Microsoft YaHei" panose="020B0503020204020204" charset="-122"/>
              </a:rPr>
              <a:t>.</a:t>
            </a:r>
            <a:endParaRPr lang="en-US" altLang="en-US" sz="22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ea typeface="Microsoft YaHei" panose="020B0503020204020204" charset="-122"/>
              </a:rPr>
              <a:t>Для React особливо важливий </a:t>
            </a:r>
            <a:r>
              <a:rPr lang="en-US" altLang="en-US" sz="2200" b="1" dirty="0" err="1">
                <a:solidFill>
                  <a:srgbClr val="000000"/>
                </a:solidFill>
                <a:ea typeface="Microsoft YaHei" panose="020B0503020204020204" charset="-122"/>
                <a:hlinkClick r:id="rId1" tooltip="" action="ppaction://hlinkfile"/>
              </a:rPr>
              <a:t>XSS</a:t>
            </a:r>
            <a:r>
              <a:rPr lang="en-US" altLang="en-US" sz="2200" dirty="0" err="1">
                <a:solidFill>
                  <a:srgbClr val="000000"/>
                </a:solidFill>
                <a:ea typeface="Microsoft YaHei" panose="020B0503020204020204" charset="-122"/>
              </a:rPr>
              <a:t>. Якщо зловмисник отримує можливість виконати JavaScript у контексті застосунку, він потенційно може отримати доступ до даних, які доступні JavaScript-коду. Тому потрібно обережно працювати з HTML, правильно обробляти користувацькі дані та не зберігати чутливі токени там, де їх легко прочитати JavaScript-коду.</a:t>
            </a:r>
            <a:endParaRPr lang="en-US" altLang="en-US" sz="2200" dirty="0" err="1">
              <a:solidFill>
                <a:srgbClr val="000000"/>
              </a:solidFill>
              <a:ea typeface="Microsoft YaHei" panose="020B0503020204020204" charset="-122"/>
            </a:endParaRPr>
          </a:p>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22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chemeClr val="bg1"/>
                </a:solidFill>
                <a:ea typeface="Microsoft YaHei" panose="020B0503020204020204" charset="-122"/>
                <a:sym typeface="+mn-ea"/>
              </a:rPr>
              <a:t>Схема роботи</a:t>
            </a:r>
            <a:endParaRPr lang="uk-UA"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386205"/>
            <a:ext cx="8043545"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200" dirty="0" err="1">
                <a:solidFill>
                  <a:srgbClr val="000000"/>
                </a:solidFill>
                <a:ea typeface="Microsoft YaHei" panose="020B0503020204020204" charset="-122"/>
              </a:rPr>
              <a:t>Login → Authentication → Identity → Access Token / Cookie → API Request → Authorization → Resource</a:t>
            </a:r>
            <a:endParaRPr lang="en-US" altLang="en-US" sz="2200" dirty="0" err="1">
              <a:solidFill>
                <a:srgbClr val="000000"/>
              </a:solidFill>
              <a:ea typeface="Microsoft YaHei" panose="020B0503020204020204" charset="-122"/>
            </a:endParaRPr>
          </a:p>
        </p:txBody>
      </p:sp>
      <p:pic>
        <p:nvPicPr>
          <p:cNvPr id="2" name="Picture 1" descr="Gemini_Generated_Image_zclytczclytczcly"/>
          <p:cNvPicPr>
            <a:picLocks noChangeAspect="1"/>
          </p:cNvPicPr>
          <p:nvPr/>
        </p:nvPicPr>
        <p:blipFill>
          <a:blip r:embed="rId1"/>
          <a:stretch>
            <a:fillRect/>
          </a:stretch>
        </p:blipFill>
        <p:spPr>
          <a:xfrm>
            <a:off x="2540" y="2156460"/>
            <a:ext cx="9150350" cy="4991100"/>
          </a:xfrm>
          <a:prstGeom prst="rect">
            <a:avLst/>
          </a:prstGeom>
        </p:spPr>
      </p:pic>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chemeClr val="bg1"/>
                </a:solidFill>
                <a:ea typeface="Microsoft YaHei" panose="020B0503020204020204" charset="-122"/>
                <a:sym typeface="+mn-ea"/>
              </a:rPr>
              <a:t>Схема роботи</a:t>
            </a:r>
            <a:endParaRPr lang="uk-UA" altLang="en-US" sz="4200" dirty="0" err="1">
              <a:solidFill>
                <a:schemeClr val="bg1"/>
              </a:solidFill>
              <a:ea typeface="Microsoft YaHei" panose="020B0503020204020204" charset="-122"/>
              <a:sym typeface="+mn-ea"/>
            </a:endParaRPr>
          </a:p>
        </p:txBody>
      </p:sp>
      <p:sp>
        <p:nvSpPr>
          <p:cNvPr id="6146" name="Text Box 6145"/>
          <p:cNvSpPr txBox="1"/>
          <p:nvPr/>
        </p:nvSpPr>
        <p:spPr>
          <a:xfrm>
            <a:off x="481330" y="1430655"/>
            <a:ext cx="8043545" cy="4419600"/>
          </a:xfrm>
          <a:prstGeom prst="rect">
            <a:avLst/>
          </a:prstGeom>
          <a:noFill/>
          <a:ln w="9525">
            <a:noFill/>
          </a:ln>
        </p:spPr>
        <p:txBody>
          <a:bodyPr wrap="square" lIns="91440" tIns="45720" rIns="91440" bIns="45720" anchor="t" anchorCtr="0"/>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Login </a:t>
            </a:r>
            <a:r>
              <a:rPr lang="en-US" altLang="en-US" sz="2100" dirty="0" err="1">
                <a:solidFill>
                  <a:srgbClr val="000000"/>
                </a:solidFill>
                <a:ea typeface="Microsoft YaHei" panose="020B0503020204020204" charset="-122"/>
              </a:rPr>
              <a:t>→ користувач вводить логін і пароль</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Authentication </a:t>
            </a:r>
            <a:r>
              <a:rPr lang="en-US" altLang="en-US" sz="2100" dirty="0" err="1">
                <a:solidFill>
                  <a:srgbClr val="000000"/>
                </a:solidFill>
                <a:ea typeface="Microsoft YaHei" panose="020B0503020204020204" charset="-122"/>
              </a:rPr>
              <a:t>→ система перевіряє, що ці дані правильні</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Identity </a:t>
            </a:r>
            <a:r>
              <a:rPr lang="en-US" altLang="en-US" sz="2100" dirty="0" err="1">
                <a:solidFill>
                  <a:srgbClr val="000000"/>
                </a:solidFill>
                <a:ea typeface="Microsoft YaHei" panose="020B0503020204020204" charset="-122"/>
              </a:rPr>
              <a:t>→ система визначає, хто саме це: user ID, email, ролі, claims тощо</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Access Token / Cookie</a:t>
            </a:r>
            <a:r>
              <a:rPr lang="en-US" altLang="en-US" sz="2100" dirty="0" err="1">
                <a:solidFill>
                  <a:srgbClr val="000000"/>
                </a:solidFill>
                <a:ea typeface="Microsoft YaHei" panose="020B0503020204020204" charset="-122"/>
              </a:rPr>
              <a:t> → система видає механізм, який дозволяє підтверджувати цю особу в наступних запитах</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API Request</a:t>
            </a:r>
            <a:r>
              <a:rPr lang="en-US" altLang="en-US" sz="2100" dirty="0" err="1">
                <a:solidFill>
                  <a:srgbClr val="000000"/>
                </a:solidFill>
                <a:ea typeface="Microsoft YaHei" panose="020B0503020204020204" charset="-122"/>
              </a:rPr>
              <a:t> → клієнт надсилає запит разом із токеном</a:t>
            </a:r>
            <a:r>
              <a:rPr lang="uk-UA" altLang="en-US" sz="2100" dirty="0" err="1">
                <a:solidFill>
                  <a:srgbClr val="000000"/>
                </a:solidFill>
                <a:ea typeface="Microsoft YaHei" panose="020B0503020204020204" charset="-122"/>
              </a:rPr>
              <a:t>  </a:t>
            </a:r>
            <a:r>
              <a:rPr lang="en-US" altLang="en-US" sz="2100" dirty="0" err="1">
                <a:solidFill>
                  <a:srgbClr val="000000"/>
                </a:solidFill>
                <a:ea typeface="Microsoft YaHei" panose="020B0503020204020204" charset="-122"/>
              </a:rPr>
              <a:t> або cookie</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Authorization </a:t>
            </a:r>
            <a:r>
              <a:rPr lang="en-US" altLang="en-US" sz="2100" dirty="0" err="1">
                <a:solidFill>
                  <a:srgbClr val="000000"/>
                </a:solidFill>
                <a:ea typeface="Microsoft YaHei" panose="020B0503020204020204" charset="-122"/>
              </a:rPr>
              <a:t>→ сервер перевіряє, що цьому користувачу дозволено робити</a:t>
            </a:r>
            <a:endParaRPr lang="en-US" altLang="en-US" sz="2100" dirty="0" err="1">
              <a:solidFill>
                <a:srgbClr val="000000"/>
              </a:solidFill>
              <a:ea typeface="Microsoft YaHei" panose="020B0503020204020204" charset="-122"/>
            </a:endParaRPr>
          </a:p>
          <a:p>
            <a:pPr marL="342900" indent="-342900" algn="l" defTabSz="457200">
              <a:spcBef>
                <a:spcPts val="6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2100" b="1" dirty="0" err="1">
                <a:solidFill>
                  <a:srgbClr val="000000"/>
                </a:solidFill>
                <a:ea typeface="Microsoft YaHei" panose="020B0503020204020204" charset="-122"/>
              </a:rPr>
              <a:t>Resource </a:t>
            </a:r>
            <a:r>
              <a:rPr lang="en-US" altLang="en-US" sz="2100" dirty="0" err="1">
                <a:solidFill>
                  <a:srgbClr val="000000"/>
                </a:solidFill>
                <a:ea typeface="Microsoft YaHei" panose="020B0503020204020204" charset="-122"/>
              </a:rPr>
              <a:t>→ якщо доступ дозволений, сервер виконує операцію або повертає дані</a:t>
            </a:r>
            <a:endParaRPr lang="en-US" altLang="en-US"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rgbClr val="FFFFFF"/>
                </a:solidFill>
                <a:ea typeface="Microsoft YaHei" panose="020B0503020204020204" charset="-122"/>
              </a:rPr>
              <a:t>Початковий приклад</a:t>
            </a:r>
            <a:endParaRPr lang="uk-UA"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https://github.com/sunmeat/aspnetcore_auth</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2716530" y="2484120"/>
            <a:ext cx="3703320" cy="4570730"/>
          </a:xfrm>
          <a:prstGeom prst="rect">
            <a:avLst/>
          </a:prstGeom>
        </p:spPr>
      </p:pic>
    </p:spTree>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rgbClr val="FFFFFF"/>
                </a:solidFill>
                <a:ea typeface="Microsoft YaHei" panose="020B0503020204020204" charset="-122"/>
              </a:rPr>
              <a:t>Перевірка токену на бекенді</a:t>
            </a:r>
            <a:endParaRPr lang="uk-UA" altLang="en-US" sz="4200" dirty="0" err="1">
              <a:solidFill>
                <a:srgbClr val="FFFFFF"/>
              </a:solidFill>
              <a:ea typeface="Microsoft YaHei" panose="020B0503020204020204" charset="-122"/>
            </a:endParaRPr>
          </a:p>
        </p:txBody>
      </p:sp>
      <p:sp>
        <p:nvSpPr>
          <p:cNvPr id="6146" name="Text Box 6145"/>
          <p:cNvSpPr txBox="1"/>
          <p:nvPr/>
        </p:nvSpPr>
        <p:spPr>
          <a:xfrm>
            <a:off x="611505" y="143065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https://gist.github.com/sunmeat/caa1fc8c1d7065eadb8a513a68b953b7</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sp>
        <p:nvSpPr>
          <p:cNvPr id="2" name="Text Box 1"/>
          <p:cNvSpPr txBox="1"/>
          <p:nvPr/>
        </p:nvSpPr>
        <p:spPr>
          <a:xfrm>
            <a:off x="506095" y="2580005"/>
            <a:ext cx="8074660" cy="3491865"/>
          </a:xfrm>
          <a:prstGeom prst="rect">
            <a:avLst/>
          </a:prstGeom>
        </p:spPr>
        <p:txBody>
          <a:bodyPr wrap="square">
            <a:spAutoFit/>
          </a:bodyPr>
          <a:p>
            <a:pPr marL="285750" indent="-285750">
              <a:buFont typeface="Arial" panose="020B0604020202020204" pitchFamily="34" charset="0"/>
              <a:buChar char="•"/>
            </a:pPr>
            <a:r>
              <a:rPr sz="1700">
                <a:solidFill>
                  <a:schemeClr val="tx1"/>
                </a:solidFill>
              </a:rPr>
              <a:t>Користувач входить через Firebase Authentication, який перевіряє його дані </a:t>
            </a:r>
            <a:r>
              <a:rPr lang="uk-UA" sz="1700">
                <a:solidFill>
                  <a:schemeClr val="tx1"/>
                </a:solidFill>
              </a:rPr>
              <a:t>     </a:t>
            </a:r>
            <a:r>
              <a:rPr sz="1700">
                <a:solidFill>
                  <a:schemeClr val="tx1"/>
                </a:solidFill>
              </a:rPr>
              <a:t>та підтверджує успішну автентифікацію</a:t>
            </a:r>
            <a:endParaRPr sz="1700">
              <a:solidFill>
                <a:schemeClr val="tx1"/>
              </a:solidFill>
            </a:endParaRPr>
          </a:p>
          <a:p>
            <a:pPr marL="285750" indent="-285750">
              <a:buFont typeface="Arial" panose="020B0604020202020204" pitchFamily="34" charset="0"/>
              <a:buChar char="•"/>
            </a:pPr>
            <a:r>
              <a:rPr sz="1700">
                <a:solidFill>
                  <a:schemeClr val="tx1"/>
                </a:solidFill>
              </a:rPr>
              <a:t>Firebase видає JWT-токен, що містить інформацію про користувача, термін дії та криптографічний підпис</a:t>
            </a:r>
            <a:endParaRPr sz="1700">
              <a:solidFill>
                <a:schemeClr val="tx1"/>
              </a:solidFill>
            </a:endParaRPr>
          </a:p>
          <a:p>
            <a:pPr marL="285750" indent="-285750">
              <a:buFont typeface="Arial" panose="020B0604020202020204" pitchFamily="34" charset="0"/>
              <a:buChar char="•"/>
            </a:pPr>
            <a:r>
              <a:rPr sz="1700">
                <a:solidFill>
                  <a:schemeClr val="tx1"/>
                </a:solidFill>
              </a:rPr>
              <a:t>React отримує JWT-токен та використовує його для подальших запитів </a:t>
            </a:r>
            <a:r>
              <a:rPr lang="uk-UA" sz="1700">
                <a:solidFill>
                  <a:schemeClr val="tx1"/>
                </a:solidFill>
              </a:rPr>
              <a:t>           </a:t>
            </a:r>
            <a:r>
              <a:rPr sz="1700">
                <a:solidFill>
                  <a:schemeClr val="tx1"/>
                </a:solidFill>
              </a:rPr>
              <a:t>до Web API</a:t>
            </a:r>
            <a:endParaRPr sz="1700">
              <a:solidFill>
                <a:schemeClr val="tx1"/>
              </a:solidFill>
            </a:endParaRPr>
          </a:p>
          <a:p>
            <a:pPr marL="285750" indent="-285750">
              <a:buFont typeface="Arial" panose="020B0604020202020204" pitchFamily="34" charset="0"/>
              <a:buChar char="•"/>
            </a:pPr>
            <a:r>
              <a:rPr sz="1700">
                <a:solidFill>
                  <a:schemeClr val="tx1"/>
                </a:solidFill>
              </a:rPr>
              <a:t>React додає JWT до HTTP-запиту в заголовку Authorization: Bearer &lt;token&gt;. </a:t>
            </a:r>
            <a:endParaRPr sz="1700">
              <a:solidFill>
                <a:schemeClr val="tx1"/>
              </a:solidFill>
            </a:endParaRPr>
          </a:p>
          <a:p>
            <a:pPr marL="285750" indent="-285750">
              <a:buFont typeface="Arial" panose="020B0604020202020204" pitchFamily="34" charset="0"/>
              <a:buChar char="•"/>
            </a:pPr>
            <a:r>
              <a:rPr sz="1700">
                <a:solidFill>
                  <a:schemeClr val="tx1"/>
                </a:solidFill>
              </a:rPr>
              <a:t>ASP.NET Core перевіряє JWT, зокрема його підпис, видавця, аудиторію </a:t>
            </a:r>
            <a:r>
              <a:rPr lang="uk-UA" sz="1700">
                <a:solidFill>
                  <a:schemeClr val="tx1"/>
                </a:solidFill>
              </a:rPr>
              <a:t>           </a:t>
            </a:r>
            <a:r>
              <a:rPr sz="1700">
                <a:solidFill>
                  <a:schemeClr val="tx1"/>
                </a:solidFill>
              </a:rPr>
              <a:t>та термін дії</a:t>
            </a:r>
            <a:endParaRPr sz="1700">
              <a:solidFill>
                <a:schemeClr val="tx1"/>
              </a:solidFill>
            </a:endParaRPr>
          </a:p>
          <a:p>
            <a:pPr marL="285750" indent="-285750">
              <a:buFont typeface="Arial" panose="020B0604020202020204" pitchFamily="34" charset="0"/>
              <a:buChar char="•"/>
            </a:pPr>
            <a:r>
              <a:rPr sz="1700">
                <a:solidFill>
                  <a:schemeClr val="tx1"/>
                </a:solidFill>
              </a:rPr>
              <a:t>[Authorize] перевіряє доступ і дозволяє запит лише автентифікованому користувачу</a:t>
            </a:r>
            <a:endParaRPr sz="1700">
              <a:solidFill>
                <a:schemeClr val="tx1"/>
              </a:solidFill>
            </a:endParaRPr>
          </a:p>
          <a:p>
            <a:pPr marL="285750" indent="-285750">
              <a:buFont typeface="Arial" panose="020B0604020202020204" pitchFamily="34" charset="0"/>
              <a:buChar char="•"/>
            </a:pPr>
            <a:r>
              <a:rPr sz="1700">
                <a:solidFill>
                  <a:schemeClr val="tx1"/>
                </a:solidFill>
              </a:rPr>
              <a:t>Запит потрапляє до Controller, де виконується відповідний метод після успішного проходження перевірок</a:t>
            </a:r>
            <a:endParaRPr sz="1700">
              <a:solidFill>
                <a:schemeClr val="tx1"/>
              </a:solidFill>
            </a:endParaRPr>
          </a:p>
        </p:txBody>
      </p:sp>
    </p:spTree>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4167505" y="2756535"/>
            <a:ext cx="9144000" cy="3989705"/>
          </a:xfrm>
          <a:prstGeom prst="rect">
            <a:avLst/>
          </a:prstGeom>
        </p:spPr>
      </p:pic>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uk-UA" sz="4200" dirty="0" err="1">
                <a:solidFill>
                  <a:srgbClr val="FFFFFF"/>
                </a:solidFill>
                <a:ea typeface="Microsoft YaHei" panose="020B0503020204020204" charset="-122"/>
              </a:rPr>
              <a:t>Google</a:t>
            </a:r>
            <a:endParaRPr lang="en-US" altLang="uk-UA"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2" action="ppaction://hlinkfile"/>
              </a:rPr>
              <a:t>https://gist.github.com/sunmeat/150bff13d6f1f365e9f1e7a3822fc895</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2" name="Picture 1"/>
          <p:cNvPicPr>
            <a:picLocks noChangeAspect="1"/>
          </p:cNvPicPr>
          <p:nvPr/>
        </p:nvPicPr>
        <p:blipFill>
          <a:blip r:embed="rId3"/>
          <a:stretch>
            <a:fillRect/>
          </a:stretch>
        </p:blipFill>
        <p:spPr>
          <a:xfrm>
            <a:off x="62230" y="2551430"/>
            <a:ext cx="4930140" cy="5044440"/>
          </a:xfrm>
          <a:prstGeom prst="rect">
            <a:avLst/>
          </a:prstGeom>
        </p:spPr>
      </p:pic>
    </p:spTree>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US" altLang="uk-UA" sz="4200" dirty="0" err="1">
                <a:solidFill>
                  <a:srgbClr val="FFFFFF"/>
                </a:solidFill>
                <a:ea typeface="Microsoft YaHei" panose="020B0503020204020204" charset="-122"/>
              </a:rPr>
              <a:t>+</a:t>
            </a:r>
            <a:r>
              <a:rPr lang="uk-UA" altLang="uk-UA" sz="4200" dirty="0" err="1">
                <a:solidFill>
                  <a:srgbClr val="FFFFFF"/>
                </a:solidFill>
                <a:ea typeface="Microsoft YaHei" panose="020B0503020204020204" charset="-122"/>
              </a:rPr>
              <a:t> пошта без верифікації</a:t>
            </a:r>
            <a:endParaRPr lang="uk-UA" altLang="uk-UA"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https://gist.github.com/sunmeat/48dd4936fbe4bfb90bbe3fc3907e3a85</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2" name="Picture 1"/>
          <p:cNvPicPr>
            <a:picLocks noChangeAspect="1"/>
          </p:cNvPicPr>
          <p:nvPr/>
        </p:nvPicPr>
        <p:blipFill>
          <a:blip r:embed="rId2"/>
          <a:stretch>
            <a:fillRect/>
          </a:stretch>
        </p:blipFill>
        <p:spPr>
          <a:xfrm>
            <a:off x="2891790" y="2574290"/>
            <a:ext cx="3352165" cy="4641850"/>
          </a:xfrm>
          <a:prstGeom prst="rect">
            <a:avLst/>
          </a:prstGeom>
        </p:spPr>
      </p:pic>
    </p:spTree>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rgbClr val="FFFFFF"/>
                </a:solidFill>
                <a:ea typeface="Microsoft YaHei" panose="020B0503020204020204" charset="-122"/>
              </a:rPr>
              <a:t>Верифікація пошти</a:t>
            </a:r>
            <a:endParaRPr lang="uk-UA"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https://gist.github.com/sunmeat/41cc4f7e4b2d4cb18ae35bc84702954f</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2" name="Picture 1" descr="Screenshot 2026-09-24 130625"/>
          <p:cNvPicPr>
            <a:picLocks noChangeAspect="1"/>
          </p:cNvPicPr>
          <p:nvPr/>
        </p:nvPicPr>
        <p:blipFill>
          <a:blip r:embed="rId2"/>
          <a:stretch>
            <a:fillRect/>
          </a:stretch>
        </p:blipFill>
        <p:spPr>
          <a:xfrm>
            <a:off x="1520190" y="2545080"/>
            <a:ext cx="6103620" cy="3634740"/>
          </a:xfrm>
          <a:prstGeom prst="rect">
            <a:avLst/>
          </a:prstGeom>
        </p:spPr>
      </p:pic>
    </p:spTree>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uk-UA" sz="4200" dirty="0" err="1">
                <a:solidFill>
                  <a:srgbClr val="FFFFFF"/>
                </a:solidFill>
                <a:ea typeface="Microsoft YaHei" panose="020B0503020204020204" charset="-122"/>
              </a:rPr>
              <a:t>Все це + телефон</a:t>
            </a:r>
            <a:endParaRPr lang="uk-UA" altLang="uk-UA"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https://gist.github.com/sunmeat/bc5e852f6402e6b4d16b48229a2cd565</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3" name="Picture 2"/>
          <p:cNvPicPr>
            <a:picLocks noChangeAspect="1"/>
          </p:cNvPicPr>
          <p:nvPr/>
        </p:nvPicPr>
        <p:blipFill>
          <a:blip r:embed="rId2"/>
          <a:stretch>
            <a:fillRect/>
          </a:stretch>
        </p:blipFill>
        <p:spPr>
          <a:xfrm>
            <a:off x="8849360" y="549275"/>
            <a:ext cx="7048500" cy="5387340"/>
          </a:xfrm>
          <a:prstGeom prst="rect">
            <a:avLst/>
          </a:prstGeom>
        </p:spPr>
      </p:pic>
      <p:pic>
        <p:nvPicPr>
          <p:cNvPr id="2" name="Picture 1"/>
          <p:cNvPicPr>
            <a:picLocks noChangeAspect="1"/>
          </p:cNvPicPr>
          <p:nvPr/>
        </p:nvPicPr>
        <p:blipFill>
          <a:blip r:embed="rId3"/>
          <a:stretch>
            <a:fillRect/>
          </a:stretch>
        </p:blipFill>
        <p:spPr>
          <a:xfrm>
            <a:off x="0" y="3344545"/>
            <a:ext cx="9144000" cy="3547110"/>
          </a:xfrm>
          <a:prstGeom prst="rect">
            <a:avLst/>
          </a:prstGeom>
        </p:spPr>
      </p:pic>
    </p:spTree>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rgbClr val="FFFFFF"/>
                </a:solidFill>
                <a:ea typeface="Microsoft YaHei" panose="020B0503020204020204" charset="-122"/>
              </a:rPr>
              <a:t>Об’єднання акаунтів</a:t>
            </a:r>
            <a:endParaRPr lang="uk-UA"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uk-UA" sz="3200" b="1" dirty="0" err="1">
                <a:solidFill>
                  <a:srgbClr val="000000"/>
                </a:solidFill>
                <a:ea typeface="Microsoft YaHei" panose="020B0503020204020204" charset="-122"/>
              </a:rPr>
              <a:t>Оновлений приклад:</a:t>
            </a:r>
            <a:endParaRPr lang="uk-UA"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ea typeface="Microsoft YaHei" panose="020B0503020204020204" charset="-122"/>
                <a:hlinkClick r:id="rId1" action="ppaction://hlinkfile"/>
              </a:rPr>
              <a:t>https://github.com/sunmeat/aspnetcore_auth2.0</a:t>
            </a:r>
            <a:endParaRPr lang="en-US" altLang="en-US" sz="3200" b="1" dirty="0" err="1">
              <a:solidFill>
                <a:srgbClr val="000000"/>
              </a:solidFill>
              <a:ea typeface="Microsoft YaHei" panose="020B0503020204020204" charset="-122"/>
            </a:endParaRPr>
          </a:p>
          <a:p>
            <a:pPr algn="ct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ea typeface="Microsoft YaHei" panose="020B0503020204020204" charset="-122"/>
            </a:endParaRPr>
          </a:p>
        </p:txBody>
      </p:sp>
      <p:pic>
        <p:nvPicPr>
          <p:cNvPr id="2" name="Picture 1" descr="Screenshot 2026-09-24 154914"/>
          <p:cNvPicPr>
            <a:picLocks noChangeAspect="1"/>
          </p:cNvPicPr>
          <p:nvPr/>
        </p:nvPicPr>
        <p:blipFill>
          <a:blip r:embed="rId2"/>
          <a:stretch>
            <a:fillRect/>
          </a:stretch>
        </p:blipFill>
        <p:spPr>
          <a:xfrm>
            <a:off x="-153670" y="2619375"/>
            <a:ext cx="3850640" cy="4456430"/>
          </a:xfrm>
          <a:prstGeom prst="rect">
            <a:avLst/>
          </a:prstGeom>
        </p:spPr>
      </p:pic>
      <p:pic>
        <p:nvPicPr>
          <p:cNvPr id="3" name="Picture 2" descr="Screenshot 2026-09-24 154225"/>
          <p:cNvPicPr>
            <a:picLocks noChangeAspect="1"/>
          </p:cNvPicPr>
          <p:nvPr/>
        </p:nvPicPr>
        <p:blipFill>
          <a:blip r:embed="rId3"/>
          <a:stretch>
            <a:fillRect/>
          </a:stretch>
        </p:blipFill>
        <p:spPr>
          <a:xfrm>
            <a:off x="3896995" y="3969385"/>
            <a:ext cx="9144000" cy="2606675"/>
          </a:xfrm>
          <a:prstGeom prst="rect">
            <a:avLst/>
          </a:prstGeom>
        </p:spPr>
      </p:pic>
    </p:spTree>
  </p:cSld>
  <p:clrMapOvr>
    <a:masterClrMapping/>
  </p:clrMapOvr>
  <p:transition spd="med"/>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en-US" sz="4200" dirty="0" err="1">
                <a:solidFill>
                  <a:srgbClr val="FFFFFF"/>
                </a:solidFill>
                <a:ea typeface="Microsoft YaHei" panose="020B0503020204020204" charset="-122"/>
              </a:rPr>
              <a:t>Практика</a:t>
            </a:r>
            <a:endParaRPr lang="uk-UA" altLang="en-US" sz="4200" dirty="0" err="1">
              <a:solidFill>
                <a:srgbClr val="FFFFFF"/>
              </a:solidFill>
              <a:ea typeface="Microsoft YaHei" panose="020B0503020204020204" charset="-122"/>
            </a:endParaRPr>
          </a:p>
        </p:txBody>
      </p:sp>
      <p:sp>
        <p:nvSpPr>
          <p:cNvPr id="6146" name="Text Box 6145"/>
          <p:cNvSpPr txBox="1"/>
          <p:nvPr/>
        </p:nvSpPr>
        <p:spPr>
          <a:xfrm>
            <a:off x="611505" y="1386205"/>
            <a:ext cx="7913370"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uk-UA" sz="2100" b="1" dirty="0" err="1">
                <a:solidFill>
                  <a:srgbClr val="000000"/>
                </a:solidFill>
                <a:ea typeface="Microsoft YaHei" panose="020B0503020204020204" charset="-122"/>
              </a:rPr>
              <a:t>Додати автентифікацію та авторизацію до проєкту Кінопошук, задеплоїти, надіслати посилання на задеплоєний сайт.</a:t>
            </a:r>
            <a:endParaRPr lang="uk-UA" sz="2100" dirty="0" err="1">
              <a:solidFill>
                <a:srgbClr val="000000"/>
              </a:solidFill>
              <a:ea typeface="Microsoft YaHei" panose="020B0503020204020204" charset="-122"/>
            </a:endParaRP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7169"/>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uk-UA" sz="4200" dirty="0" err="1">
                <a:solidFill>
                  <a:srgbClr val="FFFFFF"/>
                </a:solidFill>
                <a:latin typeface="Arial" panose="020B0604020202020204" pitchFamily="34" charset="0"/>
              </a:rPr>
              <a:t>ДЗ</a:t>
            </a:r>
            <a:endParaRPr lang="uk-UA" altLang="uk-UA" sz="4200" dirty="0" err="1">
              <a:solidFill>
                <a:srgbClr val="FFFFFF"/>
              </a:solidFill>
              <a:latin typeface="Arial" panose="020B0604020202020204" pitchFamily="34" charset="0"/>
            </a:endParaRPr>
          </a:p>
        </p:txBody>
      </p:sp>
      <p:sp>
        <p:nvSpPr>
          <p:cNvPr id="10243" name="Text Box 7170"/>
          <p:cNvSpPr txBox="1"/>
          <p:nvPr/>
        </p:nvSpPr>
        <p:spPr>
          <a:xfrm>
            <a:off x="471805" y="1412875"/>
            <a:ext cx="8046720" cy="4419600"/>
          </a:xfrm>
          <a:prstGeom prst="rect">
            <a:avLst/>
          </a:prstGeom>
          <a:noFill/>
          <a:ln w="9525">
            <a:noFill/>
          </a:ln>
        </p:spPr>
        <p:txBody>
          <a:bodyPr wrap="square" lIns="91440" tIns="45720" rIns="91440" bIns="45720" anchor="t" anchorCtr="0"/>
          <a:p>
            <a:pPr defTabSz="457200">
              <a:spcBef>
                <a:spcPts val="600"/>
              </a:spcBef>
              <a:buClrTx/>
              <a:buSzPct val="80000"/>
              <a:buFontTx/>
              <a:buNone/>
              <a:tabLst>
                <a:tab pos="570230" algn="l"/>
                <a:tab pos="1484630" algn="l"/>
                <a:tab pos="2399030" algn="l"/>
                <a:tab pos="3313430" algn="l"/>
                <a:tab pos="4227830" algn="l"/>
                <a:tab pos="5142230" algn="l"/>
                <a:tab pos="6056630" algn="l"/>
                <a:tab pos="6971030" algn="l"/>
                <a:tab pos="7885430" algn="l"/>
                <a:tab pos="8799830" algn="l"/>
                <a:tab pos="9714230" algn="l"/>
              </a:tabLst>
            </a:pPr>
            <a:r>
              <a:rPr lang="uk-UA" sz="2500" b="1" dirty="0" err="1">
                <a:solidFill>
                  <a:srgbClr val="000000"/>
                </a:solidFill>
                <a:sym typeface="+mn-ea"/>
              </a:rPr>
              <a:t>Додати автентифікацію та авторизацію до курсового проєкту.</a:t>
            </a:r>
            <a:endParaRPr lang="uk-UA" sz="2500" dirty="0" err="1">
              <a:solidFill>
                <a:schemeClr val="tx1"/>
              </a:solidFill>
              <a:latin typeface="Arial" panose="020B0604020202020204" pitchFamily="34" charset="0"/>
            </a:endParaRPr>
          </a:p>
        </p:txBody>
      </p:sp>
    </p:spTree>
  </p:cSld>
  <p:clrMapOvr>
    <a:masterClrMapping/>
  </p:clrMapOvr>
  <p:transition spd="med"/>
</p:sld>
</file>

<file path=ppt/theme/theme1.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B973167729B9844A7328B341F515C98" ma:contentTypeVersion="12" ma:contentTypeDescription="Создание документа." ma:contentTypeScope="" ma:versionID="d6ee7b10c34e512e5b0e393e1ebaa933">
  <xsd:schema xmlns:xsd="http://www.w3.org/2001/XMLSchema" xmlns:xs="http://www.w3.org/2001/XMLSchema" xmlns:p="http://schemas.microsoft.com/office/2006/metadata/properties" xmlns:ns2="d6ce6581-db8d-4dc6-8601-0a8e8076c593" xmlns:ns3="bbbe7e71-a692-48df-be9d-e5dc64190325" targetNamespace="http://schemas.microsoft.com/office/2006/metadata/properties" ma:root="true" ma:fieldsID="0b92462fc06dbb24bfa1325724e44fec" ns2:_="" ns3:_="">
    <xsd:import namespace="d6ce6581-db8d-4dc6-8601-0a8e8076c593"/>
    <xsd:import namespace="bbbe7e71-a692-48df-be9d-e5dc641903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ce6581-db8d-4dc6-8601-0a8e8076c5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Теги изображений" ma:readOnly="false" ma:fieldId="{5cf76f15-5ced-4ddc-b409-7134ff3c332f}" ma:taxonomyMulti="true" ma:sspId="168b2bcd-3960-4df8-afb5-1b38f073375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be7e71-a692-48df-be9d-e5dc6419032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df2618-9916-4c02-9aa1-42dcc332f6bf}" ma:internalName="TaxCatchAll" ma:showField="CatchAllData" ma:web="bbbe7e71-a692-48df-be9d-e5dc64190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be7e71-a692-48df-be9d-e5dc64190325" xsi:nil="true"/>
    <lcf76f155ced4ddcb4097134ff3c332f xmlns="d6ce6581-db8d-4dc6-8601-0a8e8076c5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BE6B3D9-69AD-4FBD-9F2D-39D4232EB7D6}"/>
</file>

<file path=customXml/itemProps2.xml><?xml version="1.0" encoding="utf-8"?>
<ds:datastoreItem xmlns:ds="http://schemas.openxmlformats.org/officeDocument/2006/customXml" ds:itemID="{CD4AC52D-41AD-47BF-998E-F1B7B71DDAA7}"/>
</file>

<file path=customXml/itemProps3.xml><?xml version="1.0" encoding="utf-8"?>
<ds:datastoreItem xmlns:ds="http://schemas.openxmlformats.org/officeDocument/2006/customXml" ds:itemID="{01D9C29F-6701-4125-81A3-ACD081C51B35}"/>
</file>

<file path=docProps/app.xml><?xml version="1.0" encoding="utf-8"?>
<Properties xmlns="http://schemas.openxmlformats.org/officeDocument/2006/extended-properties" xmlns:vt="http://schemas.openxmlformats.org/officeDocument/2006/docPropsVTypes">
  <TotalTime>0</TotalTime>
  <Words>9867</Words>
  <Application>WPS Presentation</Application>
  <PresentationFormat/>
  <Paragraphs>147</Paragraphs>
  <Slides>23</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23</vt:i4>
      </vt:variant>
    </vt:vector>
  </HeadingPairs>
  <TitlesOfParts>
    <vt:vector size="33" baseType="lpstr">
      <vt:lpstr>Arial</vt:lpstr>
      <vt:lpstr>SimSun</vt:lpstr>
      <vt:lpstr>Wingdings</vt:lpstr>
      <vt:lpstr>Times New Roman</vt:lpstr>
      <vt:lpstr>Microsoft YaHei</vt:lpstr>
      <vt:lpstr>Arial Black</vt:lpstr>
      <vt:lpstr>Arial Unicode MS</vt:lpstr>
      <vt:lpstr>Arial Unicode MS</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Александр Загор�</cp:lastModifiedBy>
  <cp:revision>106</cp:revision>
  <dcterms:created xsi:type="dcterms:W3CDTF">2005-09-22T16:26:00Z</dcterms:created>
  <dcterms:modified xsi:type="dcterms:W3CDTF">2026-09-24T12:51:07Z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88202296253F431A9DC5B73F9C110873_12</vt:lpwstr>
  </property>
  <property fmtid="{D5CDD505-2E9C-101B-9397-08002B2CF9AE}" pid="3" name="KSOProductBuildVer">
    <vt:lpwstr>1033-12.1.0.28485</vt:lpwstr>
  </property>
  <property fmtid="{D5CDD505-2E9C-101B-9397-08002B2CF9AE}" pid="4" name="ContentTypeId">
    <vt:lpwstr>0x010100CB973167729B9844A7328B341F515C98</vt:lpwstr>
  </property>
</Properties>
</file>