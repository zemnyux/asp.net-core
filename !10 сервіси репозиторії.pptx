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</p:sldMasterIdLst>
  <p:notesMasterIdLst>
    <p:notesMasterId r:id="rId6"/>
  </p:notesMasterIdLst>
  <p:sldIdLst>
    <p:sldId id="256" r:id="rId5"/>
    <p:sldId id="257" r:id="rId7"/>
    <p:sldId id="732" r:id="rId8"/>
    <p:sldId id="733" r:id="rId9"/>
    <p:sldId id="734" r:id="rId10"/>
    <p:sldId id="735" r:id="rId11"/>
    <p:sldId id="736" r:id="rId12"/>
    <p:sldId id="716" r:id="rId13"/>
    <p:sldId id="717" r:id="rId14"/>
    <p:sldId id="718" r:id="rId15"/>
    <p:sldId id="719" r:id="rId16"/>
    <p:sldId id="720" r:id="rId17"/>
    <p:sldId id="721" r:id="rId18"/>
    <p:sldId id="722" r:id="rId19"/>
    <p:sldId id="723" r:id="rId20"/>
    <p:sldId id="724" r:id="rId21"/>
    <p:sldId id="725" r:id="rId22"/>
    <p:sldId id="726" r:id="rId23"/>
    <p:sldId id="727" r:id="rId24"/>
    <p:sldId id="626" r:id="rId25"/>
    <p:sldId id="688" r:id="rId26"/>
    <p:sldId id="689" r:id="rId27"/>
    <p:sldId id="690" r:id="rId28"/>
    <p:sldId id="691" r:id="rId29"/>
    <p:sldId id="737" r:id="rId30"/>
    <p:sldId id="693" r:id="rId31"/>
    <p:sldId id="694" r:id="rId32"/>
    <p:sldId id="695" r:id="rId33"/>
    <p:sldId id="696" r:id="rId34"/>
    <p:sldId id="697" r:id="rId35"/>
    <p:sldId id="698" r:id="rId36"/>
    <p:sldId id="699" r:id="rId37"/>
    <p:sldId id="666" r:id="rId38"/>
    <p:sldId id="728" r:id="rId39"/>
    <p:sldId id="729" r:id="rId40"/>
    <p:sldId id="730" r:id="rId41"/>
    <p:sldId id="731" r:id="rId42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61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4.xml"/><Relationship Id="rId26" Type="http://schemas.openxmlformats.org/officeDocument/2006/relationships/slide" Target="slides/slide21.xml"/><Relationship Id="rId18" Type="http://schemas.openxmlformats.org/officeDocument/2006/relationships/slide" Target="slides/slide13.xml"/><Relationship Id="rId13" Type="http://schemas.openxmlformats.org/officeDocument/2006/relationships/slide" Target="slides/slide8.xml"/><Relationship Id="rId42" Type="http://schemas.openxmlformats.org/officeDocument/2006/relationships/slide" Target="slides/slide37.xml"/><Relationship Id="rId34" Type="http://schemas.openxmlformats.org/officeDocument/2006/relationships/slide" Target="slides/slide29.xml"/><Relationship Id="rId21" Type="http://schemas.openxmlformats.org/officeDocument/2006/relationships/slide" Target="slides/slide16.xml"/><Relationship Id="rId47" Type="http://schemas.openxmlformats.org/officeDocument/2006/relationships/customXml" Target="../customXml/item1.xml"/><Relationship Id="rId7" Type="http://schemas.openxmlformats.org/officeDocument/2006/relationships/slide" Target="slides/slide2.xml"/><Relationship Id="rId29" Type="http://schemas.openxmlformats.org/officeDocument/2006/relationships/slide" Target="slides/slide24.xml"/><Relationship Id="rId2" Type="http://schemas.openxmlformats.org/officeDocument/2006/relationships/theme" Target="theme/theme1.xml"/><Relationship Id="rId16" Type="http://schemas.openxmlformats.org/officeDocument/2006/relationships/slide" Target="slides/slide11.xml"/><Relationship Id="rId45" Type="http://schemas.openxmlformats.org/officeDocument/2006/relationships/tableStyles" Target="tableStyles.xml"/><Relationship Id="rId40" Type="http://schemas.openxmlformats.org/officeDocument/2006/relationships/slide" Target="slides/slide35.xml"/><Relationship Id="rId37" Type="http://schemas.openxmlformats.org/officeDocument/2006/relationships/slide" Target="slides/slide32.xml"/><Relationship Id="rId32" Type="http://schemas.openxmlformats.org/officeDocument/2006/relationships/slide" Target="slides/slide27.xml"/><Relationship Id="rId24" Type="http://schemas.openxmlformats.org/officeDocument/2006/relationships/slide" Target="slides/slide19.xml"/><Relationship Id="rId11" Type="http://schemas.openxmlformats.org/officeDocument/2006/relationships/slide" Target="slides/slide6.xml"/><Relationship Id="rId5" Type="http://schemas.openxmlformats.org/officeDocument/2006/relationships/slide" Target="slides/slide1.xml"/><Relationship Id="rId36" Type="http://schemas.openxmlformats.org/officeDocument/2006/relationships/slide" Target="slides/slide31.xml"/><Relationship Id="rId28" Type="http://schemas.openxmlformats.org/officeDocument/2006/relationships/slide" Target="slides/slide23.xml"/><Relationship Id="rId23" Type="http://schemas.openxmlformats.org/officeDocument/2006/relationships/slide" Target="slides/slide18.xml"/><Relationship Id="rId15" Type="http://schemas.openxmlformats.org/officeDocument/2006/relationships/slide" Target="slides/slide10.xml"/><Relationship Id="rId49" Type="http://schemas.openxmlformats.org/officeDocument/2006/relationships/customXml" Target="../customXml/item3.xml"/><Relationship Id="rId44" Type="http://schemas.openxmlformats.org/officeDocument/2006/relationships/viewProps" Target="viewProps.xml"/><Relationship Id="rId31" Type="http://schemas.openxmlformats.org/officeDocument/2006/relationships/slide" Target="slides/slide26.xml"/><Relationship Id="rId19" Type="http://schemas.openxmlformats.org/officeDocument/2006/relationships/slide" Target="slides/slide14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43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35" Type="http://schemas.openxmlformats.org/officeDocument/2006/relationships/slide" Target="slides/slide30.xml"/><Relationship Id="rId30" Type="http://schemas.openxmlformats.org/officeDocument/2006/relationships/slide" Target="slides/slide25.xml"/><Relationship Id="rId27" Type="http://schemas.openxmlformats.org/officeDocument/2006/relationships/slide" Target="slides/slide22.xml"/><Relationship Id="rId22" Type="http://schemas.openxmlformats.org/officeDocument/2006/relationships/slide" Target="slides/slide17.xml"/><Relationship Id="rId14" Type="http://schemas.openxmlformats.org/officeDocument/2006/relationships/slide" Target="slides/slide9.xml"/><Relationship Id="rId48" Type="http://schemas.openxmlformats.org/officeDocument/2006/relationships/customXml" Target="../customXml/item2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2.xml"/><Relationship Id="rId46" Type="http://schemas.openxmlformats.org/officeDocument/2006/relationships/commentAuthors" Target="commentAuthors.xml"/><Relationship Id="rId38" Type="http://schemas.openxmlformats.org/officeDocument/2006/relationships/slide" Target="slides/slide33.xml"/><Relationship Id="rId33" Type="http://schemas.openxmlformats.org/officeDocument/2006/relationships/slide" Target="slides/slide28.xml"/><Relationship Id="rId25" Type="http://schemas.openxmlformats.org/officeDocument/2006/relationships/slide" Target="slides/slide20.xml"/><Relationship Id="rId17" Type="http://schemas.openxmlformats.org/officeDocument/2006/relationships/slide" Target="slides/slide12.xml"/><Relationship Id="rId12" Type="http://schemas.openxmlformats.org/officeDocument/2006/relationships/slide" Target="slides/slide7.xml"/><Relationship Id="rId41" Type="http://schemas.openxmlformats.org/officeDocument/2006/relationships/slide" Target="slides/slide36.xml"/><Relationship Id="rId20" Type="http://schemas.openxmlformats.org/officeDocument/2006/relationships/slide" Target="slides/slide15.xml"/><Relationship Id="rId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363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364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7411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7412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130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48131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48132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7042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7043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7044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9090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9091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9092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1138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1139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1140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 sz="1800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sunmeat.uspacy.ua/" TargetMode="External"/><Relationship Id="rId4" Type="http://schemas.openxmlformats.org/officeDocument/2006/relationships/hyperlink" Target="https://trello.com/" TargetMode="External"/><Relationship Id="rId3" Type="http://schemas.openxmlformats.org/officeDocument/2006/relationships/hyperlink" Target="https://www.jetbrains.com/ru-ru/youtrack/" TargetMode="External"/><Relationship Id="rId2" Type="http://schemas.openxmlformats.org/officeDocument/2006/relationships/hyperlink" Target="https://app.clickup.com/" TargetMode="External"/><Relationship Id="rId1" Type="http://schemas.openxmlformats.org/officeDocument/2006/relationships/hyperlink" Target="https://www.atlassian.com/software/jir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www.youtube.com/watch?v=ph6IIeGTmmw&#13;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medium.com/@virendraparade01/understanding-inversion-of-control-ioc-in-net-core-a5523207fac7&#13;" TargetMode="External"/><Relationship Id="rId3" Type="http://schemas.openxmlformats.org/officeDocument/2006/relationships/hyperlink" Target="https://metanit.com/sharp/aspnet6/4.1.php&#13;" TargetMode="External"/><Relationship Id="rId2" Type="http://schemas.openxmlformats.org/officeDocument/2006/relationships/hyperlink" Target="https://habr.com/ru/articles/437002/&#13;" TargetMode="External"/><Relationship Id="rId1" Type="http://schemas.openxmlformats.org/officeDocument/2006/relationships/hyperlink" Target="https://learn.microsoft.com/en-us/aspnet/core/fundamentals/dependency-injection?view=aspnetcore-10.0&#13;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0bfbc36a5c60b8bd8cbf52dbcb4477b3&#13;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sunmeat/aspnetcore_services/blob/master/services%2C%20di.docx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sunmeat/aspnetcore_services&#13;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0.xml"/><Relationship Id="rId1" Type="http://schemas.openxmlformats.org/officeDocument/2006/relationships/hyperlink" Target="https://gist.github.com/sunmeat/35b975a4e00968df038c8e2821b79730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hyperlink" Target="https://github.com/sunmeat/aspnetcore_repository&#13;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066b752264dd9f4dbc7858bdce20ee7c&#13;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st.github.com/sunmeat/e3f81d7524081ae8c2f102c7c05f622c&#13;" TargetMode="External"/><Relationship Id="rId1" Type="http://schemas.openxmlformats.org/officeDocument/2006/relationships/hyperlink" Target="https://gist.github.com/sunmeat/9791b8fcb8d062c89c0f1f866695a029&#13;" TargetMode="External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7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480"/>
            <a:ext cx="8395335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Services, repositories</a:t>
            </a:r>
            <a:endParaRPr lang="en-US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О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ASP.NET-Core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" y="3361690"/>
            <a:ext cx="6657975" cy="33820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80175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Ще раз про</a:t>
            </a:r>
            <a:r>
              <a:rPr lang="ru-RU" altLang="uk-UA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 </a:t>
            </a:r>
            <a:r>
              <a:rPr lang="en-US" altLang="uk-UA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SOLID, DIP </a:t>
            </a:r>
            <a:r>
              <a:rPr lang="uk-UA" altLang="uk-UA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та </a:t>
            </a:r>
            <a:r>
              <a:rPr lang="en-US" altLang="uk-UA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Dependency Injection</a:t>
            </a:r>
            <a:endParaRPr lang="en-US" altLang="uk-UA" sz="27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uk-UA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Поняття сервісу</a:t>
            </a:r>
            <a:endParaRPr lang="uk-UA" altLang="uk-UA" sz="27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uk-UA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Життєвий цикл сервісу</a:t>
            </a:r>
            <a:endParaRPr lang="uk-UA" altLang="uk-UA" sz="27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Патерн Репозиторій</a:t>
            </a:r>
            <a:endParaRPr lang="uk-UA" altLang="ru-RU" sz="27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Приклади</a:t>
            </a:r>
            <a:endParaRPr lang="uk-UA" altLang="ru-RU" sz="27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uk-UA" altLang="ru-RU" sz="27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Практика</a:t>
            </a:r>
            <a:endParaRPr lang="uk-UA" altLang="ru-RU" sz="27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Нове ДЗ: музичний портал</a:t>
            </a:r>
            <a:endParaRPr lang="uk-UA" altLang="ru-RU" sz="27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Системи трекінгу завдань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76885" y="1404620"/>
            <a:ext cx="791337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l"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Системи трекінгу завдань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 (таск-трекери, issue trackers) — програми для створення задач, призначення виконавців, дедлайнів, статусів ("To Do" → "In Progress" → "Done"), коментарів, файлів тощо. Вони рятують від хаосу, коли задач багато або є команда (Excel/Telegram уже не вистачає).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l"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Особливо корисні для Scrum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-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фреймворку з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і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 спринтами (1–4 тижні), backlog, daily, ретроспективами, burndown-чартами.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l"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Ось топ-4 інструментів для Scrum: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algn="l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  <a:hlinkClick r:id="rId1" action="ppaction://hlinkfile"/>
              </a:rPr>
              <a:t>Jira (Atlassian)</a:t>
            </a: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—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№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1 у світі для Scrum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.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Стандарт для IT/розробки: повноцінні Scrum-дошки, спринти, velocity, burndown/burnup, епіки, кастомні workflow, інтеграції (GitHub, Confluence тощо).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algn="l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  <a:hlinkClick r:id="rId2" action="ppaction://hlinkfile"/>
              </a:rPr>
              <a:t>ClickUp</a:t>
            </a: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— потужна альтернатива, швидко росте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.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Повноцінний Scrum: спринти, backlog, burndown, velocity, estimation. Все в одному (задачі + docs + time tracking + AI).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algn="l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  <a:hlinkClick r:id="rId3" action="ppaction://hlinkfile"/>
              </a:rPr>
              <a:t>YouTrack (JetBrains)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 — гнучка альтернатива Jira для Scrum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.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Готові Scrum-дошки, backlog, спринти, burndown, velocity, епіки, swimlanes.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Найкраща інтеграція з IDE JetBrains (IntelliJ, PyCharm тощо)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algn="l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  <a:hlinkClick r:id="rId4" action="ppaction://hlinkfile"/>
              </a:rPr>
              <a:t>Trello</a:t>
            </a: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— найпростіший старт для "лайт" Scrum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.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Візуальні Kanban-дошки, легко адаптувати під спринти (Power-Ups для estimation/чек-листів).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l"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5880" y="6355080"/>
            <a:ext cx="89725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hlinkClick r:id="rId5" action="ppaction://hlinkfile"/>
              </a:rPr>
              <a:t>https://sunmeat.uspacy.ua/</a:t>
            </a:r>
            <a:endParaRPr lang="en-US" b="1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Jira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76885" y="1404620"/>
            <a:ext cx="791337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l"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98295"/>
            <a:ext cx="9144000" cy="483616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ClickUp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76885" y="1404620"/>
            <a:ext cx="791337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l"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90040"/>
            <a:ext cx="9144000" cy="492188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YouTrack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76885" y="1404620"/>
            <a:ext cx="791337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l"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47520"/>
            <a:ext cx="9144000" cy="460756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Trello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76885" y="1404620"/>
            <a:ext cx="791337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l"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06550"/>
            <a:ext cx="9144000" cy="41783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Об'єктна декомпозиція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47" name="Text Box 5121"/>
          <p:cNvSpPr txBox="1"/>
          <p:nvPr/>
        </p:nvSpPr>
        <p:spPr>
          <a:xfrm>
            <a:off x="611188" y="1412875"/>
            <a:ext cx="7948613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Основне завдання проектування під час об'єктної декомпозиції - це виконання двох умов.</a:t>
            </a:r>
            <a:endParaRPr sz="27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27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Умови декомпозиції:</a:t>
            </a:r>
            <a:endParaRPr sz="27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457200" indent="-4572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2700" b="1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Високе зчеплення </a:t>
            </a:r>
            <a:r>
              <a:rPr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(high cohesion): максимізація зв'язків усередині класів</a:t>
            </a:r>
            <a:endParaRPr sz="27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457200" indent="-4572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2700" b="1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Низька зв'язаність</a:t>
            </a:r>
            <a:r>
              <a:rPr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(low coupling): </a:t>
            </a:r>
            <a:r>
              <a:rPr lang="uk-UA"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</a:t>
            </a:r>
            <a:r>
              <a:rPr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мінімізація зв'язків між класами</a:t>
            </a:r>
            <a:endParaRPr sz="27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</p:txBody>
      </p:sp>
      <p:sp>
        <p:nvSpPr>
          <p:cNvPr id="12292" name="Text Box 1"/>
          <p:cNvSpPr txBox="1"/>
          <p:nvPr/>
        </p:nvSpPr>
        <p:spPr>
          <a:xfrm>
            <a:off x="15875" y="6346825"/>
            <a:ext cx="91249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>
                <a:highlight>
                  <a:srgbClr val="FFFF00"/>
                </a:highlight>
                <a:latin typeface="Arial" panose="020B0604020202020204" pitchFamily="34" charset="0"/>
                <a:hlinkClick r:id="rId1" action="ppaction://hlinkfile"/>
              </a:rPr>
              <a:t>https://www.youtube.com/watch?v=ph6IIeGTmmw</a:t>
            </a:r>
            <a:endParaRPr lang="en-US" altLang="zh-CN">
              <a:highlight>
                <a:srgbClr val="FFFF00"/>
              </a:highlight>
              <a:latin typeface="Arial" panose="020B0604020202020204" pitchFamily="34" charset="0"/>
              <a:hlinkClick r:id="rId1" action="ppaction://hlinkfile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Два головні принципи ООП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387" name="Text Box 5121"/>
          <p:cNvSpPr txBox="1"/>
          <p:nvPr/>
        </p:nvSpPr>
        <p:spPr>
          <a:xfrm>
            <a:off x="611188" y="1412875"/>
            <a:ext cx="788828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Мінімізація зв'язків між класами не означає відмову від зв'язків узагалі - у цьому немає сенсу, зв'язки так чи інакше будуть.</a:t>
            </a:r>
            <a:endParaRPr lang="en-GB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Мінімізація зв'язків між класами</a:t>
            </a:r>
            <a:r>
              <a:rPr lang="en-US" altLang="zh-CN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означає</a:t>
            </a:r>
            <a:r>
              <a:rPr lang="en-US" altLang="zh-CN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</a:t>
            </a: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не відмову від них, а їх послаблення.</a:t>
            </a:r>
            <a:endParaRPr lang="en-GB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Сильне зчеплення та слабка зв'язаність - </a:t>
            </a:r>
            <a:r>
              <a:rPr lang="uk-UA" altLang="en-GB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</a:t>
            </a: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це два головні принципи ООП</a:t>
            </a:r>
            <a:r>
              <a:rPr lang="uk-UA" altLang="en-GB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роектування</a:t>
            </a: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GB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Принципи S.O.L.I.D.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47107" name="Text Box 5121"/>
          <p:cNvSpPr txBox="1"/>
          <p:nvPr/>
        </p:nvSpPr>
        <p:spPr>
          <a:xfrm>
            <a:off x="611188" y="1412875"/>
            <a:ext cx="724535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Що таке S.O.L.I.D?</a:t>
            </a:r>
            <a:endParaRPr lang="en-GB" altLang="en-US" sz="26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GB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Це </a:t>
            </a: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принципи про</a:t>
            </a:r>
            <a:r>
              <a:rPr lang="uk-UA" altLang="en-GB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є</a:t>
            </a: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ктування клас</a:t>
            </a:r>
            <a:r>
              <a:rPr lang="en-US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в</a:t>
            </a:r>
            <a:r>
              <a:rPr lang="en-US" altLang="en-GB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GB" altLang="en-US" sz="26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Усього разом </a:t>
            </a: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їх 5 штук</a:t>
            </a:r>
            <a:r>
              <a:rPr lang="ru-RU" altLang="en-GB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GB" altLang="en-US" sz="26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Основні ідеї</a:t>
            </a:r>
            <a:r>
              <a:rPr lang="ru-RU" altLang="en-GB" sz="2600" b="1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GB" altLang="en-US" sz="26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dirty="0" err="1">
                <a:solidFill>
                  <a:srgbClr val="0070C0"/>
                </a:solidFill>
                <a:latin typeface="Arial" panose="020B0604020202020204" pitchFamily="34" charset="0"/>
              </a:rPr>
              <a:t>1. Збільшення рівня абстракції: інтерфейси, </a:t>
            </a:r>
            <a:r>
              <a:rPr lang="ru-RU" altLang="en-GB" sz="2600" dirty="0" err="1">
                <a:solidFill>
                  <a:srgbClr val="0070C0"/>
                </a:solidFill>
                <a:latin typeface="Arial" panose="020B0604020202020204" pitchFamily="34" charset="0"/>
              </a:rPr>
              <a:t>           </a:t>
            </a:r>
            <a:r>
              <a:rPr lang="en-GB" altLang="en-US" sz="2600" dirty="0" err="1">
                <a:solidFill>
                  <a:srgbClr val="0070C0"/>
                </a:solidFill>
                <a:latin typeface="Arial" panose="020B0604020202020204" pitchFamily="34" charset="0"/>
              </a:rPr>
              <a:t>а не реалізації</a:t>
            </a:r>
            <a:endParaRPr lang="en-GB" altLang="en-US" sz="2600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2. Посилення зв'язків усередині класів</a:t>
            </a:r>
            <a:endParaRPr lang="en-GB" altLang="en-US" sz="26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dirty="0" err="1">
                <a:solidFill>
                  <a:srgbClr val="0070C0"/>
                </a:solidFill>
                <a:latin typeface="Arial" panose="020B0604020202020204" pitchFamily="34" charset="0"/>
              </a:rPr>
              <a:t>3. Послаблення зв'язків між класами</a:t>
            </a:r>
            <a:endParaRPr lang="en-GB" altLang="en-US" sz="2600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4. Добре спроектований клас не потрібно</a:t>
            </a:r>
            <a:r>
              <a:rPr lang="ru-RU" altLang="en-GB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 			буде</a:t>
            </a: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 змінювати в майбутньому!</a:t>
            </a:r>
            <a:endParaRPr lang="en-GB" altLang="en-US" sz="26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DIP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 - 5 принцип</a:t>
            </a:r>
            <a:endParaRPr lang="uk-UA" altLang="en-US" sz="4200" dirty="0" err="1"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6147" name="Text Box 5121"/>
          <p:cNvSpPr txBox="1"/>
          <p:nvPr/>
        </p:nvSpPr>
        <p:spPr>
          <a:xfrm>
            <a:off x="611505" y="1412875"/>
            <a:ext cx="784415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b="1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Dependency Inversion Principle (DIP) </a:t>
            </a: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- принцип інверсії залежностей, який говорить, що: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342900" indent="-3429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Модулі верхніх рівнів не повинні залежати від модулів нижніх рівнів. Обидва типи модулів повинні залежати від абстракцій.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342900" indent="-3429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Абстракції не повинні залежати від деталей. Деталі мають залежати від абстракцій.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Ознаки занадто високої залежності архітектури: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342900" indent="-3429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Жорсткість. Змінюємо в одному місці - змушені змінювати </a:t>
            </a:r>
            <a:r>
              <a:rPr lang="uk-UA"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</a:t>
            </a: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в купі інших місць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342900" indent="-3429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Крихкість. Змінюємо в одному місці - починаються помилки </a:t>
            </a:r>
            <a:r>
              <a:rPr lang="uk-UA"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</a:t>
            </a: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в купі інших місць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342900" indent="-3429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Нерухомість. Складно винести код в інший проєкт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Причина цих проблем у тому, що між класами виникає занадто багато жорстко прописаних залежностей.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DIP</a:t>
            </a:r>
            <a:endParaRPr lang="en-US" altLang="en-US" sz="4200" dirty="0" err="1"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88067" name="Text Box 5121"/>
          <p:cNvSpPr txBox="1"/>
          <p:nvPr/>
        </p:nvSpPr>
        <p:spPr>
          <a:xfrm>
            <a:off x="611505" y="1412875"/>
            <a:ext cx="79051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altLang="en-US" sz="1900" b="1" dirty="0" err="1">
                <a:solidFill>
                  <a:srgbClr val="0070C0"/>
                </a:solidFill>
                <a:latin typeface="Arial" panose="020B0604020202020204" pitchFamily="34" charset="0"/>
              </a:rPr>
              <a:t>Інверсія залежностей </a:t>
            </a:r>
            <a:r>
              <a:rPr altLang="en-US" sz="1900" dirty="0" err="1">
                <a:solidFill>
                  <a:srgbClr val="0070C0"/>
                </a:solidFill>
                <a:latin typeface="Arial" panose="020B0604020202020204" pitchFamily="34" charset="0"/>
              </a:rPr>
              <a:t>пропонує позбутися жорстко прописаних залежностей між класами, інвертувавши їх у залежності</a:t>
            </a:r>
            <a:r>
              <a:rPr lang="uk-UA" sz="1900" dirty="0" err="1">
                <a:solidFill>
                  <a:srgbClr val="0070C0"/>
                </a:solidFill>
                <a:latin typeface="Arial" panose="020B0604020202020204" pitchFamily="34" charset="0"/>
              </a:rPr>
              <a:t>                </a:t>
            </a:r>
            <a:r>
              <a:rPr altLang="en-US" sz="1900" dirty="0" err="1">
                <a:solidFill>
                  <a:srgbClr val="0070C0"/>
                </a:solidFill>
                <a:latin typeface="Arial" panose="020B0604020202020204" pitchFamily="34" charset="0"/>
              </a:rPr>
              <a:t> від абстракцій.</a:t>
            </a: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 Суть тут в інверсії сильних залежностей </a:t>
            </a:r>
            <a:r>
              <a:rPr lang="uk-UA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   </a:t>
            </a: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від реалізацій у слабкі залежності від абстракцій. Трохи спрощена, але дієва інтерпретація принципу DIP виражається евристичним правилом "залежати треба від абстракції". Це означає, </a:t>
            </a:r>
            <a:r>
              <a:rPr lang="uk-UA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    </a:t>
            </a: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що не повинно бути залежностей від конкретних класів. Замість цього типи </a:t>
            </a:r>
            <a:r>
              <a:rPr lang="uk-UA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посилань </a:t>
            </a: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на залежності мають бути інтерфейсами </a:t>
            </a:r>
            <a:r>
              <a:rPr lang="uk-UA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</a:t>
            </a: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або абстрактними класами.</a:t>
            </a:r>
            <a:endParaRPr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Головним плюсом інвертування залежностей є інвертування володіння: не ми володіємо об'єктом - не ми за нього відповідаємо. Ми на цей об'єкт просто вказуємо. А отже, залежність від нього (зв'язок із ним) - слабка, як того й вимагає умова "низька пов'язаність".</a:t>
            </a:r>
            <a:endParaRPr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DIP</a:t>
            </a:r>
            <a:endParaRPr lang="en-US" altLang="en-US" sz="4200" dirty="0" err="1"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6147" name="Text Box 5121"/>
          <p:cNvSpPr txBox="1"/>
          <p:nvPr/>
        </p:nvSpPr>
        <p:spPr>
          <a:xfrm>
            <a:off x="611188" y="1412875"/>
            <a:ext cx="813752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Патерни реалізації принципу інверсії залежності, в даному випадку патерни проєктування:</a:t>
            </a:r>
            <a:endParaRPr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285750" indent="-28575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Factory Method</a:t>
            </a:r>
            <a:endParaRPr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285750" indent="-28575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Service Locator</a:t>
            </a:r>
            <a:endParaRPr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285750" indent="-28575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b="1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Dependency Injection</a:t>
            </a:r>
            <a:endParaRPr b="1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noProof="1" dirty="0" err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Паттерн Dependency Injection (впровадження залежності) - не просто інвертує сильні залежності від реалізацій в слабкі залежності </a:t>
            </a:r>
            <a:r>
              <a:rPr lang="uk-UA" noProof="1" dirty="0" err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        </a:t>
            </a:r>
            <a:r>
              <a:rPr noProof="1" dirty="0" err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від абстракцій, а й виносить їх з класу, пропонуючи впроваджувати їх </a:t>
            </a:r>
            <a:r>
              <a:rPr lang="uk-UA" noProof="1" dirty="0" err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</a:t>
            </a:r>
            <a:r>
              <a:rPr noProof="1" dirty="0" err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в клас ззовні.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Класичний варіант впровадження залежності в наш клас - через конструктор. У результаті, ми замінюємо композицію агрегацією 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 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і перекладаємо частину проблем з поточного класу кудись вище. 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Саме паттерн Dependency Injection є реалізацією умови "Слабка 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зовнішня пов'язаність". Він якраз і займається ослабленням зв'язків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між класами. Програму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ємо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на основі абстракцій (інтерфейс, абстрактний клас тощо), а не реалізацій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!</a:t>
            </a:r>
            <a:endParaRPr lang="uk-UA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IoC 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контейнер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39750" y="1440815"/>
            <a:ext cx="78924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IoC-контейнер (Inversion of Control) в ASP.NET Core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— це вбудований сервіс-контейнер (він же IServiceProvider), який є центральним механізмом впровадження залежностей (Dependency Injection) у всіх сучасних додатках .NET 6+.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Він повністю відповідає за: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створення об’єктів (сервісів)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управління їхнім життєвим циклом (Singleton, Scoped, Transient)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автоматичне впровадження залежностей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знищення об’єктів, коли вони більше не потрібні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IoC-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контейнер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39750" y="1457960"/>
            <a:ext cx="78924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Інверсія управління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це принцип об'єктно-орієнтованого програмування, який служить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для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зменшення пов'язаності шарів складних додатків (low coupling). Принцип полягає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 тому, що кожен шар програми працює з нижчим шаром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не безпосередньо, а опосередковано (через шар абстракцій). В результаті, це дозволяє легко і безболісно замінити реалізацію кожного з шарів на нову, при цьому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не торкнувшись роботи вищестоя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ч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их шарів.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https://learn.microsoft.com/en-us/aspnet/core/fundamentals/dependency-injection?view=aspnetcore-10.0</a:t>
            </a:r>
            <a:endParaRPr lang="en-US" altLang="en-US" sz="16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  <a:hlinkClick r:id="rId2" action="ppaction://hlinkfile"/>
              </a:rPr>
              <a:t>https://habr.com/ru/articles/437002/</a:t>
            </a:r>
            <a:endParaRPr lang="en-US" altLang="en-US" sz="16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  <a:hlinkClick r:id="rId3" action="ppaction://hlinkfile"/>
              </a:rPr>
              <a:t>https://metanit.com/sharp/aspnet6/4.1.php</a:t>
            </a:r>
            <a:endParaRPr lang="en-US" altLang="en-US" sz="16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  <a:hlinkClick r:id="rId4" action="ppaction://hlinkfile"/>
              </a:rPr>
              <a:t>https://medium.com/@virendraparade01/understanding-inversion-of-control-ioc-in-net-core-a5523207fac7</a:t>
            </a:r>
            <a:endParaRPr lang="en-US" altLang="en-US" sz="16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Dependency Injection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69900" y="1386205"/>
            <a:ext cx="79622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У 2004 році Мартін Фаулер запропонував уник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а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ти терміна Inversion of Control (IoC) на користь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200" b="1" dirty="0" err="1">
                <a:solidFill>
                  <a:srgbClr val="FF0000"/>
                </a:solidFill>
                <a:ea typeface="Microsoft YaHei" panose="020B0503020204020204" charset="-122"/>
              </a:rPr>
              <a:t>Dependency Injection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(DI), мотивуючи це тим, що термін IoC занадто загальний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і викликає проблеми в усвідомленні того, що відбувається. Dependency Injection (DI) – це шаблон проектування, що дозволяє розробникам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розв'язати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(decouple) компоненти їхньої програми, тим самим послабивши зв'язок між ними.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Варіанти: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Constructor Injection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  <a:sym typeface="+mn-ea"/>
              </a:rPr>
              <a:t>—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використання через конструктор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и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Setter Injection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  <a:sym typeface="+mn-ea"/>
              </a:rPr>
              <a:t>—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використання через сеттери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Method Injection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— використання через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параметр методів</a:t>
            </a:r>
            <a:endParaRPr lang="uk-UA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Як це виглядає в коді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B050"/>
                </a:solidFill>
                <a:ea typeface="Microsoft YaHei" panose="020B0503020204020204" charset="-122"/>
              </a:rPr>
              <a:t>// </a:t>
            </a:r>
            <a:r>
              <a:rPr lang="uk-UA" altLang="en-US" sz="2400" b="1" dirty="0" err="1">
                <a:solidFill>
                  <a:srgbClr val="00B050"/>
                </a:solidFill>
                <a:ea typeface="Microsoft YaHei" panose="020B0503020204020204" charset="-122"/>
              </a:rPr>
              <a:t>р</a:t>
            </a:r>
            <a:r>
              <a:rPr lang="en-US" altLang="en-US" sz="2400" b="1" dirty="0" err="1">
                <a:solidFill>
                  <a:srgbClr val="00B050"/>
                </a:solidFill>
                <a:ea typeface="Microsoft YaHei" panose="020B0503020204020204" charset="-122"/>
              </a:rPr>
              <a:t>еєстрація в IoC-контейнері (Program.cs)</a:t>
            </a:r>
            <a:endParaRPr lang="en-US" altLang="en-US" sz="2400" b="1" dirty="0" err="1">
              <a:solidFill>
                <a:srgbClr val="00B05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builder.Services.AddDbContext&lt;StudentContext&gt;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(options =&gt; options.UseSqlServer(connection));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Цей рядок говорить IoC-контейнеру: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Коли будь-який клас (наприклад, StudentController) попросить у конструкторі об’єкт типу StudentContext — створи його сам, налаштуй підключення до SQL Server і віддай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Як це виглядає в коді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78155" y="1386205"/>
            <a:ext cx="815975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// А в контролері </a:t>
            </a:r>
            <a:r>
              <a:rPr lang="uk-UA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ми 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«</a:t>
            </a:r>
            <a:r>
              <a:rPr lang="uk-UA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попросили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»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 залежність</a:t>
            </a:r>
            <a:endParaRPr lang="en-US" altLang="en-US" sz="1800" b="1" dirty="0" err="1">
              <a:solidFill>
                <a:srgbClr val="00B05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public class StudentController : Controller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{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 private readonly StudentContext _context;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 public StudentController(StudentContext context) </a:t>
            </a:r>
            <a:r>
              <a:rPr lang="en-US" altLang="en-US" sz="1800" b="1" dirty="0" err="1">
                <a:solidFill>
                  <a:srgbClr val="000000"/>
                </a:solidFill>
                <a:sym typeface="+mn-ea"/>
              </a:rPr>
              <a:t>{</a:t>
            </a:r>
            <a:r>
              <a:rPr lang="uk-UA" altLang="en-US" sz="1800" b="1" dirty="0" err="1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//</a:t>
            </a:r>
            <a:r>
              <a:rPr lang="uk-UA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 о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сь тут інверсія!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_context = context;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 }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}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Принцип інверсії управління в дії: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У традиційному підході (старий ASP.NET, чи просто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ручний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код)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писали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var context = new StudentContext(connectionString);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   т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обто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програміст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сам контролював створення об’єкта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У ASP.NET Core </a:t>
            </a: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</a:rPr>
              <a:t>контроль перевернуто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(inverted):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більше не треба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створю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вати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об’єкти вручну. Контейнер сам вирішує, коли і як їх створити, і автоматично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впорскує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(inject) їх туди, де вони потрібні —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зазвичай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через конструктор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Що дає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IoC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78155" y="1386205"/>
            <a:ext cx="815975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слабк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у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зв’язаність між класами (контролер не знає,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як саме створюється StudentContext)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легке тестування (можна передати Mock-об’єкт замість справжньої бази)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чистий, короткий код без </a:t>
            </a:r>
            <a:r>
              <a:rPr lang="uk-UA" sz="2400" dirty="0" err="1">
                <a:solidFill>
                  <a:srgbClr val="000000"/>
                </a:solidFill>
                <a:ea typeface="Microsoft YaHei" panose="020B0503020204020204" charset="-122"/>
              </a:rPr>
              <a:t>десятків зайвих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new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один раз зареєструва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ли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використовуємо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скрізь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Як його побачити, цей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IoC-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контейнер?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https://gist.github.com/sunmeat/0bfbc36a5c60b8bd8cbf52dbcb4477b3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Що таке серв</a:t>
            </a: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іс?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С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ервіс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— це клас (зазвичай з реалізацією інтерфейсу), який реєструється в контейнері залежностей (Dependency Injection container) і надає певну функціональність. Сервіси інжектуються в інші компоненти (наприклад, контролери, middleware, інші сервіси) через конструктор або методи.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Сервіси поділяються на: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Framework services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— вбудовані в ASP.NET Core (наприклад, ILogger, IHttpContextAccessor)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Application services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—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н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аші власні класи, які містять бізнес-логіку, роботу з репозиторіями, зовнішніми API тощо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FF0000"/>
                </a:solidFill>
                <a:ea typeface="Microsoft YaHei" panose="020B0503020204020204" charset="-122"/>
              </a:rPr>
              <a:t>Мета сервісів — досягти слабкої зв'язаності (loose coupling), тестованості та повторного використання коду.</a:t>
            </a:r>
            <a:endParaRPr lang="en-US" altLang="en-US" sz="2100" b="1" dirty="0" err="1">
              <a:solidFill>
                <a:srgbClr val="FF000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3185" y="6385560"/>
            <a:ext cx="894588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sym typeface="+mn-ea"/>
                <a:hlinkClick r:id="rId1" action="ppaction://hlinkfile"/>
              </a:rPr>
              <a:t>https://github.com/sunmeat/aspnetcore_services/blob/master/services%2C%20di.docx</a:t>
            </a:r>
            <a:endParaRPr lang="en-US" altLang="en-US" sz="1600" b="1" dirty="0" err="1">
              <a:solidFill>
                <a:srgbClr val="000000"/>
              </a:solidFill>
              <a:sym typeface="+mn-ea"/>
              <a:hlinkClick r:id="rId1" action="ppaction://hlinkfile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Бізнес-логіка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Контролери в ASP.NET Core (або Minimal API endpoints) повинні бути тонкими (thin controllers). Їхня основна роль: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Приймати HTTP-запити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Валідувати вхідні дані (моделі, FluentValidation)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Викликати сервіси для виконання логіки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Повернути відповідь (View, JSON тощо)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Бізнес-логіка (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всі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розрахунки, валідація, взаємодія з БД) не повинна бути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в контролерах, бо: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Це порушує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принцип єдиної відповідальності (Single Responsibility Principle) — контролер стає "товстим" і важким для підтримки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Важко тестувати — контролери залежать від HttpContext, що ускладнює unit-тести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Це порушує принцип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чистої архітектури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. К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онтролер — це шар презентації (UI), а бізнес-логіка повинна бути в шарі Application/Domain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Повторне використання — якщо логіка в контролері, її не можна легко використати в консольному додатку, worker-сервісі чи іншому API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Замість цього бізнес-логіку виносять у сервіси (application services)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або 				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handlers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	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(у CQRS/MediatR).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Способи реєстрації сервісів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С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ервіси реєструються в Program.cs (або раніше в Startup.cs) через builder.Services: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AddTransient</a:t>
            </a:r>
            <a:endParaRPr lang="en-US" altLang="en-US" sz="16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Новий екземпляр створюється кожного разу, коли сервіс запитується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Підходить для легких, stateless сервісів (без стану)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Безпечний вибір, коли не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ма впевненості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в lifetime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Приклад: сервіси для одноразових операцій, 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простих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розрахунків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AddScoped</a:t>
            </a:r>
            <a:endParaRPr lang="en-US" altLang="en-US" sz="16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Один екземпляр на один HTTP-запит (scope)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В межах одного запиту всі інжекції отримують той самий об'єкт, 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але в різних запитах — нові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Ідеально для DbContext (EF Core), сервісів з станом на запит (кошик покупок, дані користувача)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, він н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айпоширеніший для веб-додатків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AddSingleton</a:t>
            </a:r>
            <a:endParaRPr lang="en-US" altLang="en-US" sz="16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Один екземпляр на весь час життя додатка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Використовується для shared, thread-safe сервісів (кеш, логер, конфігурація)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Обережно: може тримати стан глобально, що призводить до багів 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у багатопотоковому середовищі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Різниця 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Transient / Scoped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Можна порівняти сервіс із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блокнот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ом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для нотаток під час обробки запитів. </a:t>
            </a: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Transient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— це </a:t>
            </a: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стопка маленьких одноразових стікерів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: кожного разу, коли сервіс інжектується (у контролер, інший сервіс чи метод), створюється новий чистий стікер. Усі інжекції, навіть у межах одного HTTP-запиту, отримують окремі стікери — записи один одного не видно, стан не ділиться. </a:t>
            </a: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Scoped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— це </a:t>
            </a: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один великий блокнот на весь один HTTP-запит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: усі компоненти,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що працюють у цьому запиті, пишуть у той самий блокнот, бачать попередні записи і можуть продовжувати роботу. Після завершення запиту блокнот викидається, а новий запит отримує свіжий.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Ця різниця критична, наприклад, для DbContext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в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Entity Framework, який завжди реєструють як Scoped: протягом одного запиту можна читати дані, вносити зміни, відстежувати їх і зберігати одним SaveChanges() — усе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в одному "блокноті". Якби DbContext був Transient, кожен сервіс отримував би свій стікер: зміни не передавалися б далі, а підключень до бази відкривалося б забагато. Коротко: Transient — новий стікер щоразу (ізольовано і без стану), Scoped — один спільний блокнот на запит (для накопичення стану всередині запиту).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Singleton -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один блокнот на все життя, ще й в загальному доступі :))</a:t>
            </a:r>
            <a:endParaRPr lang="uk-UA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на ЖЦ сервісів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6973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https://github.com/sunmeat/aspnetcore_services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ДЗ на сервіси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500" b="1" dirty="0" err="1">
              <a:solidFill>
                <a:srgbClr val="000000"/>
              </a:solidFill>
              <a:ea typeface="Microsoft YaHei" panose="020B0503020204020204" charset="-122"/>
              <a:hlinkClick r:id="rId1" tooltip="" action="ppaction://hlinkfile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500" b="1" dirty="0" err="1">
              <a:solidFill>
                <a:srgbClr val="000000"/>
              </a:solidFill>
              <a:ea typeface="Microsoft YaHei" panose="020B0503020204020204" charset="-122"/>
              <a:hlinkClick r:id="rId1" tooltip="" action="ppaction://hlinkfile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500" b="1" dirty="0" err="1">
                <a:solidFill>
                  <a:srgbClr val="00000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https://gist.github.com/sunmeat/35b975a4e00968df038c8e2821b79730</a:t>
            </a:r>
            <a:endParaRPr lang="en-US" altLang="en-US" sz="3500" b="1" dirty="0" err="1">
              <a:solidFill>
                <a:srgbClr val="000000"/>
              </a:solidFill>
              <a:ea typeface="Microsoft YaHei" panose="020B0503020204020204" charset="-122"/>
              <a:hlinkClick r:id="rId1" tooltip="" action="ppaction://hlinkfile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Контекст в контролері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У контролері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не має бути посилання на DbContext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(або будь-який інший конкретний клас доступу до даних),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тому що: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 — це шар презентації (UI/Web). Залежність від DbContext прив’язує його до конкретної технології (Entity Framework Core) та шару інфраструктури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Порушується принцип інверсії залежностей (DIP):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верхній шар (презентація) не повинен залежати від нижнього (інфраструктура)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Ускладнюється тестування: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 стає важким для unit-тестів через пряму залежність від БД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Порушується чиста архітектура: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контролер починає знати про деталі зберігання даних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Поняття репозиторію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Замість посилання на DbContext у сервісах (а контролер викликає тільки сервіси) використовується 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IRepository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(інтерфейс репозиторію), тому що: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Сервіс залежить тільки від абстракції (інтерфейсу),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а не від конкретної реалізації — дотримується DIP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Реалізація репозиторію (з DbContext) знаходиться в шарі Infrastructure і інжектиться через DI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Легко мокати репозиторій у unit-тестах сервісу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Можна замінити EF Core на іншу технологію (Dapper, MongoDB тощо) без змін у сервісі чи контролері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Доступ до даних ізольований в одному місці, сервіс залишається чистим і сфокусованим на бізнес-логіці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Коротко: контролер → сервіс → IRepository → (реалізація 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з DbContext).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DbContext ніколи не піднімається вище шару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				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Infrastructure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!</a:t>
            </a:r>
            <a:endParaRPr lang="uk-UA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Поняття репозиторію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Репозиторі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й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(Repository Pattern)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— це класичний дизайн-патерн, описаний у книзі Domain-Driven Design Еріка Еванса (2003 рік),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а також у "Patterns of Enterprise Application Architecture" Мартіна Фаулера. Він призначений для абстракції шару доступу до даних (Data Access Layer).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Репозиторій діє як "посередник" між бізнес-логікою (domain/application layer) та джерелом даних (зазвичай 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БД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). 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Він надає інтерфейс, схожий на колекцію в пам'яті: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public interface IProductRepository</a:t>
            </a:r>
            <a:r>
              <a:rPr lang="uk-UA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 </a:t>
            </a: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{</a:t>
            </a:r>
            <a:endParaRPr lang="en-US" altLang="en-US" sz="17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    Task&lt;Product&gt; GetByIdAsync(int id);</a:t>
            </a:r>
            <a:endParaRPr lang="en-US" altLang="en-US" sz="17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    Task&lt;IEnumerable&lt;Product&gt;&gt; GetAllAsync();</a:t>
            </a:r>
            <a:endParaRPr lang="en-US" altLang="en-US" sz="17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    Task AddAsync(Product product);</a:t>
            </a:r>
            <a:endParaRPr lang="en-US" altLang="en-US" sz="17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    Task UpdateAsync(Product product);</a:t>
            </a:r>
            <a:endParaRPr lang="en-US" altLang="en-US" sz="17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    Task DeleteAsync(int id);</a:t>
            </a:r>
            <a:endParaRPr lang="en-US" altLang="en-US" sz="17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}</a:t>
            </a:r>
            <a:endParaRPr lang="en-US" altLang="en-US" sz="17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Чому це важливо?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Separation of Concerns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(SoC) та Single Responsibility Principle: Доступ до БД ізольований в окремому шарі (Infrastructure). Сервіси працюють з абстракціями (інтерфейсами репозиторіїв), а не безпосередньо з EF Core DbContext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Тестованість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 Легко мокати репозиторії в unit-тестах сервісів (наприклад, з Moq). Не потрібно мокати весь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складний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DbContext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Гнучкість та low coupling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 Якщо завтра змінити ORM (з EF Core на Dapper, NHibernate чи навіть NoSQL), зміни тільки        в Infrastructure шарі. Application/Domain не залежать від EF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Повторне використання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 Логіка доступу до даних може використовуватися в різних частинах (API, workers, консольні інструменти)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Централізоване управління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 Легко додавати кешування, логування, аудит тощо в одному місці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Критика: зайве, якщо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EF Core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EF Core DbContext вже реалізує Unit of Work, а DbSet&lt;T&gt; —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частково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Repository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Пряме використання DbContext в сервісах простіше, швидше, дозволяє використовувати всі фічі EF (lazy loading, change tracking, complex queries з IQueryable)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Додатковий шар репозиторіїв часто стає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оболонкою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без доданої цінності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- на виході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зайва абстракція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(anti-pattern для простих CRUD)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Microsoft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самі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своїх прикладах лише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іноді використову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ють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репозиторії, в б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ільшості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— прямий DbContext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(для простоти)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 останні 2 роки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багато статей та постів (наприклад,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"The Repository Pattern is Dead" чи дискусії на Reddit) рекомендують уникати для типових Web API,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якщо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планується до використання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тільки EF Core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924115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Рекомендації щодо використання</a:t>
            </a:r>
            <a:endParaRPr lang="uk-UA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Використовуйте, якщо: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Про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є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кт великий/enterprise, планується еволюція (зміна БД/ORM)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Потрібна максимальна тестованість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CQRS з різними моделями для читання/запису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Хоче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те всім показати, що вмієте в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Clean Architecture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:))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Не використовуйте, якщо: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У вас п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ростий CRUD API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Хочете максимальну продуктивність та повне використання EF Core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фіч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Тестуєте з EF Core InMemory provider (дуже зручно для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інтеграційних тестів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на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IRepository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https://github.com/sunmeat/aspnetcore_repository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5-12-16 211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15" y="2538095"/>
            <a:ext cx="7912100" cy="432054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806825" y="3203575"/>
            <a:ext cx="46228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FF0000"/>
                </a:solidFill>
              </a:rPr>
              <a:t>https://github.com/sunmeat/aspnetcore_crud</a:t>
            </a:r>
            <a:endParaRPr lang="en-US" altLang="en-US" b="1">
              <a:solidFill>
                <a:srgbClr val="FF0000"/>
              </a:solidFill>
            </a:endParaRPr>
          </a:p>
          <a:p>
            <a:pPr algn="ctr"/>
            <a:r>
              <a:rPr lang="uk-UA" altLang="en-US" b="1">
                <a:solidFill>
                  <a:srgbClr val="FF0000"/>
                </a:solidFill>
              </a:rPr>
              <a:t>для порівняння !!!</a:t>
            </a:r>
            <a:endParaRPr lang="uk-UA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866457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ДЗ: Гостьова книга + 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IRepository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2528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https://gist.github.com/sunmeat/066b752264dd9f4dbc7858bdce20ee7c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924115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Практика</a:t>
            </a:r>
            <a:endParaRPr lang="uk-UA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Відповіді на питання по попередніх ДЗ</a:t>
            </a:r>
            <a:endParaRPr lang="uk-UA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ДЗ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: </a:t>
            </a: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Музичний портал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6529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https://gist.github.com/sunmeat/9791b8fcb8d062c89c0f1f866695a029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2" action="ppaction://hlinkfile"/>
              </a:rPr>
              <a:t>https://gist.github.com/sunmeat/e3f81d7524081ae8c2f102c7c05f622c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 descr="Screenshot 2025-12-16 2250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68630" y="4054475"/>
            <a:ext cx="4406265" cy="2609850"/>
          </a:xfrm>
          <a:prstGeom prst="rect">
            <a:avLst/>
          </a:prstGeom>
        </p:spPr>
      </p:pic>
      <p:sp>
        <p:nvSpPr>
          <p:cNvPr id="6145" name="Text Box 6144"/>
          <p:cNvSpPr txBox="1"/>
          <p:nvPr/>
        </p:nvSpPr>
        <p:spPr>
          <a:xfrm>
            <a:off x="195580" y="228600"/>
            <a:ext cx="924115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Приклади результатів</a:t>
            </a:r>
            <a:endParaRPr lang="uk-UA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7" name="Picture 6" descr="Screenshot 2025-12-16 2247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" y="1089025"/>
            <a:ext cx="5362575" cy="2654935"/>
          </a:xfrm>
          <a:prstGeom prst="rect">
            <a:avLst/>
          </a:prstGeom>
        </p:spPr>
      </p:pic>
      <p:pic>
        <p:nvPicPr>
          <p:cNvPr id="8" name="Picture 7" descr="Screenshot 2025-12-16 2248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425" y="3254375"/>
            <a:ext cx="5362575" cy="1442085"/>
          </a:xfrm>
          <a:prstGeom prst="rect">
            <a:avLst/>
          </a:prstGeom>
        </p:spPr>
      </p:pic>
      <p:pic>
        <p:nvPicPr>
          <p:cNvPr id="9" name="Picture 8" descr="Screenshot 2025-12-16 2248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6825" y="4841240"/>
            <a:ext cx="5362575" cy="1678305"/>
          </a:xfrm>
          <a:prstGeom prst="rect">
            <a:avLst/>
          </a:prstGeom>
        </p:spPr>
      </p:pic>
      <p:pic>
        <p:nvPicPr>
          <p:cNvPr id="6" name="Picture 5" descr="Screenshot 2025-12-16 2250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425" y="1431290"/>
            <a:ext cx="5362575" cy="167830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Picture 7" descr="Screenshot 2025-12-16 2254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48335" y="2618740"/>
            <a:ext cx="6151245" cy="2608580"/>
          </a:xfrm>
          <a:prstGeom prst="rect">
            <a:avLst/>
          </a:prstGeom>
        </p:spPr>
      </p:pic>
      <p:sp>
        <p:nvSpPr>
          <p:cNvPr id="6145" name="Text Box 6144"/>
          <p:cNvSpPr txBox="1"/>
          <p:nvPr/>
        </p:nvSpPr>
        <p:spPr>
          <a:xfrm>
            <a:off x="195580" y="228600"/>
            <a:ext cx="924115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Приклади результатів</a:t>
            </a:r>
            <a:endParaRPr lang="uk-UA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pic>
        <p:nvPicPr>
          <p:cNvPr id="7" name="Picture 6" descr="Screenshot 2025-12-16 2254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435" y="8890"/>
            <a:ext cx="2672715" cy="4768215"/>
          </a:xfrm>
          <a:prstGeom prst="rect">
            <a:avLst/>
          </a:prstGeom>
        </p:spPr>
      </p:pic>
      <p:pic>
        <p:nvPicPr>
          <p:cNvPr id="9" name="Picture 8" descr="Screenshot 2025-12-16 2255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8675" y="953770"/>
            <a:ext cx="5946775" cy="2242820"/>
          </a:xfrm>
          <a:prstGeom prst="rect">
            <a:avLst/>
          </a:prstGeom>
        </p:spPr>
      </p:pic>
      <p:pic>
        <p:nvPicPr>
          <p:cNvPr id="3" name="Picture 2" descr="Screenshot 2025-12-16 2256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00" y="1449070"/>
            <a:ext cx="2275205" cy="4569460"/>
          </a:xfrm>
          <a:prstGeom prst="rect">
            <a:avLst/>
          </a:prstGeom>
        </p:spPr>
      </p:pic>
      <p:pic>
        <p:nvPicPr>
          <p:cNvPr id="5" name="Picture 4" descr="Screenshot 2025-12-16 2257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150" y="4949825"/>
            <a:ext cx="4895215" cy="207264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404EC66-5D41-42B3-B5C4-9268C7554E90}"/>
</file>

<file path=customXml/itemProps2.xml><?xml version="1.0" encoding="utf-8"?>
<ds:datastoreItem xmlns:ds="http://schemas.openxmlformats.org/officeDocument/2006/customXml" ds:itemID="{6419BF1E-BDEC-4E75-BE4F-7E11908B95F5}"/>
</file>

<file path=customXml/itemProps3.xml><?xml version="1.0" encoding="utf-8"?>
<ds:datastoreItem xmlns:ds="http://schemas.openxmlformats.org/officeDocument/2006/customXml" ds:itemID="{EE790292-BC93-4CFE-89DD-A62BBAD2C61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16237</Words>
  <Application>WPS Presentation</Application>
  <PresentationFormat/>
  <Paragraphs>291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37</vt:i4>
      </vt:variant>
    </vt:vector>
  </HeadingPairs>
  <TitlesOfParts>
    <vt:vector size="48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1_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94</cp:revision>
  <dcterms:created xsi:type="dcterms:W3CDTF">2005-09-22T16:26:00Z</dcterms:created>
  <dcterms:modified xsi:type="dcterms:W3CDTF">2026-08-26T17:51:02Z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1033-12.1.0.28032</vt:lpwstr>
  </property>
  <property fmtid="{D5CDD505-2E9C-101B-9397-08002B2CF9AE}" pid="4" name="ContentTypeId">
    <vt:lpwstr>0x010100CB973167729B9844A7328B341F515C98</vt:lpwstr>
  </property>
</Properties>
</file>