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Masters/slideMaster2.xml" ContentType="application/vnd.openxmlformats-officedocument.presentationml.slide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3"/>
  </p:sldMasterIdLst>
  <p:notesMasterIdLst>
    <p:notesMasterId r:id="rId5"/>
  </p:notesMasterIdLst>
  <p:sldIdLst>
    <p:sldId id="256" r:id="rId4"/>
    <p:sldId id="257" r:id="rId6"/>
    <p:sldId id="626" r:id="rId7"/>
    <p:sldId id="688" r:id="rId8"/>
    <p:sldId id="689" r:id="rId9"/>
    <p:sldId id="690" r:id="rId10"/>
    <p:sldId id="691" r:id="rId11"/>
    <p:sldId id="692" r:id="rId12"/>
    <p:sldId id="693" r:id="rId13"/>
    <p:sldId id="694" r:id="rId14"/>
    <p:sldId id="695" r:id="rId15"/>
    <p:sldId id="696" r:id="rId16"/>
    <p:sldId id="697" r:id="rId17"/>
    <p:sldId id="716" r:id="rId18"/>
    <p:sldId id="717" r:id="rId19"/>
    <p:sldId id="698" r:id="rId20"/>
    <p:sldId id="699" r:id="rId21"/>
    <p:sldId id="700" r:id="rId22"/>
    <p:sldId id="701" r:id="rId23"/>
    <p:sldId id="702" r:id="rId24"/>
    <p:sldId id="703" r:id="rId25"/>
    <p:sldId id="704" r:id="rId26"/>
    <p:sldId id="705" r:id="rId27"/>
    <p:sldId id="706" r:id="rId28"/>
    <p:sldId id="666" r:id="rId29"/>
    <p:sldId id="719" r:id="rId30"/>
    <p:sldId id="721" r:id="rId31"/>
  </p:sldIdLst>
  <p:sldSz cx="9144000" cy="6858000" type="screen4x3"/>
  <p:notesSz cx="6858000" cy="9144000"/>
  <p:defaultTextStyle>
    <a:defPPr>
      <a:defRPr lang="en-GB"/>
    </a:defPPr>
    <a:lvl1pPr marL="0" lvl="0" indent="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b="0" i="0" u="none" kern="1200" baseline="0">
        <a:solidFill>
          <a:schemeClr val="bg1"/>
        </a:solidFill>
        <a:latin typeface="Arial" panose="020B0604020202020204" pitchFamily="34" charset="0"/>
        <a:ea typeface="Microsoft YaHei" panose="020B0503020204020204" charset="-122"/>
        <a:cs typeface="+mn-cs"/>
      </a:defRPr>
    </a:lvl1pPr>
    <a:lvl2pPr marL="742950" lvl="1" indent="-28575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2pPr>
    <a:lvl3pPr marL="1143000" lvl="2" indent="-22860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3pPr>
    <a:lvl4pPr marL="1600200" lvl="3" indent="-22860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4pPr>
    <a:lvl5pPr marL="2057400" lvl="4" indent="-22860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5pPr>
    <a:lvl6pPr marL="2286000" lvl="5" indent="-22860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6pPr>
    <a:lvl7pPr marL="2743200" lvl="6" indent="-22860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7pPr>
    <a:lvl8pPr marL="3200400" lvl="7" indent="-22860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8pPr>
    <a:lvl9pPr marL="3657600" lvl="8" indent="-22860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93" userDrawn="1">
          <p15:clr>
            <a:srgbClr val="A4A3A4"/>
          </p15:clr>
        </p15:guide>
        <p15:guide id="2" pos="286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howGuides="1">
      <p:cViewPr varScale="1">
        <p:scale>
          <a:sx n="85" d="100"/>
          <a:sy n="85" d="100"/>
        </p:scale>
        <p:origin x="-780" y="-84"/>
      </p:cViewPr>
      <p:guideLst>
        <p:guide orient="horz" pos="2293"/>
        <p:guide pos="2861"/>
      </p:guideLst>
    </p:cSldViewPr>
  </p:slideViewPr>
  <p:outlineViewPr>
    <p:cViewPr varScale="1">
      <p:scale>
        <a:sx n="170" d="200"/>
        <a:sy n="170" d="200"/>
      </p:scale>
      <p:origin x="-780" y="-84"/>
    </p:cViewPr>
  </p:outlineViewPr>
  <p:gridSpacing cx="45005" cy="45005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18" Type="http://schemas.openxmlformats.org/officeDocument/2006/relationships/slide" Target="slides/slide14.xml"/><Relationship Id="rId13" Type="http://schemas.openxmlformats.org/officeDocument/2006/relationships/slide" Target="slides/slide9.xml"/><Relationship Id="rId34" Type="http://schemas.openxmlformats.org/officeDocument/2006/relationships/tableStyles" Target="tableStyles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33" Type="http://schemas.openxmlformats.org/officeDocument/2006/relationships/viewProps" Target="viewProps.xml"/><Relationship Id="rId25" Type="http://schemas.openxmlformats.org/officeDocument/2006/relationships/slide" Target="slides/slide21.xml"/><Relationship Id="rId17" Type="http://schemas.openxmlformats.org/officeDocument/2006/relationships/slide" Target="slides/slide13.xml"/><Relationship Id="rId12" Type="http://schemas.openxmlformats.org/officeDocument/2006/relationships/slide" Target="slides/slide8.xml"/><Relationship Id="rId29" Type="http://schemas.openxmlformats.org/officeDocument/2006/relationships/slide" Target="slides/slide25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6" Type="http://schemas.openxmlformats.org/officeDocument/2006/relationships/slide" Target="slides/slide12.xml"/><Relationship Id="rId6" Type="http://schemas.openxmlformats.org/officeDocument/2006/relationships/slide" Target="slides/slide2.xml"/><Relationship Id="rId32" Type="http://schemas.openxmlformats.org/officeDocument/2006/relationships/presProps" Target="presProps.xml"/><Relationship Id="rId24" Type="http://schemas.openxmlformats.org/officeDocument/2006/relationships/slide" Target="slides/slide20.xml"/><Relationship Id="rId11" Type="http://schemas.openxmlformats.org/officeDocument/2006/relationships/slide" Target="slides/slide7.xml"/><Relationship Id="rId1" Type="http://schemas.openxmlformats.org/officeDocument/2006/relationships/slideMaster" Target="slideMasters/slideMaster1.xml"/><Relationship Id="rId37" Type="http://schemas.openxmlformats.org/officeDocument/2006/relationships/customXml" Target="../customXml/item3.xml"/><Relationship Id="rId5" Type="http://schemas.openxmlformats.org/officeDocument/2006/relationships/notesMaster" Target="notesMasters/notesMaster1.xml"/><Relationship Id="rId28" Type="http://schemas.openxmlformats.org/officeDocument/2006/relationships/slide" Target="slides/slide24.xml"/><Relationship Id="rId23" Type="http://schemas.openxmlformats.org/officeDocument/2006/relationships/slide" Target="slides/slide19.xml"/><Relationship Id="rId15" Type="http://schemas.openxmlformats.org/officeDocument/2006/relationships/slide" Target="slides/slide11.xml"/><Relationship Id="rId36" Type="http://schemas.openxmlformats.org/officeDocument/2006/relationships/customXml" Target="../customXml/item2.xml"/><Relationship Id="rId31" Type="http://schemas.openxmlformats.org/officeDocument/2006/relationships/slide" Target="slides/slide27.xml"/><Relationship Id="rId19" Type="http://schemas.openxmlformats.org/officeDocument/2006/relationships/slide" Target="slides/slide15.xml"/><Relationship Id="rId10" Type="http://schemas.openxmlformats.org/officeDocument/2006/relationships/slide" Target="slides/slide6.xml"/><Relationship Id="rId9" Type="http://schemas.openxmlformats.org/officeDocument/2006/relationships/slide" Target="slides/slide5.xml"/><Relationship Id="rId4" Type="http://schemas.openxmlformats.org/officeDocument/2006/relationships/slide" Target="slides/slide1.xml"/><Relationship Id="rId30" Type="http://schemas.openxmlformats.org/officeDocument/2006/relationships/slide" Target="slides/slide26.xml"/><Relationship Id="rId27" Type="http://schemas.openxmlformats.org/officeDocument/2006/relationships/slide" Target="slides/slide23.xml"/><Relationship Id="rId22" Type="http://schemas.openxmlformats.org/officeDocument/2006/relationships/slide" Target="slides/slide18.xml"/><Relationship Id="rId14" Type="http://schemas.openxmlformats.org/officeDocument/2006/relationships/slide" Target="slides/slide10.xml"/><Relationship Id="rId35" Type="http://schemas.openxmlformats.org/officeDocument/2006/relationships/customXml" Target="../customXml/item1.xml"/><Relationship Id="rId8" Type="http://schemas.openxmlformats.org/officeDocument/2006/relationships/slide" Target="slides/slide4.xml"/><Relationship Id="rId3" Type="http://schemas.openxmlformats.org/officeDocument/2006/relationships/slideMaster" Target="slideMasters/slideMaster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098" name="Rounded Rectangle 3072"/>
          <p:cNvSpPr/>
          <p:nvPr/>
        </p:nvSpPr>
        <p:spPr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360">
            <a:noFill/>
          </a:ln>
        </p:spPr>
        <p:txBody>
          <a:bodyPr anchor="t" anchorCtr="0"/>
          <a:p>
            <a:pPr lvl="0"/>
            <a:endParaRPr lang="en-US" altLang="zh-CN"/>
          </a:p>
        </p:txBody>
      </p:sp>
      <p:sp>
        <p:nvSpPr>
          <p:cNvPr id="4099" name="Rounded Rectangle 3073"/>
          <p:cNvSpPr/>
          <p:nvPr/>
        </p:nvSpPr>
        <p:spPr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</a:ln>
        </p:spPr>
        <p:txBody>
          <a:bodyPr anchor="t" anchorCtr="0"/>
          <a:p>
            <a:pPr lvl="0"/>
            <a:endParaRPr lang="en-US" altLang="zh-CN"/>
          </a:p>
        </p:txBody>
      </p:sp>
      <p:sp>
        <p:nvSpPr>
          <p:cNvPr id="4100" name="Text Box 3074"/>
          <p:cNvSpPr txBox="1"/>
          <p:nvPr/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en-US" altLang="zh-CN"/>
          </a:p>
        </p:txBody>
      </p:sp>
      <p:sp>
        <p:nvSpPr>
          <p:cNvPr id="4101" name="Text Box 3075"/>
          <p:cNvSpPr txBox="1"/>
          <p:nvPr/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en-US" altLang="zh-CN"/>
          </a:p>
        </p:txBody>
      </p:sp>
      <p:sp>
        <p:nvSpPr>
          <p:cNvPr id="4102" name="Slide Image Placeholder 3076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68825" cy="3425825"/>
          </a:xfrm>
          <a:prstGeom prst="rect">
            <a:avLst/>
          </a:prstGeom>
          <a:noFill/>
          <a:ln w="9360" cap="sq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4103" name="Text Placeholder 3077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3225" cy="41116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t" anchorCtr="0"/>
          <a:p>
            <a:pPr lvl="0"/>
            <a:endParaRPr lang="en-GB"/>
          </a:p>
        </p:txBody>
      </p:sp>
      <p:sp>
        <p:nvSpPr>
          <p:cNvPr id="4104" name="Text Box 3078"/>
          <p:cNvSpPr txBox="1"/>
          <p:nvPr/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en-US" altLang="zh-CN"/>
          </a:p>
        </p:txBody>
      </p:sp>
      <p:sp>
        <p:nvSpPr>
          <p:cNvPr id="3080" name="Slide Number Placeholder 3079"/>
          <p:cNvSpPr>
            <a:spLocks noGrp="1"/>
          </p:cNvSpPr>
          <p:nvPr>
            <p:ph type="sldNum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 eaLnBrk="1" fontAlgn="base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strike="noStrike" noProof="1" dirty="0" err="1">
                <a:latin typeface="Times New Roman" panose="02020603050405020304" pitchFamily="16" charset="0"/>
                <a:ea typeface="Arial Unicode MS" charset="-122"/>
                <a:cs typeface="+mn-cs"/>
              </a:rPr>
            </a:fld>
            <a:endParaRPr lang="ru-RU" altLang="x-none" sz="1200" strike="noStrike" noProof="1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lvl="0" indent="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1pPr>
    <a:lvl2pPr marL="742950" lvl="1" indent="-28575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2pPr>
    <a:lvl3pPr marL="1143000" lvl="2" indent="-22860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3pPr>
    <a:lvl4pPr marL="1600200" lvl="3" indent="-22860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4pPr>
    <a:lvl5pPr marL="2057400" lvl="4" indent="-22860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5pPr>
    <a:lvl6pPr marL="2286000" lvl="5" indent="-22860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6pPr>
    <a:lvl7pPr marL="2743200" lvl="6" indent="-22860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7pPr>
    <a:lvl8pPr marL="3200400" lvl="7" indent="-22860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8pPr>
    <a:lvl9pPr marL="3657600" lvl="8" indent="-22860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146" name="Slide Number Placeholder 1"/>
          <p:cNvSpPr/>
          <p:nvPr>
            <p:ph type="sldNum" sz="quarter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solidFill>
                  <a:srgbClr val="000000"/>
                </a:solidFill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solidFill>
                <a:srgbClr val="000000"/>
              </a:solidFill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6147" name="Slide Image Placeholder 38912"/>
          <p:cNvSpPr txBox="1"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6148" name="Text Placeholder 38913"/>
          <p:cNvSpPr txBox="1"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194" name="Slide Number Placeholder 1"/>
          <p:cNvSpPr/>
          <p:nvPr>
            <p:ph type="sldNum" sz="quarter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8195" name="Slide Image Placeholder 39936"/>
          <p:cNvSpPr txBox="1"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8196" name="Text Placeholder 39937"/>
          <p:cNvSpPr txBox="1"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en-US" strike="noStrike" noProof="1" smtClean="0"/>
              <a:t>Click to edit Master subtitle style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3881596" cy="4416425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9629" y="1600200"/>
            <a:ext cx="3881596" cy="4416425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1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1" y="2505075"/>
            <a:ext cx="3868340" cy="3684588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en-US" strike="noStrike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47235" y="228600"/>
            <a:ext cx="2083991" cy="5788025"/>
          </a:xfrm>
        </p:spPr>
        <p:txBody>
          <a:bodyPr vert="eaVert"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5263" y="228600"/>
            <a:ext cx="6131160" cy="5788025"/>
          </a:xfrm>
        </p:spPr>
        <p:txBody>
          <a:bodyPr vert="eaVert"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593367"/>
            <a:ext cx="8520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type="sldNum" idx="12"/>
          </p:nvPr>
        </p:nvSpPr>
        <p:spPr>
          <a:xfrm>
            <a:off x="8472458" y="6217623"/>
            <a:ext cx="5487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en-US" strike="noStrike" noProof="1" smtClean="0"/>
              <a:t>Click to edit Master subtitle style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3881596" cy="4416425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9629" y="1600200"/>
            <a:ext cx="3881596" cy="4416425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1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1" y="2505075"/>
            <a:ext cx="3868340" cy="3684588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en-US" strike="noStrike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47235" y="228600"/>
            <a:ext cx="2083991" cy="5788025"/>
          </a:xfrm>
        </p:spPr>
        <p:txBody>
          <a:bodyPr vert="eaVert"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5263" y="228600"/>
            <a:ext cx="6131160" cy="5788025"/>
          </a:xfrm>
        </p:spPr>
        <p:txBody>
          <a:bodyPr vert="eaVert"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1026" name="Group 1024"/>
          <p:cNvGrpSpPr/>
          <p:nvPr/>
        </p:nvGrpSpPr>
        <p:grpSpPr>
          <a:xfrm>
            <a:off x="0" y="152400"/>
            <a:ext cx="8683625" cy="6092825"/>
            <a:chOff x="0" y="96"/>
            <a:chExt cx="5470" cy="3838"/>
          </a:xfrm>
        </p:grpSpPr>
        <p:sp>
          <p:nvSpPr>
            <p:cNvPr id="1027" name="Rounded Rectangle 1025"/>
            <p:cNvSpPr/>
            <p:nvPr/>
          </p:nvSpPr>
          <p:spPr>
            <a:xfrm>
              <a:off x="240" y="336"/>
              <a:ext cx="5230" cy="3598"/>
            </a:xfrm>
            <a:prstGeom prst="roundRect">
              <a:avLst>
                <a:gd name="adj" fmla="val 13727"/>
              </a:avLst>
            </a:prstGeom>
            <a:noFill/>
            <a:ln w="50760" cap="sq" cmpd="sng">
              <a:solidFill>
                <a:srgbClr val="669999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p>
              <a:pPr lvl="0"/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1028" name="Freeform 1026"/>
            <p:cNvSpPr/>
            <p:nvPr/>
          </p:nvSpPr>
          <p:spPr>
            <a:xfrm>
              <a:off x="0" y="96"/>
              <a:ext cx="5374" cy="76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2"/>
                </a:cxn>
                <a:cxn ang="0">
                  <a:pos x="0" y="2"/>
                </a:cxn>
              </a:cxnLst>
              <a:pathLst>
                <a:path w="7000" h="1000">
                  <a:moveTo>
                    <a:pt x="0" y="0"/>
                  </a:moveTo>
                  <a:lnTo>
                    <a:pt x="6499" y="0"/>
                  </a:lnTo>
                  <a:cubicBezTo>
                    <a:pt x="6776" y="0"/>
                    <a:pt x="7000" y="223"/>
                    <a:pt x="7000" y="500"/>
                  </a:cubicBezTo>
                  <a:cubicBezTo>
                    <a:pt x="7000" y="776"/>
                    <a:pt x="6776" y="999"/>
                    <a:pt x="6500" y="1000"/>
                  </a:cubicBezTo>
                  <a:lnTo>
                    <a:pt x="0" y="1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666CC"/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29" name="Straight Connector 1027"/>
            <p:cNvSpPr/>
            <p:nvPr/>
          </p:nvSpPr>
          <p:spPr>
            <a:xfrm>
              <a:off x="0" y="768"/>
              <a:ext cx="5086" cy="0"/>
            </a:xfrm>
            <a:prstGeom prst="line">
              <a:avLst/>
            </a:prstGeom>
            <a:ln w="38160" cap="sq" cmpd="sng">
              <a:solidFill>
                <a:srgbClr val="FFFFFF"/>
              </a:solidFill>
              <a:prstDash val="solid"/>
              <a:miter/>
              <a:headEnd type="none" w="med" len="med"/>
              <a:tailEnd type="none" w="med" len="med"/>
            </a:ln>
          </p:spPr>
        </p:sp>
      </p:grpSp>
      <p:sp>
        <p:nvSpPr>
          <p:cNvPr id="1030" name="Title 1028"/>
          <p:cNvSpPr>
            <a:spLocks noGrp="1"/>
          </p:cNvSpPr>
          <p:nvPr>
            <p:ph type="title"/>
          </p:nvPr>
        </p:nvSpPr>
        <p:spPr>
          <a:xfrm>
            <a:off x="195263" y="228600"/>
            <a:ext cx="8012112" cy="9112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ctr" anchorCtr="0"/>
          <a:p>
            <a:pPr lvl="0"/>
            <a:r>
              <a:rPr lang="en-GB" dirty="0"/>
              <a:t>Для правки текста заголовка щелкните мышью</a:t>
            </a:r>
            <a:endParaRPr lang="en-GB" dirty="0"/>
          </a:p>
        </p:txBody>
      </p:sp>
      <p:sp>
        <p:nvSpPr>
          <p:cNvPr id="1031" name="Text Placeholder 1029"/>
          <p:cNvSpPr>
            <a:spLocks noGrp="1"/>
          </p:cNvSpPr>
          <p:nvPr>
            <p:ph type="body"/>
          </p:nvPr>
        </p:nvSpPr>
        <p:spPr>
          <a:xfrm>
            <a:off x="609600" y="1600200"/>
            <a:ext cx="7921625" cy="44164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t" anchorCtr="0"/>
          <a:p>
            <a:pPr lvl="0"/>
            <a:r>
              <a:rPr lang="en-GB" dirty="0"/>
              <a:t>Для правки структуры щелкните мышью</a:t>
            </a:r>
            <a:endParaRPr lang="en-GB" dirty="0"/>
          </a:p>
          <a:p>
            <a:pPr lvl="1"/>
            <a:r>
              <a:rPr lang="en-GB" dirty="0"/>
              <a:t>Второй уровень структуры</a:t>
            </a:r>
            <a:endParaRPr lang="en-GB" dirty="0"/>
          </a:p>
          <a:p>
            <a:pPr lvl="2"/>
            <a:r>
              <a:rPr lang="en-GB" dirty="0"/>
              <a:t>Третий уровень структуры</a:t>
            </a:r>
            <a:endParaRPr lang="en-GB" dirty="0"/>
          </a:p>
          <a:p>
            <a:pPr lvl="3"/>
            <a:r>
              <a:rPr lang="en-GB" dirty="0"/>
              <a:t>Четвёртый уровень структуры</a:t>
            </a:r>
            <a:endParaRPr lang="en-GB" dirty="0"/>
          </a:p>
          <a:p>
            <a:pPr lvl="4"/>
            <a:r>
              <a:rPr lang="en-GB" dirty="0"/>
              <a:t>Пятый уровень структуры</a:t>
            </a:r>
            <a:endParaRPr lang="en-GB" dirty="0"/>
          </a:p>
          <a:p>
            <a:pPr lvl="4"/>
            <a:r>
              <a:rPr lang="en-GB" dirty="0"/>
              <a:t>Шестой уровень структуры</a:t>
            </a:r>
            <a:endParaRPr lang="en-GB" dirty="0"/>
          </a:p>
          <a:p>
            <a:pPr lvl="4"/>
            <a:r>
              <a:rPr lang="en-GB" dirty="0"/>
              <a:t>Седьмой уровень структуры</a:t>
            </a:r>
            <a:endParaRPr lang="en-GB" dirty="0"/>
          </a:p>
          <a:p>
            <a:pPr lvl="4"/>
            <a:r>
              <a:rPr lang="en-GB" dirty="0"/>
              <a:t>Восьмой уровень структуры</a:t>
            </a:r>
            <a:endParaRPr lang="en-GB" dirty="0"/>
          </a:p>
          <a:p>
            <a:pPr lvl="4"/>
            <a:r>
              <a:rPr lang="en-GB" dirty="0"/>
              <a:t>Девятый уровень структуры</a:t>
            </a:r>
            <a:endParaRPr lang="en-GB" dirty="0"/>
          </a:p>
        </p:txBody>
      </p:sp>
      <p:sp>
        <p:nvSpPr>
          <p:cNvPr id="1032" name="Text Box 1030"/>
          <p:cNvSpPr txBox="1"/>
          <p:nvPr/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1033" name="Text Box 1031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2" name="Slide Number Placeholder 1032"/>
          <p:cNvSpPr>
            <a:spLocks noGrp="1"/>
          </p:cNvSpPr>
          <p:nvPr>
            <p:ph type="sldNum"/>
          </p:nvPr>
        </p:nvSpPr>
        <p:spPr>
          <a:xfrm>
            <a:off x="6553200" y="6248400"/>
            <a:ext cx="21304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lstStyle>
            <a:lvl1pPr>
              <a:buFontTx/>
              <a:defRPr/>
            </a:lvl1pPr>
          </a:lstStyle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marL="0" lvl="0" indent="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+mj-lt"/>
          <a:ea typeface="+mj-ea"/>
          <a:cs typeface="+mj-cs"/>
        </a:defRPr>
      </a:lvl1pPr>
      <a:lvl2pPr marL="742950" lvl="1" indent="-28575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2pPr>
      <a:lvl3pPr marL="1143000" lvl="2" indent="-22860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3pPr>
      <a:lvl4pPr marL="1600200" lvl="3" indent="-22860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4pPr>
      <a:lvl5pPr marL="2057400" lvl="4" indent="-22860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5pPr>
    </p:titleStyle>
    <p:bodyStyle>
      <a:lvl1pPr marL="342900" lvl="0" indent="-342900" algn="l" defTabSz="457200" rtl="0" eaLnBrk="0" fontAlgn="base" latinLnBrk="0" hangingPunct="0">
        <a:lnSpc>
          <a:spcPct val="100000"/>
        </a:lnSpc>
        <a:spcBef>
          <a:spcPts val="8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32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1pPr>
      <a:lvl2pPr marL="742950" lvl="1" indent="-285750" algn="l" defTabSz="457200" rtl="0" eaLnBrk="0" fontAlgn="base" latinLnBrk="0" hangingPunct="0">
        <a:lnSpc>
          <a:spcPct val="100000"/>
        </a:lnSpc>
        <a:spcBef>
          <a:spcPts val="7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2pPr>
      <a:lvl3pPr marL="1143000" lvl="2" indent="-228600" algn="l" defTabSz="457200" rtl="0" eaLnBrk="0" fontAlgn="base" latinLnBrk="0" hangingPunct="0">
        <a:lnSpc>
          <a:spcPct val="100000"/>
        </a:lnSpc>
        <a:spcBef>
          <a:spcPts val="6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4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3pPr>
      <a:lvl4pPr marL="1600200" lvl="3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4pPr>
      <a:lvl5pPr marL="2057400" lvl="4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5pPr>
      <a:lvl6pPr marL="2514600" lvl="5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6pPr>
      <a:lvl7pPr marL="2971800" lvl="6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7pPr>
      <a:lvl8pPr marL="3429000" lvl="7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8pPr>
      <a:lvl9pPr marL="3886200" lvl="8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9pPr>
    </p:bodyStyle>
    <p:otherStyle>
      <a:lvl1pPr marL="0" lvl="0" indent="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1pPr>
      <a:lvl2pPr marL="742950" lvl="1" indent="-28575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2pPr>
      <a:lvl3pPr marL="1143000" lvl="2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3pPr>
      <a:lvl4pPr marL="1600200" lvl="3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4pPr>
      <a:lvl5pPr marL="2057400" lvl="4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5pPr>
      <a:lvl6pPr marL="2286000" lvl="5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6pPr>
      <a:lvl7pPr marL="2743200" lvl="6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7pPr>
      <a:lvl8pPr marL="3200400" lvl="7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8pPr>
      <a:lvl9pPr marL="3657600" lvl="8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050" name="Group 2048"/>
          <p:cNvGrpSpPr/>
          <p:nvPr/>
        </p:nvGrpSpPr>
        <p:grpSpPr>
          <a:xfrm>
            <a:off x="0" y="927100"/>
            <a:ext cx="8988425" cy="4492625"/>
            <a:chOff x="0" y="584"/>
            <a:chExt cx="5662" cy="2830"/>
          </a:xfrm>
        </p:grpSpPr>
        <p:sp>
          <p:nvSpPr>
            <p:cNvPr id="2051" name="Rounded Rectangle 2049"/>
            <p:cNvSpPr/>
            <p:nvPr/>
          </p:nvSpPr>
          <p:spPr>
            <a:xfrm>
              <a:off x="432" y="1304"/>
              <a:ext cx="4654" cy="2110"/>
            </a:xfrm>
            <a:prstGeom prst="roundRect">
              <a:avLst>
                <a:gd name="adj" fmla="val 16667"/>
              </a:avLst>
            </a:prstGeom>
            <a:noFill/>
            <a:ln w="50760" cap="sq" cmpd="sng">
              <a:solidFill>
                <a:srgbClr val="669999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p>
              <a:pPr lvl="0"/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2052" name="Rectangles 2050"/>
            <p:cNvSpPr/>
            <p:nvPr/>
          </p:nvSpPr>
          <p:spPr>
            <a:xfrm>
              <a:off x="144" y="584"/>
              <a:ext cx="4510" cy="622"/>
            </a:xfrm>
            <a:prstGeom prst="rect">
              <a:avLst/>
            </a:prstGeom>
            <a:solidFill>
              <a:srgbClr val="FFFFFF"/>
            </a:solidFill>
            <a:ln w="57240" cap="sq" cmpd="sng">
              <a:solidFill>
                <a:srgbClr val="669999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p>
              <a:pPr lvl="0"/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2053" name="Freeform 2051"/>
            <p:cNvSpPr/>
            <p:nvPr/>
          </p:nvSpPr>
          <p:spPr>
            <a:xfrm>
              <a:off x="0" y="872"/>
              <a:ext cx="5662" cy="115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78537909" y="0"/>
                </a:cxn>
                <a:cxn ang="0">
                  <a:pos x="198785821" y="20342807"/>
                </a:cxn>
                <a:cxn ang="0">
                  <a:pos x="178577890" y="40617799"/>
                </a:cxn>
                <a:cxn ang="0">
                  <a:pos x="0" y="40617799"/>
                </a:cxn>
              </a:cxnLst>
              <a:pathLst>
                <a:path w="4917" h="1000">
                  <a:moveTo>
                    <a:pt x="0" y="0"/>
                  </a:moveTo>
                  <a:lnTo>
                    <a:pt x="4416" y="0"/>
                  </a:lnTo>
                  <a:cubicBezTo>
                    <a:pt x="4693" y="0"/>
                    <a:pt x="4917" y="223"/>
                    <a:pt x="4917" y="500"/>
                  </a:cubicBezTo>
                  <a:cubicBezTo>
                    <a:pt x="4917" y="776"/>
                    <a:pt x="4693" y="999"/>
                    <a:pt x="4417" y="1000"/>
                  </a:cubicBezTo>
                  <a:lnTo>
                    <a:pt x="0" y="1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666CC"/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2054" name="Straight Connector 2052"/>
            <p:cNvSpPr/>
            <p:nvPr/>
          </p:nvSpPr>
          <p:spPr>
            <a:xfrm>
              <a:off x="0" y="1928"/>
              <a:ext cx="5230" cy="0"/>
            </a:xfrm>
            <a:prstGeom prst="line">
              <a:avLst/>
            </a:prstGeom>
            <a:ln w="50760" cap="sq" cmpd="sng">
              <a:solidFill>
                <a:srgbClr val="FFFFFF"/>
              </a:solidFill>
              <a:prstDash val="solid"/>
              <a:miter/>
              <a:headEnd type="none" w="med" len="med"/>
              <a:tailEnd type="none" w="med" len="med"/>
            </a:ln>
          </p:spPr>
        </p:sp>
      </p:grpSp>
      <p:sp>
        <p:nvSpPr>
          <p:cNvPr id="2055" name="Title 2053"/>
          <p:cNvSpPr>
            <a:spLocks noGrp="1"/>
          </p:cNvSpPr>
          <p:nvPr>
            <p:ph type="title"/>
          </p:nvPr>
        </p:nvSpPr>
        <p:spPr>
          <a:xfrm>
            <a:off x="195263" y="228600"/>
            <a:ext cx="8012112" cy="9112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ctr" anchorCtr="0"/>
          <a:p>
            <a:pPr lvl="0"/>
            <a:r>
              <a:rPr lang="en-GB" dirty="0"/>
              <a:t>Для правки текста заголовка щелкните мышью</a:t>
            </a:r>
            <a:endParaRPr lang="en-GB" dirty="0"/>
          </a:p>
        </p:txBody>
      </p:sp>
      <p:sp>
        <p:nvSpPr>
          <p:cNvPr id="2056" name="Text Placeholder 2054"/>
          <p:cNvSpPr>
            <a:spLocks noGrp="1"/>
          </p:cNvSpPr>
          <p:nvPr>
            <p:ph type="body"/>
          </p:nvPr>
        </p:nvSpPr>
        <p:spPr>
          <a:xfrm>
            <a:off x="609600" y="1600200"/>
            <a:ext cx="7921625" cy="44164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t" anchorCtr="0"/>
          <a:p>
            <a:pPr lvl="0"/>
            <a:r>
              <a:rPr lang="en-GB" dirty="0"/>
              <a:t>Для правки структуры щелкните мышью</a:t>
            </a:r>
            <a:endParaRPr lang="en-GB" dirty="0"/>
          </a:p>
          <a:p>
            <a:pPr lvl="1"/>
            <a:r>
              <a:rPr lang="en-GB" dirty="0"/>
              <a:t>Второй уровень структуры</a:t>
            </a:r>
            <a:endParaRPr lang="en-GB" dirty="0"/>
          </a:p>
          <a:p>
            <a:pPr lvl="2"/>
            <a:r>
              <a:rPr lang="en-GB" dirty="0"/>
              <a:t>Третий уровень структуры</a:t>
            </a:r>
            <a:endParaRPr lang="en-GB" dirty="0"/>
          </a:p>
          <a:p>
            <a:pPr lvl="3"/>
            <a:r>
              <a:rPr lang="en-GB" dirty="0"/>
              <a:t>Четвёртый уровень структуры</a:t>
            </a:r>
            <a:endParaRPr lang="en-GB" dirty="0"/>
          </a:p>
          <a:p>
            <a:pPr lvl="4"/>
            <a:r>
              <a:rPr lang="en-GB" dirty="0"/>
              <a:t>Пятый уровень структуры</a:t>
            </a:r>
            <a:endParaRPr lang="en-GB" dirty="0"/>
          </a:p>
          <a:p>
            <a:pPr lvl="4"/>
            <a:r>
              <a:rPr lang="en-GB" dirty="0"/>
              <a:t>Шестой уровень структуры</a:t>
            </a:r>
            <a:endParaRPr lang="en-GB" dirty="0"/>
          </a:p>
          <a:p>
            <a:pPr lvl="4"/>
            <a:r>
              <a:rPr lang="en-GB" dirty="0"/>
              <a:t>Седьмой уровень структуры</a:t>
            </a:r>
            <a:endParaRPr lang="en-GB" dirty="0"/>
          </a:p>
          <a:p>
            <a:pPr lvl="4"/>
            <a:r>
              <a:rPr lang="en-GB" dirty="0"/>
              <a:t>Восьмой уровень структуры</a:t>
            </a:r>
            <a:endParaRPr lang="en-GB" dirty="0"/>
          </a:p>
          <a:p>
            <a:pPr lvl="4"/>
            <a:r>
              <a:rPr lang="en-GB" dirty="0"/>
              <a:t>Девятый уровень структуры</a:t>
            </a:r>
            <a:endParaRPr lang="en-GB" dirty="0"/>
          </a:p>
        </p:txBody>
      </p:sp>
      <p:sp>
        <p:nvSpPr>
          <p:cNvPr id="2057" name="Text Box 2055"/>
          <p:cNvSpPr txBox="1"/>
          <p:nvPr/>
        </p:nvSpPr>
        <p:spPr>
          <a:xfrm>
            <a:off x="457200" y="6248400"/>
            <a:ext cx="2133600" cy="471488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2058" name="Text Box 2056"/>
          <p:cNvSpPr txBox="1"/>
          <p:nvPr/>
        </p:nvSpPr>
        <p:spPr>
          <a:xfrm>
            <a:off x="3124200" y="6253163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2" name="Slide Number Placeholder 2057"/>
          <p:cNvSpPr>
            <a:spLocks noGrp="1"/>
          </p:cNvSpPr>
          <p:nvPr>
            <p:ph type="sldNum"/>
          </p:nvPr>
        </p:nvSpPr>
        <p:spPr>
          <a:xfrm>
            <a:off x="6553200" y="6248400"/>
            <a:ext cx="2130425" cy="468313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lstStyle>
            <a:lvl1pPr algn="r">
              <a:buFontTx/>
              <a:defRPr sz="1200">
                <a:latin typeface="Arial Black" panose="020B0A04020102020204" pitchFamily="32" charset="0"/>
                <a:ea typeface="Arial Unicode MS" charset="-122"/>
              </a:defRPr>
            </a:lvl1pPr>
          </a:lstStyle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sldNum="0" hdr="0" ftr="0" dt="0"/>
  <p:txStyles>
    <p:titleStyle>
      <a:lvl1pPr marL="0" lvl="0" indent="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+mj-lt"/>
          <a:ea typeface="+mj-ea"/>
          <a:cs typeface="+mj-cs"/>
        </a:defRPr>
      </a:lvl1pPr>
      <a:lvl2pPr marL="742950" lvl="1" indent="-28575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2pPr>
      <a:lvl3pPr marL="1143000" lvl="2" indent="-22860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3pPr>
      <a:lvl4pPr marL="1600200" lvl="3" indent="-22860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4pPr>
      <a:lvl5pPr marL="2057400" lvl="4" indent="-22860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5pPr>
    </p:titleStyle>
    <p:bodyStyle>
      <a:lvl1pPr marL="342900" lvl="0" indent="-342900" algn="l" defTabSz="457200" rtl="0" eaLnBrk="0" fontAlgn="base" latinLnBrk="0" hangingPunct="0">
        <a:lnSpc>
          <a:spcPct val="100000"/>
        </a:lnSpc>
        <a:spcBef>
          <a:spcPts val="8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32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1pPr>
      <a:lvl2pPr marL="742950" lvl="1" indent="-285750" algn="l" defTabSz="457200" rtl="0" eaLnBrk="0" fontAlgn="base" latinLnBrk="0" hangingPunct="0">
        <a:lnSpc>
          <a:spcPct val="100000"/>
        </a:lnSpc>
        <a:spcBef>
          <a:spcPts val="7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2pPr>
      <a:lvl3pPr marL="1143000" lvl="2" indent="-228600" algn="l" defTabSz="457200" rtl="0" eaLnBrk="0" fontAlgn="base" latinLnBrk="0" hangingPunct="0">
        <a:lnSpc>
          <a:spcPct val="100000"/>
        </a:lnSpc>
        <a:spcBef>
          <a:spcPts val="6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4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3pPr>
      <a:lvl4pPr marL="1600200" lvl="3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4pPr>
      <a:lvl5pPr marL="2057400" lvl="4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5pPr>
      <a:lvl6pPr marL="2514600" lvl="5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6pPr>
      <a:lvl7pPr marL="2971800" lvl="6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7pPr>
      <a:lvl8pPr marL="3429000" lvl="7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8pPr>
      <a:lvl9pPr marL="3886200" lvl="8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9pPr>
    </p:bodyStyle>
    <p:otherStyle>
      <a:lvl1pPr marL="0" lvl="0" indent="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1pPr>
      <a:lvl2pPr marL="742950" lvl="1" indent="-28575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2pPr>
      <a:lvl3pPr marL="1143000" lvl="2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3pPr>
      <a:lvl4pPr marL="1600200" lvl="3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4pPr>
      <a:lvl5pPr marL="2057400" lvl="4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5pPr>
      <a:lvl6pPr marL="2286000" lvl="5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6pPr>
      <a:lvl7pPr marL="2743200" lvl="6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7pPr>
      <a:lvl8pPr marL="3200400" lvl="7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8pPr>
      <a:lvl9pPr marL="3657600" lvl="8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hyperlink" Target="https://github.com/sunmeat/aspnetcore_onetomany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7.xml"/><Relationship Id="rId1" Type="http://schemas.openxmlformats.org/officeDocument/2006/relationships/hyperlink" Target="https://blog.cleancoder.com/uncle-bob/2012/08/13/the-clean-architecture.html&#13;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7.xml"/><Relationship Id="rId1" Type="http://schemas.openxmlformats.org/officeDocument/2006/relationships/hyperlink" Target="https://gist.github.com/sunmeat/a3d8fc8da5231d261da088683c6ce40e&#13;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7.xml"/><Relationship Id="rId1" Type="http://schemas.openxmlformats.org/officeDocument/2006/relationships/hyperlink" Target="https://gist.github.com/sunmeat/3cef2480888b4197757e69ed8f944b4a&#13;" TargetMode="Externa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3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1" Type="http://schemas.openxmlformats.org/officeDocument/2006/relationships/hyperlink" Target="https://github.com/sunmeat/aspnetcore_layers&#13;" TargetMode="Externa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7.xml"/><Relationship Id="rId1" Type="http://schemas.openxmlformats.org/officeDocument/2006/relationships/hyperlink" Target="https://gist.github.com/sunmeat/72d5ed8a0d0d7bf66da7292546ab93ed&#13;" TargetMode="Externa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7.xml"/><Relationship Id="rId1" Type="http://schemas.openxmlformats.org/officeDocument/2006/relationships/hyperlink" Target="https://gist.github.com/sunmeat/c4ae8ced7469410a4b78af7376de1aac&#13;" TargetMode="Externa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7.xml"/><Relationship Id="rId1" Type="http://schemas.openxmlformats.org/officeDocument/2006/relationships/hyperlink" Target="https://gist.github.com/sunmeat/38d1b4d597f19b05d8d434dfa5844ca4&#13;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122" name="Text Box 4096"/>
          <p:cNvSpPr txBox="1"/>
          <p:nvPr/>
        </p:nvSpPr>
        <p:spPr>
          <a:xfrm>
            <a:off x="228600" y="1427480"/>
            <a:ext cx="8395335" cy="1609725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5200" dirty="0" err="1">
                <a:solidFill>
                  <a:srgbClr val="FFFFFF"/>
                </a:solidFill>
                <a:latin typeface="Arial" panose="020B0604020202020204" pitchFamily="34" charset="0"/>
              </a:rPr>
              <a:t>N-Tier Architecture</a:t>
            </a:r>
            <a:endParaRPr lang="en-US" altLang="en-US" sz="5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5123" name="Rectangles 4097"/>
          <p:cNvSpPr/>
          <p:nvPr/>
        </p:nvSpPr>
        <p:spPr>
          <a:xfrm>
            <a:off x="5867400" y="44450"/>
            <a:ext cx="3280410" cy="369570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t" anchorCtr="0">
            <a:spAutoFit/>
          </a:bodyPr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dirty="0" err="1">
                <a:solidFill>
                  <a:srgbClr val="F7F7F7"/>
                </a:solidFill>
                <a:latin typeface="Arial" panose="020B0604020202020204" pitchFamily="34" charset="0"/>
              </a:rPr>
              <a:t>О</a:t>
            </a:r>
            <a:r>
              <a:rPr lang="ru-RU" altLang="x-none" dirty="0" err="1">
                <a:solidFill>
                  <a:srgbClr val="F7F7F7"/>
                </a:solidFill>
                <a:latin typeface="Arial" panose="020B0604020202020204" pitchFamily="34" charset="0"/>
              </a:rPr>
              <a:t>лександр Загоруйко © 20</a:t>
            </a:r>
            <a:r>
              <a:rPr lang="en-US" altLang="x-none" dirty="0" err="1">
                <a:solidFill>
                  <a:srgbClr val="F7F7F7"/>
                </a:solidFill>
                <a:latin typeface="Arial" panose="020B0604020202020204" pitchFamily="34" charset="0"/>
              </a:rPr>
              <a:t>2</a:t>
            </a:r>
            <a:r>
              <a:rPr lang="uk-UA" altLang="ru-RU" dirty="0" err="1">
                <a:solidFill>
                  <a:srgbClr val="F7F7F7"/>
                </a:solidFill>
                <a:latin typeface="Arial" panose="020B0604020202020204" pitchFamily="34" charset="0"/>
              </a:rPr>
              <a:t>6</a:t>
            </a:r>
            <a:endParaRPr lang="uk-UA" altLang="ru-RU" dirty="0" err="1">
              <a:solidFill>
                <a:srgbClr val="F7F7F7"/>
              </a:solidFill>
              <a:latin typeface="Arial" panose="020B0604020202020204" pitchFamily="34" charset="0"/>
            </a:endParaRPr>
          </a:p>
        </p:txBody>
      </p:sp>
      <p:pic>
        <p:nvPicPr>
          <p:cNvPr id="4" name="Picture 3" descr="ASP.NET-Core-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665" y="3361690"/>
            <a:ext cx="6657975" cy="338201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170" name="Text Box 5120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ru-RU" altLang="x-none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План презентац</a:t>
            </a:r>
            <a:r>
              <a:rPr lang="uk-UA" altLang="ru-RU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ії</a:t>
            </a:r>
            <a:r>
              <a:rPr lang="ru-RU" altLang="x-none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 - </a:t>
            </a:r>
            <a:r>
              <a:rPr lang="uk-UA" altLang="ru-RU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6</a:t>
            </a:r>
            <a:r>
              <a:rPr lang="ru-RU" altLang="x-none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 пар</a:t>
            </a:r>
            <a:endParaRPr lang="uk-UA" altLang="ru-RU" sz="4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7171" name="Text Box 5121"/>
          <p:cNvSpPr txBox="1"/>
          <p:nvPr/>
        </p:nvSpPr>
        <p:spPr>
          <a:xfrm>
            <a:off x="476885" y="1403985"/>
            <a:ext cx="8017510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215900" indent="-215900" algn="l" defTabSz="457200">
              <a:buSzPct val="45000"/>
              <a:buFont typeface="Wingdings" panose="05000000000000000000" pitchFamily="2" charset="2"/>
              <a:buChar char="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r>
              <a:rPr lang="uk-UA" altLang="ru-RU" sz="30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6" charset="0"/>
              </a:rPr>
              <a:t>Поняття монолітної архітектури</a:t>
            </a:r>
            <a:endParaRPr lang="uk-UA" altLang="ru-RU" sz="3000" dirty="0" err="1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6" charset="0"/>
            </a:endParaRPr>
          </a:p>
          <a:p>
            <a:pPr marL="215900" indent="-215900" algn="l" defTabSz="457200">
              <a:buSzPct val="45000"/>
              <a:buFont typeface="Wingdings" panose="05000000000000000000" pitchFamily="2" charset="2"/>
              <a:buChar char="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r>
              <a:rPr lang="uk-UA" altLang="ru-RU" sz="30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6" charset="0"/>
              </a:rPr>
              <a:t>Інші варіанти архітектур</a:t>
            </a:r>
            <a:endParaRPr lang="uk-UA" altLang="ru-RU" sz="3000" dirty="0" err="1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6" charset="0"/>
            </a:endParaRPr>
          </a:p>
          <a:p>
            <a:pPr marL="215900" indent="-215900" algn="l" defTabSz="457200">
              <a:buSzPct val="45000"/>
              <a:buFont typeface="Wingdings" panose="05000000000000000000" pitchFamily="2" charset="2"/>
              <a:buChar char="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r>
              <a:rPr lang="uk-UA" altLang="ru-RU" sz="30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6" charset="0"/>
              </a:rPr>
              <a:t>3-рівнева архітектура</a:t>
            </a:r>
            <a:endParaRPr lang="uk-UA" altLang="ru-RU" sz="3000" dirty="0" err="1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6" charset="0"/>
            </a:endParaRPr>
          </a:p>
          <a:p>
            <a:pPr marL="215900" indent="-215900" algn="l" defTabSz="457200">
              <a:buSzPct val="45000"/>
              <a:buFont typeface="Wingdings" panose="05000000000000000000" pitchFamily="2" charset="2"/>
              <a:buChar char="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r>
              <a:rPr lang="uk-UA" altLang="ru-RU" sz="30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6" charset="0"/>
              </a:rPr>
              <a:t>Рівень подання</a:t>
            </a:r>
            <a:endParaRPr lang="uk-UA" altLang="ru-RU" sz="3000" dirty="0" err="1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6" charset="0"/>
            </a:endParaRPr>
          </a:p>
          <a:p>
            <a:pPr marL="215900" indent="-215900" algn="l" defTabSz="457200">
              <a:buSzPct val="45000"/>
              <a:buFont typeface="Wingdings" panose="05000000000000000000" pitchFamily="2" charset="2"/>
              <a:buChar char="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r>
              <a:rPr lang="uk-UA" altLang="ru-RU" sz="30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6" charset="0"/>
              </a:rPr>
              <a:t>Рівень бізнес-логіки</a:t>
            </a:r>
            <a:endParaRPr lang="uk-UA" altLang="ru-RU" sz="3000" dirty="0" err="1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6" charset="0"/>
            </a:endParaRPr>
          </a:p>
          <a:p>
            <a:pPr marL="215900" indent="-215900" algn="l" defTabSz="457200">
              <a:buSzPct val="45000"/>
              <a:buFont typeface="Wingdings" panose="05000000000000000000" pitchFamily="2" charset="2"/>
              <a:buChar char="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r>
              <a:rPr lang="uk-UA" altLang="ru-RU" sz="30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6" charset="0"/>
              </a:rPr>
              <a:t>Рівень доступу до даних</a:t>
            </a:r>
            <a:endParaRPr lang="uk-UA" altLang="ru-RU" sz="3000" dirty="0" err="1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6" charset="0"/>
            </a:endParaRPr>
          </a:p>
          <a:p>
            <a:pPr marL="215900" indent="-215900" algn="l" defTabSz="457200">
              <a:buSzPct val="45000"/>
              <a:buFont typeface="Wingdings" panose="05000000000000000000" pitchFamily="2" charset="2"/>
              <a:buChar char="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r>
              <a:rPr lang="uk-UA" altLang="ru-RU" sz="30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6" charset="0"/>
              </a:rPr>
              <a:t>Поняття </a:t>
            </a:r>
            <a:r>
              <a:rPr lang="en-US" altLang="ru-RU" sz="30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6" charset="0"/>
              </a:rPr>
              <a:t>Clean Architecture</a:t>
            </a:r>
            <a:endParaRPr lang="en-US" altLang="ru-RU" sz="3000" dirty="0" err="1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6" charset="0"/>
            </a:endParaRPr>
          </a:p>
          <a:p>
            <a:pPr marL="215900" indent="-215900" algn="l" defTabSz="457200">
              <a:buSzPct val="45000"/>
              <a:buFont typeface="Wingdings" panose="05000000000000000000" pitchFamily="2" charset="2"/>
              <a:buChar char="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r>
              <a:rPr lang="uk-UA" altLang="en-US" sz="30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6" charset="0"/>
              </a:rPr>
              <a:t>Приклад</a:t>
            </a:r>
            <a:endParaRPr lang="uk-UA" altLang="en-US" sz="3000" dirty="0" err="1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6" charset="0"/>
            </a:endParaRPr>
          </a:p>
          <a:p>
            <a:pPr marL="215900" indent="-215900" algn="l" defTabSz="457200">
              <a:buSzPct val="45000"/>
              <a:buFont typeface="Wingdings" panose="05000000000000000000" pitchFamily="2" charset="2"/>
              <a:buChar char="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r>
              <a:rPr lang="uk-UA" altLang="en-US" sz="30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6" charset="0"/>
              </a:rPr>
              <a:t>Практика</a:t>
            </a:r>
            <a:endParaRPr lang="uk-UA" altLang="en-US" sz="3000" dirty="0" err="1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6" charset="0"/>
            </a:endParaRP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Архітектура додатків</a:t>
            </a:r>
            <a:endParaRPr lang="uk-UA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Розгляньмо архітектуру додатку:</a:t>
            </a:r>
            <a:endParaRPr lang="uk-UA" altLang="ru-RU" sz="24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b="1" dirty="0" err="1">
                <a:solidFill>
                  <a:srgbClr val="0070C0"/>
                </a:solidFill>
                <a:ea typeface="Microsoft YaHei" panose="020B0503020204020204" charset="-122"/>
                <a:hlinkClick r:id="rId1" action="ppaction://hlinkfile"/>
              </a:rPr>
              <a:t>https://github.com/sunmeat/aspnetcore_onetomany</a:t>
            </a:r>
            <a:endParaRPr lang="en-US" altLang="en-US" sz="2400" b="1" dirty="0" err="1">
              <a:solidFill>
                <a:srgbClr val="0070C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2400" b="1" dirty="0" err="1">
              <a:solidFill>
                <a:srgbClr val="0070C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en-US" sz="1500" dirty="0" err="1">
                <a:solidFill>
                  <a:schemeClr val="tx1"/>
                </a:solidFill>
                <a:ea typeface="Microsoft YaHei" panose="020B0503020204020204" charset="-122"/>
              </a:rPr>
              <a:t>Вона є </a:t>
            </a:r>
            <a:r>
              <a:rPr lang="uk-UA" altLang="en-US" sz="1500" b="1" dirty="0" err="1">
                <a:solidFill>
                  <a:schemeClr val="tx1"/>
                </a:solidFill>
                <a:ea typeface="Microsoft YaHei" panose="020B0503020204020204" charset="-122"/>
              </a:rPr>
              <a:t>монолітною</a:t>
            </a:r>
            <a:r>
              <a:rPr lang="uk-UA" altLang="en-US" sz="1500" dirty="0" err="1">
                <a:solidFill>
                  <a:schemeClr val="tx1"/>
                </a:solidFill>
                <a:ea typeface="Microsoft YaHei" panose="020B0503020204020204" charset="-122"/>
              </a:rPr>
              <a:t>.</a:t>
            </a:r>
            <a:endParaRPr lang="en-US" altLang="en-US" sz="15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en-US" sz="1500" dirty="0" err="1">
                <a:solidFill>
                  <a:schemeClr val="tx1"/>
                </a:solidFill>
                <a:ea typeface="Microsoft YaHei" panose="020B0503020204020204" charset="-122"/>
              </a:rPr>
              <a:t>1) </a:t>
            </a:r>
            <a:r>
              <a:rPr lang="en-US" altLang="en-US" sz="1500" dirty="0" err="1">
                <a:solidFill>
                  <a:schemeClr val="tx1"/>
                </a:solidFill>
                <a:ea typeface="Microsoft YaHei" panose="020B0503020204020204" charset="-122"/>
              </a:rPr>
              <a:t>Виконавчий файл — це </a:t>
            </a:r>
            <a:r>
              <a:rPr lang="en-US" altLang="en-US" sz="1500" b="1" dirty="0" err="1">
                <a:solidFill>
                  <a:schemeClr val="tx1"/>
                </a:solidFill>
                <a:ea typeface="Microsoft YaHei" panose="020B0503020204020204" charset="-122"/>
              </a:rPr>
              <a:t>.exe</a:t>
            </a:r>
            <a:r>
              <a:rPr lang="uk-UA" altLang="en-US" sz="1500" dirty="0" err="1">
                <a:solidFill>
                  <a:schemeClr val="tx1"/>
                </a:solidFill>
                <a:ea typeface="Microsoft YaHei" panose="020B0503020204020204" charset="-122"/>
              </a:rPr>
              <a:t>. </a:t>
            </a:r>
            <a:r>
              <a:rPr lang="en-US" altLang="en-US" sz="1500" dirty="0" err="1">
                <a:solidFill>
                  <a:schemeClr val="tx1"/>
                </a:solidFill>
                <a:ea typeface="Microsoft YaHei" panose="020B0503020204020204" charset="-122"/>
              </a:rPr>
              <a:t>Після публікації (dotnet publish</a:t>
            </a:r>
            <a:r>
              <a:rPr lang="uk-UA" altLang="en-US" sz="1500" dirty="0" err="1">
                <a:solidFill>
                  <a:schemeClr val="tx1"/>
                </a:solidFill>
                <a:ea typeface="Microsoft YaHei" panose="020B0503020204020204" charset="-122"/>
              </a:rPr>
              <a:t>, </a:t>
            </a:r>
            <a:r>
              <a:rPr lang="en-US" altLang="en-US" sz="1500" dirty="0" err="1">
                <a:solidFill>
                  <a:schemeClr val="tx1"/>
                </a:solidFill>
                <a:sym typeface="+mn-ea"/>
              </a:rPr>
              <a:t>self-contained</a:t>
            </a:r>
            <a:r>
              <a:rPr lang="en-US" altLang="en-US" sz="1500" dirty="0" err="1">
                <a:solidFill>
                  <a:schemeClr val="tx1"/>
                </a:solidFill>
                <a:ea typeface="Microsoft YaHei" panose="020B0503020204020204" charset="-122"/>
              </a:rPr>
              <a:t>) </a:t>
            </a:r>
            <a:r>
              <a:rPr lang="uk-UA" altLang="en-US" sz="1500" dirty="0" err="1">
                <a:solidFill>
                  <a:schemeClr val="tx1"/>
                </a:solidFill>
                <a:ea typeface="Microsoft YaHei" panose="020B0503020204020204" charset="-122"/>
              </a:rPr>
              <a:t>буде отримано </a:t>
            </a:r>
            <a:r>
              <a:rPr lang="en-US" altLang="en-US" sz="1500" dirty="0" err="1">
                <a:solidFill>
                  <a:schemeClr val="tx1"/>
                </a:solidFill>
                <a:ea typeface="Microsoft YaHei" panose="020B0503020204020204" charset="-122"/>
              </a:rPr>
              <a:t>самодостатній executable, який містить весь код, бібліотеки та .NET runtime</a:t>
            </a:r>
            <a:r>
              <a:rPr lang="uk-UA" altLang="en-US" sz="1500" dirty="0" err="1">
                <a:solidFill>
                  <a:schemeClr val="tx1"/>
                </a:solidFill>
                <a:ea typeface="Microsoft YaHei" panose="020B0503020204020204" charset="-122"/>
              </a:rPr>
              <a:t>. </a:t>
            </a:r>
            <a:r>
              <a:rPr lang="en-US" altLang="en-US" sz="1500" dirty="0" err="1">
                <a:solidFill>
                  <a:schemeClr val="tx1"/>
                </a:solidFill>
                <a:ea typeface="Microsoft YaHei" panose="020B0503020204020204" charset="-122"/>
              </a:rPr>
              <a:t>Цей .exe запускає Kestrel</a:t>
            </a:r>
            <a:r>
              <a:rPr lang="uk-UA" altLang="en-US" sz="1500" dirty="0" err="1">
                <a:solidFill>
                  <a:schemeClr val="tx1"/>
                </a:solidFill>
                <a:ea typeface="Microsoft YaHei" panose="020B0503020204020204" charset="-122"/>
              </a:rPr>
              <a:t>, </a:t>
            </a:r>
            <a:r>
              <a:rPr lang="en-US" altLang="en-US" sz="1500" dirty="0" err="1">
                <a:solidFill>
                  <a:schemeClr val="tx1"/>
                </a:solidFill>
                <a:ea typeface="Microsoft YaHei" panose="020B0503020204020204" charset="-122"/>
              </a:rPr>
              <a:t>вбудований веб-сервер ASP.NET Core.</a:t>
            </a:r>
            <a:endParaRPr lang="en-US" altLang="en-US" sz="15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en-US" sz="1500" dirty="0" err="1">
                <a:solidFill>
                  <a:schemeClr val="tx1"/>
                </a:solidFill>
                <a:ea typeface="Microsoft YaHei" panose="020B0503020204020204" charset="-122"/>
              </a:rPr>
              <a:t>Д</a:t>
            </a:r>
            <a:r>
              <a:rPr lang="en-US" altLang="en-US" sz="1500" dirty="0" err="1">
                <a:solidFill>
                  <a:schemeClr val="tx1"/>
                </a:solidFill>
                <a:ea typeface="Microsoft YaHei" panose="020B0503020204020204" charset="-122"/>
              </a:rPr>
              <a:t>одаток стартує, створює хост, і саме Kestrel починає прослуховувати запити</a:t>
            </a:r>
            <a:r>
              <a:rPr lang="uk-UA" altLang="en-US" sz="1500" dirty="0" err="1">
                <a:solidFill>
                  <a:schemeClr val="tx1"/>
                </a:solidFill>
                <a:ea typeface="Microsoft YaHei" panose="020B0503020204020204" charset="-122"/>
              </a:rPr>
              <a:t>. </a:t>
            </a:r>
            <a:r>
              <a:rPr lang="en-US" altLang="en-US" sz="1500" dirty="0" err="1">
                <a:solidFill>
                  <a:schemeClr val="tx1"/>
                </a:solidFill>
                <a:ea typeface="Microsoft YaHei" panose="020B0503020204020204" charset="-122"/>
              </a:rPr>
              <a:t>Тобто .exe — це не окремий IIS чи Nginx, а додаток, який сам себе хостить через Kestrel.</a:t>
            </a:r>
            <a:endParaRPr lang="en-US" altLang="en-US" sz="15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en-US" sz="1500" dirty="0" err="1">
                <a:solidFill>
                  <a:schemeClr val="tx1"/>
                </a:solidFill>
                <a:ea typeface="Microsoft YaHei" panose="020B0503020204020204" charset="-122"/>
              </a:rPr>
              <a:t>2)</a:t>
            </a:r>
            <a:r>
              <a:rPr lang="uk-UA" altLang="en-US" sz="1500" b="1" dirty="0" err="1">
                <a:solidFill>
                  <a:schemeClr val="tx1"/>
                </a:solidFill>
                <a:ea typeface="Microsoft YaHei" panose="020B0503020204020204" charset="-122"/>
              </a:rPr>
              <a:t> </a:t>
            </a:r>
            <a:r>
              <a:rPr lang="en-US" altLang="en-US" sz="1500" b="1" dirty="0" err="1">
                <a:solidFill>
                  <a:schemeClr val="tx1"/>
                </a:solidFill>
                <a:ea typeface="Microsoft YaHei" panose="020B0503020204020204" charset="-122"/>
              </a:rPr>
              <a:t>.dll </a:t>
            </a:r>
            <a:r>
              <a:rPr lang="en-US" altLang="en-US" sz="1500" dirty="0" err="1">
                <a:solidFill>
                  <a:schemeClr val="tx1"/>
                </a:solidFill>
                <a:ea typeface="Microsoft YaHei" panose="020B0503020204020204" charset="-122"/>
              </a:rPr>
              <a:t>— </a:t>
            </a:r>
            <a:r>
              <a:rPr lang="uk-UA" altLang="en-US" sz="1500" dirty="0" err="1">
                <a:solidFill>
                  <a:schemeClr val="tx1"/>
                </a:solidFill>
                <a:ea typeface="Microsoft YaHei" panose="020B0503020204020204" charset="-122"/>
              </a:rPr>
              <a:t>тут зібраний о</a:t>
            </a:r>
            <a:r>
              <a:rPr lang="en-US" altLang="en-US" sz="1500" dirty="0" err="1">
                <a:solidFill>
                  <a:schemeClr val="tx1"/>
                </a:solidFill>
                <a:ea typeface="Microsoft YaHei" panose="020B0503020204020204" charset="-122"/>
              </a:rPr>
              <a:t>сновний код проєкту</a:t>
            </a:r>
            <a:r>
              <a:rPr lang="uk-UA" altLang="en-US" sz="1500" dirty="0" err="1">
                <a:solidFill>
                  <a:schemeClr val="tx1"/>
                </a:solidFill>
                <a:ea typeface="Microsoft YaHei" panose="020B0503020204020204" charset="-122"/>
              </a:rPr>
              <a:t>. </a:t>
            </a:r>
            <a:r>
              <a:rPr lang="en-US" altLang="en-US" sz="1500" dirty="0" err="1">
                <a:solidFill>
                  <a:schemeClr val="tx1"/>
                </a:solidFill>
                <a:ea typeface="Microsoft YaHei" panose="020B0503020204020204" charset="-122"/>
              </a:rPr>
              <a:t>Виконавчий .exe — це лише тонкий "запускальник" (entry point), створений dotnet'ом, який завантажує .dll і запускає Main.</a:t>
            </a:r>
            <a:endParaRPr lang="en-US" altLang="en-US" sz="15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15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500" dirty="0" err="1">
                <a:solidFill>
                  <a:schemeClr val="tx1"/>
                </a:solidFill>
                <a:ea typeface="Microsoft YaHei" panose="020B0503020204020204" charset="-122"/>
              </a:rPr>
              <a:t>У монолітному ASP.NET Core MVC:</a:t>
            </a:r>
            <a:endParaRPr lang="en-US" altLang="en-US" sz="15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285750" indent="-28575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500" b="1" dirty="0" err="1">
                <a:solidFill>
                  <a:schemeClr val="tx1"/>
                </a:solidFill>
                <a:ea typeface="Microsoft YaHei" panose="020B0503020204020204" charset="-122"/>
              </a:rPr>
              <a:t>.exe — це </a:t>
            </a:r>
            <a:r>
              <a:rPr lang="uk-UA" altLang="en-US" sz="1500" b="1" dirty="0" err="1">
                <a:solidFill>
                  <a:schemeClr val="tx1"/>
                </a:solidFill>
                <a:ea typeface="Microsoft YaHei" panose="020B0503020204020204" charset="-122"/>
              </a:rPr>
              <a:t>виконавчий </a:t>
            </a:r>
            <a:r>
              <a:rPr lang="en-US" altLang="en-US" sz="1500" b="1" dirty="0" err="1">
                <a:solidFill>
                  <a:schemeClr val="tx1"/>
                </a:solidFill>
                <a:ea typeface="Microsoft YaHei" panose="020B0503020204020204" charset="-122"/>
              </a:rPr>
              <a:t>файл, який запускає Kestrel як веб-сервер</a:t>
            </a:r>
            <a:endParaRPr lang="en-US" altLang="en-US" sz="1500" b="1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285750" indent="-28575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500" b="1" dirty="0" err="1">
                <a:solidFill>
                  <a:schemeClr val="tx1"/>
                </a:solidFill>
                <a:ea typeface="Microsoft YaHei" panose="020B0503020204020204" charset="-122"/>
              </a:rPr>
              <a:t>.dll — це фактично </a:t>
            </a:r>
            <a:r>
              <a:rPr lang="uk-UA" altLang="en-US" sz="1500" b="1" dirty="0" err="1">
                <a:solidFill>
                  <a:schemeClr val="tx1"/>
                </a:solidFill>
                <a:ea typeface="Microsoft YaHei" panose="020B0503020204020204" charset="-122"/>
              </a:rPr>
              <a:t>сам </a:t>
            </a:r>
            <a:r>
              <a:rPr lang="en-US" altLang="en-US" sz="1500" b="1" dirty="0" err="1">
                <a:solidFill>
                  <a:schemeClr val="tx1"/>
                </a:solidFill>
                <a:ea typeface="Microsoft YaHei" panose="020B0503020204020204" charset="-122"/>
              </a:rPr>
              <a:t>додаток (весь бізнес-код)</a:t>
            </a:r>
            <a:endParaRPr lang="en-US" altLang="en-US" sz="1500" b="1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500" dirty="0" err="1">
                <a:solidFill>
                  <a:schemeClr val="tx1"/>
                </a:solidFill>
                <a:ea typeface="Microsoft YaHei" panose="020B0503020204020204" charset="-122"/>
              </a:rPr>
              <a:t>Це дозволяє розгортати додаток просто копіюванням папки publish на сервер і запуском .exe</a:t>
            </a:r>
            <a:r>
              <a:rPr lang="uk-UA" altLang="en-US" sz="1500" dirty="0" err="1">
                <a:solidFill>
                  <a:schemeClr val="tx1"/>
                </a:solidFill>
                <a:ea typeface="Microsoft YaHei" panose="020B0503020204020204" charset="-122"/>
              </a:rPr>
              <a:t>.</a:t>
            </a:r>
            <a:endParaRPr lang="uk-UA" altLang="en-US" sz="1500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Монолітна архітектура</a:t>
            </a:r>
            <a:endParaRPr lang="uk-UA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b="1" dirty="0" err="1">
                <a:solidFill>
                  <a:srgbClr val="000000"/>
                </a:solidFill>
                <a:ea typeface="Microsoft YaHei" panose="020B0503020204020204" charset="-122"/>
              </a:rPr>
              <a:t>Монолітна архітектура (monolithic architecture) </a:t>
            </a: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— це класичний підхід до побудови додатків, коли весь додаток є єдиним цілим:</a:t>
            </a:r>
            <a:endParaRPr lang="en-US" altLang="en-US" sz="18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Усі компоненти (інтерфейс користувача, бізнес-логіка, доступ до даних, база даних) знаходяться в одн</a:t>
            </a:r>
            <a:r>
              <a:rPr lang="uk-UA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ій</a:t>
            </a: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 кодов</a:t>
            </a:r>
            <a:r>
              <a:rPr lang="uk-UA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ій</a:t>
            </a: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 базі та розгортаються як один виконавчий файл (наприклад, один веб-додаток ASP.NET Core).</a:t>
            </a:r>
            <a:endParaRPr lang="en-US" altLang="en-US" sz="18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18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Переваги:</a:t>
            </a:r>
            <a:endParaRPr lang="en-US" altLang="en-US" sz="18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Простота розробки, тестування та розгортання на початкових етапах</a:t>
            </a:r>
            <a:endParaRPr lang="en-US" altLang="en-US" sz="18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Висока продуктивність (немає мережевих викликів між компонентами)</a:t>
            </a:r>
            <a:endParaRPr lang="en-US" altLang="en-US" sz="18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18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Недоліки:</a:t>
            </a:r>
            <a:endParaRPr lang="en-US" altLang="en-US" sz="18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З ростом проєкту код ста</a:t>
            </a:r>
            <a:r>
              <a:rPr lang="uk-UA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не</a:t>
            </a: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 складним для підтримки</a:t>
            </a:r>
            <a:endParaRPr lang="en-US" altLang="en-US" sz="18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Будь-яка зміна вимагає </a:t>
            </a:r>
            <a:r>
              <a:rPr lang="en-US" altLang="en-US" sz="1800" b="1" dirty="0" err="1">
                <a:solidFill>
                  <a:srgbClr val="000000"/>
                </a:solidFill>
                <a:ea typeface="Microsoft YaHei" panose="020B0503020204020204" charset="-122"/>
              </a:rPr>
              <a:t>перезбирання та перерозгортання всього додатка</a:t>
            </a:r>
            <a:endParaRPr lang="en-US" altLang="en-US" sz="18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Важко масштабувати окремі частини</a:t>
            </a:r>
            <a:endParaRPr lang="en-US" altLang="en-US" sz="18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Ризик, що помилка в одному модулі </a:t>
            </a: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«</a:t>
            </a: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завалить</a:t>
            </a: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»</a:t>
            </a: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 весь додаток</a:t>
            </a:r>
            <a:endParaRPr lang="en-US" altLang="en-US" sz="18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Альтернативні архітектури</a:t>
            </a:r>
            <a:endParaRPr lang="uk-UA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ru-RU" sz="2400" b="1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659255"/>
            <a:ext cx="9144000" cy="3716655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Моделі розробки веб-додатків</a:t>
            </a:r>
            <a:endParaRPr lang="uk-UA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О</a:t>
            </a: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дин з головних болів монолітного ASP.NET Core MVC-додатка виникає тоді, </a:t>
            </a:r>
            <a:r>
              <a:rPr lang="en-US" altLang="en-US" sz="2000" b="1" dirty="0" err="1">
                <a:solidFill>
                  <a:srgbClr val="000000"/>
                </a:solidFill>
                <a:ea typeface="Microsoft YaHei" panose="020B0503020204020204" charset="-122"/>
              </a:rPr>
              <a:t>коли проєкт починає рости, а ви думаєте </a:t>
            </a:r>
            <a:r>
              <a:rPr lang="uk-UA" altLang="en-US" sz="2000" b="1" dirty="0" err="1">
                <a:solidFill>
                  <a:srgbClr val="000000"/>
                </a:solidFill>
                <a:ea typeface="Microsoft YaHei" panose="020B0503020204020204" charset="-122"/>
              </a:rPr>
              <a:t>        </a:t>
            </a:r>
            <a:r>
              <a:rPr lang="en-US" altLang="en-US" sz="2000" b="1" dirty="0" err="1">
                <a:solidFill>
                  <a:srgbClr val="000000"/>
                </a:solidFill>
                <a:ea typeface="Microsoft YaHei" panose="020B0503020204020204" charset="-122"/>
              </a:rPr>
              <a:t>про майбутнє.</a:t>
            </a:r>
            <a:endParaRPr lang="en-US" altLang="en-US" sz="20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Основні моделі розробки веб-додатків на ASP.NET Core</a:t>
            </a:r>
            <a:r>
              <a:rPr lang="uk-UA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:</a:t>
            </a:r>
            <a:endParaRPr lang="en-US" altLang="en-US" sz="20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b="1" dirty="0" err="1">
                <a:solidFill>
                  <a:srgbClr val="000000"/>
                </a:solidFill>
                <a:ea typeface="Microsoft YaHei" panose="020B0503020204020204" charset="-122"/>
              </a:rPr>
              <a:t>MVC</a:t>
            </a:r>
            <a:r>
              <a:rPr lang="uk-UA" altLang="en-US" sz="2000" b="1" dirty="0" err="1">
                <a:solidFill>
                  <a:srgbClr val="000000"/>
                </a:solidFill>
                <a:ea typeface="Microsoft YaHei" panose="020B0503020204020204" charset="-122"/>
              </a:rPr>
              <a:t> </a:t>
            </a:r>
            <a:r>
              <a:rPr lang="uk-UA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- к</a:t>
            </a: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ласичний підхід: контролери, моделі, </a:t>
            </a:r>
            <a:r>
              <a:rPr lang="uk-UA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подання </a:t>
            </a: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(Views </a:t>
            </a:r>
            <a:r>
              <a:rPr lang="uk-UA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  </a:t>
            </a: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на Razor)</a:t>
            </a:r>
            <a:r>
              <a:rPr lang="uk-UA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, н</a:t>
            </a: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айпоширеніший для серверного рендерингу</a:t>
            </a:r>
            <a:endParaRPr lang="en-US" altLang="en-US" sz="20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b="1" dirty="0" err="1">
                <a:solidFill>
                  <a:srgbClr val="000000"/>
                </a:solidFill>
                <a:ea typeface="Microsoft YaHei" panose="020B0503020204020204" charset="-122"/>
              </a:rPr>
              <a:t>Razor Pages</a:t>
            </a:r>
            <a:r>
              <a:rPr lang="uk-UA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 - с</a:t>
            </a: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прощена модель без контролерів</a:t>
            </a:r>
            <a:r>
              <a:rPr lang="uk-UA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, де</a:t>
            </a: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 кожна сторінка = файл .cshtml + code-behind</a:t>
            </a:r>
            <a:r>
              <a:rPr lang="uk-UA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, м</a:t>
            </a: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енш популярна, </a:t>
            </a:r>
            <a:r>
              <a:rPr lang="uk-UA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      але </a:t>
            </a: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зручна для простих CRUD-додатків</a:t>
            </a:r>
            <a:endParaRPr lang="en-US" altLang="en-US" sz="20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b="1" dirty="0" err="1">
                <a:solidFill>
                  <a:srgbClr val="000000"/>
                </a:solidFill>
                <a:ea typeface="Microsoft YaHei" panose="020B0503020204020204" charset="-122"/>
              </a:rPr>
              <a:t>SPA </a:t>
            </a: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(наприклад, з React/Angular/Vue)</a:t>
            </a:r>
            <a:r>
              <a:rPr lang="uk-UA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, коли с</a:t>
            </a: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ервер надає тільки API (ASP.NET Core Web API), </a:t>
            </a:r>
            <a:r>
              <a:rPr lang="uk-UA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а </a:t>
            </a: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фронтенд — окремий </a:t>
            </a:r>
            <a:r>
              <a:rPr lang="uk-UA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 </a:t>
            </a: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JS-додаток</a:t>
            </a:r>
            <a:r>
              <a:rPr lang="uk-UA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, підходить д</a:t>
            </a: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ля складних інтерактивних інтерфейсів</a:t>
            </a:r>
            <a:endParaRPr lang="en-US" altLang="en-US" sz="20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b="1" dirty="0" err="1">
                <a:solidFill>
                  <a:srgbClr val="000000"/>
                </a:solidFill>
                <a:ea typeface="Microsoft YaHei" panose="020B0503020204020204" charset="-122"/>
              </a:rPr>
              <a:t>Blazor</a:t>
            </a:r>
            <a:r>
              <a:rPr lang="uk-UA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, де </a:t>
            </a: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NET-код працює в браузері (WebAssembly) або </a:t>
            </a:r>
            <a:r>
              <a:rPr lang="uk-UA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          </a:t>
            </a: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на сервері (Server)</a:t>
            </a:r>
            <a:r>
              <a:rPr lang="uk-UA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, набирає популярність</a:t>
            </a: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, дозволяє писати фронтенд на C#</a:t>
            </a:r>
            <a:endParaRPr lang="en-US" altLang="en-US" sz="20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Проблеми моноліту</a:t>
            </a:r>
            <a:endParaRPr lang="uk-UA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Якщо весь додаток (моделі, контекст EF, репозиторії, сервіси, контролери, Views) знаходиться в одному проєкті, то:</a:t>
            </a:r>
            <a:endParaRPr lang="en-US" altLang="en-US" sz="17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285750" indent="-28575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700" b="1" dirty="0" err="1">
                <a:solidFill>
                  <a:srgbClr val="000000"/>
                </a:solidFill>
                <a:ea typeface="Microsoft YaHei" panose="020B0503020204020204" charset="-122"/>
              </a:rPr>
              <a:t>Перенесення на іншу модель = дуже багато роботи</a:t>
            </a:r>
            <a:r>
              <a:rPr lang="en-US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.</a:t>
            </a:r>
            <a:r>
              <a:rPr lang="uk-UA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 </a:t>
            </a:r>
            <a:r>
              <a:rPr lang="en-US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Наприклад, </a:t>
            </a:r>
            <a:r>
              <a:rPr lang="uk-UA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     якщо треба </a:t>
            </a:r>
            <a:r>
              <a:rPr lang="en-US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перейти з MVC на Web API + React SPA:</a:t>
            </a:r>
            <a:endParaRPr lang="en-US" altLang="en-US" sz="17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742950" lvl="1" indent="-28575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Треба видалити всі Views та контролери MVC</a:t>
            </a:r>
            <a:endParaRPr lang="en-US" altLang="en-US" sz="17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742950" lvl="1" indent="-28575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Переписати маршрутизацію</a:t>
            </a:r>
            <a:endParaRPr lang="en-US" altLang="en-US" sz="17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742950" lvl="1" indent="-28575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Налаштувати CORS, аутентифікацію тощо</a:t>
            </a:r>
            <a:endParaRPr lang="en-US" altLang="en-US" sz="17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742950" lvl="1" indent="-28575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Частина коду (моделі, валідація, логіка доступу до БД) може бути повторно використана, але вона "заплутана" з MVC-специфічним кодом</a:t>
            </a:r>
            <a:endParaRPr lang="en-US" altLang="en-US" sz="17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285750" indent="-28575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700" b="1" dirty="0" err="1">
                <a:solidFill>
                  <a:srgbClr val="000000"/>
                </a:solidFill>
                <a:ea typeface="Microsoft YaHei" panose="020B0503020204020204" charset="-122"/>
              </a:rPr>
              <a:t>Білд стає повільним</a:t>
            </a:r>
            <a:r>
              <a:rPr lang="en-US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.</a:t>
            </a:r>
            <a:r>
              <a:rPr lang="uk-UA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 </a:t>
            </a:r>
            <a:r>
              <a:rPr lang="en-US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Реальні проєкти з 50–100+ класами білдяться </a:t>
            </a:r>
            <a:r>
              <a:rPr lang="uk-UA" sz="1700" dirty="0" err="1">
                <a:solidFill>
                  <a:srgbClr val="000000"/>
                </a:solidFill>
                <a:ea typeface="Microsoft YaHei" panose="020B0503020204020204" charset="-122"/>
              </a:rPr>
              <a:t>мінімум</a:t>
            </a:r>
            <a:r>
              <a:rPr lang="en-US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 1–5 хвилин </a:t>
            </a:r>
            <a:r>
              <a:rPr lang="uk-UA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при </a:t>
            </a:r>
            <a:r>
              <a:rPr lang="en-US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повн</a:t>
            </a:r>
            <a:r>
              <a:rPr lang="uk-UA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ій</a:t>
            </a:r>
            <a:r>
              <a:rPr lang="en-US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 перезбір</a:t>
            </a:r>
            <a:r>
              <a:rPr lang="uk-UA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ці</a:t>
            </a:r>
            <a:r>
              <a:rPr lang="en-US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.</a:t>
            </a:r>
            <a:r>
              <a:rPr lang="uk-UA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 </a:t>
            </a:r>
            <a:r>
              <a:rPr lang="en-US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У Visual Studio при кожній зміні запускається компіляція всього проєкту — це дратує, особливо коли редагуєт</a:t>
            </a:r>
            <a:r>
              <a:rPr lang="uk-UA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ься</a:t>
            </a:r>
            <a:r>
              <a:rPr lang="en-US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 тільки один шар</a:t>
            </a:r>
            <a:endParaRPr lang="en-US" altLang="en-US" sz="17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285750" indent="-28575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700" b="1" dirty="0" err="1">
                <a:solidFill>
                  <a:srgbClr val="000000"/>
                </a:solidFill>
                <a:ea typeface="Microsoft YaHei" panose="020B0503020204020204" charset="-122"/>
              </a:rPr>
              <a:t>Не хочеться білдити весь проєкт щоразу</a:t>
            </a:r>
            <a:r>
              <a:rPr lang="en-US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.</a:t>
            </a:r>
            <a:r>
              <a:rPr lang="uk-UA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 </a:t>
            </a:r>
            <a:r>
              <a:rPr lang="en-US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Коли </a:t>
            </a:r>
            <a:r>
              <a:rPr lang="uk-UA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змінюється </a:t>
            </a:r>
            <a:r>
              <a:rPr lang="en-US" altLang="en-US" sz="1700" dirty="0" err="1">
                <a:solidFill>
                  <a:srgbClr val="000000"/>
                </a:solidFill>
                <a:ea typeface="Microsoft YaHei" panose="020B0503020204020204" charset="-122"/>
              </a:rPr>
              <a:t>тільки модель Song, чому має компілюватися весь UI-шар?</a:t>
            </a:r>
            <a:endParaRPr lang="en-US" altLang="en-US" sz="17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algn="ctr"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700" b="1" dirty="0" err="1">
                <a:solidFill>
                  <a:srgbClr val="FF0000"/>
                </a:solidFill>
                <a:ea typeface="Microsoft YaHei" panose="020B0503020204020204" charset="-122"/>
              </a:rPr>
              <a:t>Рішення — багаторівнева архітектура з окремими проєктами </a:t>
            </a:r>
            <a:r>
              <a:rPr lang="uk-UA" altLang="en-US" sz="1700" b="1" dirty="0" err="1">
                <a:solidFill>
                  <a:srgbClr val="FF0000"/>
                </a:solidFill>
                <a:ea typeface="Microsoft YaHei" panose="020B0503020204020204" charset="-122"/>
              </a:rPr>
              <a:t>                  </a:t>
            </a:r>
            <a:r>
              <a:rPr lang="en-US" altLang="en-US" sz="1700" b="1" dirty="0" err="1">
                <a:solidFill>
                  <a:srgbClr val="FF0000"/>
                </a:solidFill>
                <a:ea typeface="Microsoft YaHei" panose="020B0503020204020204" charset="-122"/>
              </a:rPr>
              <a:t>(solution з кількома projects)</a:t>
            </a:r>
            <a:r>
              <a:rPr lang="uk-UA" altLang="en-US" sz="1700" b="1" dirty="0" err="1">
                <a:solidFill>
                  <a:srgbClr val="FF0000"/>
                </a:solidFill>
                <a:ea typeface="Microsoft YaHei" panose="020B0503020204020204" charset="-122"/>
              </a:rPr>
              <a:t>.</a:t>
            </a:r>
            <a:endParaRPr lang="uk-UA" altLang="en-US" sz="1700" b="1" dirty="0" err="1">
              <a:solidFill>
                <a:srgbClr val="FF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580" y="228600"/>
            <a:ext cx="8872220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Класична 3-рівнева архітектура</a:t>
            </a:r>
            <a:endParaRPr lang="uk-UA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К</a:t>
            </a: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ласичн</a:t>
            </a:r>
            <a:r>
              <a:rPr lang="uk-UA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а</a:t>
            </a: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 </a:t>
            </a:r>
            <a:r>
              <a:rPr lang="uk-UA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3-рівнева </a:t>
            </a: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архітектур</a:t>
            </a:r>
            <a:r>
              <a:rPr lang="uk-UA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а</a:t>
            </a: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 програмного забезпечення, </a:t>
            </a:r>
            <a:r>
              <a:rPr lang="uk-UA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                      </a:t>
            </a: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яка найчастіше використовується в корпоративній розробці, зокрема </a:t>
            </a:r>
            <a:r>
              <a:rPr lang="uk-UA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          </a:t>
            </a: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в ASP.NET Core MVC-додатках</a:t>
            </a:r>
            <a:r>
              <a:rPr lang="uk-UA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, </a:t>
            </a: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передбачає чітке розділення відповідальностей (Separation of Concerns) між трьома основними шарами:</a:t>
            </a:r>
            <a:endParaRPr lang="en-US" altLang="en-US" sz="18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285750" indent="-28575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b="1" dirty="0" err="1">
                <a:solidFill>
                  <a:srgbClr val="000000"/>
                </a:solidFill>
                <a:ea typeface="Microsoft YaHei" panose="020B0503020204020204" charset="-122"/>
              </a:rPr>
              <a:t>Верхній</a:t>
            </a:r>
            <a:r>
              <a:rPr lang="uk-UA" altLang="en-US" sz="1800" b="1" dirty="0" err="1">
                <a:solidFill>
                  <a:srgbClr val="000000"/>
                </a:solidFill>
                <a:ea typeface="Microsoft YaHei" panose="020B0503020204020204" charset="-122"/>
              </a:rPr>
              <a:t> (</a:t>
            </a:r>
            <a:r>
              <a:rPr lang="en-US" altLang="en-US" sz="1800" b="1" dirty="0" err="1">
                <a:solidFill>
                  <a:srgbClr val="000000"/>
                </a:solidFill>
                <a:ea typeface="Microsoft YaHei" panose="020B0503020204020204" charset="-122"/>
              </a:rPr>
              <a:t>Presentation Layer</a:t>
            </a:r>
            <a:r>
              <a:rPr lang="uk-UA" altLang="en-US" sz="1800" b="1" dirty="0" err="1">
                <a:solidFill>
                  <a:srgbClr val="000000"/>
                </a:solidFill>
                <a:ea typeface="Microsoft YaHei" panose="020B0503020204020204" charset="-122"/>
              </a:rPr>
              <a:t>) </a:t>
            </a:r>
            <a:r>
              <a:rPr lang="uk-UA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- в</a:t>
            </a: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ідповідає за взаємодію </a:t>
            </a:r>
            <a:r>
              <a:rPr lang="uk-UA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                              </a:t>
            </a: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з користувачем: відображення даних та отримання вводу.</a:t>
            </a:r>
            <a:r>
              <a:rPr lang="uk-UA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 Сюди відносяться </a:t>
            </a:r>
            <a:r>
              <a:rPr lang="uk-UA" altLang="en-US" sz="1800" dirty="0" err="1">
                <a:solidFill>
                  <a:srgbClr val="0070C0"/>
                </a:solidFill>
                <a:ea typeface="Microsoft YaHei" panose="020B0503020204020204" charset="-122"/>
              </a:rPr>
              <a:t>к</a:t>
            </a:r>
            <a:r>
              <a:rPr lang="en-US" altLang="en-US" sz="1800" dirty="0" err="1">
                <a:solidFill>
                  <a:srgbClr val="0070C0"/>
                </a:solidFill>
                <a:ea typeface="Microsoft YaHei" panose="020B0503020204020204" charset="-122"/>
              </a:rPr>
              <a:t>онтролери</a:t>
            </a: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, </a:t>
            </a:r>
            <a:r>
              <a:rPr lang="uk-UA" altLang="en-US" sz="1800" dirty="0" err="1">
                <a:solidFill>
                  <a:srgbClr val="0070C0"/>
                </a:solidFill>
                <a:ea typeface="Microsoft YaHei" panose="020B0503020204020204" charset="-122"/>
              </a:rPr>
              <a:t>вью </a:t>
            </a: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(Razor), Razor Pages, HTML/CSS/JS</a:t>
            </a:r>
            <a:r>
              <a:rPr lang="uk-UA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 (</a:t>
            </a:r>
            <a:r>
              <a:rPr lang="en-US" altLang="en-US" sz="1800" dirty="0" err="1">
                <a:solidFill>
                  <a:srgbClr val="0070C0"/>
                </a:solidFill>
                <a:ea typeface="Microsoft YaHei" panose="020B0503020204020204" charset="-122"/>
              </a:rPr>
              <a:t>wwwroot</a:t>
            </a: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), API-контролери (якщо SPA)</a:t>
            </a:r>
            <a:endParaRPr lang="en-US" altLang="en-US" sz="18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285750" indent="-28575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b="1" dirty="0" err="1">
                <a:solidFill>
                  <a:srgbClr val="000000"/>
                </a:solidFill>
                <a:ea typeface="Microsoft YaHei" panose="020B0503020204020204" charset="-122"/>
              </a:rPr>
              <a:t>Середній (Business Logic Layer</a:t>
            </a:r>
            <a:r>
              <a:rPr lang="uk-UA" altLang="en-US" sz="1800" b="1" dirty="0" err="1">
                <a:solidFill>
                  <a:srgbClr val="000000"/>
                </a:solidFill>
                <a:ea typeface="Microsoft YaHei" panose="020B0503020204020204" charset="-122"/>
              </a:rPr>
              <a:t>, </a:t>
            </a:r>
            <a:r>
              <a:rPr lang="en-US" altLang="uk-UA" sz="1800" b="1" dirty="0" err="1">
                <a:solidFill>
                  <a:srgbClr val="000000"/>
                </a:solidFill>
                <a:ea typeface="Microsoft YaHei" panose="020B0503020204020204" charset="-122"/>
              </a:rPr>
              <a:t>BLL</a:t>
            </a:r>
            <a:r>
              <a:rPr lang="en-US" altLang="en-US" sz="1800" b="1" dirty="0" err="1">
                <a:solidFill>
                  <a:srgbClr val="000000"/>
                </a:solidFill>
                <a:ea typeface="Microsoft YaHei" panose="020B0503020204020204" charset="-122"/>
              </a:rPr>
              <a:t>) </a:t>
            </a: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- </a:t>
            </a:r>
            <a:r>
              <a:rPr lang="uk-UA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м</a:t>
            </a: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істить бізнес-правила та логіку додатка</a:t>
            </a:r>
            <a:r>
              <a:rPr lang="uk-UA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, о</a:t>
            </a: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бробляє дані перед збереженням або відображенням.</a:t>
            </a:r>
            <a:r>
              <a:rPr lang="uk-UA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 Сюди відносяться </a:t>
            </a:r>
            <a:r>
              <a:rPr lang="uk-UA" altLang="en-US" sz="1800" dirty="0" err="1">
                <a:solidFill>
                  <a:srgbClr val="0070C0"/>
                </a:solidFill>
                <a:ea typeface="Microsoft YaHei" panose="020B0503020204020204" charset="-122"/>
              </a:rPr>
              <a:t>с</a:t>
            </a:r>
            <a:r>
              <a:rPr lang="en-US" altLang="en-US" sz="1800" dirty="0" err="1">
                <a:solidFill>
                  <a:srgbClr val="0070C0"/>
                </a:solidFill>
                <a:ea typeface="Microsoft YaHei" panose="020B0503020204020204" charset="-122"/>
              </a:rPr>
              <a:t>ервіси</a:t>
            </a:r>
            <a:r>
              <a:rPr lang="uk-UA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,</a:t>
            </a: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 </a:t>
            </a:r>
            <a:r>
              <a:rPr lang="en-US" altLang="en-US" sz="1800" dirty="0" err="1">
                <a:solidFill>
                  <a:srgbClr val="0070C0"/>
                </a:solidFill>
                <a:ea typeface="Microsoft YaHei" panose="020B0503020204020204" charset="-122"/>
              </a:rPr>
              <a:t>валідація </a:t>
            </a: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бізнес-правил, </a:t>
            </a:r>
            <a:r>
              <a:rPr lang="en-US" altLang="en-US" sz="1800" dirty="0" err="1">
                <a:solidFill>
                  <a:srgbClr val="0070C0"/>
                </a:solidFill>
                <a:ea typeface="Microsoft YaHei" panose="020B0503020204020204" charset="-122"/>
              </a:rPr>
              <a:t>розрахунки</a:t>
            </a: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, </a:t>
            </a:r>
            <a:r>
              <a:rPr lang="en-US" altLang="en-US" sz="1800" dirty="0" err="1">
                <a:solidFill>
                  <a:srgbClr val="0070C0"/>
                </a:solidFill>
                <a:ea typeface="Microsoft YaHei" panose="020B0503020204020204" charset="-122"/>
              </a:rPr>
              <a:t>авторизація</a:t>
            </a:r>
            <a:endParaRPr lang="en-US" altLang="en-US" sz="18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285750" indent="-28575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b="1" dirty="0" err="1">
                <a:solidFill>
                  <a:srgbClr val="000000"/>
                </a:solidFill>
                <a:ea typeface="Microsoft YaHei" panose="020B0503020204020204" charset="-122"/>
              </a:rPr>
              <a:t>Нижній</a:t>
            </a:r>
            <a:r>
              <a:rPr lang="uk-UA" altLang="en-US" sz="1800" b="1" dirty="0" err="1">
                <a:solidFill>
                  <a:srgbClr val="000000"/>
                </a:solidFill>
                <a:ea typeface="Microsoft YaHei" panose="020B0503020204020204" charset="-122"/>
              </a:rPr>
              <a:t> (</a:t>
            </a:r>
            <a:r>
              <a:rPr lang="en-US" altLang="en-US" sz="1800" b="1" dirty="0" err="1">
                <a:solidFill>
                  <a:srgbClr val="000000"/>
                </a:solidFill>
                <a:ea typeface="Microsoft YaHei" panose="020B0503020204020204" charset="-122"/>
              </a:rPr>
              <a:t>Data Access Layer, DAL) </a:t>
            </a: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- </a:t>
            </a:r>
            <a:r>
              <a:rPr lang="uk-UA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в</a:t>
            </a: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ідповідає за роботу з базою даних: читання, запис, оновлення, видалення.</a:t>
            </a:r>
            <a:r>
              <a:rPr lang="uk-UA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 Сюди відносяться </a:t>
            </a:r>
            <a:r>
              <a:rPr lang="en-US" altLang="en-US" sz="1800" dirty="0" err="1">
                <a:solidFill>
                  <a:srgbClr val="0070C0"/>
                </a:solidFill>
                <a:ea typeface="Microsoft YaHei" panose="020B0503020204020204" charset="-122"/>
              </a:rPr>
              <a:t>DbContext </a:t>
            </a: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(EF Core), </a:t>
            </a:r>
            <a:r>
              <a:rPr lang="en-US" altLang="en-US" sz="1800" dirty="0" err="1">
                <a:solidFill>
                  <a:srgbClr val="0070C0"/>
                </a:solidFill>
                <a:ea typeface="Microsoft YaHei" panose="020B0503020204020204" charset="-122"/>
              </a:rPr>
              <a:t>репозиторії </a:t>
            </a: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(Repository), </a:t>
            </a:r>
            <a:r>
              <a:rPr lang="en-US" altLang="en-US" sz="1800" dirty="0" err="1">
                <a:solidFill>
                  <a:srgbClr val="0070C0"/>
                </a:solidFill>
                <a:ea typeface="Microsoft YaHei" panose="020B0503020204020204" charset="-122"/>
              </a:rPr>
              <a:t>Unit of Work</a:t>
            </a: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, </a:t>
            </a:r>
            <a:r>
              <a:rPr lang="en-US" altLang="en-US" sz="1800" dirty="0" err="1">
                <a:solidFill>
                  <a:srgbClr val="0070C0"/>
                </a:solidFill>
                <a:ea typeface="Microsoft YaHei" panose="020B0503020204020204" charset="-122"/>
              </a:rPr>
              <a:t>міграції</a:t>
            </a:r>
            <a:endParaRPr lang="en-US" altLang="en-US" sz="1800" dirty="0" err="1">
              <a:solidFill>
                <a:srgbClr val="0070C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580" y="228600"/>
            <a:ext cx="8664575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sym typeface="+mn-ea"/>
              </a:rPr>
              <a:t>Класична 3-рівнева архітектура</a:t>
            </a:r>
            <a:endParaRPr lang="ru-RU" altLang="uk-UA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ru-RU" sz="2400" b="1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  <p:pic>
        <p:nvPicPr>
          <p:cNvPr id="2" name="Picture 1" descr="Screenshot 2025-12-17 15594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6945" y="1457325"/>
            <a:ext cx="7229475" cy="5276850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580" y="228600"/>
            <a:ext cx="8655685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sym typeface="+mn-ea"/>
              </a:rPr>
              <a:t>Класична 3-рівнева архітектура</a:t>
            </a:r>
            <a:endParaRPr lang="ru-RU" altLang="uk-UA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ru-RU" sz="2400" b="1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  <p:pic>
        <p:nvPicPr>
          <p:cNvPr id="2" name="Picture 1" descr="80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2360" y="1043940"/>
            <a:ext cx="6856095" cy="5853430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580" y="228600"/>
            <a:ext cx="8637905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sym typeface="+mn-ea"/>
              </a:rPr>
              <a:t>Класична 3-рівнева архітектура</a:t>
            </a:r>
            <a:endParaRPr lang="ru-RU" altLang="uk-UA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ru-RU" sz="2400" b="1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  <p:pic>
        <p:nvPicPr>
          <p:cNvPr id="2" name="Picture 1" descr="1_6wfCLOcjldVF3x49OyCdmQ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1043940"/>
            <a:ext cx="6546215" cy="5803900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Рівень подання</a:t>
            </a:r>
            <a:endParaRPr lang="uk-UA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b="1" dirty="0" err="1">
                <a:solidFill>
                  <a:srgbClr val="0070C0"/>
                </a:solidFill>
                <a:ea typeface="Microsoft YaHei" panose="020B0503020204020204" charset="-122"/>
              </a:rPr>
              <a:t>Presentation layer (рівень</a:t>
            </a:r>
            <a:r>
              <a:rPr lang="en-US" altLang="en-US" sz="2100" b="1" dirty="0" err="1">
                <a:solidFill>
                  <a:srgbClr val="0070C0"/>
                </a:solidFill>
                <a:ea typeface="Microsoft YaHei" panose="020B0503020204020204" charset="-122"/>
              </a:rPr>
              <a:t> </a:t>
            </a:r>
            <a:r>
              <a:rPr lang="en-US" altLang="en-US" sz="2100" b="1" dirty="0" err="1">
                <a:solidFill>
                  <a:srgbClr val="0070C0"/>
                </a:solidFill>
                <a:ea typeface="Microsoft YaHei" panose="020B0503020204020204" charset="-122"/>
              </a:rPr>
              <a:t>подання) </a:t>
            </a:r>
            <a:r>
              <a:rPr lang="en-US" altLang="en-US" sz="2100" b="1" dirty="0" err="1">
                <a:solidFill>
                  <a:srgbClr val="000000"/>
                </a:solidFill>
                <a:ea typeface="Microsoft YaHei" panose="020B0503020204020204" charset="-122"/>
              </a:rPr>
              <a:t>- це рівень, </a:t>
            </a:r>
            <a:r>
              <a:rPr lang="uk-UA" altLang="en-US" sz="2100" b="1" dirty="0" err="1">
                <a:solidFill>
                  <a:srgbClr val="000000"/>
                </a:solidFill>
                <a:ea typeface="Microsoft YaHei" panose="020B0503020204020204" charset="-122"/>
              </a:rPr>
              <a:t>                 </a:t>
            </a:r>
            <a:r>
              <a:rPr lang="en-US" altLang="en-US" sz="2100" b="1" dirty="0" err="1">
                <a:solidFill>
                  <a:srgbClr val="000000"/>
                </a:solidFill>
                <a:ea typeface="Microsoft YaHei" panose="020B0503020204020204" charset="-122"/>
              </a:rPr>
              <a:t>з яким безпосередньо взаємодіє користувач</a:t>
            </a:r>
            <a:endParaRPr lang="en-US" altLang="en-US" sz="21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21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b="1" dirty="0" err="1">
                <a:solidFill>
                  <a:srgbClr val="000000"/>
                </a:solidFill>
                <a:ea typeface="Microsoft YaHei" panose="020B0503020204020204" charset="-122"/>
              </a:rPr>
              <a:t>Цей рівень включає компоненти інтерфейсу користувача, механізм отримання введення </a:t>
            </a:r>
            <a:r>
              <a:rPr lang="uk-UA" altLang="en-US" sz="2100" b="1" dirty="0" err="1">
                <a:solidFill>
                  <a:srgbClr val="000000"/>
                </a:solidFill>
                <a:ea typeface="Microsoft YaHei" panose="020B0503020204020204" charset="-122"/>
              </a:rPr>
              <a:t>                </a:t>
            </a:r>
            <a:r>
              <a:rPr lang="en-US" altLang="en-US" sz="2100" b="1" dirty="0" err="1">
                <a:solidFill>
                  <a:srgbClr val="000000"/>
                </a:solidFill>
                <a:ea typeface="Microsoft YaHei" panose="020B0503020204020204" charset="-122"/>
              </a:rPr>
              <a:t>від користувача</a:t>
            </a:r>
            <a:endParaRPr lang="en-US" altLang="en-US" sz="21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21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b="1" dirty="0" err="1">
                <a:solidFill>
                  <a:srgbClr val="000000"/>
                </a:solidFill>
                <a:ea typeface="Microsoft YaHei" panose="020B0503020204020204" charset="-122"/>
              </a:rPr>
              <a:t>Зокрема, на цьому рівні </a:t>
            </a:r>
            <a:r>
              <a:rPr lang="uk-UA" altLang="en-US" sz="2100" b="1" dirty="0" err="1">
                <a:solidFill>
                  <a:srgbClr val="000000"/>
                </a:solidFill>
                <a:ea typeface="Microsoft YaHei" panose="020B0503020204020204" charset="-122"/>
              </a:rPr>
              <a:t>знаходяться</a:t>
            </a:r>
            <a:r>
              <a:rPr lang="en-US" altLang="en-US" sz="2100" b="1" dirty="0" err="1">
                <a:solidFill>
                  <a:srgbClr val="000000"/>
                </a:solidFill>
                <a:ea typeface="Microsoft YaHei" panose="020B0503020204020204" charset="-122"/>
              </a:rPr>
              <a:t> </a:t>
            </a:r>
            <a:r>
              <a:rPr lang="en-US" altLang="en-US" sz="2100" b="1" dirty="0" err="1">
                <a:solidFill>
                  <a:srgbClr val="0070C0"/>
                </a:solidFill>
                <a:ea typeface="Microsoft YaHei" panose="020B0503020204020204" charset="-122"/>
              </a:rPr>
              <a:t>стилі</a:t>
            </a:r>
            <a:r>
              <a:rPr lang="en-US" altLang="en-US" sz="2100" b="1" dirty="0" err="1">
                <a:solidFill>
                  <a:srgbClr val="000000"/>
                </a:solidFill>
                <a:ea typeface="Microsoft YaHei" panose="020B0503020204020204" charset="-122"/>
              </a:rPr>
              <a:t>, </a:t>
            </a:r>
            <a:r>
              <a:rPr lang="en-US" altLang="en-US" sz="2100" b="1" dirty="0" err="1">
                <a:solidFill>
                  <a:srgbClr val="0070C0"/>
                </a:solidFill>
                <a:ea typeface="Microsoft YaHei" panose="020B0503020204020204" charset="-122"/>
              </a:rPr>
              <a:t>статичні сторінки HTML</a:t>
            </a:r>
            <a:r>
              <a:rPr lang="en-US" altLang="en-US" sz="2100" b="1" dirty="0" err="1">
                <a:solidFill>
                  <a:srgbClr val="000000"/>
                </a:solidFill>
                <a:ea typeface="Microsoft YaHei" panose="020B0503020204020204" charset="-122"/>
              </a:rPr>
              <a:t>, </a:t>
            </a:r>
            <a:r>
              <a:rPr lang="en-US" altLang="en-US" sz="2100" b="1" dirty="0" err="1">
                <a:solidFill>
                  <a:srgbClr val="0070C0"/>
                </a:solidFill>
                <a:ea typeface="Microsoft YaHei" panose="020B0503020204020204" charset="-122"/>
              </a:rPr>
              <a:t>JavaScript</a:t>
            </a:r>
            <a:r>
              <a:rPr lang="uk-UA" altLang="en-US" sz="2100" b="1" dirty="0" err="1">
                <a:solidFill>
                  <a:srgbClr val="0070C0"/>
                </a:solidFill>
                <a:ea typeface="Microsoft YaHei" panose="020B0503020204020204" charset="-122"/>
              </a:rPr>
              <a:t> </a:t>
            </a:r>
            <a:r>
              <a:rPr lang="uk-UA" altLang="en-US" sz="2100" b="1" dirty="0" err="1">
                <a:solidFill>
                  <a:srgbClr val="000000"/>
                </a:solidFill>
                <a:ea typeface="Microsoft YaHei" panose="020B0503020204020204" charset="-122"/>
              </a:rPr>
              <a:t>(</a:t>
            </a:r>
            <a:r>
              <a:rPr lang="en-US" altLang="en-US" sz="2100" b="1" dirty="0" err="1">
                <a:solidFill>
                  <a:srgbClr val="000000"/>
                </a:solidFill>
                <a:ea typeface="Microsoft YaHei" panose="020B0503020204020204" charset="-122"/>
              </a:rPr>
              <a:t>wwwroot)</a:t>
            </a:r>
            <a:endParaRPr lang="en-US" altLang="en-US" sz="21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21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b="1" dirty="0" err="1">
                <a:solidFill>
                  <a:srgbClr val="000000"/>
                </a:solidFill>
                <a:ea typeface="Microsoft YaHei" panose="020B0503020204020204" charset="-122"/>
              </a:rPr>
              <a:t>Крім того, на цьому рівні знаходяться </a:t>
            </a:r>
            <a:r>
              <a:rPr lang="en-US" altLang="en-US" sz="2100" b="1" dirty="0" err="1">
                <a:solidFill>
                  <a:srgbClr val="0070C0"/>
                </a:solidFill>
                <a:ea typeface="Microsoft YaHei" panose="020B0503020204020204" charset="-122"/>
              </a:rPr>
              <a:t>ViewModels </a:t>
            </a:r>
            <a:r>
              <a:rPr lang="en-US" altLang="en-US" sz="2100" b="1" dirty="0" err="1">
                <a:solidFill>
                  <a:srgbClr val="000000"/>
                </a:solidFill>
                <a:ea typeface="Microsoft YaHei" panose="020B0503020204020204" charset="-122"/>
              </a:rPr>
              <a:t>(сполучні моделі), </a:t>
            </a:r>
            <a:r>
              <a:rPr lang="en-US" altLang="en-US" sz="2100" b="1" dirty="0" err="1">
                <a:solidFill>
                  <a:srgbClr val="0070C0"/>
                </a:solidFill>
                <a:ea typeface="Microsoft YaHei" panose="020B0503020204020204" charset="-122"/>
              </a:rPr>
              <a:t>контролери</a:t>
            </a:r>
            <a:r>
              <a:rPr lang="en-US" altLang="en-US" sz="2100" b="1" dirty="0" err="1">
                <a:solidFill>
                  <a:srgbClr val="000000"/>
                </a:solidFill>
                <a:ea typeface="Microsoft YaHei" panose="020B0503020204020204" charset="-122"/>
              </a:rPr>
              <a:t>, </a:t>
            </a:r>
            <a:r>
              <a:rPr lang="uk-UA" altLang="en-US" sz="2100" b="1" dirty="0" err="1">
                <a:solidFill>
                  <a:srgbClr val="0070C0"/>
                </a:solidFill>
                <a:ea typeface="Microsoft YaHei" panose="020B0503020204020204" charset="-122"/>
              </a:rPr>
              <a:t>подання</a:t>
            </a:r>
            <a:r>
              <a:rPr lang="en-US" altLang="en-US" sz="2100" b="1" dirty="0" err="1">
                <a:solidFill>
                  <a:srgbClr val="000000"/>
                </a:solidFill>
                <a:ea typeface="Microsoft YaHei" panose="020B0503020204020204" charset="-122"/>
              </a:rPr>
              <a:t>, об'єкти </a:t>
            </a:r>
            <a:r>
              <a:rPr lang="en-US" altLang="en-US" sz="2100" b="1" dirty="0" err="1">
                <a:solidFill>
                  <a:srgbClr val="0070C0"/>
                </a:solidFill>
                <a:ea typeface="Microsoft YaHei" panose="020B0503020204020204" charset="-122"/>
              </a:rPr>
              <a:t>контексту HTTP-запиту</a:t>
            </a:r>
            <a:r>
              <a:rPr lang="en-US" altLang="en-US" sz="2100" b="1" dirty="0" err="1">
                <a:solidFill>
                  <a:srgbClr val="000000"/>
                </a:solidFill>
                <a:ea typeface="Microsoft YaHei" panose="020B0503020204020204" charset="-122"/>
              </a:rPr>
              <a:t> (User, Session, Request, Response </a:t>
            </a:r>
            <a:r>
              <a:rPr lang="uk-UA" altLang="en-US" sz="2100" b="1" dirty="0" err="1">
                <a:solidFill>
                  <a:srgbClr val="000000"/>
                </a:solidFill>
                <a:ea typeface="Microsoft YaHei" panose="020B0503020204020204" charset="-122"/>
              </a:rPr>
              <a:t>тощо)</a:t>
            </a:r>
            <a:endParaRPr lang="uk-UA" altLang="en-US" sz="2100" b="1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Рівень бізнес-логіки</a:t>
            </a:r>
            <a:endParaRPr lang="uk-UA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b="1" dirty="0" err="1">
                <a:solidFill>
                  <a:srgbClr val="0070C0"/>
                </a:solidFill>
                <a:ea typeface="Microsoft YaHei" panose="020B0503020204020204" charset="-122"/>
              </a:rPr>
              <a:t>Business layer (рівень бізнес-логіки)</a:t>
            </a:r>
            <a:r>
              <a:rPr lang="en-US" altLang="en-US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 містить набір компонентів (</a:t>
            </a:r>
            <a:r>
              <a:rPr lang="en-US" altLang="en-US" sz="2400" b="1" dirty="0" err="1">
                <a:solidFill>
                  <a:srgbClr val="0070C0"/>
                </a:solidFill>
                <a:ea typeface="Microsoft YaHei" panose="020B0503020204020204" charset="-122"/>
              </a:rPr>
              <a:t>сервісів</a:t>
            </a:r>
            <a:r>
              <a:rPr lang="en-US" altLang="en-US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), які відповідають </a:t>
            </a:r>
            <a:r>
              <a:rPr lang="uk-UA" altLang="en-US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  </a:t>
            </a:r>
            <a:r>
              <a:rPr lang="en-US" altLang="en-US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за обробку отриманих від рівня </a:t>
            </a:r>
            <a:r>
              <a:rPr lang="uk-UA" altLang="en-US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подань </a:t>
            </a:r>
            <a:r>
              <a:rPr lang="en-US" altLang="en-US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даних</a:t>
            </a:r>
            <a:endParaRPr lang="en-US" altLang="en-US" sz="24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24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Цей рівень реалізує всю необхідну бізнес-логіку програми, виконує всі обчислення і передає рівню подання результат обробки</a:t>
            </a:r>
            <a:endParaRPr lang="en-US" altLang="en-US" sz="2400" b="1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Рівень бізнес-логіки</a:t>
            </a:r>
            <a:endParaRPr lang="uk-UA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b="1" dirty="0" err="1">
                <a:solidFill>
                  <a:srgbClr val="FF0000"/>
                </a:solidFill>
                <a:ea typeface="Microsoft YaHei" panose="020B0503020204020204" charset="-122"/>
              </a:rPr>
              <a:t>Ключов</a:t>
            </a:r>
            <a:r>
              <a:rPr lang="ru-RU" altLang="en-US" sz="2400" b="1" dirty="0" err="1">
                <a:solidFill>
                  <a:srgbClr val="FF0000"/>
                </a:solidFill>
                <a:ea typeface="Microsoft YaHei" panose="020B0503020204020204" charset="-122"/>
              </a:rPr>
              <a:t>ий</a:t>
            </a:r>
            <a:r>
              <a:rPr lang="en-US" altLang="en-US" sz="2400" b="1" dirty="0" err="1">
                <a:solidFill>
                  <a:srgbClr val="FF0000"/>
                </a:solidFill>
                <a:ea typeface="Microsoft YaHei" panose="020B0503020204020204" charset="-122"/>
              </a:rPr>
              <a:t> принцип роботи з БД</a:t>
            </a:r>
            <a:r>
              <a:rPr lang="ru-RU" altLang="en-US" sz="2400" b="1" dirty="0" err="1">
                <a:solidFill>
                  <a:srgbClr val="FF0000"/>
                </a:solidFill>
                <a:ea typeface="Microsoft YaHei" panose="020B0503020204020204" charset="-122"/>
              </a:rPr>
              <a:t>:</a:t>
            </a:r>
            <a:endParaRPr lang="en-US" altLang="en-US" sz="24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Контролери (Presentation Layer) НЕ працюють </a:t>
            </a:r>
            <a:r>
              <a:rPr lang="ru-RU" altLang="en-US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          </a:t>
            </a:r>
            <a:r>
              <a:rPr lang="en-US" altLang="en-US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з базою даних напряму.</a:t>
            </a:r>
            <a:endParaRPr lang="en-US" altLang="en-US" sz="24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Вони не повинні містити </a:t>
            </a:r>
            <a:r>
              <a:rPr lang="en-US" altLang="en-US" sz="2400" b="1" dirty="0" err="1">
                <a:solidFill>
                  <a:srgbClr val="0070C0"/>
                </a:solidFill>
                <a:ea typeface="Microsoft YaHei" panose="020B0503020204020204" charset="-122"/>
              </a:rPr>
              <a:t>DbContext</a:t>
            </a:r>
            <a:r>
              <a:rPr lang="en-US" altLang="en-US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, </a:t>
            </a:r>
            <a:r>
              <a:rPr lang="en-US" altLang="en-US" sz="2400" b="1" dirty="0" err="1">
                <a:solidFill>
                  <a:srgbClr val="0070C0"/>
                </a:solidFill>
                <a:ea typeface="Microsoft YaHei" panose="020B0503020204020204" charset="-122"/>
              </a:rPr>
              <a:t>репозиторії </a:t>
            </a:r>
            <a:r>
              <a:rPr lang="en-US" altLang="en-US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чи будь-які </a:t>
            </a:r>
            <a:r>
              <a:rPr lang="en-US" altLang="en-US" sz="2400" b="1" dirty="0" err="1">
                <a:solidFill>
                  <a:srgbClr val="0070C0"/>
                </a:solidFill>
                <a:ea typeface="Microsoft YaHei" panose="020B0503020204020204" charset="-122"/>
              </a:rPr>
              <a:t>запити </a:t>
            </a:r>
            <a:r>
              <a:rPr lang="en-US" altLang="en-US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до БД.</a:t>
            </a:r>
            <a:endParaRPr lang="en-US" altLang="en-US" sz="24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Замість цього к</a:t>
            </a:r>
            <a:r>
              <a:rPr lang="en-US" altLang="en-US" sz="2400" b="1" u="sng" dirty="0" err="1">
                <a:solidFill>
                  <a:srgbClr val="000000"/>
                </a:solidFill>
                <a:ea typeface="Microsoft YaHei" panose="020B0503020204020204" charset="-122"/>
              </a:rPr>
              <a:t>онтролер викликає сервіс бізнес-логіки</a:t>
            </a:r>
            <a:r>
              <a:rPr lang="en-US" altLang="en-US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 (наприклад, IArtistService).</a:t>
            </a:r>
            <a:endParaRPr lang="en-US" altLang="en-US" sz="24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b="1" dirty="0" err="1">
                <a:solidFill>
                  <a:srgbClr val="FF0000"/>
                </a:solidFill>
                <a:ea typeface="Microsoft YaHei" panose="020B0503020204020204" charset="-122"/>
              </a:rPr>
              <a:t>Контролер → Сервіс → Репозиторій → БД</a:t>
            </a:r>
            <a:endParaRPr lang="en-US" altLang="en-US" sz="2400" b="1" dirty="0" err="1">
              <a:solidFill>
                <a:srgbClr val="FF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Сервіс бізнес-логіки отримує дані від DAL (через IUnitOfWork або IRepository), обробляє їх за бізнес-правилами (валідація, розрахунки, авторизація тощо) і повертає результат контролеру.</a:t>
            </a:r>
            <a:endParaRPr lang="en-US" altLang="en-US" sz="2400" b="1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Рівень бізнес-логіки</a:t>
            </a:r>
            <a:endParaRPr lang="uk-UA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200" b="1" dirty="0" err="1">
                <a:solidFill>
                  <a:srgbClr val="000000"/>
                </a:solidFill>
                <a:ea typeface="Microsoft YaHei" panose="020B0503020204020204" charset="-122"/>
              </a:rPr>
              <a:t>Трансферні моделі (DTO — Data Transfer Objects) </a:t>
            </a:r>
            <a:r>
              <a:rPr lang="en-US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використовуються для передачі даних між шарами.</a:t>
            </a:r>
            <a:endParaRPr lang="en-US" altLang="en-US" sz="22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Причина: верхній шар не знає про нижній, і навпаки.</a:t>
            </a:r>
            <a:endParaRPr lang="en-US" altLang="en-US" sz="22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Presentation не повинен знати про доменні моделі (entities) </a:t>
            </a:r>
            <a:r>
              <a:rPr lang="ru-RU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 </a:t>
            </a:r>
            <a:r>
              <a:rPr lang="en-US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з БД (наприклад, про навігаційні властивості EF Core).</a:t>
            </a:r>
            <a:endParaRPr lang="en-US" altLang="en-US" sz="22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DAL не повинен знати про ViewModels з Presentation.</a:t>
            </a:r>
            <a:endParaRPr lang="en-US" altLang="en-US" sz="22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Приклади:</a:t>
            </a:r>
            <a:endParaRPr lang="en-US" altLang="en-US" sz="22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ArtistCreateDto — приходить з контролера в сервіс </a:t>
            </a:r>
            <a:r>
              <a:rPr lang="ru-RU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         </a:t>
            </a:r>
            <a:r>
              <a:rPr lang="en-US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(з форми)</a:t>
            </a:r>
            <a:endParaRPr lang="en-US" altLang="en-US" sz="22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ArtistDetailsDto — повертається з сервісу в контролер (для відображення)</a:t>
            </a:r>
            <a:endParaRPr lang="en-US" altLang="en-US" sz="22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Сервіс може мапити Artist (entity) ↔ ArtistDetailsDto </a:t>
            </a:r>
            <a:r>
              <a:rPr lang="ru-RU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      </a:t>
            </a:r>
            <a:r>
              <a:rPr lang="en-US" altLang="en-US" sz="2200" dirty="0" err="1">
                <a:solidFill>
                  <a:srgbClr val="000000"/>
                </a:solidFill>
                <a:ea typeface="Microsoft YaHei" panose="020B0503020204020204" charset="-122"/>
              </a:rPr>
              <a:t>(за допомогою AutoMapper або вручну)</a:t>
            </a:r>
            <a:endParaRPr lang="en-US" altLang="en-US" sz="22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22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Рівень доступу до даних</a:t>
            </a:r>
            <a:endParaRPr lang="uk-UA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b="1" dirty="0" err="1">
                <a:solidFill>
                  <a:srgbClr val="0070C0"/>
                </a:solidFill>
                <a:ea typeface="Microsoft YaHei" panose="020B0503020204020204" charset="-122"/>
              </a:rPr>
              <a:t>Data Access layer (рівень доступу до даних) </a:t>
            </a:r>
            <a:r>
              <a:rPr lang="en-US" altLang="en-US" sz="2300" b="1" dirty="0" err="1">
                <a:solidFill>
                  <a:srgbClr val="000000"/>
                </a:solidFill>
                <a:ea typeface="Microsoft YaHei" panose="020B0503020204020204" charset="-122"/>
              </a:rPr>
              <a:t>зберігає </a:t>
            </a:r>
            <a:r>
              <a:rPr lang="en-US" altLang="en-US" sz="2300" b="1" dirty="0" err="1">
                <a:solidFill>
                  <a:srgbClr val="0070C0"/>
                </a:solidFill>
                <a:ea typeface="Microsoft YaHei" panose="020B0503020204020204" charset="-122"/>
              </a:rPr>
              <a:t>моделі</a:t>
            </a:r>
            <a:r>
              <a:rPr lang="en-US" altLang="en-US" sz="2300" b="1" dirty="0" err="1">
                <a:solidFill>
                  <a:srgbClr val="000000"/>
                </a:solidFill>
                <a:ea typeface="Microsoft YaHei" panose="020B0503020204020204" charset="-122"/>
              </a:rPr>
              <a:t>, що описують використовувані сутності</a:t>
            </a:r>
            <a:r>
              <a:rPr lang="uk-UA" altLang="en-US" sz="2300" b="1" dirty="0" err="1">
                <a:solidFill>
                  <a:srgbClr val="000000"/>
                </a:solidFill>
                <a:ea typeface="Microsoft YaHei" panose="020B0503020204020204" charset="-122"/>
              </a:rPr>
              <a:t> (втім, класично </a:t>
            </a:r>
            <a:r>
              <a:rPr lang="en-US" altLang="en-US" sz="2300" b="1" dirty="0" err="1">
                <a:solidFill>
                  <a:srgbClr val="000000"/>
                </a:solidFill>
                <a:ea typeface="Microsoft YaHei" panose="020B0503020204020204" charset="-122"/>
              </a:rPr>
              <a:t>доменні моделі займають окреме, центральне місце і вважаються частиною Domain Layer</a:t>
            </a:r>
            <a:r>
              <a:rPr lang="uk-UA" altLang="en-US" sz="2300" b="1" dirty="0" err="1">
                <a:solidFill>
                  <a:srgbClr val="000000"/>
                </a:solidFill>
                <a:ea typeface="Microsoft YaHei" panose="020B0503020204020204" charset="-122"/>
              </a:rPr>
              <a:t>)</a:t>
            </a:r>
            <a:endParaRPr lang="en-US" altLang="en-US" sz="23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23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b="1" dirty="0" err="1">
                <a:solidFill>
                  <a:srgbClr val="000000"/>
                </a:solidFill>
                <a:ea typeface="Microsoft YaHei" panose="020B0503020204020204" charset="-122"/>
              </a:rPr>
              <a:t>На цьому рівні розміщуються специфічні класи для роботи з різними технологіями доступу </a:t>
            </a:r>
            <a:r>
              <a:rPr lang="uk-UA" altLang="en-US" sz="2300" b="1" dirty="0" err="1">
                <a:solidFill>
                  <a:srgbClr val="000000"/>
                </a:solidFill>
                <a:ea typeface="Microsoft YaHei" panose="020B0503020204020204" charset="-122"/>
              </a:rPr>
              <a:t>         </a:t>
            </a:r>
            <a:r>
              <a:rPr lang="en-US" altLang="en-US" sz="2300" b="1" dirty="0" err="1">
                <a:solidFill>
                  <a:srgbClr val="000000"/>
                </a:solidFill>
                <a:ea typeface="Microsoft YaHei" panose="020B0503020204020204" charset="-122"/>
              </a:rPr>
              <a:t>до даних</a:t>
            </a:r>
            <a:endParaRPr lang="en-US" altLang="en-US" sz="23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23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b="1" dirty="0" err="1">
                <a:solidFill>
                  <a:srgbClr val="000000"/>
                </a:solidFill>
                <a:ea typeface="Microsoft YaHei" panose="020B0503020204020204" charset="-122"/>
              </a:rPr>
              <a:t>На цьому рівні зберігаються також </a:t>
            </a:r>
            <a:r>
              <a:rPr lang="en-US" altLang="en-US" sz="2300" b="1" dirty="0" err="1">
                <a:solidFill>
                  <a:srgbClr val="0070C0"/>
                </a:solidFill>
                <a:ea typeface="Microsoft YaHei" panose="020B0503020204020204" charset="-122"/>
              </a:rPr>
              <a:t>репозиторії</a:t>
            </a:r>
            <a:r>
              <a:rPr lang="en-US" altLang="en-US" sz="2300" b="1" dirty="0" err="1">
                <a:solidFill>
                  <a:srgbClr val="000000"/>
                </a:solidFill>
                <a:ea typeface="Microsoft YaHei" panose="020B0503020204020204" charset="-122"/>
              </a:rPr>
              <a:t>, через які рівень бізнес-логіки взаємодіє з </a:t>
            </a:r>
            <a:r>
              <a:rPr lang="uk-UA" altLang="en-US" sz="2300" b="1" dirty="0" err="1">
                <a:solidFill>
                  <a:srgbClr val="000000"/>
                </a:solidFill>
                <a:ea typeface="Microsoft YaHei" panose="020B0503020204020204" charset="-122"/>
              </a:rPr>
              <a:t>БД</a:t>
            </a:r>
            <a:endParaRPr lang="uk-UA" altLang="en-US" sz="2300" b="1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Хто кого бачить</a:t>
            </a:r>
            <a:endParaRPr lang="uk-UA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38620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200" b="1" dirty="0" err="1">
                <a:solidFill>
                  <a:srgbClr val="000000"/>
                </a:solidFill>
                <a:ea typeface="Microsoft YaHei" panose="020B0503020204020204" charset="-122"/>
              </a:rPr>
              <a:t>Важливо розуміти, що рівень подання (контролери) не може безпосередньо звертатися до бази даних і рівня доступу до даних, а тільки через рівень бізнес-логіки</a:t>
            </a:r>
            <a:endParaRPr lang="en-US" altLang="en-US" sz="22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200" b="1" dirty="0" err="1">
                <a:solidFill>
                  <a:srgbClr val="000000"/>
                </a:solidFill>
                <a:ea typeface="Microsoft YaHei" panose="020B0503020204020204" charset="-122"/>
              </a:rPr>
              <a:t>Рівень доступу до даних не залежить від інших рівнів</a:t>
            </a:r>
            <a:r>
              <a:rPr lang="uk-UA" altLang="en-US" sz="2200" b="1" dirty="0" err="1">
                <a:solidFill>
                  <a:srgbClr val="000000"/>
                </a:solidFill>
                <a:ea typeface="Microsoft YaHei" panose="020B0503020204020204" charset="-122"/>
              </a:rPr>
              <a:t>!</a:t>
            </a:r>
            <a:endParaRPr lang="en-US" altLang="en-US" sz="22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200" b="1" dirty="0" err="1">
                <a:solidFill>
                  <a:srgbClr val="000000"/>
                </a:solidFill>
                <a:ea typeface="Microsoft YaHei" panose="020B0503020204020204" charset="-122"/>
              </a:rPr>
              <a:t>Рівень бізнес-логіки залежить </a:t>
            </a:r>
            <a:r>
              <a:rPr lang="uk-UA" altLang="en-US" sz="2200" b="1" dirty="0" err="1">
                <a:solidFill>
                  <a:srgbClr val="000000"/>
                </a:solidFill>
                <a:ea typeface="Microsoft YaHei" panose="020B0503020204020204" charset="-122"/>
              </a:rPr>
              <a:t>лише </a:t>
            </a:r>
            <a:r>
              <a:rPr lang="en-US" altLang="en-US" sz="2200" b="1" dirty="0" err="1">
                <a:solidFill>
                  <a:srgbClr val="000000"/>
                </a:solidFill>
                <a:ea typeface="Microsoft YaHei" panose="020B0503020204020204" charset="-122"/>
              </a:rPr>
              <a:t>від рівня доступу до даних</a:t>
            </a:r>
            <a:r>
              <a:rPr lang="uk-UA" altLang="en-US" sz="2200" b="1" dirty="0" err="1">
                <a:solidFill>
                  <a:srgbClr val="000000"/>
                </a:solidFill>
                <a:ea typeface="Microsoft YaHei" panose="020B0503020204020204" charset="-122"/>
              </a:rPr>
              <a:t> (від абстракцій </a:t>
            </a:r>
            <a:r>
              <a:rPr lang="en-US" altLang="en-US" sz="2200" b="1" dirty="0" err="1">
                <a:solidFill>
                  <a:srgbClr val="000000"/>
                </a:solidFill>
                <a:ea typeface="Microsoft YaHei" panose="020B0503020204020204" charset="-122"/>
              </a:rPr>
              <a:t>DAL)</a:t>
            </a:r>
            <a:endParaRPr lang="en-US" altLang="en-US" sz="22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200" b="1" dirty="0" err="1">
                <a:solidFill>
                  <a:srgbClr val="000000"/>
                </a:solidFill>
                <a:ea typeface="Microsoft YaHei" panose="020B0503020204020204" charset="-122"/>
              </a:rPr>
              <a:t>Рівень </a:t>
            </a:r>
            <a:r>
              <a:rPr lang="uk-UA" altLang="en-US" sz="2200" b="1" dirty="0" err="1">
                <a:solidFill>
                  <a:srgbClr val="000000"/>
                </a:solidFill>
                <a:ea typeface="Microsoft YaHei" panose="020B0503020204020204" charset="-122"/>
              </a:rPr>
              <a:t>подання </a:t>
            </a:r>
            <a:r>
              <a:rPr lang="en-US" altLang="en-US" sz="2200" b="1" dirty="0" err="1">
                <a:solidFill>
                  <a:srgbClr val="000000"/>
                </a:solidFill>
                <a:ea typeface="Microsoft YaHei" panose="020B0503020204020204" charset="-122"/>
              </a:rPr>
              <a:t>залежить </a:t>
            </a:r>
            <a:r>
              <a:rPr lang="uk-UA" altLang="en-US" sz="2200" b="1" dirty="0" err="1">
                <a:solidFill>
                  <a:srgbClr val="000000"/>
                </a:solidFill>
                <a:ea typeface="Microsoft YaHei" panose="020B0503020204020204" charset="-122"/>
              </a:rPr>
              <a:t>лише </a:t>
            </a:r>
            <a:r>
              <a:rPr lang="en-US" altLang="en-US" sz="2200" b="1" dirty="0" err="1">
                <a:solidFill>
                  <a:srgbClr val="000000"/>
                </a:solidFill>
                <a:ea typeface="Microsoft YaHei" panose="020B0503020204020204" charset="-122"/>
              </a:rPr>
              <a:t>від рівня бізнес-логіки</a:t>
            </a:r>
            <a:r>
              <a:rPr lang="uk-UA" altLang="en-US" sz="2200" b="1" dirty="0" err="1">
                <a:solidFill>
                  <a:srgbClr val="000000"/>
                </a:solidFill>
                <a:ea typeface="Microsoft YaHei" panose="020B0503020204020204" charset="-122"/>
              </a:rPr>
              <a:t>!</a:t>
            </a:r>
            <a:endParaRPr lang="en-US" altLang="en-US" sz="22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200" b="1" dirty="0" err="1">
                <a:solidFill>
                  <a:srgbClr val="000000"/>
                </a:solidFill>
                <a:ea typeface="Microsoft YaHei" panose="020B0503020204020204" charset="-122"/>
              </a:rPr>
              <a:t>Класи, як правило, повинні бути слабко пов'язаними (low coupling), тому невід'ємною частиною багаторівневих додатків є впровадження залежностей</a:t>
            </a:r>
            <a:endParaRPr lang="uk-UA" altLang="en-US" sz="2200" b="1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Clean Architecture</a:t>
            </a:r>
            <a:endParaRPr lang="en-US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b="1" dirty="0" err="1">
                <a:solidFill>
                  <a:srgbClr val="000000"/>
                </a:solidFill>
                <a:ea typeface="Microsoft YaHei" panose="020B0503020204020204" charset="-122"/>
              </a:rPr>
              <a:t>Чиста архітектура (Clean Architecture) </a:t>
            </a: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— це підхід </a:t>
            </a:r>
            <a:r>
              <a:rPr lang="uk-UA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                 </a:t>
            </a: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до проектування програмного забезпечення, запропонований Робертом С. Мартіном (Uncle Bob), який організовує код </a:t>
            </a:r>
            <a:r>
              <a:rPr lang="uk-UA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            </a:t>
            </a: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у концентричні шари (як цибулина), де в центрі знаходяться незалежні бізнес-правила та доменні моделі (entities та use cases), а зовнішні шари містять деталі реалізації: інтерфейси користувача, бази даних, фреймворки та зовнішні сервіси; ключовий принцип — правило залежностей (Dependency Rule), за яким залежності спрямовані тільки всередину (від зовнішніх шарів до внутрішніх), що робить систему незалежною </a:t>
            </a:r>
            <a:r>
              <a:rPr lang="uk-UA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             </a:t>
            </a: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від фреймворків, UI чи БД, полегшує тестування, підтримку </a:t>
            </a:r>
            <a:r>
              <a:rPr lang="uk-UA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   </a:t>
            </a: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та зміни, дозволяючи легко замінювати зовнішні компоненти </a:t>
            </a:r>
            <a:r>
              <a:rPr lang="uk-UA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   </a:t>
            </a: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без впливу на</a:t>
            </a:r>
            <a:r>
              <a:rPr lang="uk-UA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 </a:t>
            </a: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бізнес-логіку.</a:t>
            </a:r>
            <a:endParaRPr lang="en-US" altLang="en-US" sz="21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55245" y="6390640"/>
            <a:ext cx="901001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en-US" b="1">
                <a:solidFill>
                  <a:srgbClr val="0070C0"/>
                </a:solidFill>
                <a:hlinkClick r:id="rId1" action="ppaction://hlinkfile"/>
              </a:rPr>
              <a:t>https://blog.cleancoder.com/uncle-bob/2012/08/13/the-clean-architecture.html</a:t>
            </a:r>
            <a:endParaRPr lang="uk-UA" altLang="en-US" b="1">
              <a:solidFill>
                <a:srgbClr val="0070C0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ru-RU" sz="4200" dirty="0" err="1">
                <a:solidFill>
                  <a:srgbClr val="FFFFFF"/>
                </a:solidFill>
                <a:sym typeface="+mn-ea"/>
              </a:rPr>
              <a:t>Clean Architecture</a:t>
            </a:r>
            <a:endParaRPr lang="ru-RU" altLang="uk-UA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algn="ctr"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32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algn="ctr"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3200" b="1" dirty="0" err="1">
                <a:solidFill>
                  <a:srgbClr val="000000"/>
                </a:solidFill>
                <a:ea typeface="Microsoft YaHei" panose="020B0503020204020204" charset="-122"/>
              </a:rPr>
              <a:t>Схематичне розміщення компонентів по шарах:</a:t>
            </a:r>
            <a:endParaRPr lang="en-US" altLang="en-US" sz="32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algn="ctr"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32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algn="ctr"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3200" b="1" dirty="0" err="1">
                <a:solidFill>
                  <a:srgbClr val="0070C0"/>
                </a:solidFill>
                <a:ea typeface="Microsoft YaHei" panose="020B0503020204020204" charset="-122"/>
                <a:hlinkClick r:id="rId1" action="ppaction://hlinkfile"/>
              </a:rPr>
              <a:t>https://gist.github.com/sunmeat/a3d8fc8da5231d261da088683c6ce40e</a:t>
            </a:r>
            <a:endParaRPr lang="en-US" altLang="en-US" sz="3200" b="1" dirty="0" err="1">
              <a:solidFill>
                <a:srgbClr val="0070C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Якщо це все розбити на 3 рівні</a:t>
            </a:r>
            <a:endParaRPr lang="uk-UA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У класичній </a:t>
            </a:r>
            <a:r>
              <a:rPr lang="uk-UA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простій </a:t>
            </a: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3-рівневій архітектурі, доменні моделі найчастіше розміщують саме в Data Access Layer</a:t>
            </a:r>
            <a:r>
              <a:rPr lang="uk-UA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,</a:t>
            </a: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 разом з DbContext, репозиторіями та міграціями. Це тому, що ці моделі тісно пов'язані з persistence (збереженням даних) — вони містять анотації EF Core, навігаційні властивості тощо.</a:t>
            </a:r>
            <a:endParaRPr lang="en-US" altLang="en-US" sz="24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24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algn="ctr"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3200" b="1" dirty="0" err="1">
                <a:solidFill>
                  <a:srgbClr val="0070C0"/>
                </a:solidFill>
                <a:ea typeface="Microsoft YaHei" panose="020B0503020204020204" charset="-122"/>
                <a:hlinkClick r:id="rId1" action="ppaction://hlinkfile"/>
              </a:rPr>
              <a:t>https://gist.github.com/sunmeat/3cef2480888b4197757e69ed8f944b4a</a:t>
            </a:r>
            <a:endParaRPr lang="en-US" altLang="en-US" sz="3200" b="1" dirty="0" err="1">
              <a:solidFill>
                <a:srgbClr val="0070C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Як дані рухаються між шарами </a:t>
            </a:r>
            <a:endParaRPr lang="en-US" altLang="en-US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Користувач → відправляє дані у контролер (Presentation Layer)</a:t>
            </a:r>
            <a:endParaRPr lang="en-US" altLang="en-US" sz="24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Контролер → викликає сервіс (Business Layer) і передає DTO</a:t>
            </a:r>
            <a:endParaRPr lang="en-US" altLang="en-US" sz="24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Сервіс → викликає репозиторій (Data Access Layer)</a:t>
            </a:r>
            <a:endParaRPr lang="en-US" altLang="en-US" sz="24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Репозиторій → працює з DbContext і доменними моделями → зберігає/читає з БД</a:t>
            </a:r>
            <a:endParaRPr lang="en-US" altLang="en-US" sz="24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Репозиторій → повертає доменні моделі сервісу</a:t>
            </a:r>
            <a:endParaRPr lang="en-US" altLang="en-US" sz="24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Сервіс → обробляє, мапить у DTO і повертає контролеру</a:t>
            </a:r>
            <a:endParaRPr lang="en-US" altLang="en-US" sz="24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Контролер → передає DTO у ViewModel або безпосередньо у подання</a:t>
            </a:r>
            <a:endParaRPr lang="en-US" altLang="en-US" sz="24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Навіщо це все</a:t>
            </a:r>
            <a:r>
              <a:rPr lang="en-US" altLang="uk-UA" sz="4200" dirty="0" err="1">
                <a:solidFill>
                  <a:srgbClr val="FFFFFF"/>
                </a:solidFill>
                <a:ea typeface="Microsoft YaHei" panose="020B0503020204020204" charset="-122"/>
              </a:rPr>
              <a:t>?</a:t>
            </a:r>
            <a:endParaRPr lang="en-US" altLang="uk-UA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Легко змінювати інтерфейс (наприклад, замінити MVC       на Web API + React) — </a:t>
            </a:r>
            <a:r>
              <a:rPr lang="uk-UA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треба буде змінити </a:t>
            </a: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тільки Presentation Layer</a:t>
            </a:r>
            <a:endParaRPr lang="en-US" altLang="en-US" sz="21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Легко тестувати бізнес-логіку окремо</a:t>
            </a:r>
            <a:endParaRPr lang="en-US" altLang="en-US" sz="21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Швидша компіляція: кожен шар — окремий проєкт у </a:t>
            </a:r>
            <a:r>
              <a:rPr lang="uk-UA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рішенні</a:t>
            </a:r>
            <a:endParaRPr lang="en-US" altLang="en-US" sz="21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Код не переплутаний: не </a:t>
            </a:r>
            <a:r>
              <a:rPr lang="uk-UA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треба шукати </a:t>
            </a: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лог</a:t>
            </a:r>
            <a:r>
              <a:rPr lang="uk-UA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і</a:t>
            </a: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ку збереження    в контролерах</a:t>
            </a:r>
            <a:endParaRPr lang="en-US" altLang="en-US" sz="21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21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Ця схема ідеально підходить для більшості корпоративних ASP.NET Core проєктів середньої складності і є чудовою відправною точкою для новачків</a:t>
            </a:r>
            <a:r>
              <a:rPr lang="uk-UA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 у світі архітектури :)</a:t>
            </a:r>
            <a:endParaRPr lang="en-US" altLang="en-US" sz="21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Коли проєкт стане дуже складним — тоді </a:t>
            </a:r>
            <a:r>
              <a:rPr lang="uk-UA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вже </a:t>
            </a: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можна </a:t>
            </a:r>
            <a:r>
              <a:rPr lang="uk-UA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буде </a:t>
            </a: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перейти до Clean Architecture / DDD.</a:t>
            </a:r>
            <a:endParaRPr lang="en-US" altLang="en-US" sz="21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580" y="228600"/>
            <a:ext cx="8373110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000" dirty="0" err="1">
                <a:solidFill>
                  <a:srgbClr val="FFFFFF"/>
                </a:solidFill>
                <a:ea typeface="Microsoft YaHei" panose="020B0503020204020204" charset="-122"/>
              </a:rPr>
              <a:t>Приклад на 3-рівневу архітектуру</a:t>
            </a:r>
            <a:endParaRPr lang="uk-UA" altLang="ru-RU" sz="40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algn="ctr"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3200" b="1" dirty="0" err="1">
                <a:solidFill>
                  <a:srgbClr val="0070C0"/>
                </a:solidFill>
                <a:ea typeface="Microsoft YaHei" panose="020B0503020204020204" charset="-122"/>
                <a:hlinkClick r:id="rId1" action="ppaction://hlinkfile"/>
              </a:rPr>
              <a:t>https://github.com/sunmeat/aspnetcore_layers</a:t>
            </a:r>
            <a:endParaRPr lang="en-US" altLang="en-US" sz="3200" b="1" dirty="0" err="1">
              <a:solidFill>
                <a:srgbClr val="0070C0"/>
              </a:solidFill>
              <a:ea typeface="Microsoft YaHei" panose="020B0503020204020204" charset="-122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8805" y="2529205"/>
            <a:ext cx="5354955" cy="4314825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Коментарі до прикладу</a:t>
            </a:r>
            <a:endParaRPr lang="uk-UA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2100" dirty="0" err="1">
                <a:solidFill>
                  <a:srgbClr val="000000"/>
                </a:solidFill>
                <a:ea typeface="Microsoft YaHei" panose="020B0503020204020204" charset="-122"/>
              </a:rPr>
              <a:t>Верхній рівень - звийчаний </a:t>
            </a:r>
            <a:r>
              <a:rPr lang="en-US" altLang="ru-RU" sz="2100" dirty="0" err="1">
                <a:solidFill>
                  <a:srgbClr val="000000"/>
                </a:solidFill>
                <a:ea typeface="Microsoft YaHei" panose="020B0503020204020204" charset="-122"/>
              </a:rPr>
              <a:t>MVC</a:t>
            </a:r>
            <a:r>
              <a:rPr lang="uk-UA" altLang="ru-RU" sz="2100" dirty="0" err="1">
                <a:solidFill>
                  <a:srgbClr val="000000"/>
                </a:solidFill>
                <a:ea typeface="Microsoft YaHei" panose="020B0503020204020204" charset="-122"/>
              </a:rPr>
              <a:t>, але без доменних моделей (хоча там можуть бути вью-моделі)</a:t>
            </a:r>
            <a:endParaRPr lang="uk-UA" altLang="ru-RU" sz="21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2100" dirty="0" err="1">
                <a:solidFill>
                  <a:srgbClr val="000000"/>
                </a:solidFill>
                <a:ea typeface="Microsoft YaHei" panose="020B0503020204020204" charset="-122"/>
              </a:rPr>
              <a:t>Середній та нижній рівень - це </a:t>
            </a:r>
            <a:r>
              <a:rPr lang="en-US" altLang="ru-RU" sz="2100" dirty="0" err="1">
                <a:solidFill>
                  <a:srgbClr val="000000"/>
                </a:solidFill>
                <a:ea typeface="Microsoft YaHei" panose="020B0503020204020204" charset="-122"/>
              </a:rPr>
              <a:t>Class Library</a:t>
            </a:r>
            <a:endParaRPr lang="en-US" altLang="ru-RU" sz="21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2100" dirty="0" err="1">
                <a:solidFill>
                  <a:srgbClr val="000000"/>
                </a:solidFill>
                <a:ea typeface="Microsoft YaHei" panose="020B0503020204020204" charset="-122"/>
              </a:rPr>
              <a:t>Моделі на нижньому рівні не покриті атрибутами, бо з ними нема пов’язаних вью</a:t>
            </a:r>
            <a:endParaRPr lang="uk-UA" altLang="ru-RU" sz="21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Перетворення </a:t>
            </a: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моделей домену в трансферні моделі (DTO) часто виконується за допомогою бібліотеки AutoMapper, яку можна встановити через NuGet командою Install-Package AutoMapper. Вона дозволяє легко налаштувати мапінг між об’єктами за допомогою профілів, автоматично зіставляючи властивості з однаковими назвами та підтримуючи власні правила трансформації, що значно спрощує та скорочує код. Без AutoMapper мапінг реалізується вручну — через окремі методи, extension methods або фабрики</a:t>
            </a:r>
            <a:r>
              <a:rPr lang="uk-UA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.</a:t>
            </a:r>
            <a:endParaRPr lang="en-US" altLang="en-US" sz="21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uk-UA" altLang="ru-RU" sz="21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uk-UA" altLang="ru-RU" sz="21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uk-UA" altLang="ru-RU" sz="21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uk-UA" sz="4200" dirty="0" err="1">
                <a:solidFill>
                  <a:srgbClr val="FFFFFF"/>
                </a:solidFill>
                <a:ea typeface="Microsoft YaHei" panose="020B0503020204020204" charset="-122"/>
              </a:rPr>
              <a:t>Практика</a:t>
            </a:r>
            <a:r>
              <a:rPr lang="en-US" altLang="uk-UA" sz="4200" dirty="0" err="1">
                <a:solidFill>
                  <a:srgbClr val="FFFFFF"/>
                </a:solidFill>
                <a:ea typeface="Microsoft YaHei" panose="020B0503020204020204" charset="-122"/>
              </a:rPr>
              <a:t>. DAL</a:t>
            </a:r>
            <a:endParaRPr lang="en-US" altLang="uk-UA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4306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algn="ctr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3200" b="1" dirty="0" err="1">
              <a:solidFill>
                <a:srgbClr val="0070C0"/>
              </a:solidFill>
              <a:ea typeface="Microsoft YaHei" panose="020B0503020204020204" charset="-122"/>
              <a:hlinkClick r:id="rId1" action="ppaction://hlinkfile"/>
            </a:endParaRPr>
          </a:p>
          <a:p>
            <a:pPr algn="ctr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3200" b="1" dirty="0" err="1">
              <a:solidFill>
                <a:srgbClr val="0070C0"/>
              </a:solidFill>
              <a:ea typeface="Microsoft YaHei" panose="020B0503020204020204" charset="-122"/>
              <a:hlinkClick r:id="rId1" action="ppaction://hlinkfile"/>
            </a:endParaRPr>
          </a:p>
          <a:p>
            <a:pPr algn="ctr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3200" b="1" dirty="0" err="1">
                <a:solidFill>
                  <a:srgbClr val="0070C0"/>
                </a:solidFill>
                <a:ea typeface="Microsoft YaHei" panose="020B0503020204020204" charset="-122"/>
                <a:hlinkClick r:id="rId1" action="ppaction://hlinkfile"/>
              </a:rPr>
              <a:t>https://gist.github.com/sunmeat/72d5ed8a0d0d7bf66da7292546ab93ed</a:t>
            </a:r>
            <a:endParaRPr lang="en-US" altLang="en-US" sz="3200" b="1" dirty="0" err="1">
              <a:solidFill>
                <a:srgbClr val="0070C0"/>
              </a:solidFill>
              <a:ea typeface="Microsoft YaHei" panose="020B0503020204020204" charset="-122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2286000" y="6400800"/>
            <a:ext cx="4572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endParaRPr lang="en-US" altLang="en-US" b="1">
              <a:solidFill>
                <a:srgbClr val="0070C0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uk-UA" sz="4200" dirty="0" err="1">
                <a:solidFill>
                  <a:srgbClr val="FFFFFF"/>
                </a:solidFill>
                <a:ea typeface="Microsoft YaHei" panose="020B0503020204020204" charset="-122"/>
              </a:rPr>
              <a:t>Практика. </a:t>
            </a:r>
            <a:r>
              <a:rPr lang="en-US" altLang="uk-UA" sz="4200" dirty="0" err="1">
                <a:solidFill>
                  <a:srgbClr val="FFFFFF"/>
                </a:solidFill>
                <a:ea typeface="Microsoft YaHei" panose="020B0503020204020204" charset="-122"/>
              </a:rPr>
              <a:t>BLL</a:t>
            </a:r>
            <a:endParaRPr lang="en-US" altLang="uk-UA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4306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algn="ctr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3200" b="1" dirty="0" err="1">
              <a:solidFill>
                <a:srgbClr val="0070C0"/>
              </a:solidFill>
              <a:ea typeface="Microsoft YaHei" panose="020B0503020204020204" charset="-122"/>
              <a:hlinkClick r:id="rId1" action="ppaction://hlinkfile"/>
            </a:endParaRPr>
          </a:p>
          <a:p>
            <a:pPr algn="ctr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3200" b="1" dirty="0" err="1">
              <a:solidFill>
                <a:srgbClr val="0070C0"/>
              </a:solidFill>
              <a:ea typeface="Microsoft YaHei" panose="020B0503020204020204" charset="-122"/>
              <a:hlinkClick r:id="rId1" action="ppaction://hlinkfile"/>
            </a:endParaRPr>
          </a:p>
          <a:p>
            <a:pPr algn="ctr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3200" b="1" dirty="0" err="1">
                <a:solidFill>
                  <a:srgbClr val="0070C0"/>
                </a:solidFill>
                <a:ea typeface="Microsoft YaHei" panose="020B0503020204020204" charset="-122"/>
                <a:hlinkClick r:id="rId1" action="ppaction://hlinkfile"/>
              </a:rPr>
              <a:t>https://gist.github.com/sunmeat/c4ae8ced7469410a4b78af7376de1aac</a:t>
            </a:r>
            <a:endParaRPr lang="en-US" altLang="en-US" sz="3200" b="1" dirty="0" err="1">
              <a:solidFill>
                <a:srgbClr val="0070C0"/>
              </a:solidFill>
              <a:ea typeface="Microsoft YaHei" panose="020B0503020204020204" charset="-122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2286000" y="6400800"/>
            <a:ext cx="4572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endParaRPr lang="en-US" altLang="en-US" b="1">
              <a:solidFill>
                <a:srgbClr val="0070C0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sz="4200" dirty="0" err="1">
                <a:solidFill>
                  <a:srgbClr val="FFFFFF"/>
                </a:solidFill>
                <a:ea typeface="Microsoft YaHei" panose="020B0503020204020204" charset="-122"/>
              </a:rPr>
              <a:t>Практика</a:t>
            </a:r>
            <a:r>
              <a:rPr lang="uk-UA" altLang="uk-UA" sz="4200" dirty="0" err="1">
                <a:solidFill>
                  <a:srgbClr val="FFFFFF"/>
                </a:solidFill>
                <a:ea typeface="Microsoft YaHei" panose="020B0503020204020204" charset="-122"/>
              </a:rPr>
              <a:t>.</a:t>
            </a:r>
            <a:r>
              <a:rPr lang="en-US" altLang="uk-UA" sz="4200" dirty="0" err="1">
                <a:solidFill>
                  <a:srgbClr val="FFFFFF"/>
                </a:solidFill>
                <a:ea typeface="Microsoft YaHei" panose="020B0503020204020204" charset="-122"/>
              </a:rPr>
              <a:t> PL</a:t>
            </a:r>
            <a:r>
              <a:rPr lang="uk-UA" altLang="uk-UA" sz="4200" dirty="0" err="1">
                <a:solidFill>
                  <a:srgbClr val="FFFFFF"/>
                </a:solidFill>
                <a:ea typeface="Microsoft YaHei" panose="020B0503020204020204" charset="-122"/>
              </a:rPr>
              <a:t> </a:t>
            </a:r>
            <a:endParaRPr lang="en-US" altLang="uk-UA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4306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algn="ctr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3200" b="1" dirty="0" err="1">
              <a:solidFill>
                <a:srgbClr val="0070C0"/>
              </a:solidFill>
              <a:ea typeface="Microsoft YaHei" panose="020B0503020204020204" charset="-122"/>
              <a:hlinkClick r:id="rId1" action="ppaction://hlinkfile"/>
            </a:endParaRPr>
          </a:p>
          <a:p>
            <a:pPr algn="ctr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3200" b="1" dirty="0" err="1">
              <a:solidFill>
                <a:srgbClr val="0070C0"/>
              </a:solidFill>
              <a:ea typeface="Microsoft YaHei" panose="020B0503020204020204" charset="-122"/>
              <a:hlinkClick r:id="rId1" action="ppaction://hlinkfile"/>
            </a:endParaRPr>
          </a:p>
          <a:p>
            <a:pPr algn="ctr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3200" b="1" dirty="0" err="1">
                <a:solidFill>
                  <a:srgbClr val="0070C0"/>
                </a:solidFill>
                <a:ea typeface="Microsoft YaHei" panose="020B0503020204020204" charset="-122"/>
                <a:hlinkClick r:id="rId1" action="ppaction://hlinkfile"/>
              </a:rPr>
              <a:t>https://gist.github.com/sunmeat/38d1b4d597f19b05d8d434dfa5844ca4</a:t>
            </a:r>
            <a:endParaRPr lang="en-US" altLang="en-US" sz="3200" b="1" dirty="0" err="1">
              <a:solidFill>
                <a:srgbClr val="0070C0"/>
              </a:solidFill>
              <a:ea typeface="Microsoft YaHei" panose="020B0503020204020204" charset="-122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2286000" y="6400800"/>
            <a:ext cx="4572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endParaRPr lang="en-US" altLang="en-US" b="1">
              <a:solidFill>
                <a:srgbClr val="0070C0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7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FF"/>
        </a:lt1>
        <a:dk2>
          <a:srgbClr val="FFFF00"/>
        </a:dk2>
        <a:lt2>
          <a:srgbClr val="0000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CDCDC"/>
        </a:accent4>
        <a:accent5>
          <a:srgbClr val="FFCAAA"/>
        </a:accent5>
        <a:accent6>
          <a:srgbClr val="00E5E5"/>
        </a:accent6>
        <a:hlink>
          <a:srgbClr val="FF0000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2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27272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9"/>
        </a:accent5>
        <a:accent6>
          <a:srgbClr val="0000E5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BE5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9E5B7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7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FF"/>
        </a:lt1>
        <a:dk2>
          <a:srgbClr val="FFFF00"/>
        </a:dk2>
        <a:lt2>
          <a:srgbClr val="0000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CDCDC"/>
        </a:accent4>
        <a:accent5>
          <a:srgbClr val="FFCAAA"/>
        </a:accent5>
        <a:accent6>
          <a:srgbClr val="00E5E5"/>
        </a:accent6>
        <a:hlink>
          <a:srgbClr val="FF0000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2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27272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9"/>
        </a:accent5>
        <a:accent6>
          <a:srgbClr val="0000E5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BE5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9E5B7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CB973167729B9844A7328B341F515C98" ma:contentTypeVersion="12" ma:contentTypeDescription="Создание документа." ma:contentTypeScope="" ma:versionID="d6ee7b10c34e512e5b0e393e1ebaa933">
  <xsd:schema xmlns:xsd="http://www.w3.org/2001/XMLSchema" xmlns:xs="http://www.w3.org/2001/XMLSchema" xmlns:p="http://schemas.microsoft.com/office/2006/metadata/properties" xmlns:ns2="d6ce6581-db8d-4dc6-8601-0a8e8076c593" xmlns:ns3="bbbe7e71-a692-48df-be9d-e5dc64190325" targetNamespace="http://schemas.microsoft.com/office/2006/metadata/properties" ma:root="true" ma:fieldsID="0b92462fc06dbb24bfa1325724e44fec" ns2:_="" ns3:_="">
    <xsd:import namespace="d6ce6581-db8d-4dc6-8601-0a8e8076c593"/>
    <xsd:import namespace="bbbe7e71-a692-48df-be9d-e5dc6419032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6ce6581-db8d-4dc6-8601-0a8e8076c59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Теги изображений" ma:readOnly="false" ma:fieldId="{5cf76f15-5ced-4ddc-b409-7134ff3c332f}" ma:taxonomyMulti="true" ma:sspId="168b2bcd-3960-4df8-afb5-1b38f073375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bbe7e71-a692-48df-be9d-e5dc64190325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92df2618-9916-4c02-9aa1-42dcc332f6bf}" ma:internalName="TaxCatchAll" ma:showField="CatchAllData" ma:web="bbbe7e71-a692-48df-be9d-e5dc6419032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bbe7e71-a692-48df-be9d-e5dc64190325" xsi:nil="true"/>
    <lcf76f155ced4ddcb4097134ff3c332f xmlns="d6ce6581-db8d-4dc6-8601-0a8e8076c593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F6C428CD-8829-4F1E-A4E1-FC46591EA5C9}"/>
</file>

<file path=customXml/itemProps2.xml><?xml version="1.0" encoding="utf-8"?>
<ds:datastoreItem xmlns:ds="http://schemas.openxmlformats.org/officeDocument/2006/customXml" ds:itemID="{8EED349F-2531-44AE-9D3C-19C85B134503}"/>
</file>

<file path=customXml/itemProps3.xml><?xml version="1.0" encoding="utf-8"?>
<ds:datastoreItem xmlns:ds="http://schemas.openxmlformats.org/officeDocument/2006/customXml" ds:itemID="{0B6555C9-AFA1-4706-8E5A-84B7A5C6E1D4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10783</Words>
  <Application>WPS Presentation</Application>
  <PresentationFormat/>
  <Paragraphs>202</Paragraphs>
  <Slides>27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27</vt:i4>
      </vt:variant>
    </vt:vector>
  </HeadingPairs>
  <TitlesOfParts>
    <vt:vector size="37" baseType="lpstr">
      <vt:lpstr>Arial</vt:lpstr>
      <vt:lpstr>SimSun</vt:lpstr>
      <vt:lpstr>Wingdings</vt:lpstr>
      <vt:lpstr>Times New Roman</vt:lpstr>
      <vt:lpstr>Microsoft YaHei</vt:lpstr>
      <vt:lpstr>Arial Black</vt:lpstr>
      <vt:lpstr>Arial Unicode MS</vt:lpstr>
      <vt:lpstr>Arial Unicode MS</vt:lpstr>
      <vt:lpstr/>
      <vt:lpstr/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Александр Загор�</cp:lastModifiedBy>
  <cp:revision>88</cp:revision>
  <dcterms:created xsi:type="dcterms:W3CDTF">2005-09-22T16:26:00Z</dcterms:created>
  <dcterms:modified xsi:type="dcterms:W3CDTF">2026-09-10T13:15:12Z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88202296253F431A9DC5B73F9C110873_12</vt:lpwstr>
  </property>
  <property fmtid="{D5CDD505-2E9C-101B-9397-08002B2CF9AE}" pid="3" name="KSOProductBuildVer">
    <vt:lpwstr>1033-12.1.0.28485</vt:lpwstr>
  </property>
  <property fmtid="{D5CDD505-2E9C-101B-9397-08002B2CF9AE}" pid="4" name="ContentTypeId">
    <vt:lpwstr>0x010100CB973167729B9844A7328B341F515C98</vt:lpwstr>
  </property>
</Properties>
</file>