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765" r:id="rId6"/>
    <p:sldId id="766" r:id="rId7"/>
    <p:sldId id="742" r:id="rId8"/>
    <p:sldId id="743" r:id="rId9"/>
    <p:sldId id="744" r:id="rId10"/>
    <p:sldId id="749" r:id="rId11"/>
    <p:sldId id="750" r:id="rId12"/>
    <p:sldId id="751" r:id="rId13"/>
    <p:sldId id="752" r:id="rId14"/>
    <p:sldId id="753" r:id="rId15"/>
    <p:sldId id="754" r:id="rId16"/>
    <p:sldId id="755" r:id="rId17"/>
    <p:sldId id="756" r:id="rId18"/>
    <p:sldId id="757" r:id="rId19"/>
    <p:sldId id="758" r:id="rId20"/>
    <p:sldId id="759" r:id="rId21"/>
    <p:sldId id="745" r:id="rId22"/>
    <p:sldId id="760" r:id="rId23"/>
    <p:sldId id="761" r:id="rId24"/>
    <p:sldId id="762" r:id="rId25"/>
    <p:sldId id="767" r:id="rId26"/>
    <p:sldId id="763" r:id="rId27"/>
    <p:sldId id="746" r:id="rId28"/>
    <p:sldId id="747" r:id="rId29"/>
    <p:sldId id="764" r:id="rId30"/>
    <p:sldId id="768" r:id="rId31"/>
    <p:sldId id="748" r:id="rId32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309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4" Type="http://schemas.openxmlformats.org/officeDocument/2006/relationships/viewProps" Target="viewProps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33" Type="http://schemas.openxmlformats.org/officeDocument/2006/relationships/presProps" Target="presProps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38" Type="http://schemas.openxmlformats.org/officeDocument/2006/relationships/customXml" Target="../customXml/item3.xml"/><Relationship Id="rId29" Type="http://schemas.openxmlformats.org/officeDocument/2006/relationships/slide" Target="slides/slide25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37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6" Type="http://schemas.openxmlformats.org/officeDocument/2006/relationships/customXml" Target="../customXml/item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unmeat/aspnetcore_firebase_clea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sentry.io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st.github.com/sunmeat/2f40da81b66871abfb7a0fcf23ad2cb5&#13;" TargetMode="External"/><Relationship Id="rId1" Type="http://schemas.openxmlformats.org/officeDocument/2006/relationships/hyperlink" Target="https://learn.microsoft.com/en-us/dotnet/core/extensions/logging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unmeat/aspnetcore_logging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nlog-project.org/&#13;" TargetMode="External"/><Relationship Id="rId2" Type="http://schemas.openxmlformats.org/officeDocument/2006/relationships/hyperlink" Target="https://serilog.net/&#13;" TargetMode="External"/><Relationship Id="rId1" Type="http://schemas.openxmlformats.org/officeDocument/2006/relationships/hyperlink" Target="https://logging.apache.org/log4net/index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hyperlink" Target="https://gist.github.com/sunmeat/85aab5ffd36bbd1aeed38da6df9f1f7e&#13;" TargetMode="Externa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st.github.com/sunmeat/9a3a265a6e19ec800b077b478299d9a3" TargetMode="External"/><Relationship Id="rId2" Type="http://schemas.openxmlformats.org/officeDocument/2006/relationships/hyperlink" Target="https://gist.github.com/sunmeat/dee2230e960af9437b9de82ebdea27d5" TargetMode="External"/><Relationship Id="rId1" Type="http://schemas.openxmlformats.org/officeDocument/2006/relationships/hyperlink" Target="https://gist.github.com/sunmeat/916e52a909fa6bde2efe0838405b4eac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Logging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9033510" cy="911225"/>
          </a:xfrm>
        </p:spPr>
        <p:txBody>
          <a:bodyPr vert="horz" wrap="square" lIns="91440" tIns="45720" rIns="91440" bIns="45720" anchor="ctr" anchorCtr="0"/>
          <a:p>
            <a:r>
              <a:rPr lang="uk-UA" dirty="0"/>
              <a:t>Початковий приклад</a:t>
            </a:r>
            <a:endParaRPr 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None/>
            </a:pPr>
            <a:r>
              <a:rPr lang="en-US" altLang="en-US" b="1" dirty="0">
                <a:hlinkClick r:id="rId1" action="ppaction://hlinkfile"/>
              </a:rPr>
              <a:t>https://github.com/sunmeat/aspnetcore_firebase_clean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/>
              <a:t>Практика</a:t>
            </a:r>
            <a:endParaRPr lang="uk-UA" alt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66090" y="1384935"/>
            <a:ext cx="807212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uk-UA" altLang="en-US" sz="2100" b="1" dirty="0"/>
              <a:t>Зібрати приклад, підключитися до своєї БД </a:t>
            </a:r>
            <a:r>
              <a:rPr lang="en-US" altLang="en-US" sz="2100" b="1" dirty="0"/>
              <a:t>Firebase Cloud</a:t>
            </a:r>
            <a:r>
              <a:rPr lang="uk-UA" altLang="en-US" sz="2100" b="1" dirty="0"/>
              <a:t>, надати скріншот колекцій, де видно ваш </a:t>
            </a:r>
            <a:r>
              <a:rPr lang="en-US" altLang="en-US" sz="2100" b="1" dirty="0"/>
              <a:t>URL.</a:t>
            </a:r>
            <a:endParaRPr lang="en-US" altLang="en-US" sz="21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26945"/>
            <a:ext cx="9144000" cy="47155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/>
              <a:t>Що таке логування</a:t>
            </a:r>
            <a:endParaRPr lang="uk-UA" alt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66090" y="1384935"/>
            <a:ext cx="807212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100" b="1" dirty="0"/>
              <a:t>Логування </a:t>
            </a:r>
            <a:r>
              <a:rPr lang="en-US" altLang="en-US" sz="2100" dirty="0"/>
              <a:t>— це фіксація значущих подій під час роботи застосунку для подальшого аналізу, діагностики та моніторингу.</a:t>
            </a:r>
            <a:endParaRPr lang="en-US" altLang="en-US" sz="2100" dirty="0"/>
          </a:p>
          <a:p>
            <a:pPr marL="0" indent="0">
              <a:buNone/>
            </a:pPr>
            <a:endParaRPr lang="en-US" altLang="en-US" sz="2100" dirty="0"/>
          </a:p>
          <a:p>
            <a:pPr marL="0" indent="0">
              <a:buNone/>
            </a:pPr>
            <a:r>
              <a:rPr lang="en-US" altLang="en-US" sz="2100" dirty="0"/>
              <a:t>Логи допомагають зрозуміти:</a:t>
            </a:r>
            <a:endParaRPr lang="en-US" alt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/>
              <a:t>що відбулося в системі</a:t>
            </a:r>
            <a:endParaRPr lang="en-US" alt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/>
              <a:t>коли це відбулося</a:t>
            </a:r>
            <a:endParaRPr lang="en-US" alt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/>
              <a:t>де саме виникла проблема</a:t>
            </a:r>
            <a:endParaRPr lang="en-US" alt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/>
              <a:t>з якими даними або операцією вона пов'язана</a:t>
            </a:r>
            <a:endParaRPr lang="en-US" alt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/>
              <a:t>як поводиться застосунок у production</a:t>
            </a:r>
            <a:endParaRPr lang="en-US" altLang="en-US" sz="2100" dirty="0"/>
          </a:p>
          <a:p>
            <a:pPr marL="0" indent="0">
              <a:buNone/>
            </a:pPr>
            <a:endParaRPr lang="en-US" alt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Навіщо потрібне логування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66090" y="1456690"/>
            <a:ext cx="806831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Логування допомагає: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b="1" dirty="0"/>
              <a:t>Діагностувати помилки</a:t>
            </a:r>
            <a:r>
              <a:rPr lang="uk-UA" altLang="en-US" sz="2200" dirty="0"/>
              <a:t> - </a:t>
            </a:r>
            <a:r>
              <a:rPr lang="en-US" altLang="en-US" sz="2200" dirty="0"/>
              <a:t>Знайти причину винятку </a:t>
            </a:r>
            <a:r>
              <a:rPr lang="uk-UA" altLang="en-US" sz="2200" dirty="0"/>
              <a:t>      </a:t>
            </a:r>
            <a:r>
              <a:rPr lang="en-US" altLang="en-US" sz="2200" dirty="0"/>
              <a:t>без запуску debugger на production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b="1" dirty="0"/>
              <a:t>Відстежувати роботу системи</a:t>
            </a:r>
            <a:r>
              <a:rPr lang="uk-UA" altLang="en-US" sz="2200" dirty="0"/>
              <a:t> - </a:t>
            </a:r>
            <a:r>
              <a:rPr lang="en-US" altLang="en-US" sz="2200" dirty="0"/>
              <a:t>Розуміти, які операції виконуються та як змінюється стан застосунку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b="1" dirty="0"/>
              <a:t>Аналізувати продуктивність</a:t>
            </a:r>
            <a:r>
              <a:rPr lang="uk-UA" altLang="en-US" sz="2200" dirty="0"/>
              <a:t> - </a:t>
            </a:r>
            <a:r>
              <a:rPr lang="en-US" altLang="en-US" sz="2200" dirty="0"/>
              <a:t>Виявляти повільні операції, запити до бази даних та інші bottlenecks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b="1" dirty="0"/>
              <a:t>Контролювати важливі події</a:t>
            </a:r>
            <a:r>
              <a:rPr lang="uk-UA" altLang="en-US" sz="2200" b="1" dirty="0"/>
              <a:t> </a:t>
            </a:r>
            <a:r>
              <a:rPr lang="uk-UA" altLang="en-US" sz="2200" dirty="0"/>
              <a:t>- </a:t>
            </a:r>
            <a:r>
              <a:rPr lang="en-US" altLang="en-US" sz="2200" dirty="0"/>
              <a:t>Фіксувати автентифікацію, створення або зміну даних, помилки доступу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b="1" dirty="0"/>
              <a:t>Проводити аудит</a:t>
            </a:r>
            <a:r>
              <a:rPr lang="uk-UA" altLang="en-US" sz="2200" dirty="0"/>
              <a:t> - </a:t>
            </a:r>
            <a:r>
              <a:rPr lang="en-US" altLang="en-US" sz="2200" dirty="0"/>
              <a:t>Встановлювати, що, коли та в якому контексті відбулося</a:t>
            </a:r>
            <a:endParaRPr lang="en-US" alt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Microsoft.Extensions.Logging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400" dirty="0"/>
              <a:t>У .NET стандартною </a:t>
            </a:r>
            <a:r>
              <a:rPr lang="uk-UA" altLang="en-US" sz="2400" dirty="0"/>
              <a:t>абстракцією </a:t>
            </a:r>
            <a:r>
              <a:rPr lang="en-US" altLang="en-US" sz="2400" dirty="0"/>
              <a:t>для логування є Microsoft.Extensions.Logging.</a:t>
            </a:r>
            <a:endParaRPr lang="en-US" altLang="en-US" sz="24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400" dirty="0"/>
              <a:t>Основний інтерфейс:</a:t>
            </a:r>
            <a:endParaRPr lang="en-US" altLang="en-US" sz="2400" dirty="0"/>
          </a:p>
          <a:p>
            <a:pPr marL="0" indent="0" algn="ctr">
              <a:buFont typeface="Arial" panose="020B0604020202020204" pitchFamily="34" charset="0"/>
            </a:pPr>
            <a:r>
              <a:rPr lang="en-US" altLang="en-US" sz="2400" b="1" dirty="0"/>
              <a:t>ILogger&lt;T&gt;</a:t>
            </a:r>
            <a:endParaRPr lang="en-US" altLang="en-US" sz="24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400" dirty="0"/>
              <a:t>Він дозволяє</a:t>
            </a:r>
            <a:r>
              <a:rPr lang="uk-UA" altLang="en-US" sz="2400" dirty="0"/>
              <a:t> коду</a:t>
            </a:r>
            <a:r>
              <a:rPr lang="en-US" altLang="en-US" sz="2400" dirty="0"/>
              <a:t> не залежати від конкретної бібліотеки логування.</a:t>
            </a:r>
            <a:r>
              <a:rPr lang="uk-UA" altLang="en-US" sz="2400" dirty="0"/>
              <a:t> </a:t>
            </a:r>
            <a:r>
              <a:rPr lang="en-US" altLang="en-US" sz="2400" dirty="0"/>
              <a:t>Застосунок працює з ILogger, </a:t>
            </a:r>
            <a:r>
              <a:rPr lang="uk-UA" altLang="en-US" sz="2400" dirty="0"/>
              <a:t>   </a:t>
            </a:r>
            <a:r>
              <a:rPr lang="en-US" altLang="en-US" sz="2400" dirty="0"/>
              <a:t>а конкретний logging provider можна налаштувати окремо.</a:t>
            </a:r>
            <a:endParaRPr lang="en-US" altLang="en-US" sz="24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400" dirty="0"/>
              <a:t>Наприклад:</a:t>
            </a:r>
            <a:r>
              <a:rPr lang="uk-UA" altLang="en-US" sz="2400" dirty="0"/>
              <a:t> </a:t>
            </a:r>
            <a:r>
              <a:rPr lang="en-US" altLang="en-US" sz="2400" dirty="0"/>
              <a:t>Console;</a:t>
            </a:r>
            <a:r>
              <a:rPr lang="uk-UA" altLang="en-US" sz="2400" dirty="0"/>
              <a:t> </a:t>
            </a:r>
            <a:r>
              <a:rPr lang="en-US" altLang="en-US" sz="2400" dirty="0"/>
              <a:t>Debug;</a:t>
            </a:r>
            <a:r>
              <a:rPr lang="uk-UA" altLang="en-US" sz="2400" dirty="0"/>
              <a:t> </a:t>
            </a:r>
            <a:r>
              <a:rPr lang="en-US" altLang="en-US" sz="2400" dirty="0"/>
              <a:t>EventSource;</a:t>
            </a:r>
            <a:r>
              <a:rPr lang="uk-UA" altLang="en-US" sz="2400" dirty="0"/>
              <a:t>             </a:t>
            </a:r>
            <a:r>
              <a:rPr lang="en-US" altLang="en-US" sz="2400" dirty="0"/>
              <a:t>Azure Monitor;</a:t>
            </a:r>
            <a:r>
              <a:rPr lang="uk-UA" altLang="en-US" sz="2400" dirty="0"/>
              <a:t> </a:t>
            </a:r>
            <a:r>
              <a:rPr lang="en-US" altLang="en-US" sz="2400" dirty="0"/>
              <a:t>Serilog;</a:t>
            </a:r>
            <a:r>
              <a:rPr lang="uk-UA" altLang="en-US" sz="2400" dirty="0"/>
              <a:t> </a:t>
            </a:r>
            <a:r>
              <a:rPr lang="en-US" altLang="en-US" sz="2400" dirty="0"/>
              <a:t>NLog та інші </a:t>
            </a:r>
            <a:r>
              <a:rPr lang="uk-UA" altLang="en-US" sz="2400" dirty="0"/>
              <a:t>провайдери</a:t>
            </a:r>
            <a:r>
              <a:rPr lang="en-US" altLang="en-US" sz="2400" dirty="0"/>
              <a:t>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Рівні логування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.NET підтримує стандартні рівні важливості логів:</a:t>
            </a:r>
            <a:endParaRPr lang="en-US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/>
              <a:t>Trace</a:t>
            </a:r>
            <a:r>
              <a:rPr lang="uk-UA" altLang="en-US" sz="2000" b="1" dirty="0"/>
              <a:t> </a:t>
            </a:r>
            <a:r>
              <a:rPr lang="uk-UA" altLang="en-US" sz="2000" dirty="0"/>
              <a:t>- </a:t>
            </a:r>
            <a:r>
              <a:rPr lang="en-US" altLang="en-US" sz="2000" dirty="0"/>
              <a:t>Найдетальніша інформація. Використовується переважно для глибокого налагодження</a:t>
            </a:r>
            <a:endParaRPr lang="en-US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/>
              <a:t>Debug</a:t>
            </a:r>
            <a:r>
              <a:rPr lang="uk-UA" altLang="en-US" sz="2000" b="1" dirty="0"/>
              <a:t> </a:t>
            </a:r>
            <a:r>
              <a:rPr lang="uk-UA" altLang="en-US" sz="2000" dirty="0"/>
              <a:t>- </a:t>
            </a:r>
            <a:r>
              <a:rPr lang="en-US" altLang="en-US" sz="2000" dirty="0"/>
              <a:t>Технічна інформація, корисна під час розробки</a:t>
            </a:r>
            <a:r>
              <a:rPr lang="uk-UA" altLang="en-US" sz="2000" dirty="0"/>
              <a:t>        </a:t>
            </a:r>
            <a:r>
              <a:rPr lang="en-US" altLang="en-US" sz="2000" dirty="0"/>
              <a:t> та діагностики</a:t>
            </a:r>
            <a:endParaRPr lang="en-US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/>
              <a:t>Information</a:t>
            </a:r>
            <a:r>
              <a:rPr lang="uk-UA" altLang="en-US" sz="2000" b="1" dirty="0"/>
              <a:t> </a:t>
            </a:r>
            <a:r>
              <a:rPr lang="uk-UA" altLang="en-US" sz="2000" dirty="0"/>
              <a:t>- </a:t>
            </a:r>
            <a:r>
              <a:rPr lang="en-US" altLang="en-US" sz="2000" dirty="0"/>
              <a:t>Нормальні значущі події роботи застосунку</a:t>
            </a:r>
            <a:endParaRPr lang="en-US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/>
              <a:t>Warning</a:t>
            </a:r>
            <a:r>
              <a:rPr lang="uk-UA" altLang="en-US" sz="2000" b="1" dirty="0"/>
              <a:t> </a:t>
            </a:r>
            <a:r>
              <a:rPr lang="uk-UA" altLang="en-US" sz="2000" dirty="0"/>
              <a:t>- </a:t>
            </a:r>
            <a:r>
              <a:rPr lang="en-US" altLang="en-US" sz="2000" dirty="0"/>
              <a:t>Нетипова ситуація, яка не зупинила роботу системи</a:t>
            </a:r>
            <a:endParaRPr lang="en-US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/>
              <a:t>Error</a:t>
            </a:r>
            <a:r>
              <a:rPr lang="uk-UA" altLang="en-US" sz="2000" b="1" dirty="0"/>
              <a:t> </a:t>
            </a:r>
            <a:r>
              <a:rPr lang="uk-UA" altLang="en-US" sz="2000" dirty="0"/>
              <a:t>- </a:t>
            </a:r>
            <a:r>
              <a:rPr lang="en-US" altLang="en-US" sz="2000" dirty="0"/>
              <a:t>Операція завершилася помилкою</a:t>
            </a:r>
            <a:endParaRPr lang="en-US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/>
              <a:t>Critical</a:t>
            </a:r>
            <a:r>
              <a:rPr lang="uk-UA" altLang="en-US" sz="2000" b="1" dirty="0"/>
              <a:t> - </a:t>
            </a:r>
            <a:r>
              <a:rPr lang="en-US" altLang="en-US" sz="2000" dirty="0"/>
              <a:t>Серйозна проблема, яка може порушити роботу всієї системи</a:t>
            </a:r>
            <a:endParaRPr lang="en-US" alt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uk-UA" altLang="en-US" sz="2000" dirty="0"/>
              <a:t>   </a:t>
            </a:r>
            <a:r>
              <a:rPr lang="en-US" altLang="en-US" sz="2000" dirty="0"/>
              <a:t>Рівні дозволяють фільтрувати логування та уникати log noise.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8718550" cy="911225"/>
          </a:xfrm>
        </p:spPr>
        <p:txBody>
          <a:bodyPr vert="horz" wrap="square" lIns="91440" tIns="45720" rIns="91440" bIns="45720" anchor="ctr" anchorCtr="0"/>
          <a:p>
            <a:r>
              <a:rPr lang="uk-UA" altLang="en-US" sz="3900" dirty="0"/>
              <a:t>Просте </a:t>
            </a:r>
            <a:r>
              <a:rPr lang="en-US" altLang="en-US" sz="3900" dirty="0"/>
              <a:t>/ </a:t>
            </a:r>
            <a:r>
              <a:rPr lang="uk-UA" altLang="en-US" sz="3900" dirty="0"/>
              <a:t>структуроване логування</a:t>
            </a:r>
            <a:endParaRPr lang="uk-UA" altLang="en-US" sz="3900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_logger.LogInformation("Player created");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Такий запис повідомляє про подію, але не містить додаткового контексту.</a:t>
            </a:r>
            <a:r>
              <a:rPr lang="uk-UA" altLang="en-US" sz="2000" dirty="0"/>
              <a:t> </a:t>
            </a:r>
            <a:r>
              <a:rPr lang="en-US" altLang="en-US" sz="2000" dirty="0"/>
              <a:t>Для реального застосунку зазвичай потрібна структурована інформація.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Замість готового тексту </a:t>
            </a:r>
            <a:r>
              <a:rPr lang="uk-UA" altLang="en-US" sz="2000" dirty="0"/>
              <a:t>передаються </a:t>
            </a:r>
            <a:r>
              <a:rPr lang="en-US" altLang="en-US" sz="2000" dirty="0"/>
              <a:t>окремі значення: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_logger.LogInformation("Player {PlayerId} created",</a:t>
            </a:r>
            <a:r>
              <a:rPr lang="uk-UA" altLang="en-US" sz="2000" b="1" dirty="0"/>
              <a:t> </a:t>
            </a:r>
            <a:r>
              <a:rPr lang="en-US" altLang="en-US" sz="2000" b="1" dirty="0"/>
              <a:t>playerId);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PlayerId стає структурованою властивістю події.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Це дозволяє системам збору логів:</a:t>
            </a:r>
            <a:r>
              <a:rPr lang="uk-UA" altLang="en-US" sz="2000" dirty="0"/>
              <a:t> </a:t>
            </a:r>
            <a:r>
              <a:rPr lang="en-US" altLang="en-US" sz="2000" dirty="0"/>
              <a:t>фільтрувати записи;</a:t>
            </a:r>
            <a:r>
              <a:rPr lang="uk-UA" altLang="en-US" sz="2000" dirty="0"/>
              <a:t> </a:t>
            </a:r>
            <a:r>
              <a:rPr lang="en-US" altLang="en-US" sz="2000" dirty="0"/>
              <a:t>виконувати пошук;</a:t>
            </a:r>
            <a:r>
              <a:rPr lang="uk-UA" altLang="en-US" sz="2000" dirty="0"/>
              <a:t> </a:t>
            </a:r>
            <a:r>
              <a:rPr lang="en-US" altLang="en-US" sz="2000" dirty="0"/>
              <a:t>групувати події;</a:t>
            </a:r>
            <a:r>
              <a:rPr lang="uk-UA" altLang="en-US" sz="2000" dirty="0"/>
              <a:t> </a:t>
            </a:r>
            <a:r>
              <a:rPr lang="en-US" altLang="en-US" sz="2000" dirty="0"/>
              <a:t>аналізувати дані;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будувати </a:t>
            </a:r>
            <a:r>
              <a:rPr lang="uk-UA" altLang="en-US" sz="2000" dirty="0"/>
              <a:t>дешборди</a:t>
            </a:r>
            <a:r>
              <a:rPr lang="en-US" altLang="en-US" sz="2000" dirty="0"/>
              <a:t>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8648065" cy="911225"/>
          </a:xfrm>
        </p:spPr>
        <p:txBody>
          <a:bodyPr vert="horz" wrap="square" lIns="91440" tIns="45720" rIns="91440" bIns="45720" anchor="ctr" anchorCtr="0"/>
          <a:p>
            <a:r>
              <a:rPr lang="uk-UA" altLang="en-US" sz="4000" dirty="0"/>
              <a:t>Структуроване логування у </a:t>
            </a:r>
            <a:r>
              <a:rPr lang="en-US" altLang="en-US" sz="4000" dirty="0"/>
              <a:t>JSON</a:t>
            </a:r>
            <a:endParaRPr lang="en-US" altLang="en-US" sz="4000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Для production-систем зручно передавати логи                               у структурованому форматі. Наприклад: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{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  "Timestamp": "2026-09-21T10:30:14Z",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  "LogLevel": "Information",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  "Message": "Player created",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  "PlayerId": "42"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}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JSON полегшує автоматичну обробку, індексацію, пошук                 і передачу логів у зовнішні системи моніторингу.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EventId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Для важливих подій можна використовувати `EventId`.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_logger.Log(LogLevel.Information,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    new EventId(1001, "PlayerCreated"),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    "Player {PlayerId} created",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    playerId);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`EventId` дозволяє однозначно ідентифікувати тип події.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Наприклад: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`1001` — PlayerCreated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`1002` — PlayerNotFound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b="1" dirty="0"/>
              <a:t>`1003` — PlayerCreationFailed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Системи моніторингу можуть фільтрувати події за їхнім 	ідентифікатором.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en-US" dirty="0"/>
              <a:t>Логування винятків</a:t>
            </a:r>
            <a:endParaRPr lang="uk-UA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7433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Під час обробки помил</a:t>
            </a:r>
            <a:r>
              <a:rPr lang="uk-UA" altLang="en-US" sz="2000" dirty="0"/>
              <a:t>ок</a:t>
            </a:r>
            <a:r>
              <a:rPr lang="en-US" altLang="en-US" sz="2000" dirty="0"/>
              <a:t> Exception </a:t>
            </a:r>
            <a:r>
              <a:rPr lang="uk-UA" altLang="en-US" sz="2000" dirty="0"/>
              <a:t>передається </a:t>
            </a:r>
            <a:r>
              <a:rPr lang="en-US" altLang="en-US" sz="2000" dirty="0"/>
              <a:t>окремим параметром: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try</a:t>
            </a:r>
            <a:r>
              <a:rPr lang="uk-UA" altLang="en-US" sz="2000" dirty="0"/>
              <a:t> </a:t>
            </a:r>
            <a:r>
              <a:rPr lang="en-US" altLang="en-US" sz="2000" dirty="0"/>
              <a:t>{</a:t>
            </a:r>
            <a:r>
              <a:rPr lang="uk-UA" altLang="en-US" sz="2000" dirty="0"/>
              <a:t> </a:t>
            </a:r>
            <a:r>
              <a:rPr lang="en-US" altLang="en-US" sz="2000" dirty="0"/>
              <a:t>await repository.CreateAsync(player);</a:t>
            </a:r>
            <a:r>
              <a:rPr lang="uk-UA" altLang="en-US" sz="2000" dirty="0"/>
              <a:t> </a:t>
            </a:r>
            <a:r>
              <a:rPr lang="en-US" altLang="en-US" sz="2000" dirty="0"/>
              <a:t>}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catch (Exception ex)</a:t>
            </a:r>
            <a:r>
              <a:rPr lang="uk-UA" altLang="en-US" sz="2000" dirty="0"/>
              <a:t> </a:t>
            </a:r>
            <a:r>
              <a:rPr lang="en-US" altLang="en-US" sz="2000" dirty="0"/>
              <a:t>{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   </a:t>
            </a:r>
            <a:r>
              <a:rPr lang="en-US" altLang="en-US" sz="2000" b="1" dirty="0"/>
              <a:t> _logger.LogError(ex,</a:t>
            </a:r>
            <a:r>
              <a:rPr lang="uk-UA" altLang="en-US" sz="2000" dirty="0"/>
              <a:t> </a:t>
            </a:r>
            <a:r>
              <a:rPr lang="en-US" altLang="en-US" sz="2000" dirty="0"/>
              <a:t>"Failed to create player {PlayerId}",</a:t>
            </a:r>
            <a:r>
              <a:rPr lang="uk-UA" altLang="en-US" sz="2000" dirty="0"/>
              <a:t> </a:t>
            </a:r>
            <a:r>
              <a:rPr lang="en-US" altLang="en-US" sz="2000" dirty="0"/>
              <a:t>player.Id);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    throw;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}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Logging infrastructure отримує доступ до:</a:t>
            </a:r>
            <a:r>
              <a:rPr lang="uk-UA" altLang="en-US" sz="2000" dirty="0"/>
              <a:t> </a:t>
            </a:r>
            <a:r>
              <a:rPr lang="en-US" altLang="en-US" sz="2000" dirty="0"/>
              <a:t>повідомлення винятку;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stack trace;</a:t>
            </a:r>
            <a:r>
              <a:rPr lang="uk-UA" altLang="en-US" sz="2000" dirty="0"/>
              <a:t> </a:t>
            </a:r>
            <a:r>
              <a:rPr lang="en-US" altLang="en-US" sz="2000" dirty="0"/>
              <a:t>inner exception;</a:t>
            </a:r>
            <a:r>
              <a:rPr lang="uk-UA" altLang="en-US" sz="2000" dirty="0"/>
              <a:t> </a:t>
            </a:r>
            <a:r>
              <a:rPr lang="en-US" altLang="en-US" sz="2000" dirty="0"/>
              <a:t>типу винятку.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Не потрібно перетворювати exception у звичайний текст.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LoggerMessage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7433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Для часто виконуваних логів можна використовувати LoggerMessage source generation.</a:t>
            </a:r>
            <a:r>
              <a:rPr lang="ru-RU" altLang="en-US" sz="2000" dirty="0"/>
              <a:t> </a:t>
            </a:r>
            <a:r>
              <a:rPr lang="en-US" altLang="en-US" sz="2000" dirty="0"/>
              <a:t>Метод логування оголошується в окремому static partial класі, призначеному для logging-коду: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1600" b="1" dirty="0"/>
              <a:t>public static partial class LogMessages</a:t>
            </a:r>
            <a:r>
              <a:rPr lang="ru-RU" altLang="en-US" sz="1600" b="1" dirty="0"/>
              <a:t> </a:t>
            </a:r>
            <a:r>
              <a:rPr lang="en-US" altLang="en-US" sz="1600" b="1" dirty="0"/>
              <a:t>{</a:t>
            </a:r>
            <a:endParaRPr lang="en-US" altLang="en-US" sz="16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1600" b="1" dirty="0"/>
              <a:t>    [LoggerMessage(EventId = 1001,</a:t>
            </a:r>
            <a:r>
              <a:rPr lang="ru-RU" altLang="en-US" sz="1600" b="1" dirty="0"/>
              <a:t> </a:t>
            </a:r>
            <a:r>
              <a:rPr lang="en-US" altLang="en-US" sz="1600" b="1" dirty="0"/>
              <a:t>Level = LogLevel.Information,</a:t>
            </a:r>
            <a:endParaRPr lang="en-US" altLang="en-US" sz="16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1600" b="1" dirty="0"/>
              <a:t>        Message = "Player {PlayerId} created")]</a:t>
            </a:r>
            <a:endParaRPr lang="en-US" altLang="en-US" sz="16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1600" b="1" dirty="0"/>
              <a:t>    public static partial void PlayerCreated(this ILogger logger, string playerId);</a:t>
            </a:r>
            <a:endParaRPr lang="en-US" altLang="en-US" sz="16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1600" b="1" dirty="0"/>
              <a:t>}</a:t>
            </a:r>
            <a:endParaRPr lang="en-US" altLang="en-US" sz="16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Після цього метод можна викликати із сервісу, репозиторію </a:t>
            </a:r>
            <a:r>
              <a:rPr lang="ru-RU" altLang="en-US" sz="2000" dirty="0"/>
              <a:t>     </a:t>
            </a:r>
            <a:r>
              <a:rPr lang="en-US" altLang="en-US" sz="2000" dirty="0"/>
              <a:t>або іншого компонента:</a:t>
            </a:r>
            <a:endParaRPr lang="en-US" altLang="en-US" sz="2000" dirty="0"/>
          </a:p>
          <a:p>
            <a:pPr marL="0" indent="457200">
              <a:buFont typeface="Arial" panose="020B0604020202020204" pitchFamily="34" charset="0"/>
            </a:pPr>
            <a:r>
              <a:rPr lang="en-US" altLang="en-US" sz="2000" b="1" dirty="0"/>
              <a:t>_logger.PlayerCreated(playerId);</a:t>
            </a:r>
            <a:endParaRPr lang="en-US" altLang="en-US" sz="2000" b="1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LoggerMessage генерує необхідний logging-код під час компіляції.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HTTP Logging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7433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ASP.NET Core дозволяє логувати HTTP-запити та відповіді.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Наприклад: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GET /api/players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StatusCode: 200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Duration: 18 ms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Це допомагає аналізувати:</a:t>
            </a:r>
            <a:r>
              <a:rPr lang="ru-RU" altLang="en-US" sz="2000" dirty="0"/>
              <a:t> </a:t>
            </a:r>
            <a:r>
              <a:rPr lang="en-US" altLang="en-US" sz="2000" dirty="0"/>
              <a:t>HTTP method;</a:t>
            </a:r>
            <a:r>
              <a:rPr lang="ru-RU" altLang="en-US" sz="2000" dirty="0"/>
              <a:t> </a:t>
            </a:r>
            <a:r>
              <a:rPr lang="en-US" altLang="en-US" sz="2000" dirty="0"/>
              <a:t>request path;</a:t>
            </a:r>
            <a:r>
              <a:rPr lang="ru-RU" altLang="en-US" sz="2000" dirty="0"/>
              <a:t> </a:t>
            </a:r>
            <a:r>
              <a:rPr lang="en-US" altLang="en-US" sz="2000" dirty="0"/>
              <a:t>status code;</a:t>
            </a:r>
            <a:r>
              <a:rPr lang="ru-RU" altLang="en-US" sz="2000" dirty="0"/>
              <a:t> </a:t>
            </a:r>
            <a:r>
              <a:rPr lang="en-US" altLang="en-US" sz="2000" dirty="0"/>
              <a:t>тривалість запиту;</a:t>
            </a:r>
            <a:r>
              <a:rPr lang="ru-RU" altLang="en-US" sz="2000" dirty="0"/>
              <a:t> </a:t>
            </a:r>
            <a:r>
              <a:rPr lang="en-US" altLang="en-US" sz="2000" dirty="0"/>
              <a:t>проблеми API.</a:t>
            </a: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endParaRPr lang="en-US" altLang="en-US" sz="20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000" dirty="0"/>
              <a:t>HTTP logging потрібно налаштовувати обережно, щоб випадково не запи</a:t>
            </a:r>
            <a:r>
              <a:rPr lang="ru-RU" altLang="en-US" sz="2000" dirty="0"/>
              <a:t>сати </a:t>
            </a:r>
            <a:r>
              <a:rPr lang="en-US" altLang="en-US" sz="2000" dirty="0"/>
              <a:t>sensitive data.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Sensitive data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7433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1900" dirty="0"/>
              <a:t>У логах не повинні опинятися: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паролі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JWT та access tokens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API keys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private keys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Authorization headers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cookies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платіжні дані</a:t>
            </a:r>
            <a:endParaRPr lang="en-US" alt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900" dirty="0"/>
              <a:t>інші конфіденційні дані користувачів</a:t>
            </a:r>
            <a:endParaRPr lang="en-US" altLang="en-US" sz="19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1900" dirty="0"/>
              <a:t>Логи часто зберігаються довше, ніж працює конкретний HTTP-запит.</a:t>
            </a:r>
            <a:r>
              <a:rPr lang="ru-RU" altLang="en-US" sz="1900" dirty="0"/>
              <a:t> </a:t>
            </a:r>
            <a:r>
              <a:rPr lang="en-US" altLang="en-US" sz="1900" dirty="0"/>
              <a:t>Тому логування саме по собі є частиною security.</a:t>
            </a:r>
            <a:endParaRPr lang="en-US" alt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Data Redaction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7433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Сучасний .NET містить механізми класифікації </a:t>
            </a:r>
            <a:r>
              <a:rPr lang="ru-RU" altLang="en-US" sz="2200" dirty="0"/>
              <a:t>                     </a:t>
            </a:r>
            <a:r>
              <a:rPr lang="en-US" altLang="en-US" sz="2200" dirty="0"/>
              <a:t>та автоматичного приховування чутливих даних.</a:t>
            </a: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Redaction може: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видаляти значення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маскувати його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замінювати на безпечне представлення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хешувати значення залежно від сценарію</a:t>
            </a: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Мета:</a:t>
            </a: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корисний лог без витоку конфіденційної інформації.</a:t>
            </a:r>
            <a:endParaRPr lang="en-US" alt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Logging у Clean Architecture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76885" y="1412240"/>
            <a:ext cx="8107045" cy="4419600"/>
          </a:xfrm>
        </p:spPr>
        <p:txBody>
          <a:bodyPr vert="horz" wrap="square" lIns="91440" tIns="45720" rIns="91440" bIns="45720" anchor="t" anchorCtr="0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React</a:t>
            </a:r>
            <a:r>
              <a:rPr lang="uk-UA" altLang="en-US" sz="1600" b="1" dirty="0"/>
              <a:t> </a:t>
            </a:r>
            <a:r>
              <a:rPr lang="uk-UA" altLang="en-US" sz="1600" dirty="0"/>
              <a:t>- </a:t>
            </a:r>
            <a:r>
              <a:rPr lang="en-US" altLang="en-US" sz="1600" dirty="0"/>
              <a:t>Логуємо: помилки UI, помилки API-запитів, важливі клієнтські події.</a:t>
            </a:r>
            <a:r>
              <a:rPr lang="uk-UA" altLang="en-US" sz="1600" dirty="0"/>
              <a:t> </a:t>
            </a:r>
            <a:r>
              <a:rPr lang="en-US" altLang="en-US" sz="1600" dirty="0"/>
              <a:t>Засоби: </a:t>
            </a:r>
            <a:r>
              <a:rPr lang="en-US" altLang="en-US" sz="1600" dirty="0">
                <a:solidFill>
                  <a:srgbClr val="0070C0"/>
                </a:solidFill>
              </a:rPr>
              <a:t>console.info(), console.warn(), console.error()</a:t>
            </a:r>
            <a:r>
              <a:rPr lang="en-US" altLang="en-US" sz="1600" dirty="0"/>
              <a:t>, для production можна використовувати </a:t>
            </a:r>
            <a:r>
              <a:rPr lang="en-US" altLang="en-US" sz="1600" dirty="0">
                <a:hlinkClick r:id="rId1" action="ppaction://hlinkfile"/>
              </a:rPr>
              <a:t>Sentry</a:t>
            </a:r>
            <a:r>
              <a:rPr lang="en-US" altLang="en-US" sz="1600" dirty="0"/>
              <a:t> або інший сервіс збору помилок.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ASP.NET Core Web API</a:t>
            </a:r>
            <a:r>
              <a:rPr lang="uk-UA" altLang="en-US" sz="1600" dirty="0"/>
              <a:t> - </a:t>
            </a:r>
            <a:r>
              <a:rPr lang="en-US" altLang="en-US" sz="1600" dirty="0"/>
              <a:t>Логуємо: HTTP-запити, статуси відповідей, тривалість виконання, помилки middleware.</a:t>
            </a:r>
            <a:r>
              <a:rPr lang="uk-UA" altLang="en-US" sz="1600" dirty="0"/>
              <a:t> </a:t>
            </a:r>
            <a:r>
              <a:rPr lang="en-US" altLang="en-US" sz="1600" dirty="0"/>
              <a:t>Засоби: ILogger&lt;T&gt;, </a:t>
            </a:r>
            <a:r>
              <a:rPr lang="en-US" altLang="en-US" sz="1600" dirty="0">
                <a:solidFill>
                  <a:srgbClr val="0070C0"/>
                </a:solidFill>
              </a:rPr>
              <a:t>middleware</a:t>
            </a:r>
            <a:r>
              <a:rPr lang="en-US" altLang="en-US" sz="1600" dirty="0"/>
              <a:t>, </a:t>
            </a:r>
            <a:r>
              <a:rPr lang="en-US" altLang="en-US" sz="1600" dirty="0">
                <a:solidFill>
                  <a:srgbClr val="0070C0"/>
                </a:solidFill>
              </a:rPr>
              <a:t>HTTP Logging</a:t>
            </a:r>
            <a:r>
              <a:rPr lang="en-US" altLang="en-US" sz="1600" dirty="0"/>
              <a:t>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Application</a:t>
            </a:r>
            <a:r>
              <a:rPr lang="uk-UA" altLang="en-US" sz="1600" b="1" dirty="0"/>
              <a:t> </a:t>
            </a:r>
            <a:r>
              <a:rPr lang="uk-UA" altLang="en-US" sz="1600" dirty="0"/>
              <a:t>- </a:t>
            </a:r>
            <a:r>
              <a:rPr lang="en-US" altLang="en-US" sz="1600" dirty="0"/>
              <a:t>Логуємо: значущі бізнес-події, результати операцій, помилки application-логіки.</a:t>
            </a:r>
            <a:r>
              <a:rPr lang="uk-UA" altLang="en-US" sz="1600" dirty="0"/>
              <a:t> </a:t>
            </a:r>
            <a:r>
              <a:rPr lang="en-US" altLang="en-US" sz="1600" dirty="0"/>
              <a:t>Засоби: </a:t>
            </a:r>
            <a:r>
              <a:rPr lang="en-US" altLang="en-US" sz="1600" dirty="0">
                <a:solidFill>
                  <a:srgbClr val="0070C0"/>
                </a:solidFill>
              </a:rPr>
              <a:t>ILogger&lt;T&gt;.</a:t>
            </a:r>
            <a:endParaRPr lang="en-US" altLang="en-US" sz="16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Infrastructure</a:t>
            </a:r>
            <a:r>
              <a:rPr lang="uk-UA" altLang="en-US" sz="1600" b="1" dirty="0"/>
              <a:t> </a:t>
            </a:r>
            <a:r>
              <a:rPr lang="uk-UA" altLang="en-US" sz="1600" dirty="0"/>
              <a:t>- </a:t>
            </a:r>
            <a:r>
              <a:rPr lang="en-US" altLang="en-US" sz="1600" dirty="0"/>
              <a:t>Логуємо: взаємодію з Firebase, Firestore, SQL Server, зовнішніми API та технічні помилки.</a:t>
            </a:r>
            <a:r>
              <a:rPr lang="uk-UA" altLang="en-US" sz="1600" dirty="0"/>
              <a:t> </a:t>
            </a:r>
            <a:r>
              <a:rPr lang="en-US" altLang="en-US" sz="1600" dirty="0"/>
              <a:t>Засоби: </a:t>
            </a:r>
            <a:r>
              <a:rPr lang="en-US" altLang="en-US" sz="1600" dirty="0">
                <a:solidFill>
                  <a:srgbClr val="0070C0"/>
                </a:solidFill>
              </a:rPr>
              <a:t>ILogger&lt;T&gt;.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Domain</a:t>
            </a:r>
            <a:r>
              <a:rPr lang="uk-UA" altLang="en-US" sz="1600" b="1" dirty="0"/>
              <a:t> </a:t>
            </a:r>
            <a:r>
              <a:rPr lang="uk-UA" altLang="en-US" sz="1600" dirty="0"/>
              <a:t>- </a:t>
            </a:r>
            <a:r>
              <a:rPr lang="en-US" altLang="en-US" sz="1600" dirty="0">
                <a:solidFill>
                  <a:srgbClr val="FF0000"/>
                </a:solidFill>
              </a:rPr>
              <a:t>не залежить від механізму логування.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Firebase / Firestore</a:t>
            </a:r>
            <a:r>
              <a:rPr lang="uk-UA" altLang="en-US" sz="1600" dirty="0"/>
              <a:t> - </a:t>
            </a:r>
            <a:r>
              <a:rPr lang="en-US" altLang="en-US" sz="1600" dirty="0"/>
              <a:t>Логуємо: події та помилки роботи сервісу, доступ               до ресурсів, операції та іншу інфраструктурну інформацію.</a:t>
            </a:r>
            <a:r>
              <a:rPr lang="uk-UA" altLang="en-US" sz="1600" dirty="0"/>
              <a:t> </a:t>
            </a:r>
            <a:r>
              <a:rPr lang="en-US" altLang="en-US" sz="1600" dirty="0"/>
              <a:t>Засоби: Firebase / Google Cloud Logging та Monitoring.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SQL Server</a:t>
            </a:r>
            <a:r>
              <a:rPr lang="uk-UA" altLang="en-US" sz="1600" b="1" dirty="0"/>
              <a:t> </a:t>
            </a:r>
            <a:r>
              <a:rPr lang="uk-UA" altLang="en-US" sz="1600" dirty="0"/>
              <a:t>- </a:t>
            </a:r>
            <a:r>
              <a:rPr lang="en-US" altLang="en-US" sz="1600" dirty="0"/>
              <a:t>Логуємо: помилки СУБД, deadlock, проблеми підключення, повільні запити та інші події SQL Server.</a:t>
            </a:r>
            <a:r>
              <a:rPr lang="uk-UA" altLang="en-US" sz="1600" dirty="0"/>
              <a:t> </a:t>
            </a:r>
            <a:r>
              <a:rPr lang="en-US" altLang="en-US" sz="1600" dirty="0"/>
              <a:t>Засоби: SQL Server logs, Extended Events, SQL monitoring.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Log noise</a:t>
            </a:r>
            <a:endParaRPr lang="en-US" alt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7433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Занадто багато логів не </a:t>
            </a:r>
            <a:r>
              <a:rPr lang="uk-UA" altLang="en-US" sz="2200" dirty="0"/>
              <a:t>з</a:t>
            </a:r>
            <a:r>
              <a:rPr lang="en-US" altLang="en-US" sz="2200" dirty="0"/>
              <a:t>робить систему прозорішою.</a:t>
            </a: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Наприклад, не варто записувати: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Starting method...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Opening repository...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Calling Firestore...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Mapping entity...</a:t>
            </a: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Returning result...</a:t>
            </a: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для кожного запиту.</a:t>
            </a: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200" dirty="0"/>
              <a:t>Хороший лог відповідає на питання:</a:t>
            </a:r>
            <a:endParaRPr lang="en-US" altLang="en-US" sz="2200" dirty="0"/>
          </a:p>
          <a:p>
            <a:pPr marL="0" indent="0">
              <a:buFont typeface="Arial" panose="020B0604020202020204" pitchFamily="34" charset="0"/>
            </a:pPr>
            <a:r>
              <a:rPr lang="en-US" altLang="en-US" sz="2200" b="1" dirty="0"/>
              <a:t>Що сталося? Де? Коли? Чому це важливо?</a:t>
            </a:r>
            <a:endParaRPr lang="en-US" altLang="en-US" sz="2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Вбудоване логування</a:t>
            </a:r>
            <a:endParaRPr 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100" b="1" dirty="0"/>
              <a:t>Microsoft.Extensions.Logging</a:t>
            </a:r>
            <a:r>
              <a:rPr lang="en-US" altLang="en-US" sz="2100" dirty="0"/>
              <a:t> — стандартний фреймворк .NET для абстрактного логування, без залежностей              від </a:t>
            </a:r>
            <a:r>
              <a:rPr lang="uk-UA" altLang="en-US" sz="2100" dirty="0"/>
              <a:t>сторонніх бібліотек.</a:t>
            </a:r>
            <a:endParaRPr lang="en-US" altLang="en-US" sz="2100" dirty="0"/>
          </a:p>
          <a:p>
            <a:pPr marL="0" indent="0">
              <a:buNone/>
            </a:pPr>
            <a:endParaRPr lang="en-US" altLang="en-US" sz="2100" dirty="0"/>
          </a:p>
          <a:p>
            <a:pPr marL="0" indent="0">
              <a:buNone/>
            </a:pPr>
            <a:r>
              <a:rPr lang="en-US" altLang="en-US" sz="2100" dirty="0"/>
              <a:t>Документація: </a:t>
            </a:r>
            <a:r>
              <a:rPr lang="en-US" altLang="en-US" sz="2100" b="1" dirty="0">
                <a:solidFill>
                  <a:srgbClr val="0070C0"/>
                </a:solidFill>
                <a:hlinkClick r:id="rId1" action="ppaction://hlinkfile"/>
              </a:rPr>
              <a:t>https://learn.microsoft.com/en-us/dotnet/core/extensions/logging</a:t>
            </a:r>
            <a:endParaRPr lang="en-US" altLang="en-US" sz="21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sz="2100" b="1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altLang="en-US" b="1" dirty="0">
                <a:solidFill>
                  <a:srgbClr val="0070C0"/>
                </a:solidFill>
                <a:hlinkClick r:id="rId2" action="ppaction://hlinkfile"/>
              </a:rPr>
              <a:t>https://gist.github.com/sunmeat/2f40da81b66871abfb7a0fcf23ad2cb5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Практика для </a:t>
            </a:r>
            <a:r>
              <a:rPr lang="en-US" dirty="0"/>
              <a:t>ASP.Net Core</a:t>
            </a:r>
            <a:endParaRPr lang="en-US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uk-UA" sz="2100" b="1" dirty="0"/>
              <a:t>Які файли треба створити:</a:t>
            </a:r>
            <a:endParaRPr lang="uk-UA" sz="2100" b="1" dirty="0"/>
          </a:p>
          <a:p>
            <a:pPr marL="0" indent="0">
              <a:buNone/>
            </a:pPr>
            <a:br>
              <a:rPr lang="uk-UA" sz="2100" b="1" dirty="0"/>
            </a:br>
            <a:r>
              <a:rPr lang="uk-UA" altLang="en-US" sz="2100" b="1" dirty="0"/>
              <a:t>1) </a:t>
            </a:r>
            <a:r>
              <a:rPr lang="en-US" altLang="en-US" sz="2100" b="1" dirty="0"/>
              <a:t>Soccer.Application</a:t>
            </a:r>
            <a:r>
              <a:rPr lang="en-US" altLang="en-US" sz="2100" b="1" dirty="0">
                <a:solidFill>
                  <a:srgbClr val="FF0000"/>
                </a:solidFill>
              </a:rPr>
              <a:t>/Logging/</a:t>
            </a:r>
            <a:endParaRPr lang="en-US" altLang="en-US" sz="21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2100" b="1" dirty="0">
                <a:solidFill>
                  <a:srgbClr val="FF0000"/>
                </a:solidFill>
              </a:rPr>
              <a:t>ApplicationLogMessages.cs</a:t>
            </a:r>
            <a:r>
              <a:rPr lang="en-US" altLang="en-US" sz="2100" b="1" dirty="0"/>
              <a:t> LoggerMessage </a:t>
            </a:r>
            <a:r>
              <a:rPr lang="uk-UA" altLang="en-US" sz="2100" b="1" dirty="0"/>
              <a:t>- </a:t>
            </a:r>
            <a:r>
              <a:rPr lang="en-US" altLang="en-US" sz="2100" b="1" dirty="0"/>
              <a:t>source generation для Application-шару</a:t>
            </a:r>
            <a:endParaRPr lang="en-US" altLang="en-US" sz="2100" b="1" dirty="0"/>
          </a:p>
          <a:p>
            <a:pPr marL="0" indent="0">
              <a:buNone/>
            </a:pPr>
            <a:r>
              <a:rPr lang="uk-UA" altLang="en-US" sz="2100" b="1" dirty="0"/>
              <a:t>2) </a:t>
            </a:r>
            <a:r>
              <a:rPr lang="en-US" altLang="en-US" sz="2100" b="1" dirty="0"/>
              <a:t>Soccer.Infrastructure</a:t>
            </a:r>
            <a:r>
              <a:rPr lang="en-US" altLang="en-US" sz="2100" b="1" dirty="0">
                <a:solidFill>
                  <a:srgbClr val="FF0000"/>
                </a:solidFill>
              </a:rPr>
              <a:t>/Logging/</a:t>
            </a:r>
            <a:endParaRPr lang="en-US" altLang="en-US" sz="21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2100" b="1" dirty="0">
                <a:solidFill>
                  <a:srgbClr val="FF0000"/>
                </a:solidFill>
              </a:rPr>
              <a:t>InfrastructureLogMessages.cs</a:t>
            </a:r>
            <a:r>
              <a:rPr lang="en-US" altLang="en-US" sz="2100" b="1" dirty="0"/>
              <a:t> LoggerMessage </a:t>
            </a:r>
            <a:r>
              <a:rPr lang="uk-UA" altLang="en-US" sz="2100" b="1" dirty="0"/>
              <a:t>- </a:t>
            </a:r>
            <a:r>
              <a:rPr lang="en-US" altLang="en-US" sz="2100" b="1" dirty="0"/>
              <a:t>source generation для Infrastructure</a:t>
            </a:r>
            <a:endParaRPr lang="en-US" altLang="en-US" sz="2100" b="1" dirty="0"/>
          </a:p>
          <a:p>
            <a:pPr marL="0" indent="0">
              <a:buNone/>
            </a:pPr>
            <a:r>
              <a:rPr lang="uk-UA" altLang="en-US" sz="2100" b="1" dirty="0"/>
              <a:t>3) </a:t>
            </a:r>
            <a:r>
              <a:rPr lang="en-US" altLang="en-US" sz="2100" b="1" dirty="0"/>
              <a:t>Soccer.WebAPI</a:t>
            </a:r>
            <a:r>
              <a:rPr lang="en-US" altLang="en-US" sz="2100" b="1" dirty="0">
                <a:solidFill>
                  <a:srgbClr val="FF0000"/>
                </a:solidFill>
              </a:rPr>
              <a:t>/Middleware/</a:t>
            </a:r>
            <a:endParaRPr lang="en-US" altLang="en-US" sz="21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2100" b="1" dirty="0">
                <a:solidFill>
                  <a:srgbClr val="FF0000"/>
                </a:solidFill>
              </a:rPr>
              <a:t>RequestLoggingMiddleware.cs</a:t>
            </a:r>
            <a:r>
              <a:rPr lang="en-US" altLang="en-US" sz="2100" b="1" dirty="0"/>
              <a:t> - Логування HTTP-запитів, статусів і тривалості</a:t>
            </a:r>
            <a:endParaRPr lang="en-US" altLang="en-US" sz="21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Практика</a:t>
            </a:r>
            <a:endParaRPr 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uk-UA" sz="1800" b="1" dirty="0"/>
              <a:t>Які файли треба змінити:</a:t>
            </a:r>
            <a:endParaRPr lang="uk-UA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Soccer.WebAPI/</a:t>
            </a:r>
            <a:r>
              <a:rPr lang="en-US" altLang="en-US" sz="1800" b="1" dirty="0">
                <a:solidFill>
                  <a:srgbClr val="FF0000"/>
                </a:solidFill>
              </a:rPr>
              <a:t>Program.cs</a:t>
            </a:r>
            <a:r>
              <a:rPr lang="en-US" altLang="en-US" sz="1800" b="1" dirty="0"/>
              <a:t> — HTTP Logging + JSON-форматтер + middleware</a:t>
            </a:r>
            <a:endParaRPr lang="en-US" alt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Soccer.WebAPI/</a:t>
            </a:r>
            <a:r>
              <a:rPr lang="en-US" altLang="en-US" sz="1800" b="1" dirty="0">
                <a:solidFill>
                  <a:srgbClr val="FF0000"/>
                </a:solidFill>
              </a:rPr>
              <a:t>appsettings.json + appsettings.Development.json</a:t>
            </a:r>
            <a:endParaRPr lang="en-US" alt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Soccer.Application/Services/</a:t>
            </a:r>
            <a:r>
              <a:rPr lang="en-US" altLang="en-US" sz="1800" b="1" dirty="0">
                <a:solidFill>
                  <a:srgbClr val="FF0000"/>
                </a:solidFill>
              </a:rPr>
              <a:t>PlayerService.cs + TeamService.cs</a:t>
            </a:r>
            <a:endParaRPr lang="en-US" alt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/>
              <a:t>Soccer.Infrastructure/Repositories/</a:t>
            </a:r>
            <a:r>
              <a:rPr lang="en-US" altLang="en-US" sz="1800" b="1" dirty="0">
                <a:solidFill>
                  <a:srgbClr val="FF0000"/>
                </a:solidFill>
              </a:rPr>
              <a:t>PlayerRepository.cs + TeamRepository.cs</a:t>
            </a:r>
            <a:endParaRPr lang="en-US" alt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rgbClr val="FF0000"/>
                </a:solidFill>
              </a:rPr>
              <a:t>.csproj файли</a:t>
            </a:r>
            <a:r>
              <a:rPr lang="en-US" altLang="en-US" sz="1800" b="1" dirty="0"/>
              <a:t> Application та Infrastructure (додати Microsoft.Extensions.Logging.Abstractions)</a:t>
            </a:r>
            <a:endParaRPr lang="en-US" alt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u="sng" dirty="0">
                <a:solidFill>
                  <a:srgbClr val="0070C0"/>
                </a:solidFill>
              </a:rPr>
              <a:t>Domain </a:t>
            </a:r>
            <a:r>
              <a:rPr lang="en-US" altLang="en-US" sz="1800" b="1" u="sng" dirty="0"/>
              <a:t>залишається повністю чистим — без ILogger.</a:t>
            </a:r>
            <a:endParaRPr lang="en-US" altLang="en-US" sz="18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sym typeface="+mn-ea"/>
              </a:rPr>
              <a:t>Soccer.WebAPI/Controllers/</a:t>
            </a:r>
            <a:r>
              <a:rPr lang="en-US" altLang="en-US" sz="1800" b="1" dirty="0">
                <a:solidFill>
                  <a:srgbClr val="0070C0"/>
                </a:solidFill>
                <a:sym typeface="+mn-ea"/>
              </a:rPr>
              <a:t>PlayersController.cs </a:t>
            </a:r>
            <a:r>
              <a:rPr lang="en-US" altLang="en-US" sz="1800" b="1" dirty="0">
                <a:solidFill>
                  <a:schemeClr val="tx1"/>
                </a:solidFill>
                <a:sym typeface="+mn-ea"/>
              </a:rPr>
              <a:t>+ </a:t>
            </a:r>
            <a:r>
              <a:rPr lang="en-US" altLang="en-US" sz="1800" b="1" dirty="0">
                <a:solidFill>
                  <a:srgbClr val="0070C0"/>
                </a:solidFill>
                <a:sym typeface="+mn-ea"/>
              </a:rPr>
              <a:t>TeamsController.cs</a:t>
            </a:r>
            <a:r>
              <a:rPr lang="uk-UA" altLang="en-US" sz="1800" b="1" dirty="0">
                <a:solidFill>
                  <a:schemeClr val="tx1"/>
                </a:solidFill>
                <a:sym typeface="+mn-ea"/>
              </a:rPr>
              <a:t> - це тонкий шар, логування ВЖЕ перекладене     на мідлвейр, тому </a:t>
            </a:r>
            <a:r>
              <a:rPr lang="en-US" altLang="en-US" sz="1800" b="1" dirty="0">
                <a:solidFill>
                  <a:schemeClr val="tx1"/>
                </a:solidFill>
                <a:sym typeface="+mn-ea"/>
              </a:rPr>
              <a:t>додаткові логи в контролері зазвичай дублюють інформацію і створюють шум</a:t>
            </a:r>
            <a:endParaRPr lang="en-US" altLang="en-US" sz="1800" b="1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9033510" cy="911225"/>
          </a:xfrm>
        </p:spPr>
        <p:txBody>
          <a:bodyPr vert="horz" wrap="square" lIns="91440" tIns="45720" rIns="91440" bIns="45720" anchor="ctr" anchorCtr="0"/>
          <a:p>
            <a:r>
              <a:rPr lang="uk-UA" dirty="0"/>
              <a:t>Зібраний приклад на логування</a:t>
            </a:r>
            <a:endParaRPr 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None/>
            </a:pPr>
            <a:r>
              <a:rPr lang="en-US" altLang="en-US" b="1" dirty="0">
                <a:hlinkClick r:id="rId1" action="ppaction://hlinkfile"/>
              </a:rPr>
              <a:t>https://github.com/sunmeat/aspnetcore_logging</a:t>
            </a:r>
            <a:endParaRPr lang="en-US" altLang="en-US" b="1" dirty="0">
              <a:hlinkClick r:id="rId1" action="ppaction://hlinkfil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/>
              <a:t>Практика 2</a:t>
            </a:r>
            <a:endParaRPr lang="uk-UA" alt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66090" y="1384935"/>
            <a:ext cx="807212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uk-UA" altLang="en-US" sz="2100" b="1" dirty="0"/>
              <a:t>Зібрати приклад, зробити менше логів (залишити тільки основне - підключення, гет запити, пост запити), надіслати скріншоти.</a:t>
            </a:r>
            <a:endParaRPr lang="uk-UA" sz="21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uk-UA" dirty="0"/>
              <a:t>Redaction</a:t>
            </a:r>
            <a:endParaRPr lang="en-US" alt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86410" y="1456690"/>
            <a:ext cx="8047990" cy="4419600"/>
          </a:xfrm>
        </p:spPr>
        <p:txBody>
          <a:bodyPr vert="horz" wrap="square" lIns="91440" tIns="45720" rIns="91440" bIns="45720" anchor="t" anchorCtr="0"/>
          <a:p>
            <a:pPr marL="0" indent="0">
              <a:buFont typeface="Arial" panose="020B0604020202020204" pitchFamily="34" charset="0"/>
            </a:pPr>
            <a:r>
              <a:rPr lang="ru-RU" altLang="en-US" sz="1700" dirty="0">
                <a:solidFill>
                  <a:schemeClr val="tx1"/>
                </a:solidFill>
              </a:rPr>
              <a:t>Починаючи з</a:t>
            </a:r>
            <a:r>
              <a:rPr lang="en-US" altLang="en-US" sz="1700" dirty="0">
                <a:solidFill>
                  <a:schemeClr val="tx1"/>
                </a:solidFill>
              </a:rPr>
              <a:t> .NET 8 з’явився офіційний механізм </a:t>
            </a:r>
            <a:r>
              <a:rPr lang="en-US" altLang="en-US" sz="1700" b="1" dirty="0">
                <a:solidFill>
                  <a:schemeClr val="tx1"/>
                </a:solidFill>
              </a:rPr>
              <a:t>Microsoft.Extensions.Compliance.Redaction.</a:t>
            </a:r>
            <a:r>
              <a:rPr lang="en-US" altLang="en-US" sz="1700" dirty="0">
                <a:solidFill>
                  <a:schemeClr val="tx1"/>
                </a:solidFill>
              </a:rPr>
              <a:t> Він дозволяє позначити поле</a:t>
            </a:r>
            <a:r>
              <a:rPr lang="ru-RU" altLang="en-US" sz="1700" dirty="0">
                <a:solidFill>
                  <a:schemeClr val="tx1"/>
                </a:solidFill>
              </a:rPr>
              <a:t> модел</a:t>
            </a:r>
            <a:r>
              <a:rPr lang="uk-UA" altLang="en-US" sz="1700" dirty="0">
                <a:solidFill>
                  <a:schemeClr val="tx1"/>
                </a:solidFill>
              </a:rPr>
              <a:t>і </a:t>
            </a:r>
            <a:r>
              <a:rPr lang="en-US" altLang="en-US" sz="1700" dirty="0">
                <a:solidFill>
                  <a:schemeClr val="tx1"/>
                </a:solidFill>
              </a:rPr>
              <a:t>DTO (наприклад, електронну пошту </a:t>
            </a:r>
            <a:r>
              <a:rPr lang="ru-RU" altLang="en-US" sz="1700" dirty="0">
                <a:solidFill>
                  <a:schemeClr val="tx1"/>
                </a:solidFill>
              </a:rPr>
              <a:t>користувача</a:t>
            </a:r>
            <a:r>
              <a:rPr lang="en-US" altLang="en-US" sz="1700" dirty="0">
                <a:solidFill>
                  <a:schemeClr val="tx1"/>
                </a:solidFill>
              </a:rPr>
              <a:t>) як чутливі персональні дані за допомогою спеціального типу класифікації. Найчастіше використовують вбудовану </a:t>
            </a:r>
            <a:r>
              <a:rPr lang="en-US" altLang="en-US" sz="1700" b="1" dirty="0">
                <a:solidFill>
                  <a:schemeClr val="tx1"/>
                </a:solidFill>
              </a:rPr>
              <a:t>[DataClassification.PersonalData]</a:t>
            </a:r>
            <a:r>
              <a:rPr lang="en-US" altLang="en-US" sz="1700" dirty="0">
                <a:solidFill>
                  <a:schemeClr val="tx1"/>
                </a:solidFill>
              </a:rPr>
              <a:t> або власну (наприклад, new DataClassification("Soccer", "Email")), яку потім прив’язують до поля через атрибут.</a:t>
            </a:r>
            <a:endParaRPr lang="en-US" altLang="en-US" sz="17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</a:pPr>
            <a:r>
              <a:rPr lang="en-US" altLang="en-US" sz="1700" dirty="0">
                <a:solidFill>
                  <a:schemeClr val="tx1"/>
                </a:solidFill>
              </a:rPr>
              <a:t>Після реєстрації redaction у контейнері залежностей і підключення його до системи логування будь-яке значення з такою класифікацією автоматично обробляється перед записом у лог. Замість реальної адреси система може повністю видалити значення (ErasingRedactor), замінити його на [REDACTED], замаскувати зірочками (StarRedactor) або показати лише частину (наприклад, першу літеру та домен).</a:t>
            </a:r>
            <a:endParaRPr lang="en-US" altLang="en-US" sz="17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</a:pPr>
            <a:r>
              <a:rPr lang="en-US" altLang="en-US" sz="1700" dirty="0">
                <a:solidFill>
                  <a:schemeClr val="tx1"/>
                </a:solidFill>
              </a:rPr>
              <a:t>У підсумку логи залишаються корисними для діагностики, але не містять відкритої персональної інформації. Це особливо важливо, коли логи збираються у зовнішні системи моніторингу або зберігаються тривалий час.</a:t>
            </a:r>
            <a:endParaRPr lang="en-US" altLang="en-US" sz="17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1600" y="6407150"/>
            <a:ext cx="8894445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sz="19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Бібліотеки для логування</a:t>
            </a:r>
            <a:endParaRPr 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86410" y="1456690"/>
            <a:ext cx="8047990" cy="4419600"/>
          </a:xfrm>
        </p:spPr>
        <p:txBody>
          <a:bodyPr vert="horz" wrap="square" lIns="91440" tIns="45720" rIns="91440" bIns="45720" anchor="t" anchorCtr="0"/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log4net - </a:t>
            </a:r>
            <a:r>
              <a:rPr lang="en-US" altLang="en-US" sz="1700" dirty="0"/>
              <a:t>Класична бібліотека для логування в .NET-додатках, натхненна Apache Log4j. Гнучка конфігурація через XML/JSON, підтримка апендерів (файл, БД, консоль, email), рівні логів. Інтегрується з .NET </a:t>
            </a:r>
            <a:r>
              <a:rPr lang="uk-UA" altLang="en-US" sz="1700" dirty="0"/>
              <a:t>10</a:t>
            </a:r>
            <a:r>
              <a:rPr lang="en-US" altLang="en-US" sz="1700" dirty="0"/>
              <a:t> через NuGet. Підтримує async logging для високонавантажених систем. Остання стабільна версія — 3.4.0 (випущена 21 серпня 2026). Оновлення фокусуються на стабільності, без радикальних фіч; ідеально для legacy-проєктів. </a:t>
            </a:r>
            <a:r>
              <a:rPr lang="en-US" altLang="en-US" sz="1700" b="1" dirty="0">
                <a:solidFill>
                  <a:srgbClr val="0070C0"/>
                </a:solidFill>
                <a:hlinkClick r:id="rId1" action="ppaction://hlinkfile"/>
              </a:rPr>
              <a:t>https://logging.apache.org/log4net/index.html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Serilog - </a:t>
            </a:r>
            <a:r>
              <a:rPr lang="en-US" altLang="en-US" sz="1700" dirty="0"/>
              <a:t>Сучасна бібліотека з акцентом на простоту та </a:t>
            </a:r>
            <a:r>
              <a:rPr lang="uk-UA" altLang="en-US" sz="1700" dirty="0"/>
              <a:t>структуроване логування</a:t>
            </a:r>
            <a:r>
              <a:rPr lang="en-US" altLang="en-US" sz="1700" dirty="0"/>
              <a:t>, де повідомлення — це об'єкти, а не рядки.</a:t>
            </a:r>
            <a:r>
              <a:rPr lang="uk-UA" altLang="en-US" sz="1700" dirty="0"/>
              <a:t> </a:t>
            </a:r>
            <a:r>
              <a:rPr lang="en-US" altLang="en-US" sz="1700" dirty="0"/>
              <a:t>Автоматичний JSON-вивід</a:t>
            </a:r>
            <a:r>
              <a:rPr lang="uk-UA" altLang="en-US" sz="1700" dirty="0"/>
              <a:t>. </a:t>
            </a:r>
            <a:r>
              <a:rPr lang="en-US" altLang="en-US" sz="1700" dirty="0"/>
              <a:t>Стабільна версія — 4.4.0 (10 </a:t>
            </a:r>
            <a:r>
              <a:rPr lang="uk-UA" altLang="en-US" sz="1700" dirty="0"/>
              <a:t>липня 2026</a:t>
            </a:r>
            <a:r>
              <a:rPr lang="en-US" altLang="en-US" sz="1700" dirty="0"/>
              <a:t>)</a:t>
            </a:r>
            <a:r>
              <a:rPr lang="uk-UA" altLang="en-US" sz="1700" dirty="0"/>
              <a:t> </a:t>
            </a:r>
            <a:r>
              <a:rPr lang="en-US" altLang="en-US" sz="1700" b="1" dirty="0">
                <a:solidFill>
                  <a:srgbClr val="0070C0"/>
                </a:solidFill>
                <a:hlinkClick r:id="rId2" action="ppaction://hlinkfile"/>
              </a:rPr>
              <a:t>https://serilog.net/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NLog</a:t>
            </a:r>
            <a:r>
              <a:rPr lang="uk-UA" altLang="en-US" sz="1700" b="1" dirty="0"/>
              <a:t> -</a:t>
            </a:r>
            <a:r>
              <a:rPr lang="uk-UA" altLang="en-US" sz="1700" dirty="0"/>
              <a:t> </a:t>
            </a:r>
            <a:r>
              <a:rPr lang="en-US" altLang="en-US" sz="1700" dirty="0"/>
              <a:t>Легка, потужна бібліотека для .NET з фокусом на продуктивність</a:t>
            </a:r>
            <a:r>
              <a:rPr lang="uk-UA" altLang="en-US" sz="1700" dirty="0"/>
              <a:t>     </a:t>
            </a:r>
            <a:r>
              <a:rPr lang="en-US" altLang="en-US" sz="1700" dirty="0"/>
              <a:t>і гнучкість.</a:t>
            </a:r>
            <a:r>
              <a:rPr lang="uk-UA" altLang="en-US" sz="1700" dirty="0"/>
              <a:t> </a:t>
            </a:r>
            <a:r>
              <a:rPr lang="en-US" altLang="en-US" sz="1700" dirty="0"/>
              <a:t>Targets (файл, БД, RabbitMQ), layouts для форматування, buffering для async. Підтримує conditional logging та variable substitution. Сумісна з .NET </a:t>
            </a:r>
            <a:r>
              <a:rPr lang="uk-UA" altLang="en-US" sz="1700" dirty="0"/>
              <a:t>10</a:t>
            </a:r>
            <a:r>
              <a:rPr lang="en-US" altLang="en-US" sz="1700" dirty="0"/>
              <a:t>, включаючи MAUI та Blazor.</a:t>
            </a:r>
            <a:r>
              <a:rPr lang="uk-UA" altLang="en-US" sz="1700" dirty="0"/>
              <a:t> </a:t>
            </a:r>
            <a:r>
              <a:rPr lang="en-US" altLang="en-US" sz="1700" dirty="0"/>
              <a:t>Версія 6.</a:t>
            </a:r>
            <a:r>
              <a:rPr lang="uk-UA" altLang="en-US" sz="1700" dirty="0"/>
              <a:t>2</a:t>
            </a:r>
            <a:r>
              <a:rPr lang="en-US" altLang="en-US" sz="1700" dirty="0"/>
              <a:t>.</a:t>
            </a:r>
            <a:r>
              <a:rPr lang="uk-UA" altLang="en-US" sz="1700" dirty="0"/>
              <a:t>1</a:t>
            </a:r>
            <a:r>
              <a:rPr lang="en-US" altLang="en-US" sz="1700" dirty="0"/>
              <a:t> (</a:t>
            </a:r>
            <a:r>
              <a:rPr lang="uk-UA" altLang="en-US" sz="1700" dirty="0"/>
              <a:t>16</a:t>
            </a:r>
            <a:r>
              <a:rPr lang="en-US" altLang="en-US" sz="1700" dirty="0"/>
              <a:t> </a:t>
            </a:r>
            <a:r>
              <a:rPr lang="uk-UA" altLang="en-US" sz="1700" dirty="0"/>
              <a:t>вересня </a:t>
            </a:r>
            <a:r>
              <a:rPr lang="en-US" altLang="en-US" sz="1700" dirty="0"/>
              <a:t>202</a:t>
            </a:r>
            <a:r>
              <a:rPr lang="uk-UA" altLang="en-US" sz="1700" dirty="0"/>
              <a:t>6</a:t>
            </a:r>
            <a:r>
              <a:rPr lang="en-US" altLang="en-US" sz="1700" dirty="0"/>
              <a:t>)</a:t>
            </a:r>
            <a:r>
              <a:rPr lang="uk-UA" altLang="en-US" sz="1700" dirty="0"/>
              <a:t>. </a:t>
            </a:r>
            <a:r>
              <a:rPr lang="en-US" altLang="en-US" sz="1700" dirty="0"/>
              <a:t>Ідеально для </a:t>
            </a:r>
            <a:r>
              <a:rPr lang="uk-UA" altLang="en-US" sz="1700" dirty="0"/>
              <a:t>високонавантажених</a:t>
            </a:r>
            <a:r>
              <a:rPr lang="en-US" altLang="en-US" sz="1700" dirty="0"/>
              <a:t> сценаріїв.</a:t>
            </a:r>
            <a:r>
              <a:rPr lang="uk-UA" altLang="en-US" sz="1700" dirty="0"/>
              <a:t> </a:t>
            </a:r>
            <a:r>
              <a:rPr lang="en-US" altLang="en-US" sz="1700" b="1" dirty="0">
                <a:solidFill>
                  <a:srgbClr val="0070C0"/>
                </a:solidFill>
                <a:hlinkClick r:id="rId3" action="ppaction://hlinkfile"/>
              </a:rPr>
              <a:t>https://nlog-project.org/</a:t>
            </a:r>
            <a:endParaRPr lang="en-US" altLang="en-US" sz="1700" b="1" dirty="0">
              <a:solidFill>
                <a:srgbClr val="0070C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1600" y="6407150"/>
            <a:ext cx="8894445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sz="19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uk-UA" dirty="0"/>
              <a:t>Serilog</a:t>
            </a:r>
            <a:endParaRPr lang="en-US" alt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>
              <a:solidFill>
                <a:srgbClr val="0070C0"/>
              </a:solidFill>
              <a:sym typeface="+mn-ea"/>
            </a:endParaRPr>
          </a:p>
          <a:p>
            <a:pPr marL="0" indent="0" algn="ctr">
              <a:buNone/>
            </a:pPr>
            <a:r>
              <a:rPr lang="en-US" altLang="en-US" b="1">
                <a:solidFill>
                  <a:srgbClr val="0070C0"/>
                </a:solidFill>
                <a:sym typeface="+mn-ea"/>
                <a:hlinkClick r:id="rId1" action="ppaction://hlinkfile"/>
              </a:rPr>
              <a:t>https://gist.github.com/sunmeat/85aab5ffd36bbd1aeed38da6df9f1f7e</a:t>
            </a:r>
            <a:endParaRPr lang="uk-U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10" y="3429635"/>
            <a:ext cx="6802755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Логування у файл</a:t>
            </a:r>
            <a:endParaRPr 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86410" y="1456690"/>
            <a:ext cx="8047990" cy="4419600"/>
          </a:xfrm>
        </p:spPr>
        <p:txBody>
          <a:bodyPr vert="horz" wrap="square" lIns="91440" tIns="45720" rIns="91440" bIns="45720" anchor="t" anchorCtr="0"/>
          <a:p>
            <a:pPr>
              <a:buFont typeface="Arial" panose="020B0604020202020204" pitchFamily="34" charset="0"/>
              <a:buChar char="•"/>
            </a:pPr>
            <a:r>
              <a:rPr lang="uk-UA" sz="2500" b="1" dirty="0"/>
              <a:t>ручний спосіб: </a:t>
            </a:r>
            <a:r>
              <a:rPr lang="en-US" altLang="en-US" sz="2500" b="1" dirty="0">
                <a:hlinkClick r:id="rId1" action="ppaction://hlinkfile"/>
              </a:rPr>
              <a:t>https://gist.github.com/sunmeat/916e52a909fa6bde2efe0838405b4eac</a:t>
            </a:r>
            <a:r>
              <a:rPr lang="uk-UA" altLang="en-US" sz="2500" b="1" dirty="0"/>
              <a:t> </a:t>
            </a:r>
            <a:endParaRPr lang="en-US" altLang="en-US" sz="2500" b="1" dirty="0"/>
          </a:p>
          <a:p>
            <a:pPr>
              <a:buFont typeface="Arial" panose="020B0604020202020204" pitchFamily="34" charset="0"/>
              <a:buChar char="•"/>
            </a:pPr>
            <a:endParaRPr lang="en-US" altLang="en-US" sz="25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uk-UA" altLang="en-US" sz="2500" b="1" dirty="0"/>
              <a:t>ч</a:t>
            </a:r>
            <a:r>
              <a:rPr lang="en-US" altLang="en-US" sz="2500" b="1" dirty="0"/>
              <a:t>ерез Serilog (рекомендовано):</a:t>
            </a:r>
            <a:r>
              <a:rPr lang="uk-UA" altLang="en-US" sz="2500" b="1" dirty="0"/>
              <a:t> </a:t>
            </a:r>
            <a:r>
              <a:rPr lang="en-US" altLang="en-US" sz="2500" b="1" dirty="0">
                <a:hlinkClick r:id="rId2" action="ppaction://hlinkfile"/>
              </a:rPr>
              <a:t>https://gist.github.com/sunmeat/dee2230e960af9437b9de82ebdea27d5</a:t>
            </a:r>
            <a:r>
              <a:rPr lang="uk-UA" altLang="en-US" sz="2500" b="1" dirty="0"/>
              <a:t> </a:t>
            </a:r>
            <a:endParaRPr lang="en-US" altLang="en-US" sz="2500" b="1" dirty="0"/>
          </a:p>
          <a:p>
            <a:pPr>
              <a:buFont typeface="Arial" panose="020B0604020202020204" pitchFamily="34" charset="0"/>
              <a:buChar char="•"/>
            </a:pPr>
            <a:endParaRPr lang="en-US" altLang="en-US" sz="25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uk-UA" altLang="en-US" sz="2500" b="1" dirty="0"/>
              <a:t>логування запитів у </a:t>
            </a:r>
            <a:r>
              <a:rPr lang="en-US" altLang="en-US" sz="2500" b="1" dirty="0"/>
              <a:t>Firebase: </a:t>
            </a:r>
            <a:r>
              <a:rPr lang="en-US" altLang="en-US" sz="2500" b="1" dirty="0">
                <a:hlinkClick r:id="rId3" action="ppaction://hlinkfile"/>
              </a:rPr>
              <a:t>https://gist.github.com/sunmeat/9a3a265a6e19ec800b077b478299d9a3</a:t>
            </a:r>
            <a:endParaRPr lang="en-US" altLang="en-US" sz="2500" b="1" dirty="0"/>
          </a:p>
          <a:p>
            <a:pPr>
              <a:buFont typeface="Arial" panose="020B0604020202020204" pitchFamily="34" charset="0"/>
              <a:buChar char="•"/>
            </a:pPr>
            <a:endParaRPr lang="en-US" altLang="en-US" sz="25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101600" y="6407150"/>
            <a:ext cx="8894445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sz="19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/>
              <a:t>Практика 3</a:t>
            </a:r>
            <a:endParaRPr lang="uk-UA" alt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466090" y="1384935"/>
            <a:ext cx="807212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uk-UA" sz="2100" b="1" dirty="0"/>
              <a:t>Налаштувати локування у файл та БД, відправити скріншоти.</a:t>
            </a:r>
            <a:endParaRPr lang="uk-UA" sz="21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ДЗ</a:t>
            </a:r>
            <a:endParaRPr lang="uk-UA" dirty="0"/>
          </a:p>
        </p:txBody>
      </p:sp>
      <p:sp>
        <p:nvSpPr>
          <p:cNvPr id="9218" name="Объект 2"/>
          <p:cNvSpPr>
            <a:spLocks noGrp="1"/>
          </p:cNvSpPr>
          <p:nvPr>
            <p:ph idx="1"/>
          </p:nvPr>
        </p:nvSpPr>
        <p:spPr>
          <a:xfrm>
            <a:off x="609600" y="1456690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uk-UA" dirty="0"/>
              <a:t>Застосувати логування в курсовому проєкті.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Посилання на проєкт надіслати                в коментар до цього ДЗ.</a:t>
            </a:r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CE81A78-B7E0-4011-9153-CD64210B6554}"/>
</file>

<file path=customXml/itemProps2.xml><?xml version="1.0" encoding="utf-8"?>
<ds:datastoreItem xmlns:ds="http://schemas.openxmlformats.org/officeDocument/2006/customXml" ds:itemID="{A2F807D8-528A-41A4-8C79-39C109852A98}"/>
</file>

<file path=customXml/itemProps3.xml><?xml version="1.0" encoding="utf-8"?>
<ds:datastoreItem xmlns:ds="http://schemas.openxmlformats.org/officeDocument/2006/customXml" ds:itemID="{A04D22AE-8252-4358-8584-D7485AB1140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10531</Words>
  <Application>WPS Presentation</Application>
  <PresentationFormat/>
  <Paragraphs>253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Початковий приклад</vt:lpstr>
      <vt:lpstr>Практика</vt:lpstr>
      <vt:lpstr>Що таке логування</vt:lpstr>
      <vt:lpstr>Навіщо потрібне логування</vt:lpstr>
      <vt:lpstr>Microsoft.Extensions.Logging</vt:lpstr>
      <vt:lpstr>Рівні логування</vt:lpstr>
      <vt:lpstr>Просте / структуроване логування</vt:lpstr>
      <vt:lpstr>Структуроване логування у JSON</vt:lpstr>
      <vt:lpstr>EventId</vt:lpstr>
      <vt:lpstr>Логування винятків</vt:lpstr>
      <vt:lpstr>LoggerMessage</vt:lpstr>
      <vt:lpstr>HTTP Logging</vt:lpstr>
      <vt:lpstr>Sensitive data</vt:lpstr>
      <vt:lpstr>Data Redaction</vt:lpstr>
      <vt:lpstr>Logging у Clean Architecture</vt:lpstr>
      <vt:lpstr>Log noise</vt:lpstr>
      <vt:lpstr>Вбудоване логування</vt:lpstr>
      <vt:lpstr>Практика для ASP.Net Core</vt:lpstr>
      <vt:lpstr>Практика</vt:lpstr>
      <vt:lpstr>Зібраний приклад на логування</vt:lpstr>
      <vt:lpstr>Практика</vt:lpstr>
      <vt:lpstr>Redaction</vt:lpstr>
      <vt:lpstr>Бібліотеки для логування</vt:lpstr>
      <vt:lpstr>Serilog</vt:lpstr>
      <vt:lpstr>Логування у файл</vt:lpstr>
      <vt:lpstr>Практика</vt:lpstr>
      <vt:lpstr>ДЗ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100</cp:revision>
  <dcterms:created xsi:type="dcterms:W3CDTF">2005-09-22T16:26:00Z</dcterms:created>
  <dcterms:modified xsi:type="dcterms:W3CDTF">2026-09-21T12:59:58Z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1033-12.1.0.28485</vt:lpwstr>
  </property>
  <property fmtid="{D5CDD505-2E9C-101B-9397-08002B2CF9AE}" pid="4" name="ContentTypeId">
    <vt:lpwstr>0x010100CB973167729B9844A7328B341F515C98</vt:lpwstr>
  </property>
</Properties>
</file>