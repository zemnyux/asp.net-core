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626" r:id="rId7"/>
    <p:sldId id="688" r:id="rId8"/>
    <p:sldId id="689" r:id="rId9"/>
    <p:sldId id="708" r:id="rId10"/>
    <p:sldId id="690" r:id="rId11"/>
    <p:sldId id="691" r:id="rId12"/>
    <p:sldId id="692" r:id="rId13"/>
    <p:sldId id="709" r:id="rId14"/>
    <p:sldId id="693" r:id="rId15"/>
    <p:sldId id="694" r:id="rId16"/>
    <p:sldId id="695" r:id="rId17"/>
    <p:sldId id="710" r:id="rId18"/>
    <p:sldId id="696" r:id="rId19"/>
    <p:sldId id="711" r:id="rId20"/>
    <p:sldId id="697" r:id="rId21"/>
    <p:sldId id="700" r:id="rId22"/>
    <p:sldId id="706" r:id="rId23"/>
    <p:sldId id="707" r:id="rId24"/>
    <p:sldId id="666" r:id="rId25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61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26" Type="http://schemas.openxmlformats.org/officeDocument/2006/relationships/presProps" Target="presProps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25" Type="http://schemas.openxmlformats.org/officeDocument/2006/relationships/slide" Target="slides/slide21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29" Type="http://schemas.openxmlformats.org/officeDocument/2006/relationships/customXml" Target="../customXml/item1.xml"/><Relationship Id="rId6" Type="http://schemas.openxmlformats.org/officeDocument/2006/relationships/slide" Target="slides/slide2.xml"/><Relationship Id="rId24" Type="http://schemas.openxmlformats.org/officeDocument/2006/relationships/slide" Target="slides/slide20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23" Type="http://schemas.openxmlformats.org/officeDocument/2006/relationships/slide" Target="slides/slide19.xml"/><Relationship Id="rId15" Type="http://schemas.openxmlformats.org/officeDocument/2006/relationships/slide" Target="slides/slide11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31" Type="http://schemas.openxmlformats.org/officeDocument/2006/relationships/customXml" Target="../customXml/item3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27" Type="http://schemas.openxmlformats.org/officeDocument/2006/relationships/viewProps" Target="viewProps.xml"/><Relationship Id="rId22" Type="http://schemas.openxmlformats.org/officeDocument/2006/relationships/slide" Target="slides/slide18.xml"/><Relationship Id="rId14" Type="http://schemas.openxmlformats.org/officeDocument/2006/relationships/slide" Target="slides/slide10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gist.github.com/sunmeat/67db9b438fa785197bd18230d43cfc48" TargetMode="External"/><Relationship Id="rId1" Type="http://schemas.openxmlformats.org/officeDocument/2006/relationships/hyperlink" Target="https://gist.github.com/sunmeat/4f62b7c12b9eb457b140e2b52c570307&#13;" TargetMode="Externa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hyperlink" Target="https://github.com/sunmeat/aspnetcore_sorting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hyperlink" Target="https://github.com/sunmeat/aspnetcore_tanstack_table_sorti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unmeat/aspnetcore_paginatio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hyperlink" Target="https://gist.github.com/sunmeat/b4fcaa043074c11545c04e1a749ff227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thub.com/sunmeat/aspnetcore_filtration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hyperlink" Target="https://gist.github.com/sunmeat/7d6009ef2d2c33574cd6e6e78c589f85" TargetMode="Externa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hyperlink" Target="https://github.com/sunmeat/aspnetcore_SPF" TargetMode="Externa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hyperlink" Target="https://gist.github.com/sunmeat/ac66148c2fa9ffbdbd99ab3680506115" TargetMode="Externa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7.xml"/><Relationship Id="rId4" Type="http://schemas.openxmlformats.org/officeDocument/2006/relationships/hyperlink" Target="https://github.com/udndc/X.PagedList" TargetMode="External"/><Relationship Id="rId3" Type="http://schemas.openxmlformats.org/officeDocument/2006/relationships/hyperlink" Target="https://github.com/sonnemaf/ReflectionIT.Mvc.Paging" TargetMode="External"/><Relationship Id="rId2" Type="http://schemas.openxmlformats.org/officeDocument/2006/relationships/hyperlink" Target="https://github.com/Biarity/Sieve" TargetMode="External"/><Relationship Id="rId1" Type="http://schemas.openxmlformats.org/officeDocument/2006/relationships/hyperlink" Target="https://datatables.net/" TargetMode="Externa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gist.github.com/sunmeat/192c0bd55a964c60ad67607151ab814b" TargetMode="External"/><Relationship Id="rId2" Type="http://schemas.openxmlformats.org/officeDocument/2006/relationships/hyperlink" Target="https://gist.github.com/sunmeat/fa50fa94d8f1b4dec19d0421a4570b94" TargetMode="External"/><Relationship Id="rId1" Type="http://schemas.openxmlformats.org/officeDocument/2006/relationships/hyperlink" Target="https://gist.github.com/sunmeat/cc29c87da3e18c2668aaa79fd0a9945e" TargetMode="Externa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hyperlink" Target="https://github.com/sunmeat/aspnetcore_sieve" TargetMode="Externa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hyperlink" Target="https://gist.github.com/sunmeat/1600d83225e7007ee8cb70c787dd054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Робота з даними</a:t>
            </a:r>
            <a:endParaRPr lang="uk-UA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 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80175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Сортування стовпців</a:t>
            </a: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Пагінація</a:t>
            </a: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Фільтрація (пошук за умовами)</a:t>
            </a: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uk-UA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Все це одночасно</a:t>
            </a:r>
            <a:endParaRPr lang="uk-UA" altLang="uk-UA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uk-UA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Огляд пакетів для </a:t>
            </a:r>
            <a:r>
              <a:rPr lang="en-US" altLang="uk-UA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SPF, Sieve</a:t>
            </a:r>
            <a:endParaRPr lang="en-US" altLang="uk-UA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uk-UA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Приклади на це все у </a:t>
            </a:r>
            <a:r>
              <a:rPr lang="en-US" altLang="uk-UA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Web API</a:t>
            </a:r>
            <a:endParaRPr lang="uk-UA" altLang="uk-UA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algn="l" defTabSz="457200">
              <a:buSzPct val="45000"/>
              <a:buFont typeface="Wingdings" panose="05000000000000000000" pitchFamily="2" charset="2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uk-UA" altLang="uk-UA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Сортування стовпців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38620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для початку розглянемо приклад (архів </a:t>
            </a:r>
            <a:r>
              <a:rPr lang="ru-RU" altLang="ru-RU" sz="2200" b="1" dirty="0" err="1">
                <a:solidFill>
                  <a:srgbClr val="0070C0"/>
                </a:solidFill>
                <a:ea typeface="Microsoft YaHei" panose="020B0503020204020204" charset="-122"/>
              </a:rPr>
              <a:t>13.1.</a:t>
            </a:r>
            <a:r>
              <a:rPr lang="en-US" altLang="ru-RU" sz="2200" b="1" dirty="0" err="1">
                <a:solidFill>
                  <a:srgbClr val="0070C0"/>
                </a:solidFill>
                <a:ea typeface="Microsoft YaHei" panose="020B0503020204020204" charset="-122"/>
              </a:rPr>
              <a:t>soccer.7z</a:t>
            </a:r>
            <a:r>
              <a:rPr lang="en-US" altLang="ru-RU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)</a:t>
            </a:r>
            <a:endParaRPr lang="en-US" altLang="ru-RU" sz="22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вносимо правки в контролер гравців: 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https://gist.github.com/sunmeat/4f62b7c12b9eb457b140e2b52c570307</a:t>
            </a:r>
            <a:endParaRPr lang="en-US" altLang="en-US" sz="2200" b="1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вносимо правки у вью гравців: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https://gist.github.com/sunmeat/67db9b438fa785197bd18230d43cfc48</a:t>
            </a:r>
            <a:endParaRPr lang="en-US" altLang="en-US" sz="2200" b="1" dirty="0" err="1">
              <a:solidFill>
                <a:srgbClr val="000000"/>
              </a:solidFill>
              <a:ea typeface="Microsoft YaHei" panose="020B0503020204020204" charset="-122"/>
              <a:hlinkClick r:id="rId2" action="ppaction://hlinkfile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основні правки у View </a:t>
            </a:r>
            <a:r>
              <a:rPr lang="uk-UA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відбулись 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в секції заголовків таблиці (&lt;thead&gt;), і вони зводяться до того, щоб</a:t>
            </a:r>
            <a:r>
              <a:rPr lang="uk-UA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 з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робити заголовки клікабельними посиланнями з правильним sortOrder</a:t>
            </a:r>
            <a:r>
              <a:rPr lang="uk-UA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, а також д</a:t>
            </a:r>
            <a:r>
              <a:rPr lang="en-US" altLang="en-US" sz="2200" b="1" dirty="0" err="1">
                <a:solidFill>
                  <a:srgbClr val="000000"/>
                </a:solidFill>
                <a:ea typeface="Microsoft YaHei" panose="020B0503020204020204" charset="-122"/>
              </a:rPr>
              <a:t>одати стрілочки (або будь-який інший індикатор), щоб показати, за яким стовпцем і в якому напрямку зараз сортування</a:t>
            </a:r>
            <a:endParaRPr lang="en-US" altLang="en-US" sz="2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Було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/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стало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30 1942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449070"/>
            <a:ext cx="3933190" cy="588010"/>
          </a:xfrm>
          <a:prstGeom prst="rect">
            <a:avLst/>
          </a:prstGeom>
        </p:spPr>
      </p:pic>
      <p:pic>
        <p:nvPicPr>
          <p:cNvPr id="3" name="Picture 2" descr="Screenshot 2025-12-30 1942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" y="2439035"/>
            <a:ext cx="7620000" cy="166687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141855" y="2037080"/>
            <a:ext cx="4572000" cy="429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200" b="1" dirty="0" err="1">
                <a:solidFill>
                  <a:srgbClr val="000000"/>
                </a:solidFill>
                <a:sym typeface="+mn-ea"/>
              </a:rPr>
              <a:t>vvvvvvvvv</a:t>
            </a:r>
            <a:endParaRPr lang="en-US" altLang="en-US" sz="2200" b="1" dirty="0" err="1">
              <a:solidFill>
                <a:srgbClr val="000000"/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07035" y="4135755"/>
            <a:ext cx="8118475" cy="203009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uk-UA" sz="1400">
                <a:solidFill>
                  <a:schemeClr val="tx1"/>
                </a:solidFill>
              </a:rPr>
              <a:t>Код</a:t>
            </a:r>
            <a:r>
              <a:rPr sz="1400">
                <a:solidFill>
                  <a:schemeClr val="tx1"/>
                </a:solidFill>
              </a:rPr>
              <a:t> створює клікабельний заголовок стовпця «Ім’я» в таблиці гравців, який дозволяє сортувати список за цим полем: посилання з тегом веде на ту саму дію Index, але передає через параметр запиту sortOrder значення, збережене в ViewData["NameSort"], що забезпечує перемикання між сортуванням за зростанням і за спаданням при повторних кліках; всередині посилання виводиться стандартна назва стовпця через DisplayNameFor, а відразу після неї умовно додається іконка-стрілка (вниз ▼ для спадання або вгору ▲ для зростання), яка відображається тільки тоді, коли поточне сортування застосоване саме до стовпця з іменем, допомагаючи користувачу візуально зрозуміти, за яким полем і в якому напрямку зараз </a:t>
            </a:r>
            <a:r>
              <a:rPr lang="uk-UA" sz="1400">
                <a:solidFill>
                  <a:schemeClr val="tx1"/>
                </a:solidFill>
              </a:rPr>
              <a:t>	</a:t>
            </a:r>
            <a:r>
              <a:rPr sz="1400">
                <a:solidFill>
                  <a:schemeClr val="tx1"/>
                </a:solidFill>
              </a:rPr>
              <a:t>відсортований список.</a:t>
            </a:r>
            <a:endParaRPr sz="1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Приклад на сортування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https://github.com/sunmeat/aspnetcore_sorting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1115"/>
            <a:ext cx="9144000" cy="455993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Сортування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React + Web API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tooltip="" action="ppaction://hlinkfile"/>
              </a:rPr>
              <a:t>https://github.com/sunmeat/aspnetcore_tanstack_table_sorting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4770"/>
            <a:ext cx="9144000" cy="475996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Практика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налаштувати сортування по стовпцях при показі команд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295" y="2260600"/>
            <a:ext cx="8601710" cy="45808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Пагінація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Пагінація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(англ. pagination, також часто називають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посторінковим виведенням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 або 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розбиттям на сторінки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) — це спосіб організації та відображення великої кількості даних (наприклад, списку елементів, результатів пошуку, коментарів, товарів у магазині) порціями, по кілька елементів на сторінці.</a:t>
            </a:r>
            <a:endParaRPr lang="en-US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При написанні прикладу, я відштовхувався від початкової версії проєкту в архіві </a:t>
            </a:r>
            <a:r>
              <a:rPr lang="uk-UA" altLang="en-US" sz="2100" dirty="0" err="1">
                <a:solidFill>
                  <a:srgbClr val="0070C0"/>
                </a:solidFill>
                <a:ea typeface="Microsoft YaHei" panose="020B0503020204020204" charset="-122"/>
              </a:rPr>
              <a:t>13.1.</a:t>
            </a:r>
            <a:r>
              <a:rPr lang="en-US" altLang="en-US" sz="2100" dirty="0" err="1">
                <a:solidFill>
                  <a:srgbClr val="0070C0"/>
                </a:solidFill>
                <a:ea typeface="Microsoft YaHei" panose="020B0503020204020204" charset="-122"/>
              </a:rPr>
              <a:t>soccer.7z</a:t>
            </a: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, вніс правки в</a:t>
            </a:r>
            <a:endParaRPr lang="uk-UA" altLang="en-US" sz="21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dirty="0" err="1">
                <a:solidFill>
                  <a:srgbClr val="00B050"/>
                </a:solidFill>
                <a:ea typeface="Microsoft YaHei" panose="020B0503020204020204" charset="-122"/>
              </a:rPr>
              <a:t>// GET: Players</a:t>
            </a:r>
            <a:endParaRPr lang="en-US" altLang="en-US" sz="2100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public async Task&lt;IActionResult&gt; Index(int? page)</a:t>
            </a: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100" dirty="0" err="1">
                <a:solidFill>
                  <a:srgbClr val="000000"/>
                </a:solidFill>
                <a:ea typeface="Microsoft YaHei" panose="020B0503020204020204" charset="-122"/>
              </a:rPr>
              <a:t>та</a:t>
            </a:r>
            <a:r>
              <a:rPr lang="uk-UA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100" b="1" dirty="0" err="1">
                <a:solidFill>
                  <a:srgbClr val="000000"/>
                </a:solidFill>
                <a:ea typeface="Microsoft YaHei" panose="020B0503020204020204" charset="-122"/>
              </a:rPr>
              <a:t>Players / Index.cshtml</a:t>
            </a: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1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https://github.com/sunmeat/aspnetcore_pagination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Результати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255" y="1449070"/>
            <a:ext cx="8049260" cy="53581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Пагінація </a:t>
            </a: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React + Web API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7845" y="1550670"/>
            <a:ext cx="802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hlinkClick r:id="rId1" tooltip="" action="ppaction://hlinkfile"/>
              </a:rPr>
              <a:t>https://gist.github.com/sunmeat/b4fcaa043074c11545c04e1a749ff227</a:t>
            </a:r>
            <a:endParaRPr lang="en-US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45" y="2257425"/>
            <a:ext cx="7899400" cy="437451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Практика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налаштувати пагінацію для показу команд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додати до пагінації ще й сортування :)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Пошук по умові (фільтрація)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dirty="0" err="1">
                <a:solidFill>
                  <a:srgbClr val="000000"/>
                </a:solidFill>
                <a:sym typeface="+mn-ea"/>
              </a:rPr>
              <a:t>При написанні прикладу, я відштовхувався                  від початкової версії проєкту в архіві </a:t>
            </a:r>
            <a:r>
              <a:rPr lang="uk-UA" altLang="en-US" sz="2400" dirty="0" err="1">
                <a:solidFill>
                  <a:srgbClr val="0070C0"/>
                </a:solidFill>
                <a:sym typeface="+mn-ea"/>
              </a:rPr>
              <a:t>13.1.</a:t>
            </a:r>
            <a:r>
              <a:rPr lang="en-US" altLang="en-US" sz="2400" dirty="0" err="1">
                <a:solidFill>
                  <a:srgbClr val="0070C0"/>
                </a:solidFill>
                <a:sym typeface="+mn-ea"/>
              </a:rPr>
              <a:t>soccer.7z</a:t>
            </a:r>
            <a:r>
              <a:rPr lang="uk-UA" altLang="en-US" sz="2400" dirty="0" err="1">
                <a:solidFill>
                  <a:srgbClr val="000000"/>
                </a:solidFill>
                <a:sym typeface="+mn-ea"/>
              </a:rPr>
              <a:t>, </a:t>
            </a:r>
            <a:r>
              <a:rPr lang="en-US" altLang="uk-UA" sz="2400" dirty="0" err="1">
                <a:solidFill>
                  <a:srgbClr val="000000"/>
                </a:solidFill>
                <a:sym typeface="+mn-ea"/>
              </a:rPr>
              <a:t>     </a:t>
            </a:r>
            <a:r>
              <a:rPr lang="uk-UA" altLang="en-US" sz="2400" dirty="0" err="1">
                <a:solidFill>
                  <a:srgbClr val="000000"/>
                </a:solidFill>
                <a:sym typeface="+mn-ea"/>
              </a:rPr>
              <a:t>вніс правки в</a:t>
            </a:r>
            <a:endParaRPr lang="uk-UA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B050"/>
                </a:solidFill>
                <a:sym typeface="+mn-ea"/>
              </a:rPr>
              <a:t>// GET: Players</a:t>
            </a:r>
            <a:endParaRPr lang="en-US" altLang="en-US" sz="2400" dirty="0" err="1">
              <a:solidFill>
                <a:srgbClr val="00B05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sym typeface="+mn-ea"/>
              </a:rPr>
              <a:t>public async Task&lt;IActionResult&gt; Index(int? page)</a:t>
            </a:r>
            <a:r>
              <a:rPr lang="uk-UA" altLang="en-US" sz="2400" b="1" dirty="0" err="1">
                <a:solidFill>
                  <a:srgbClr val="000000"/>
                </a:solidFill>
                <a:sym typeface="+mn-ea"/>
              </a:rPr>
              <a:t>, </a:t>
            </a:r>
            <a:r>
              <a:rPr lang="en-US" altLang="en-US" sz="2400" b="1" dirty="0" err="1">
                <a:solidFill>
                  <a:srgbClr val="000000"/>
                </a:solidFill>
                <a:sym typeface="+mn-ea"/>
              </a:rPr>
              <a:t>Players / Index.cshtml</a:t>
            </a:r>
            <a:r>
              <a:rPr lang="uk-UA" altLang="en-US" sz="2400" b="1" dirty="0" err="1">
                <a:solidFill>
                  <a:srgbClr val="000000"/>
                </a:solidFill>
                <a:sym typeface="+mn-ea"/>
              </a:rPr>
              <a:t>, </a:t>
            </a:r>
            <a:r>
              <a:rPr lang="uk-UA" altLang="en-US" sz="2400" dirty="0" err="1">
                <a:solidFill>
                  <a:srgbClr val="000000"/>
                </a:solidFill>
                <a:sym typeface="+mn-ea"/>
              </a:rPr>
              <a:t>також була створена додаткова вью-модель</a:t>
            </a:r>
            <a:r>
              <a:rPr lang="uk-UA" altLang="en-US" sz="2400" b="1" dirty="0" err="1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PlayerIndexViewModel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cs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https://github.com/sunmeat/aspnetcore_filtration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Результати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30 2121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255" y="1449070"/>
            <a:ext cx="8012430" cy="532765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4200" dirty="0" err="1">
                <a:solidFill>
                  <a:srgbClr val="FFFFFF"/>
                </a:solidFill>
                <a:sym typeface="+mn-ea"/>
              </a:rPr>
              <a:t>Фільтрація </a:t>
            </a: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React + Web API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7845" y="1550670"/>
            <a:ext cx="802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hlinkClick r:id="rId1" tooltip="" action="ppaction://hlinkfile"/>
              </a:rPr>
              <a:t>https://gist.github.com/sunmeat/7d6009ef2d2c33574cd6e6e78c589f85</a:t>
            </a:r>
            <a:endParaRPr lang="en-US" altLang="en-US" b="1"/>
          </a:p>
        </p:txBody>
      </p:sp>
      <p:pic>
        <p:nvPicPr>
          <p:cNvPr id="2" name="Picture 1" descr="Screenshot 2026-09-18 1535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1055"/>
            <a:ext cx="9144000" cy="463105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Загальний приклад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https://github.com/sunmeat/aspnetcore_SPF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6-01-01 1246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55" y="2529205"/>
            <a:ext cx="8038465" cy="43014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uk-UA" sz="4200" dirty="0" err="1">
                <a:solidFill>
                  <a:srgbClr val="FFFFFF"/>
                </a:solidFill>
                <a:sym typeface="+mn-ea"/>
              </a:rPr>
              <a:t>SPF </a:t>
            </a: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React + Web API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7845" y="1550670"/>
            <a:ext cx="802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b="1">
                <a:hlinkClick r:id="rId1" tooltip="" action="ppaction://hlinkfile"/>
              </a:rPr>
              <a:t>https://gist.github.com/sunmeat/ac66148c2fa9ffbdbd99ab3680506115</a:t>
            </a:r>
            <a:endParaRPr lang="en-US" altLang="en-US" b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270" y="2035175"/>
            <a:ext cx="6855460" cy="45326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Пакети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SPF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jQuery DataTables</a:t>
            </a: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— плагін для роботи з HTML-таблицями, який додає сортування, пагінацію, пошук і фільтрацію. Часто використовується у вебзастосунках для зручного відображення великих обсягів даних на стороні клієнта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Sieve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— це бібліотека для ASP.NET Core, яка спрощує фільтрацію, сортування та пагінацію даних на сервері. Вона дозволяє керувати запитами через параметри URL, не перевантажуючи код контролерів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  <a:hlinkClick r:id="rId3" action="ppaction://hlinkfile"/>
              </a:rPr>
              <a:t>ReflectionIT.Mvc.Paging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— легка бібліотека для реалізації пагінації в ASP.NET MVC та ASP.NET Core. Вона орієнтована       на простоту інтеграції та мінімалістичний підхід без зайвих залежностей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b="1" dirty="0" err="1">
                <a:solidFill>
                  <a:srgbClr val="000000"/>
                </a:solidFill>
                <a:ea typeface="Microsoft YaHei" panose="020B0503020204020204" charset="-122"/>
                <a:hlinkClick r:id="rId4" action="ppaction://hlinkfile"/>
              </a:rPr>
              <a:t>X.PagedList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— популярна бібліотека для пагінації колекцій    у .NET-застосунках, що є продовженням PagedList. Вона добре інтегрується з MVC та Razor Views і підтримує асинхронні запити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Sieve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встановлюємо пакет </a:t>
            </a: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</a:rPr>
              <a:t>Install-Package Sieve</a:t>
            </a: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додаємо в </a:t>
            </a:r>
            <a:r>
              <a:rPr lang="en-US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Program.cs </a:t>
            </a: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перед білдом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0000"/>
                </a:solidFill>
                <a:ea typeface="Microsoft YaHei" panose="020B0503020204020204" charset="-122"/>
              </a:rPr>
              <a:t>builder.Services.AddScoped&lt;ISieveProcessor, SieveProcessor&gt;(); </a:t>
            </a:r>
            <a:endParaRPr lang="en-US" altLang="en-US" sz="1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0000"/>
                </a:solidFill>
                <a:ea typeface="Microsoft YaHei" panose="020B0503020204020204" charset="-122"/>
              </a:rPr>
              <a:t>builder.Services.Configure&lt;SieveOptions&gt;(builder.Configuration.GetSection("Sieve"));</a:t>
            </a:r>
            <a:endParaRPr lang="en-US" altLang="en-US" sz="1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додаємо в </a:t>
            </a:r>
            <a:r>
              <a:rPr lang="en-US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appsettings.json </a:t>
            </a: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секцію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0000"/>
                </a:solidFill>
                <a:ea typeface="Microsoft YaHei" panose="020B0503020204020204" charset="-122"/>
              </a:rPr>
              <a:t>"Sieve": {</a:t>
            </a:r>
            <a:endParaRPr lang="en-US" altLang="en-US" sz="1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0000"/>
                </a:solidFill>
                <a:ea typeface="Microsoft YaHei" panose="020B0503020204020204" charset="-122"/>
              </a:rPr>
              <a:t>  "CaseSensitive": false,</a:t>
            </a:r>
            <a:endParaRPr lang="en-US" altLang="en-US" sz="1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0000"/>
                </a:solidFill>
                <a:ea typeface="Microsoft YaHei" panose="020B0503020204020204" charset="-122"/>
              </a:rPr>
              <a:t>  "DefaultPageSize": 10,</a:t>
            </a:r>
            <a:endParaRPr lang="en-US" altLang="en-US" sz="1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0000"/>
                </a:solidFill>
                <a:ea typeface="Microsoft YaHei" panose="020B0503020204020204" charset="-122"/>
              </a:rPr>
              <a:t>  "MaxPageSize": 50</a:t>
            </a:r>
            <a:endParaRPr lang="en-US" altLang="en-US" sz="1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800100" lvl="1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300" b="1" dirty="0" err="1">
                <a:solidFill>
                  <a:srgbClr val="000000"/>
                </a:solidFill>
                <a:ea typeface="Microsoft YaHei" panose="020B0503020204020204" charset="-122"/>
              </a:rPr>
              <a:t>}</a:t>
            </a:r>
            <a:endParaRPr lang="en-US" altLang="en-US" sz="13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додаємо атрибути </a:t>
            </a:r>
            <a:r>
              <a:rPr lang="en-US" altLang="en-US" sz="2400" b="1" dirty="0" err="1">
                <a:solidFill>
                  <a:srgbClr val="0070C0"/>
                </a:solidFill>
                <a:ea typeface="Microsoft YaHei" panose="020B0503020204020204" charset="-122"/>
              </a:rPr>
              <a:t>[Sieve(CanFilter = true, CanSort = true)]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перед властивостями моделі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Player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3" name="Picture 2" descr="Screenshot 2026-01-01 1347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1340" y="2303780"/>
            <a:ext cx="2971800" cy="333375"/>
          </a:xfrm>
          <a:prstGeom prst="rect">
            <a:avLst/>
          </a:prstGeom>
        </p:spPr>
      </p:pic>
      <p:pic>
        <p:nvPicPr>
          <p:cNvPr id="4" name="Picture 3" descr="Screenshot 2026-01-01 1347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810" y="1898650"/>
            <a:ext cx="5610225" cy="3524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sym typeface="+mn-ea"/>
              </a:rPr>
              <a:t>Sieve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впроваджуємо використання бібліотеки на рівні контролера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https://gist.github.com/sunmeat/cc29c87da3e18c2668aaa79fd0a9945e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додаємо файл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Models / PlayerIndexViewModel.cs:</a:t>
            </a: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  <a:hlinkClick r:id="rId2" action="ppaction://hlinkfile"/>
              </a:rPr>
              <a:t>https://gist.github.com/sunmeat/fa50fa94d8f1b4dec19d0421a4570b94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ну і звісно правки вью</a:t>
            </a:r>
            <a:r>
              <a:rPr lang="en-US" altLang="uk-UA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: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  <a:hlinkClick r:id="rId3" action="ppaction://hlinkfile"/>
              </a:rPr>
              <a:t>https://gist.github.com/sunmeat/192c0bd55a964c60ad67607151ab814b</a:t>
            </a:r>
            <a:endParaRPr lang="en-US" altLang="en-US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Результати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ea typeface="Microsoft YaHei" panose="020B0503020204020204" charset="-122"/>
                <a:hlinkClick r:id="rId1" action="ppaction://hlinkfile"/>
              </a:rPr>
              <a:t>https://github.com/sunmeat/aspnetcore_sieve</a:t>
            </a:r>
            <a:endParaRPr lang="en-US" altLang="en-US" sz="32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6-01-01 1435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5" y="2529205"/>
            <a:ext cx="6392545" cy="430149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ДЗ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7862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https://gist.github.com/sunmeat/1600d83225e7007ee8cb70c787dd054d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5185"/>
            <a:ext cx="9144000" cy="319913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E8DB80D-8985-4469-98C4-D0EC42333AEF}"/>
</file>

<file path=customXml/itemProps2.xml><?xml version="1.0" encoding="utf-8"?>
<ds:datastoreItem xmlns:ds="http://schemas.openxmlformats.org/officeDocument/2006/customXml" ds:itemID="{46A5273E-321C-4C59-9EEE-9C1431649E32}"/>
</file>

<file path=customXml/itemProps3.xml><?xml version="1.0" encoding="utf-8"?>
<ds:datastoreItem xmlns:ds="http://schemas.openxmlformats.org/officeDocument/2006/customXml" ds:itemID="{61F308C9-2420-448C-89E3-5DF6768BD0B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4710</Words>
  <Application>WPS Presentation</Application>
  <PresentationFormat/>
  <Paragraphs>122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Александр Загор�</cp:lastModifiedBy>
  <cp:revision>83</cp:revision>
  <dcterms:created xsi:type="dcterms:W3CDTF">2005-09-22T16:26:00Z</dcterms:created>
  <dcterms:modified xsi:type="dcterms:W3CDTF">2026-09-18T14:21:46Z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1033-12.1.0.28485</vt:lpwstr>
  </property>
  <property fmtid="{D5CDD505-2E9C-101B-9397-08002B2CF9AE}" pid="4" name="ContentTypeId">
    <vt:lpwstr>0x010100CB973167729B9844A7328B341F515C98</vt:lpwstr>
  </property>
</Properties>
</file>