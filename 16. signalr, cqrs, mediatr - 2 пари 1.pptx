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626" r:id="rId7"/>
    <p:sldId id="688" r:id="rId8"/>
    <p:sldId id="689" r:id="rId9"/>
    <p:sldId id="716" r:id="rId10"/>
    <p:sldId id="690" r:id="rId11"/>
    <p:sldId id="717" r:id="rId12"/>
    <p:sldId id="691" r:id="rId13"/>
    <p:sldId id="692" r:id="rId14"/>
    <p:sldId id="719" r:id="rId15"/>
    <p:sldId id="693" r:id="rId16"/>
    <p:sldId id="694" r:id="rId17"/>
    <p:sldId id="695" r:id="rId18"/>
    <p:sldId id="696" r:id="rId19"/>
    <p:sldId id="697" r:id="rId20"/>
    <p:sldId id="698" r:id="rId21"/>
    <p:sldId id="699" r:id="rId22"/>
    <p:sldId id="720" r:id="rId23"/>
    <p:sldId id="700" r:id="rId24"/>
    <p:sldId id="701" r:id="rId25"/>
    <p:sldId id="666" r:id="rId26"/>
    <p:sldId id="721" r:id="rId27"/>
    <p:sldId id="722" r:id="rId28"/>
    <p:sldId id="723" r:id="rId29"/>
    <p:sldId id="724" r:id="rId30"/>
    <p:sldId id="725" r:id="rId31"/>
    <p:sldId id="726" r:id="rId32"/>
    <p:sldId id="727" r:id="rId33"/>
    <p:sldId id="728" r:id="rId34"/>
    <p:sldId id="729" r:id="rId35"/>
    <p:sldId id="730" r:id="rId36"/>
    <p:sldId id="731" r:id="rId37"/>
    <p:sldId id="732" r:id="rId38"/>
    <p:sldId id="733" r:id="rId39"/>
    <p:sldId id="738" r:id="rId40"/>
    <p:sldId id="739" r:id="rId41"/>
    <p:sldId id="734" r:id="rId42"/>
    <p:sldId id="735" r:id="rId43"/>
    <p:sldId id="736" r:id="rId44"/>
    <p:sldId id="740" r:id="rId45"/>
    <p:sldId id="741" r:id="rId46"/>
    <p:sldId id="737" r:id="rId47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65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5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50" Type="http://schemas.openxmlformats.org/officeDocument/2006/relationships/tableStyles" Target="tableStyles.xml"/><Relationship Id="rId47" Type="http://schemas.openxmlformats.org/officeDocument/2006/relationships/slide" Target="slides/slide43.xml"/><Relationship Id="rId42" Type="http://schemas.openxmlformats.org/officeDocument/2006/relationships/slide" Target="slides/slide38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45" Type="http://schemas.openxmlformats.org/officeDocument/2006/relationships/slide" Target="slides/slide41.xml"/><Relationship Id="rId40" Type="http://schemas.openxmlformats.org/officeDocument/2006/relationships/slide" Target="slides/slide36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53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44" Type="http://schemas.openxmlformats.org/officeDocument/2006/relationships/slide" Target="slides/slide40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52" Type="http://schemas.openxmlformats.org/officeDocument/2006/relationships/customXml" Target="../customXml/item2.xml"/><Relationship Id="rId9" Type="http://schemas.openxmlformats.org/officeDocument/2006/relationships/slide" Target="slides/slide5.xml"/><Relationship Id="rId48" Type="http://schemas.openxmlformats.org/officeDocument/2006/relationships/presProps" Target="presProps.xml"/><Relationship Id="rId43" Type="http://schemas.openxmlformats.org/officeDocument/2006/relationships/slide" Target="slides/slide39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51" Type="http://schemas.openxmlformats.org/officeDocument/2006/relationships/customXml" Target="../customXml/item1.xml"/><Relationship Id="rId3" Type="http://schemas.openxmlformats.org/officeDocument/2006/relationships/slideMaster" Target="slideMasters/slideMaster2.xml"/><Relationship Id="rId46" Type="http://schemas.openxmlformats.org/officeDocument/2006/relationships/slide" Target="slides/slide42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41" Type="http://schemas.openxmlformats.org/officeDocument/2006/relationships/slide" Target="slides/slide37.xml"/><Relationship Id="rId20" Type="http://schemas.openxmlformats.org/officeDocument/2006/relationships/slide" Target="slides/slide16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49" Type="http://schemas.openxmlformats.org/officeDocument/2006/relationships/viewProps" Target="viewProps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learn.microsoft.com/uk-ua/aspnet/core/signalr/introduction?view=aspnetcore-10.0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edis.io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aspnetcore_chat/blob/master/aspnetcore-signalr-materials.7z" TargetMode="External"/><Relationship Id="rId1" Type="http://schemas.openxmlformats.org/officeDocument/2006/relationships/hyperlink" Target="https://github.com/sunmeat/aspnetcore_chat/blob/master/signalR%20basics.docx" TargetMode="Externa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grpc.io/" TargetMode="External"/><Relationship Id="rId2" Type="http://schemas.openxmlformats.org/officeDocument/2006/relationships/hyperlink" Target="https://socket.io/" TargetMode="External"/><Relationship Id="rId1" Type="http://schemas.openxmlformats.org/officeDocument/2006/relationships/hyperlink" Target="https://datatracker.ietf.org/doc/html/rfc6455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hyperlink" Target="https://github.com/sunmeat/aspnetcore_chat&#13;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chat2.0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thub.com/sunmeat/aspnetcore_drawing" TargetMode="Externa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hyperlink" Target="https://github.com/sunmeat/aspnetcore_sievesignalr" TargetMode="Externa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hyperlink" Target="https://gist.github.com/sunmeat/560e5727400bb4cabe11837bf8e621b8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learn.microsoft.com/ru-ru/azure/architecture/patterns/cqrs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refactoring.guru/uk/design-patterns/command" TargetMode="Externa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habr.com/ru/articles/588887/" TargetMode="External"/><Relationship Id="rId2" Type="http://schemas.openxmlformats.org/officeDocument/2006/relationships/hyperlink" Target="https://refactoring.guru/uk/design-patterns/mediator" TargetMode="External"/><Relationship Id="rId1" Type="http://schemas.openxmlformats.org/officeDocument/2006/relationships/hyperlink" Target="https://github.com/LuckyPennySoftware/MediatR/wiki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learn.microsoft.com/ru-ru/dotnet/architecture/microservices/microservice-ddd-cqrs-patterns/microservice-application-layer-implementation-web-api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hyperlink" Target="https://github.com/sunmeat/aspnetcore_cqrs" TargetMode="Externa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github.com/sunmeat/aspnetcore_cqrs/blob/master/CQRS.docx&#13;" TargetMode="External"/><Relationship Id="rId2" Type="http://schemas.openxmlformats.org/officeDocument/2006/relationships/hyperlink" Target="https://github.com/sunmeat/aspnetcore_cqrs/blob/master/CQRS%20mediator.docx&#13;" TargetMode="External"/><Relationship Id="rId1" Type="http://schemas.openxmlformats.org/officeDocument/2006/relationships/hyperlink" Target="https://github.com/sunmeat/aspnetcore_cqrs/blob/master/CQRS%20clean%20architecture.docx&#13;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hyperlink" Target="https://gist.github.com/sunmeat/9a87e1584afd15db8cffee69d1df20d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SignalR</a:t>
            </a:r>
            <a:r>
              <a:rPr lang="uk-UA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CQRS, MediatR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17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</a:t>
            </a:r>
            <a:r>
              <a:rPr lang="en-US" altLang="ru-RU" sz="17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SignalR</a:t>
            </a:r>
            <a:endParaRPr lang="en-US" altLang="ru-RU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хабу та транспорту</a:t>
            </a:r>
            <a:endParaRPr lang="uk-UA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Приклади використання:</a:t>
            </a:r>
            <a:endParaRPr lang="uk-UA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Чат</a:t>
            </a:r>
            <a:endParaRPr lang="uk-UA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Спільна малювалка</a:t>
            </a:r>
            <a:endParaRPr lang="uk-UA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17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Оновлення списків</a:t>
            </a:r>
            <a:endParaRPr lang="uk-UA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Проблеми монолітних контролерів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Перевантаження логікою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Поділ відповідальності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Основи CQRS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Команди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Запити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Окремі хендлери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MediatR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Встановлення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Створення команд/хендлерів</a:t>
            </a:r>
            <a:endParaRPr lang="en-US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673100" lvl="1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Times New Roman" panose="02020603050405020304" pitchFamily="16" charset="0"/>
                <a:sym typeface="+mn-ea"/>
              </a:rPr>
              <a:t>Впровадження в архітектуру</a:t>
            </a:r>
            <a:endParaRPr lang="uk-UA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457200" lvl="1" indent="0" algn="l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en-US" sz="1700" dirty="0" err="1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SignalR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SignalR є потужною бібліотекою в екосистемі ASP.NET Core, яка дозволяє створювати веб-додатки                    з комунікацією </a:t>
            </a:r>
            <a:r>
              <a:rPr lang="en-US" altLang="en-US" sz="2400" dirty="0" err="1">
                <a:solidFill>
                  <a:srgbClr val="000000"/>
                </a:solidFill>
                <a:sym typeface="+mn-ea"/>
              </a:rPr>
              <a:t>реального часу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 Вона забезпечує двосторонній обмін даними між сервером і клієнтом без необхідності постійних HTTP-запитів, що робить її ідеальною для застосунків, де потрібні миттєві оновлення, таких як чати, дашборди чи онлайн-ігри.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SignalR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дуже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актуальн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а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завдяки швидкому зростанню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рілтайм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веб-додатків, інтеграції з хмарними сервісами як Azure та підтримці сучасних стандартів, таких як WebSockets і Server-Sent Events (SSE).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" y="6390640"/>
            <a:ext cx="90538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 b="1">
                <a:solidFill>
                  <a:srgbClr val="0070C0"/>
                </a:solidFill>
                <a:hlinkClick r:id="rId1" action="ppaction://hlinkfile"/>
              </a:rPr>
              <a:t>https://learn.microsoft.com/uk-ua/aspnet/core/signalr/introduction?view=aspnetcore-10.0</a:t>
            </a:r>
            <a:endParaRPr lang="en-US" altLang="en-US" sz="16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Переваги SignalR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Переваги SignalR над традиційними HTTP-запитами полягають у зменшенні затримок і навантаження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на сервер. </a:t>
            </a:r>
            <a:r>
              <a:rPr lang="en-US" altLang="en-US" sz="2400" u="sng" dirty="0" err="1">
                <a:solidFill>
                  <a:srgbClr val="000000"/>
                </a:solidFill>
                <a:ea typeface="Microsoft YaHei" panose="020B0503020204020204" charset="-122"/>
              </a:rPr>
              <a:t>Замість періодичного опитування (polling)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SignalR автоматично обирає оптимальний транспорт і </a:t>
            </a:r>
            <a:r>
              <a:rPr lang="en-US" altLang="en-US" sz="2400" u="sng" dirty="0" err="1">
                <a:solidFill>
                  <a:srgbClr val="000000"/>
                </a:solidFill>
                <a:ea typeface="Microsoft YaHei" panose="020B0503020204020204" charset="-122"/>
              </a:rPr>
              <a:t>підтримує постійне з'єднання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що економить ресурси та покращує користувацький досвід.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поширенням AI-інтегрованих додатків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та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IoT, SignalR стає ключовим інструментом для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рілтайм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обробки даних, наприклад, у моніторингу сенсорів чи живих рекомендаціях.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Історія розвитку SignalR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SignalR з'явився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ще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2011 році як частина ASP.NET, створений Microsoft для спрощення р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ілтайм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комунікації в веб-додатках. Перші версії фокусувалися на підтримці WebSockets, але з fallback на старіші технології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такі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як Long Polling. У 2012 році бібліотека стала open-source, що прискорило її розвиток спільнотою, а в 2013 вийшла SignalR 2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 покращеною стабільністю та підтримкою мобільних клієнтів.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 переходом на .NET Core у 2018 році SignalR був повністю переписаний для крос-платформовості, інтеграції з ASP.NET Core та кращої продуктивності. Ключові оновлення в .NET 8 (2023) включали моніторинг з'єднань і оптимізацію для Blazor, .NET 9 (2024) додав покращення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 масштабованість і підтримку нових протоколів, а .NET 10 (2025) ввів нативну підтримку Server-Sent Events як альтернативу, зменшивши залежність від зовнішніх бібліотек.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SignalR еволюціонує до інтеграції з AI та IoT, з фокусом на безпечну р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ілтайм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обробку даних. Ця еволюція робить її невід'ємною частиною сучасної .NET-екосистеми, де акцент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на швидкості та надійності.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така назва,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SignalR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?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Назва SignalR походить від концепції "сигналів" (signals)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у комунікації та акроніму, де R означає Real-time (реальний час). Технологія створена для асинхронної передачі сигналів-подій від сервера до клієнтів у реальному часі, на відміну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від традиційного HTTP, де клієнт мусить опитувати сервер. Microsoft описує SignalR як бібліотеку для додавання real-time web functionality, підкреслю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ючи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фокус на миттєвому push-оновленні, як у чатах чи дашбордах.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У ранніх описах (з 2011–2013 років) SignalR позиціонувалася як "async signaling library", де сигнали — це повідомлення,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що "сигналізують" про зміни. Назва не є випадковою: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вона відображає ідею передачі сигналів у реальному часі,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 автоматичним вибором транспорту (WebSockets тощо).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Основні компоненти SignalR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u="sng" dirty="0" err="1">
                <a:solidFill>
                  <a:srgbClr val="000000"/>
                </a:solidFill>
                <a:ea typeface="Microsoft YaHei" panose="020B0503020204020204" charset="-122"/>
              </a:rPr>
              <a:t>Hub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є центральним елементом SignalR, який діє як посередник між сервером і клієнтами, дозволяючи виклики методів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у обидва боки. Він обробляє вхідні з'єднання, маршрутизує повідомлення та підтримує стан. Клієнти підключаються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хаба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через URL, а сервер може надсилати оновлення конкретним користувачам чи групам.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u="sng" dirty="0" err="1">
                <a:solidFill>
                  <a:srgbClr val="000000"/>
                </a:solidFill>
                <a:ea typeface="Microsoft YaHei" panose="020B0503020204020204" charset="-122"/>
              </a:rPr>
              <a:t>Клієнтські бібліотеки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доступні для JavaScript, C#, Java, Swift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 інших мов, забезпечуючи крос-платформову сумісність. JavaScript-клієнт використовується для веб-додатків, C# – для .NET клієнтів, як Blazor чи MAUI. Вони взаємодіють через протоколи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накшталт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JSON, автоматично серіалізуючи дані.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Взаємодія відбувається через RPC (remote procedure calls),   де сервер викликає клієнтські методи, і навпаки. 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хаб?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Hub діє як "посередник" між сервером і всіма підключеними клієнтами. Уяви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ти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його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можна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як клас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ASP.NET Core проєкті, куди клієнти підключаються і через який відбувається весь обмін повідомленнями в реальному часі.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Хаб дозволяє: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Клієнтам викликати методи на сервері (наприклад, надіслати повідомлення в чат)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Серверу викликати методи на клієнтах (наприклад, надіслати нове повідомлення всім або конкретному користувачеві)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Простіше кажучи, хаб — це місце, де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визначено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, які дії можливі в реальному часі. Клієнти підключаються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 конкретного хабу за URL (наприклад, /chathub), і далі вся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комунікація йде через нього.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SignalR Hub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Рисунок 2" descr="Изображение выглядит как диаграмма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5954" y="1430655"/>
            <a:ext cx="9318170" cy="526596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Підтримувані транспорти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SignalR підтримує кілька транспортів для реального часу комунікації, з автоматичним вибором найкращого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залежно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від можливостей клієнта та сервера.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WebSockets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є основним, забезпечуючи з'єднання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миттєвого обміну даними. Він ідеальний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сучасних браузерів і серверів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Server-Sent Events (SSE)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дозволяють серверу надсилати оновлення клієнту в один бік, що корисно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стрімів даних, як дашборди. У .NET 10 SSE став нативним, зменшивши залежність від SignalR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простих сценаріїв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Long Polling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використовується як резервний, коли інші транспорти недоступні, імітуючи р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ілтайм-поведінку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через періодичні запити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транспорт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SignalR термін транспорт означає конкретний протокол або технологію, через яку відбувається реальна передача даних між сервером і клієнтом. SignalR не прив’язаний до одного способу зв’язку — він може використовувати різні транспорти залежно від можливостей браузера, сервера та мережі. Основна ідея: SignalR автоматично обирає найкращий доступний транспорт і, якщо він падає, плавно перемикається (fallback) на інший.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Назва transport запозичена з комп'ютерних мереж і моделі OSI,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де "транспортний рівень" (transport layer) відповідає за надійну доставку даних між двома точками (наприклад, TCP або UDP). У SignalR цей термін використовується аналогічно: кожен транспорт — це "шар",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який забезпечує фізичну передачу повідомлень.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Microsoft свідомо використав цю назву, бо SignalR абстрагує деталі низькорівневої передачі даних. Розробнику не потрібно знати, чи йде трафік через WebSockets чи Long Polling — він просто пише код для хабу, а SignalR сам обирає і керує "транспортом". 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900" dirty="0" err="1">
                <a:solidFill>
                  <a:srgbClr val="FFFFFF"/>
                </a:solidFill>
                <a:ea typeface="Microsoft YaHei" panose="020B0503020204020204" charset="-122"/>
              </a:rPr>
              <a:t>Налаштування серверної частини</a:t>
            </a:r>
            <a:endParaRPr lang="en-US" altLang="en-US" sz="39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інтеграції SignalR в ASP.NET Core про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кт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 .NET 10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додається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пакет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Microsoft.AspNetCore.SignalR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через NuGet.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 Program.cs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реєструються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сервіси за допомогою builder.Services.AddSignalR(), а потім налашт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овується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ендпоінт app.MapHub&lt;MyHub&gt;("/myhub").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Конфігурація middleware включає додавання CORS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клієнтських з'єднань, якщо потрібно,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та налаштування опцій як HubOptions для лімітів повідомлень. У .NET 10 додано покращення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масштабування, наприклад, інтеграцію з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Redis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розподілених серверів.</a:t>
            </a:r>
            <a:endParaRPr lang="uk-UA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Клієнтська інтеграція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підключення JavaScript-клієнта використову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ється</a:t>
            </a:r>
            <a:endParaRPr lang="uk-UA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npm install @microsoft/signalr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, потім створ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юється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з'єднання: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const connection = new signalR.HubConnectionBuilder().withUrl("/myhub").build();.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Оброб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ляються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події: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connection.on("ReceiveMessage", (message) =&gt; console.log(message)); connection.start().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Обробка подій підключення/відключення включає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connection.onclose()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реконекту. SignalR сумісний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 React (через useEffect) та Angular (через сервіси), дозволяючи інтеграцію в сучасні SPA.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Автоматичний реконект вбудований: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.withAutomaticReconnect().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Це робить клієнтську частину стійкою до мережевих проблем.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929449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900" dirty="0" err="1">
                <a:solidFill>
                  <a:srgbClr val="FFFFFF"/>
                </a:solidFill>
                <a:ea typeface="Microsoft YaHei" panose="020B0503020204020204" charset="-122"/>
              </a:rPr>
              <a:t>Підключення в ASP.NET Core MVC</a:t>
            </a:r>
            <a:endParaRPr lang="en-US" altLang="en-US" sz="39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MVC SignalR інтегрується через контролери або Razor Pages. SignalR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додається </a:t>
            </a:r>
            <a:r>
              <a:rPr lang="en-US" altLang="uk-UA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Program.cs, потім використову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ється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хаб                   для оновлень з контролерів IHubContext&lt;MyHub&gt;.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Це дозволяє поєднувати традиційний MVC з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рілтайм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елементами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та робити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оновлення UI                                без перезавантаження.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https://github.com/sunmeat/aspnetcore_chat/blob/master/signalR%20basics.docx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15620" y="4523740"/>
            <a:ext cx="80403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hlinkClick r:id="rId2" action="ppaction://hlinkfile"/>
              </a:rPr>
              <a:t>https://github.com/sunmeat/aspnetcore_chat/blob/master/aspnetcore-signalr-materials.7z</a:t>
            </a:r>
            <a:endParaRPr lang="en-US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Порівняння з альтернативами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чисті WebSockets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SignalR абстрагує транспорти, додає fallback і хаби, тоді як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WebSockets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– низькорівневий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Socket.IO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SignalR оптимізований для .NET,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 кращою інтеграцією, Socket.IO – для Node.js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gRPC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gRPC чудово підходить для високопродуктивного RPC та streaming між мікросервісами (backend-to-backend)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SignalR краще для р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ілтайм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веб-додатків (браузер ↔ сервер), бо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м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ає вбудований broadcasting та групи для розсилки повідомлень багатьом клієнтам (наприклад, чат-кімнати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чи живі оновлення) — у gRPC для цього потрібно індивідуально стрімити кожному.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А також в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SignalR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є а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втоматичний fallback на SSE/Long Polling,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якщо WebSockets недоступні, та легка робота в браузерах без проксі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</a:t>
            </a: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ростий п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риклад використання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Створюємо новий проєкт по шаблону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Була додана папка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Hubs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з файлом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ChatHub.cs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контролер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ChatController.cs</a:t>
            </a:r>
            <a:r>
              <a:rPr lang="ru-RU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папка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Views / Chat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та файл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Index.cshtml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 ній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Shared / Layout.cshtml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було додано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&lt;li class="nav-item"&gt;</a:t>
            </a:r>
            <a:endParaRPr lang="en-US" altLang="en-US" sz="19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    &lt;a class="nav-link text-dark" asp-area="" asp-controller="Chat" asp-action="Index"&gt;Чат&lt;/a&gt;</a:t>
            </a:r>
            <a:endParaRPr lang="en-US" altLang="en-US" sz="19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&lt;/li&gt;</a:t>
            </a:r>
            <a:endParaRPr lang="en-US" altLang="en-US" sz="19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1 1820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340" y="1943735"/>
            <a:ext cx="6196965" cy="13455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</a:t>
            </a: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ростий п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риклад використання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https://github.com/sunmeat/aspnetcore_chat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Для тестування треба відкрити 2 або більше вкладок! Кожна вкладка - окремий клієнт!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25" y="2663825"/>
            <a:ext cx="5306695" cy="415671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Нормальний чат на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SignalR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історія переписки зберігається в БД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при вході підвантажуються останні 50 повідомлень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відстежується вхід та вихід клієнтів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є показ онлайн-користувачів</a:t>
            </a:r>
            <a:endParaRPr lang="uk-UA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спочатку логін, потім показ повідомлень</a:t>
            </a:r>
            <a:endParaRPr lang="uk-UA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https://github.com/sunmeat/aspnetcore_chat2.0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4 1309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90345"/>
            <a:ext cx="9144000" cy="485521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Спільна малювалка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https://github.com/sunmeat/aspnetcore_drawing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4 1445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" y="2529205"/>
            <a:ext cx="8098790" cy="43383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Sieve + SignalR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https://github.com/sunmeat/aspnetcore_sievesignalr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" y="2506345"/>
            <a:ext cx="8380730" cy="43802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5195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https://gist.github.com/sunmeat/560e5727400bb4cabe11837bf8e621b8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2085"/>
            <a:ext cx="9144000" cy="41890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800" dirty="0" err="1">
                <a:solidFill>
                  <a:srgbClr val="FFFFFF"/>
                </a:solidFill>
                <a:ea typeface="Microsoft YaHei" panose="020B0503020204020204" charset="-122"/>
              </a:rPr>
              <a:t>Проблеми монолітних контролерів</a:t>
            </a:r>
            <a:endParaRPr lang="en-US" altLang="en-US" sz="38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 традиційних веб-додатках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монолітні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контролери часто виконують усі аспекти обробки запитів, від валідації даних до взаємодії з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БД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і формування відповіді. Це призводить до того, що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контролери стають надто складними, оскільки вони поєднують різні рівні відповідальності в одному місці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В результаті, код стає важким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для підтримки, тестування та масштабування, особливо в великих про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ктах, де кілька розробників працюють над одним контролером.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Ще однією проблемою є обмежена гнучкість у розподілі навантаження. </a:t>
            </a:r>
            <a:r>
              <a:rPr lang="en-US" altLang="en-US" sz="1900" u="sng" dirty="0" err="1">
                <a:solidFill>
                  <a:srgbClr val="000000"/>
                </a:solidFill>
                <a:ea typeface="Microsoft YaHei" panose="020B0503020204020204" charset="-122"/>
              </a:rPr>
              <a:t>Монолітні контролери не дозволяють ефективно розділити логіку на незалежні модулі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що ускладнює впровадження змін без ризику вплинути на інші частини системи. У контексті Blazor Web App, де клієнтська та серверна частини тісно інтегровані,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це може призвести до дублювання коду або неоптимальної продуктивності, оскільки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контролери перевантажуються </a:t>
            </a:r>
            <a:r>
              <a:rPr lang="uk-UA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як обробкою UI-логіки, так і бізнес-логікою.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Перевантаження логікою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Перевантаження логікою в монолітних контролерах виникає, коли один клас обробляє як HTTP-запити, так і бізнес-логіку, валідацію та доступ до даних.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це особливо помітно, оскільки контролери можуть включати логіку для рендерингу компонентів, обробки подій та взаємодії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uk-UA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 сервісами, що призводить до "товстих" контролерів з тисячами рядків коду. Така структура ускладнює розуміння потоку виконання та підвищує ймовірність помилок.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У контексті веб-додатків, перевантаження логікою знижує продуктивність, оскільки контролери стають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вузьким місцем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для паралельної обробки запитів. Наприклад, якщо контролер виконує складні обчислення або запити до бази даних безпосередньо, це блокує ресурси, не дозволяючи ефективно використовувати асинхронні можливості .NET. Це також ускладнює інтеграцію з іншими системами, як-от мікросервісами, де потрібна чітка сепарація шарів.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перевантаження ускладнює тестування: юніт-тести стають залежними від багатьох зовнішніх компонентів, що робить їх крихкими.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В додатках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ASP.NET Core це може призвести до проблем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uk-UA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 управлінням станом, коли логіка контролера плутається з клієнтською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				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логікою, знижуючи загальну стабільність додатка.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Поділ відповідальності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Поділ відповідальності в архітектурі веб-додатків передбачає розподіл коду на окремі шари або модулі, кожен з яких відповідає за конкретну функцію.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У монолітних контролерах цей принцип порушується, оскільки вони поєднують презентаційний шар (обробка HTTP), бізнес-логіку та доступ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до даних. У ASP.NET Core поділ допомагає уникнути плутанини між серверними API та клієнтськими компонентами, роблячи систему модульною.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Застосування поділу відповідальності покращує масштабованість, дозволяючи незалежно розвивати різні частини додатка. Наприклад,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бізнес-логіку можна виділити в окремі сервіси, що полегшує інтеграцію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 компонентами через dependency injection. Це також сприяє кращій співпраці в команді, де різні розробники можуть фокусуватися на конкретних шарах  без конфліктів.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Нарешті, поділ відповідальності посилює безпеку та надійність: валідація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та авторизація можуть бути централізованими, а не розкидані по контролерах.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е дозволяє ефективніше керувати станом додатка, розділяючи клієнтську логіку від серверної, що зменшує ризики помилок і полегшує міграцію на нові технології.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Основи CQRS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CQRS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(Command Query Responsibility Segregation) – це архітектурний патерн, який розділяє операції читання (queries) та запису (commands) на окремі моделі.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це допомагає уникнути проблем монолітних структур, дозволяючи оптимізувати кожен тип операцій незалежно.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Наприклад,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запити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на читання можуть бути швидкими та кешованими, тоді як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команди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фокусуються на валідації та бізнес-логіці.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Ідея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CQRS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Основна ідея CQRS полягає в тому, що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модель для модифікації даних не обов'язково повинна бути такою ж, як для читання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 Це особливо корисно в складних                веб-додатках, де вимоги до продуктивності відрізняються: читання часто потребує денормалізованих даних                  для швидкості, тоді як запис – нормалізованих для цілісності.  CQRS інтегрується з SignalR для realtime-оновлень, покращуючи користувацький досвід.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CQRS також полегшує масштабування, дозволяючи розділити бази даних або використовувати різні технології для читання та запису, як-от SQL для команд і NoSQL для запитів.             Це зменшує навантаження на систему та підвищує стійкість до помилок, оскільки помилка в одній частині не впливає на іншу.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Команди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Команди в CQRS представляють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операції, що змінюють стан системи, такі як створення, оновлення чи видалення даних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Вони є імперативними інструкціями, які </a:t>
            </a:r>
            <a:r>
              <a:rPr lang="en-US" altLang="en-US" sz="1900" u="sng" dirty="0" err="1">
                <a:solidFill>
                  <a:srgbClr val="000000"/>
                </a:solidFill>
                <a:ea typeface="Microsoft YaHei" panose="020B0503020204020204" charset="-122"/>
              </a:rPr>
              <a:t>не повертають дані, а лише підтвердження успіху чи помилки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У ASP.NET Core команди допомагають чітко відокремити мутації від читання, роблячи код передбачуваним і легким для відлагодження.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Кожна команда зазвичай містить тільки необхідні дані для виконання дії, без зайвої інформації. Це сприяє дотриманню принципу найменшої відповідальності, де команда фокусується виключно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 зміні стану. У веб-додатках команди обробляються через хендлери, що дозволяє інтегрувати валідацію, авторизацію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та логування в одному місці.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Команди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покращу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ють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безпеку, оскільки вони можуть бути захищені специфічними політиками доступу.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Ц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е дозволяє ефективно керувати асинхронними операціями, такими як оновлення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UI після успішної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команди, без плутанини в контролерах.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Запити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Запити в CQRS – це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операції читання, які повертають дані </a:t>
            </a:r>
            <a:r>
              <a:rPr lang="uk-UA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без зміни стану системи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Вони є декларативними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та оптимізованими для швидкості, часто використовуючи кешування чи денормалізовані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подання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даних. У ASP.NET Core запити ідеально підходять для завантаження даних у компоненти, забезпечуючи реактивність без ризику побічних ефектів.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Кожен запит повертає конкретний тип даних, адаптований до потреб клієнта, що дозволяє створювати різні про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кції для різних сценаріїв. Це відрізняється від традиційних підходів, де одна модель служить для всього, і робить систему гнучкішою.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апити можуть бути інтегровані з клієнтською логікою для динамічного оновлення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UI.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Запити сприяють масштаб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ванню, оскільки їх можна оптимізувати окремо від команд, наприклад, через реплікацію баз даних             для читання. Це зменшує навантаження на основну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БД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та покращує продуктивність веб-додатка.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Окремі хендлери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Окремі хендлери в CQRS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– це класи, відповідальні за обробку конкретних команд чи запитів. Кожен хендлер реалізує логіку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для однієї операції, дотримуючись принципу єдиної відповідальності. У ASP.NET Core хендлери дозволяють відокремити бізнес-логіку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від контролерів, роблячи архітектуру чистішою та легшою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для тестування.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Хендлери інжект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ят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ься через dependency injection, що полегшує інтеграцію з сервісами, репозиторіями чи зовнішніми API.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Вони можуть включати логування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валідацію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тощо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без дублювання коду.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Ц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е допомагає керувати станом компонентів, обробляючи хендлери асинхронно.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Використання окремих хендлерів покращує модульність: нові функції додаються без змін у існуючих контролерах. Це також полегшує міграцію та розширення, оскільки хендлери можна групувати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призначенням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Command Pattern vs. CQRS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Патерн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Команда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 (GoF)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низькорівневий поведінковий патерн, який інкапсулює дію як об’єкт (з параметрами та отримувачем), щоб відкладати виконання, підтримувати undo/redo, логувати операції чи параметризувати клієнта. Він не має жодного відношення до розділення читання та запису, може повертати будь-які дані (або нічого) і використовується переважно    в GUI, чергах завдань, макросах чи транзакціях. Типовий вигляд —       клас з методом Execute(), який просто викликає метод на іншому об’єкті.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Команди в CQRS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елемент високорівневої архітектури (application або domain layer), що представляє бізнес-намір зміни стану системи (CreateOrder, CancelReservation тощо). Вони завжди належать                  до write-side, не повертають даних (крім статусу успіху чи ідентифікатора), обробляються через медіатор (наприклад, MediatR) і хендлери,                  а головне — існують паралельно з окремими запитами (queries) на read-side. Це дозволяє оптимізувати, масштабувати та моделювати read та write незалежно, що є ключовою відмінністю від класичного GoF Command. У CQRS команда — це контракт бізнес-операції, а не просто обгортка   над методом.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MediatR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MediatR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– це бібліотека для .NET, яка реалізує патерн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Mediator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для обробки запитів і команд у CQRS. Вона спрощує комунікацію між компонентами, дозволяючи надсилати повідомлення           без прямого зв'язку. У ASP.NET Core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MediatR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інтегрується  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 dependency injection, роблячи код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слабко-зв’язним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і легким                для підтримки.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Бібліотека підтримує як синхронні, так і асинхронні операції,          з можливістю додавання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окремих поведінок для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авторизаці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ї,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кешування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тощо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. Це робить її ідеальною для веб-додатків,         де потрібно обробляти складну логіку без перевантаження контролерів. MediatR допомагає координувати серверні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та клієнтські дії.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MediatR сприяє чистій архітектурі, розділяючи запити на медіатор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та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хендлери. Це зменшує залежності та покращує тестування,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дозволяючи мокати компоненти.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Встановлення бібліотеки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Встановлення MediatR у про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кт ASP.NET Core починається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 додавання NuGet-пакету MediatR через менеджер пакетів або CLI. Це включає базовий пакет та розширення для інтеграції з ASP.NET Core. Після встановлення, MediatR реєструється в контейнері dependency injection у файлі Program.cs, де додаються сервіси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для сканування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збірок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Після встановлення, про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кт готовий до створення команд і хендлерів, з автоматичним розпізнаванням через рефлексію.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</a:rPr>
              <a:t>dotnet add package MediatR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команд/хендлерів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команд у MediatR передбачає визначення класів,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що реалізують інтерфейс </a:t>
            </a:r>
            <a:r>
              <a:rPr lang="en-US" altLang="en-US" sz="2000" b="1" dirty="0" err="1">
                <a:solidFill>
                  <a:srgbClr val="0070C0"/>
                </a:solidFill>
                <a:ea typeface="Microsoft YaHei" panose="020B0503020204020204" charset="-122"/>
              </a:rPr>
              <a:t>IRequest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або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ICommand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 властивостями для даних. Хендлери реалізують </a:t>
            </a:r>
            <a:r>
              <a:rPr lang="en-US" altLang="en-US" sz="2000" b="1" dirty="0" err="1">
                <a:solidFill>
                  <a:srgbClr val="0070C0"/>
                </a:solidFill>
                <a:ea typeface="Microsoft YaHei" panose="020B0503020204020204" charset="-122"/>
              </a:rPr>
              <a:t>IRequestHandler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де метод Handle обробляє логіку. У ASP.NET Core команди створюються для мутацій, як створення сутності,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хендлери інжектують залежності для доступу до даних.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Для запитів використовується аналогічний підхід,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але з поверненням даних. Хендлери для запитів фокусуються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 читанні, оптимізуючи продуктивність.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Ц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е дозволяє створювати команди для подій UI, як клік кнопки, з хендлерами на сервері.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Процес створення сприяє чистому коду: команди – прості DTO, хендлери – ізольовані. Це полегшує додавання валідації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без плутанини.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Впровадження в архітектуру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Впровадження MediatR у архітектуру ASP.NET Core починається з інтеграції медіатора в контролери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або сторінки, де запити надсилаються через </a:t>
            </a:r>
            <a:r>
              <a:rPr lang="en-US" altLang="en-US" sz="2200" dirty="0" err="1">
                <a:solidFill>
                  <a:srgbClr val="0070C0"/>
                </a:solidFill>
                <a:ea typeface="Microsoft YaHei" panose="020B0503020204020204" charset="-122"/>
              </a:rPr>
              <a:t>IMediator.Send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. Це замінює прямі виклики сервісів, роблячи контролери тонкими.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М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едіатор координує серверні API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 клієнтськими компонентами.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Архітектура стає шаруватою: презентаційний шар (контролери/компоненти) надсилає повідомлення,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бізнес-шар (хендлери) обробляє. Це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чудово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інтегрується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 Entity Framework, покращуючи масштабованість.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Впровадження покращує гнучкість: зміни в хендлерах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не впливають на контролери.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Ц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е забезпечує реактивність,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з можливістю розширення на мікросервіси.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465" y="6207760"/>
            <a:ext cx="90633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>
                <a:solidFill>
                  <a:srgbClr val="0070C0"/>
                </a:solidFill>
                <a:hlinkClick r:id="rId1" action="ppaction://hlinkfile"/>
              </a:rPr>
              <a:t>https://learn.microsoft.com/ru-ru/dotnet/architecture/microservices/microservice-ddd-cqrs-patterns/microservice-application-layer-implementation-web-api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Схема роботи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mediator-cqrs-microserv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1671320"/>
            <a:ext cx="9222105" cy="42525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Схема роботи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1_JR5ta7GSLawEWZSWoW5FH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87500"/>
            <a:ext cx="9144000" cy="4305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915" y="1403985"/>
            <a:ext cx="1060450" cy="61087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на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CQRS + MediatR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https://github.com/sunmeat/aspnetcore_cqrs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8435"/>
            <a:ext cx="9144000" cy="27539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3200" dirty="0" err="1">
                <a:solidFill>
                  <a:srgbClr val="000000"/>
                </a:solidFill>
                <a:ea typeface="Microsoft YaHei" panose="020B0503020204020204" charset="-122"/>
              </a:rPr>
              <a:t>Виокремити інтерфейс для роботи       з репозиторіями</a:t>
            </a:r>
            <a:endParaRPr lang="uk-UA" sz="3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3200" dirty="0" err="1">
                <a:solidFill>
                  <a:srgbClr val="000000"/>
                </a:solidFill>
                <a:ea typeface="Microsoft YaHei" panose="020B0503020204020204" charset="-122"/>
              </a:rPr>
              <a:t>Додати використання </a:t>
            </a:r>
            <a:r>
              <a:rPr 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EF Core</a:t>
            </a:r>
            <a:endParaRPr 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300" dirty="0" err="1">
                <a:solidFill>
                  <a:srgbClr val="000000"/>
                </a:solidFill>
                <a:ea typeface="Microsoft YaHei" panose="020B0503020204020204" charset="-122"/>
              </a:rPr>
              <a:t>Більше інформації щодо </a:t>
            </a:r>
            <a:r>
              <a:rPr 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CQRS:</a:t>
            </a:r>
            <a:endParaRPr 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indent="-4572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https://github.com/sunmeat/aspnetcore_cqrs/blob/master/CQRS%20clean%20architecture.docx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indent="-4572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https://github.com/sunmeat/aspnetcore_cqrs/blob/master/CQRS%20mediator.docx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457200" indent="-4572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https://github.com/sunmeat/aspnetcore_cqrs/blob/master/CQRS.docx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CQRS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 інших типах проєктів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 MVC контролери повертають ViewResult або JsonResult, тому команди зазвичай завершуються редіректом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або поверненням статусу + оновленою моделлю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для ViewBag/ViewData.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 інших типах проєктів (скажімо,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Blazor) команди частіше викликаються з компонентів через HTTP або SignalR,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 оновлення UI відбувається реактивно. Але сама структура (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команда → MediatR → хендлер → репозиторій → база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) залишається однаковою,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тому перехід між MVC та Blazor на рівні бізнес-логіки та application layer відбувається майже безболісно. Якщо вже є CQRS/MediatR у MVC-проєкті, перенести його в Blazor (або навпаки) — це питання перепису лише presentation-шару.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Навіщо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CQRS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, якщо є сервіси?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більшості проєктів 10–20 (або навіть 40) добре розбитих сервісів дійсно дозволяють зробити контролери тонкими і підтримувати код                           у прийнятному стані. 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Але є кілька сценаріїв, коли CQRS дає відчутну перевагу (а не просто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ще один модний патерн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Коли десяток-другий сервісів зазвичай вистачає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Додаток середнього розміру (до ~50–70 екранів / use cases)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Співвідношення read/write ≈ 3:1 – 5:1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Запити на читання відносно прості (немає складних денормалізованих звітів, агрегацій по мільйонах рядків)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Бізнес-логіка не дуже складна і не змінюється часто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Одна база даних, одна модель даних для читання і запису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Команда 3–10 розробників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таких випадках типова структура Controller &gt; Service &gt; Repository працює відмінно.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Коли CQRS да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є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користь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Дуже високе співвідношення read/write (10:1, 50:1, 100:1+)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               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окремі оптимізовані read-моделі (кеш, NoSQL, денормалізація)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Складні звіти, дашборди, повнотекстовий пошук, аналітика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-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один сервіс/репозиторій розростається до тисяч рядків, CQRS дозволяє спеціалізовану query-модель (materialized views, projections)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Читання і запис вимагають принципово різних моделей даних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Command — нормалізована,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сувора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; Query — денормалізована, плоска, швидка (без постійного мапінгу)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Масштабування read і write незалежно один від одного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Бізнес-правила часто змінюються тільки в записі або тільки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 читанні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тоді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зміни в Query не ламають Create/Update/Delete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і навпаки — повна ізоляція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Велика команда (&gt;15–20 осіб) або кілька команд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, тоді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CQRS + MediatR роблять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юз-кейси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майже незалежними, конфлікти падають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23240" y="1461770"/>
            <a:ext cx="801941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200" b="1">
                <a:hlinkClick r:id="rId1" action="ppaction://hlinkfile"/>
              </a:rPr>
              <a:t>https://gist.github.com/sunmeat/9a87e1584afd15db8cffee69d1df20d0</a:t>
            </a:r>
            <a:endParaRPr lang="en-US" altLang="en-US" sz="3200" b="1">
              <a:hlinkClick r:id="rId1" action="ppaction://hlinkfil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0" y="2626995"/>
            <a:ext cx="6239510" cy="41846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81ACC00-3C59-4A84-A750-B6C7AE605693}"/>
</file>

<file path=customXml/itemProps2.xml><?xml version="1.0" encoding="utf-8"?>
<ds:datastoreItem xmlns:ds="http://schemas.openxmlformats.org/officeDocument/2006/customXml" ds:itemID="{F5E64BB4-17C6-4EB9-BD02-C323090FEAD2}"/>
</file>

<file path=customXml/itemProps3.xml><?xml version="1.0" encoding="utf-8"?>
<ds:datastoreItem xmlns:ds="http://schemas.openxmlformats.org/officeDocument/2006/customXml" ds:itemID="{95D0A87B-4639-4540-8E38-551672218A4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24199</Words>
  <Application>WPS Presentation</Application>
  <PresentationFormat/>
  <Paragraphs>281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91</cp:revision>
  <dcterms:created xsi:type="dcterms:W3CDTF">2005-09-22T16:26:00Z</dcterms:created>
  <dcterms:modified xsi:type="dcterms:W3CDTF">2026-03-14T06:34:42Z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