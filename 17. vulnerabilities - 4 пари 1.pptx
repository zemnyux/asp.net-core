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22" r:id="rId7"/>
    <p:sldId id="721" r:id="rId8"/>
    <p:sldId id="724" r:id="rId9"/>
    <p:sldId id="725" r:id="rId10"/>
    <p:sldId id="723" r:id="rId11"/>
    <p:sldId id="726" r:id="rId12"/>
    <p:sldId id="727" r:id="rId13"/>
    <p:sldId id="728" r:id="rId14"/>
    <p:sldId id="729" r:id="rId15"/>
    <p:sldId id="730" r:id="rId16"/>
    <p:sldId id="806" r:id="rId17"/>
    <p:sldId id="732" r:id="rId18"/>
    <p:sldId id="733" r:id="rId19"/>
    <p:sldId id="734" r:id="rId20"/>
    <p:sldId id="735" r:id="rId21"/>
    <p:sldId id="736" r:id="rId22"/>
    <p:sldId id="737" r:id="rId23"/>
    <p:sldId id="738" r:id="rId24"/>
    <p:sldId id="739" r:id="rId25"/>
    <p:sldId id="740" r:id="rId26"/>
    <p:sldId id="741" r:id="rId27"/>
    <p:sldId id="804" r:id="rId28"/>
    <p:sldId id="805" r:id="rId29"/>
    <p:sldId id="742" r:id="rId30"/>
    <p:sldId id="743" r:id="rId31"/>
    <p:sldId id="744" r:id="rId32"/>
    <p:sldId id="745" r:id="rId33"/>
    <p:sldId id="746" r:id="rId34"/>
    <p:sldId id="747" r:id="rId35"/>
    <p:sldId id="807" r:id="rId36"/>
    <p:sldId id="808" r:id="rId37"/>
    <p:sldId id="809" r:id="rId38"/>
    <p:sldId id="810" r:id="rId39"/>
    <p:sldId id="811" r:id="rId40"/>
    <p:sldId id="812" r:id="rId41"/>
    <p:sldId id="766" r:id="rId42"/>
    <p:sldId id="767" r:id="rId43"/>
    <p:sldId id="768" r:id="rId44"/>
    <p:sldId id="769" r:id="rId45"/>
    <p:sldId id="770" r:id="rId46"/>
    <p:sldId id="771" r:id="rId47"/>
    <p:sldId id="772" r:id="rId48"/>
    <p:sldId id="780" r:id="rId49"/>
    <p:sldId id="781" r:id="rId50"/>
    <p:sldId id="782" r:id="rId51"/>
    <p:sldId id="773" r:id="rId52"/>
    <p:sldId id="774" r:id="rId53"/>
    <p:sldId id="775" r:id="rId54"/>
    <p:sldId id="776" r:id="rId55"/>
    <p:sldId id="777" r:id="rId56"/>
    <p:sldId id="778" r:id="rId57"/>
    <p:sldId id="779" r:id="rId58"/>
    <p:sldId id="750" r:id="rId59"/>
    <p:sldId id="751" r:id="rId60"/>
    <p:sldId id="783" r:id="rId61"/>
    <p:sldId id="784" r:id="rId62"/>
    <p:sldId id="752" r:id="rId63"/>
    <p:sldId id="753" r:id="rId64"/>
    <p:sldId id="754" r:id="rId65"/>
    <p:sldId id="755" r:id="rId66"/>
    <p:sldId id="758" r:id="rId67"/>
    <p:sldId id="785" r:id="rId68"/>
    <p:sldId id="759" r:id="rId69"/>
    <p:sldId id="813" r:id="rId70"/>
    <p:sldId id="762" r:id="rId71"/>
    <p:sldId id="787" r:id="rId72"/>
    <p:sldId id="763" r:id="rId73"/>
    <p:sldId id="814" r:id="rId74"/>
    <p:sldId id="793" r:id="rId75"/>
    <p:sldId id="795" r:id="rId76"/>
    <p:sldId id="799" r:id="rId77"/>
    <p:sldId id="694" r:id="rId78"/>
    <p:sldId id="695" r:id="rId79"/>
    <p:sldId id="803" r:id="rId80"/>
    <p:sldId id="801" r:id="rId81"/>
    <p:sldId id="666" r:id="rId82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84" Type="http://schemas.openxmlformats.org/officeDocument/2006/relationships/viewProps" Target="viewProps.xml"/><Relationship Id="rId68" Type="http://schemas.openxmlformats.org/officeDocument/2006/relationships/slide" Target="slides/slide64.xml"/><Relationship Id="rId63" Type="http://schemas.openxmlformats.org/officeDocument/2006/relationships/slide" Target="slides/slide59.xml"/><Relationship Id="rId47" Type="http://schemas.openxmlformats.org/officeDocument/2006/relationships/slide" Target="slides/slide43.xml"/><Relationship Id="rId42" Type="http://schemas.openxmlformats.org/officeDocument/2006/relationships/slide" Target="slides/slide38.xml"/><Relationship Id="rId21" Type="http://schemas.openxmlformats.org/officeDocument/2006/relationships/slide" Target="slides/slide17.xml"/><Relationship Id="rId16" Type="http://schemas.openxmlformats.org/officeDocument/2006/relationships/slide" Target="slides/slide12.xml"/><Relationship Id="rId79" Type="http://schemas.openxmlformats.org/officeDocument/2006/relationships/slide" Target="slides/slide75.xml"/><Relationship Id="rId74" Type="http://schemas.openxmlformats.org/officeDocument/2006/relationships/slide" Target="slides/slide70.xml"/><Relationship Id="rId58" Type="http://schemas.openxmlformats.org/officeDocument/2006/relationships/slide" Target="slides/slide54.xml"/><Relationship Id="rId53" Type="http://schemas.openxmlformats.org/officeDocument/2006/relationships/slide" Target="slides/slide49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11" Type="http://schemas.openxmlformats.org/officeDocument/2006/relationships/slide" Target="slides/slide7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77" Type="http://schemas.openxmlformats.org/officeDocument/2006/relationships/slide" Target="slides/slide73.xml"/><Relationship Id="rId69" Type="http://schemas.openxmlformats.org/officeDocument/2006/relationships/slide" Target="slides/slide65.xml"/><Relationship Id="rId64" Type="http://schemas.openxmlformats.org/officeDocument/2006/relationships/slide" Target="slides/slide60.xml"/><Relationship Id="rId56" Type="http://schemas.openxmlformats.org/officeDocument/2006/relationships/slide" Target="slides/slide52.xml"/><Relationship Id="rId48" Type="http://schemas.openxmlformats.org/officeDocument/2006/relationships/slide" Target="slides/slide44.xml"/><Relationship Id="rId43" Type="http://schemas.openxmlformats.org/officeDocument/2006/relationships/slide" Target="slides/slide39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5" Type="http://schemas.openxmlformats.org/officeDocument/2006/relationships/tableStyles" Target="tableStyles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2" Type="http://schemas.openxmlformats.org/officeDocument/2006/relationships/slide" Target="slides/slide68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2.xml"/><Relationship Id="rId67" Type="http://schemas.openxmlformats.org/officeDocument/2006/relationships/slide" Target="slides/slide63.xml"/><Relationship Id="rId59" Type="http://schemas.openxmlformats.org/officeDocument/2006/relationships/slide" Target="slides/slide55.xml"/><Relationship Id="rId46" Type="http://schemas.openxmlformats.org/officeDocument/2006/relationships/slide" Target="slides/slide4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83" Type="http://schemas.openxmlformats.org/officeDocument/2006/relationships/presProps" Target="presProps.xml"/><Relationship Id="rId75" Type="http://schemas.openxmlformats.org/officeDocument/2006/relationships/slide" Target="slides/slide71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54" Type="http://schemas.openxmlformats.org/officeDocument/2006/relationships/slide" Target="slides/slide50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88" Type="http://schemas.openxmlformats.org/officeDocument/2006/relationships/customXml" Target="../customXml/item3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57" Type="http://schemas.openxmlformats.org/officeDocument/2006/relationships/slide" Target="slides/slide53.xml"/><Relationship Id="rId49" Type="http://schemas.openxmlformats.org/officeDocument/2006/relationships/slide" Target="slides/slide45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81" Type="http://schemas.openxmlformats.org/officeDocument/2006/relationships/slide" Target="slides/slide77.xml"/><Relationship Id="rId78" Type="http://schemas.openxmlformats.org/officeDocument/2006/relationships/slide" Target="slides/slide74.xml"/><Relationship Id="rId73" Type="http://schemas.openxmlformats.org/officeDocument/2006/relationships/slide" Target="slides/slide69.xml"/><Relationship Id="rId65" Type="http://schemas.openxmlformats.org/officeDocument/2006/relationships/slide" Target="slides/slide61.xml"/><Relationship Id="rId60" Type="http://schemas.openxmlformats.org/officeDocument/2006/relationships/slide" Target="slides/slide56.xml"/><Relationship Id="rId52" Type="http://schemas.openxmlformats.org/officeDocument/2006/relationships/slide" Target="slides/slide48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10" Type="http://schemas.openxmlformats.org/officeDocument/2006/relationships/slide" Target="slides/slide6.xml"/><Relationship Id="rId86" Type="http://schemas.openxmlformats.org/officeDocument/2006/relationships/customXml" Target="../customXml/item1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76" Type="http://schemas.openxmlformats.org/officeDocument/2006/relationships/slide" Target="slides/slide72.xml"/><Relationship Id="rId55" Type="http://schemas.openxmlformats.org/officeDocument/2006/relationships/slide" Target="slides/slide51.xml"/><Relationship Id="rId50" Type="http://schemas.openxmlformats.org/officeDocument/2006/relationships/slide" Target="slides/slide46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66" Type="http://schemas.openxmlformats.org/officeDocument/2006/relationships/slide" Target="slides/slide62.xml"/><Relationship Id="rId45" Type="http://schemas.openxmlformats.org/officeDocument/2006/relationships/slide" Target="slides/slide41.xml"/><Relationship Id="rId40" Type="http://schemas.openxmlformats.org/officeDocument/2006/relationships/slide" Target="slides/slide36.xml"/><Relationship Id="rId24" Type="http://schemas.openxmlformats.org/officeDocument/2006/relationships/slide" Target="slides/slide20.xml"/><Relationship Id="rId87" Type="http://schemas.openxmlformats.org/officeDocument/2006/relationships/customXml" Target="../customXml/item2.xml"/><Relationship Id="rId82" Type="http://schemas.openxmlformats.org/officeDocument/2006/relationships/slide" Target="slides/slide78.xml"/><Relationship Id="rId61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habr.com/ru/companies/banki/articles/759058/" TargetMode="External"/><Relationship Id="rId3" Type="http://schemas.openxmlformats.org/officeDocument/2006/relationships/hyperlink" Target="https://habr.com/ru/articles/511318/" TargetMode="External"/><Relationship Id="rId2" Type="http://schemas.openxmlformats.org/officeDocument/2006/relationships/hyperlink" Target="https://habr.com/ru/companies/pt/articles/842598/" TargetMode="External"/><Relationship Id="rId1" Type="http://schemas.openxmlformats.org/officeDocument/2006/relationships/hyperlink" Target="https://habr.com/ru/articles/848116/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habr.com/ru/companies/otus/articles/799079/" TargetMode="External"/><Relationship Id="rId2" Type="http://schemas.openxmlformats.org/officeDocument/2006/relationships/hyperlink" Target="https://www.ibm.com/downloads/documents/us-en/131cf87b20b31c91" TargetMode="External"/><Relationship Id="rId1" Type="http://schemas.openxmlformats.org/officeDocument/2006/relationships/hyperlink" Target="https://www.verizon.com/business/resources/T962/reports/2025-dbir-data-breach-investigations-report.pdf" TargetMode="Externa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habr.com/ru/companies/dcmiran/articles/504950/" TargetMode="External"/><Relationship Id="rId4" Type="http://schemas.openxmlformats.org/officeDocument/2006/relationships/hyperlink" Target="https://habr.com/ru/articles/595013/" TargetMode="External"/><Relationship Id="rId3" Type="http://schemas.openxmlformats.org/officeDocument/2006/relationships/hyperlink" Target="https://habr.com/ru/articles/848116/" TargetMode="External"/><Relationship Id="rId2" Type="http://schemas.openxmlformats.org/officeDocument/2006/relationships/hyperlink" Target="https://habr.com/ru/companies/ru_mts/articles/828488/" TargetMode="External"/><Relationship Id="rId1" Type="http://schemas.openxmlformats.org/officeDocument/2006/relationships/hyperlink" Target="https://habr.com/ru/articles/340146/" TargetMode="Externa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habr.com/ru/companies/pt/articles/842598/" TargetMode="External"/><Relationship Id="rId2" Type="http://schemas.openxmlformats.org/officeDocument/2006/relationships/hyperlink" Target="https://habr.com/ru/companies/macloud/articles/553826/" TargetMode="External"/><Relationship Id="rId1" Type="http://schemas.openxmlformats.org/officeDocument/2006/relationships/hyperlink" Target="https://habr.com/ru/articles/725134/" TargetMode="Externa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habr.com/ru/companies/ddosguard/articles/908662/" TargetMode="External"/><Relationship Id="rId2" Type="http://schemas.openxmlformats.org/officeDocument/2006/relationships/hyperlink" Target="https://habr.com/ru/companies/banki/articles/759058/" TargetMode="External"/><Relationship Id="rId1" Type="http://schemas.openxmlformats.org/officeDocument/2006/relationships/hyperlink" Target="https://habr.com/ru/articles/511318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173ea9702b1cd18f5b5d16cdbc6ba6dc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training.qatestlab.com/blog/technical-articles/what-is-owasp-top-10-vulnerabilities/" TargetMode="External"/><Relationship Id="rId1" Type="http://schemas.openxmlformats.org/officeDocument/2006/relationships/hyperlink" Target="https://dou.ua/forums/topic/40348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http.cat/status/40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etanit.com/sharp/aspnet6/13.1.php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hyperlink" Target="https://github.com/sunmeat/aspnetcore_broken_auth1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https://github.com/sunmeat/aspnetcore_broken_auth2&#13;" TargetMode="Externa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habr.com/ru/companies/aktiv-company/articles/925696/" TargetMode="External"/><Relationship Id="rId1" Type="http://schemas.openxmlformats.org/officeDocument/2006/relationships/hyperlink" Target="https://habr.com/ru/articles/534064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sunmeat/aspnetcore_broken_auth2/blob/master/identity.docx&#13;" TargetMode="External"/><Relationship Id="rId3" Type="http://schemas.openxmlformats.org/officeDocument/2006/relationships/hyperlink" Target="https://github.com/sunmeat/aspnetcore_broken_auth2/blob/master/identity%20registration.docx&#13;" TargetMode="External"/><Relationship Id="rId2" Type="http://schemas.openxmlformats.org/officeDocument/2006/relationships/hyperlink" Target="https://github.com/sunmeat/aspnetcore_broken_auth2/blob/master/identity%20passwords.docx&#13;" TargetMode="External"/><Relationship Id="rId1" Type="http://schemas.openxmlformats.org/officeDocument/2006/relationships/hyperlink" Target="https://github.com/sunmeat/aspnetcore_broken_auth2/blob/master/identity%20google.docx&#13;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etpci.com/vidi-sertifikativ/pci-dss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habr.com/ru/articles/848116/" TargetMode="Externa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https://github.com/sunmeat/aspnetcore_idor1" TargetMode="Externa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hyperlink" Target="https://github.com/sunmeat/aspnetcore_idor2" TargetMode="Externa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habr.com/ru/articles/731428/" TargetMode="External"/><Relationship Id="rId1" Type="http://schemas.openxmlformats.org/officeDocument/2006/relationships/hyperlink" Target="https://www.malwarebytes.com/ru/cybersecurity/basics/pii" TargetMode="Externa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habr.com/ru/articles/983250/" TargetMode="External"/><Relationship Id="rId1" Type="http://schemas.openxmlformats.org/officeDocument/2006/relationships/hyperlink" Target="https://habr.com/ru/articles/578510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learn.microsoft.com/ru-ru/dotnet/api/microsoft.aspnetcore.dataprotection.idataprotector?view=aspnetcore-10.0" TargetMode="Externa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habr.com/ru/articles/262341/" TargetMode="External"/><Relationship Id="rId1" Type="http://schemas.openxmlformats.org/officeDocument/2006/relationships/hyperlink" Target="https://habr.com/ru/articles/112733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hyperlink" Target="https://uk.wikipedia.org/wiki/PBKDF2" TargetMode="External"/><Relationship Id="rId1" Type="http://schemas.openxmlformats.org/officeDocument/2006/relationships/hyperlink" Target="https://github.com/sunmeat/aspnetcore_idor2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cryptofailures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s://github.com/sunmeat/aspnetcore_injections" TargetMode="Externa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rokipedia.com/page/Cross-origin_resource_sharing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rokipedia.com/page/Cross-site_request_forgery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rokipedia.com/page/Cross-site_scripting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hyperlink" Target="https://github.com/sunmeat/aspnetcore_cors/blob/master/ReactApp2.Server/Program.cs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b5d2e24308def238838e73968667ebb9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docs.github.com/en/code-security/getting-started/dependabot-quickstart-guide" TargetMode="External"/><Relationship Id="rId2" Type="http://schemas.openxmlformats.org/officeDocument/2006/relationships/hyperlink" Target="https://learn.microsoft.com/en-us/nuget/concepts/auditing-packages" TargetMode="External"/><Relationship Id="rId1" Type="http://schemas.openxmlformats.org/officeDocument/2006/relationships/hyperlink" Target="https://learn.microsoft.com/en-us/dotnet/core/tools/dotnet-package-list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habr.com/ru/companies/solarsecurity/articles/590673/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c0ac4ded75a476a387f55dcf4de1b246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e267338adc870a6a5d9e5a1bb892f97c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eveloper.mozilla.org/ru/docs/Web/HTTP/Guides/CSP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learn.javascript.ru/csrf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hyperlink" Target="https://github.com/sunmeat/aspnetcore_csrf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a757e33e231b8a9b6f5a0cb2b9b108af" TargetMode="Externa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3349e05ac6cabe60cf660d49c473d384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e67e7bb1934a6019cb4d86a8984df7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Vulnerabilities</a:t>
            </a:r>
            <a:endParaRPr lang="ru-RU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Топ вразливостей в </a:t>
            </a:r>
            <a:r>
              <a:rPr lang="en-US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ASP.NET Core </a:t>
            </a:r>
            <a:r>
              <a:rPr lang="uk-UA" altLang="ru-RU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проєктах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Broken Authentication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Broken Access Control</a:t>
            </a:r>
            <a:r>
              <a:rPr lang="ru-RU" altLang="en-US" sz="26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/</a:t>
            </a:r>
            <a:r>
              <a:rPr lang="ru-RU" altLang="en-US" sz="26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BOLA / 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  <a:hlinkClick r:id="rId1" action="ppaction://hlinkfile"/>
              </a:rPr>
              <a:t>IDOR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Cryptographic Failures</a:t>
            </a:r>
            <a:endParaRPr lang="uk-UA" altLang="ru-RU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uk-UA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SQL Injection</a:t>
            </a:r>
            <a:endParaRPr lang="en-US" altLang="uk-UA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Security Misconfiguration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Vulnerable and Outdated Components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Server-Side Request Forgery (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  <a:hlinkClick r:id="rId2" action="ppaction://hlinkfile"/>
              </a:rPr>
              <a:t>SSRF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)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Cross-Site Scripting (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  <a:hlinkClick r:id="rId3" action="ppaction://hlinkfile"/>
              </a:rPr>
              <a:t>XSS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)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Cross-Site Request Forgery (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  <a:hlinkClick r:id="rId4" action="ppaction://hlinkfile"/>
              </a:rPr>
              <a:t>CSRF</a:t>
            </a: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)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sym typeface="+mn-ea"/>
              </a:rPr>
              <a:t>Unrestricted Resource Consumption</a:t>
            </a:r>
            <a:endParaRPr lang="en-US" altLang="en-US" sz="2600" dirty="0" err="1">
              <a:solidFill>
                <a:srgbClr val="000000"/>
              </a:solidFill>
              <a:sym typeface="+mn-ea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en-US" sz="26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Одна вразливість, і...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...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проєкт може стати наступною великою новиною... з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дуже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поганих причин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І</a:t>
            </a: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гнорувати безпеку в ASP.NET Core </a:t>
            </a:r>
            <a:r>
              <a:rPr lang="uk-UA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-</a:t>
            </a: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 це найгірше рішення </a:t>
            </a:r>
            <a:r>
              <a:rPr lang="uk-UA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для розробника </a:t>
            </a:r>
            <a:endParaRPr lang="en-US" altLang="en-US" sz="17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94% веб-додатків мають критичні вразливості</a:t>
            </a:r>
            <a:r>
              <a:rPr lang="uk-UA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(за даними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Verizon DBIR 2025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Більшість з них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це саме ті помилки,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що будуть згадані                      в цій презентації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Середня вартість data breach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(витоків даних, порушення безпеки даних)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$4.44 млн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(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IBM Cost of a Data Breach Report 2025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 Це ш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трафи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GDPR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, втрата клієнтів, репутація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- все це чиїсь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реальні гроші та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поламана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кар’єра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ASP.NET Core дає потужні інструменти захисту "з коробки"</a:t>
            </a:r>
            <a:r>
              <a:rPr lang="uk-UA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, а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ле вони працюють тільки якщо їх правильно використов</a:t>
            </a:r>
            <a:r>
              <a:rPr lang="uk-UA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увати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10 хвилин конфігурації = роки спокою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Далі розберемо:</a:t>
            </a:r>
            <a:endParaRPr lang="uk-UA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• Які 12 вразливостей найчастіше ламали .NET-проєкти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в 2025 році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• Як їх уникнут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• І чому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ваші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майбутні проєкти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можуть стати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безпечнішими за 99% інших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Топ-12 вразливостей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Authentication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з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ловмисник отримує доступ до акаунтів через слабкі паролі, витік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JWT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відсутність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MFA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або погане керування сесіями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Access Control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к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ористувач робить те,         що йому не дозволено: бачить чужі дані або викликає адмін-функції через відсутність перевірок прав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Broken Object Level Authorization (BOLA /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IDOR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API можна підставити чужий ID і отримати              або змінити об’єкт, який не належить користувачу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Cryptographic Failures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п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аролі зберігаються            без хешування або з використанням застарілих алгоритмів (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4" action="ppaction://hlinkfile"/>
              </a:rPr>
              <a:t>MD5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5" action="ppaction://hlinkfile"/>
              </a:rPr>
              <a:t>SHA-1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), що робить злам тривіальним після витоку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Топ-12 вразливостей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Injection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(SQL / NoSQL / Command)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ш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кідливий код потрапляє в запит через необроблені вхідні дані         та виконується на сервері або в БД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Security Misconfiguration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н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ебезпечні налаштування: відкритий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CORS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відсутні security headers, debug-режим або зайві сервіси в production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Vulnerable and Outdated Components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икористання бібліотек або фреймворків з відомими вразливостями через відсутність оновлень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Server-Side Request Forgery (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SSRF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 с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ервер робить запити за URL, який контролює користувач, і може отримати доступ до внутрішніх або хмарних сервісів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Топ-12 вразливостей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Cross-Site Scripting (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XSS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з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ловмисник впроваджує JavaScript у сторінку, щоб красти сесії або виконувати дії від імені користувача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Cross-Site Request Forgery (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CSRF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б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раузер автентифікованого користувача відправляє небажаний запит без його відома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Unrestricted Resource Consumption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 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ідсутність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rate limiting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дозволяє перевантажити сервіс або зробити його недоступним (DoS)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Insecure Deserialization / Mass Assignment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с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ервер безконтрольно довіряє вхідним структурам даних, дозволяючи змінювати зайві поля або виконувати небезпечну логіку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3800" dirty="0" err="1">
                <a:solidFill>
                  <a:srgbClr val="FFFFFF"/>
                </a:solidFill>
                <a:ea typeface="Microsoft YaHei" panose="020B0503020204020204" charset="-122"/>
              </a:rPr>
              <a:t>Як будемо розглядати вразливості</a:t>
            </a:r>
            <a:endParaRPr lang="uk-UA" altLang="en-US" sz="38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29864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https://gist.github.com/sunmeat/173ea9702b1cd18f5b5d16cdbc6ba6dc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Broken Authentication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Authentication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— це клас вразливостей,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коли механізми автентифікації або керування сесіями реалізовані неправильно, і зловмисник може: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увійти під чужим акаунтом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перехопити або підмінити токен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обійти логін взагалі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“продовжити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”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сесію після логауту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Найчастіші причини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слабкі або перевикористані паролі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JWT без перевірки підпису /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терміну життя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відсутність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багато-факторної автентифікації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токени, що живуть вічно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довіра до даних із клієнта (userId, role, isAdmin)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кастомна auth-логіка “на колін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ц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і”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Шкода від </a:t>
            </a:r>
            <a:r>
              <a:rPr lang="en-US" altLang="en-US" sz="4200" dirty="0" err="1">
                <a:sym typeface="+mn-ea"/>
              </a:rPr>
              <a:t>Broken Authentication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несанкціоноване заволодіння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одним, декількома,         а то й усіма акаунтами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ескалація привілеїв (user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поводить себе як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admin)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витік персональних даних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фінансові втрати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юридичні проблеми (GDPR,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SOC2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OWASP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Top 10: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Authentication роками в топ-3.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не “екзотика”, а буденність.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3900" dirty="0" err="1">
                <a:solidFill>
                  <a:srgbClr val="FFFFFF"/>
                </a:solidFill>
                <a:ea typeface="Microsoft YaHei" panose="020B0503020204020204" charset="-122"/>
              </a:rPr>
              <a:t>Де виникає </a:t>
            </a:r>
            <a:r>
              <a:rPr lang="en-US" altLang="en-US" sz="3900" dirty="0" err="1">
                <a:sym typeface="+mn-ea"/>
              </a:rPr>
              <a:t>Broken Authentication</a:t>
            </a:r>
            <a:endParaRPr lang="uk-UA" altLang="en-US" sz="39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178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Найчастіше — не в одному місці, а на стику компонентів.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Типові точки: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Program.cs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неправильно налаштований AddAuthentication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вимкнена перевірка lifetime або signature JWT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Controllers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[Authorize] відсутній або використаний неправильно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userId </a:t>
            </a:r>
            <a:r>
              <a:rPr lang="en-US" altLang="en-US" sz="1800" dirty="0" err="1">
                <a:sym typeface="+mn-ea"/>
              </a:rPr>
              <a:t>приймається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body/query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Custom authentication middlewar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е (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самописна перевірка токена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EF Core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доступ до даних по userId, переданому з клієнта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JWT / 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токени без rotation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вида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ю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ться один раз і ді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ють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дуже довго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токени з надмірною кількістю claims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дан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их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 користувача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Identity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відключені lockout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блокування акаунта після кількох невдалих спроб входу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/ password policy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(п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равила для паролів, щоб вони були складними і важкими для підбору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/ MFA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47598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000" dirty="0" err="1">
                <a:solidFill>
                  <a:srgbClr val="FFFFFF"/>
                </a:solidFill>
                <a:ea typeface="Microsoft YaHei" panose="020B0503020204020204" charset="-122"/>
              </a:rPr>
              <a:t>Критичність </a:t>
            </a:r>
            <a:r>
              <a:rPr lang="en-US" altLang="en-US" sz="4000" dirty="0" err="1">
                <a:sym typeface="+mn-ea"/>
              </a:rPr>
              <a:t>Broken Authentication</a:t>
            </a:r>
            <a:endParaRPr lang="uk-UA" altLang="en-US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Наслідки: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повний доступ до API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читання / зміна чужих даних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адмінські операції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Наскільки часто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зустрічається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дуже часто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особливо в</a:t>
            </a:r>
            <a:r>
              <a:rPr lang="uk-UA" altLang="en-US" sz="23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проєктах без ASP.NET Identity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майже кожен pet-project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часто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 мікросервісах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 copy-paste auth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масова системна проблема, а не “раз не пощастило”.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78205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3700" dirty="0" err="1">
                <a:solidFill>
                  <a:srgbClr val="FFFFFF"/>
                </a:solidFill>
                <a:sym typeface="+mn-ea"/>
              </a:rPr>
              <a:t>Першопричини </a:t>
            </a:r>
            <a:r>
              <a:rPr lang="en-US" altLang="en-US" sz="3700" dirty="0" err="1">
                <a:sym typeface="+mn-ea"/>
              </a:rPr>
              <a:t>Broken Authentication</a:t>
            </a:r>
            <a:endParaRPr lang="uk-UA" altLang="en-US" sz="37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Чому це з’являється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❌ не будували threat model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❌ “клієнт не буде брехати”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❌ кастомна auth замість готової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❌ не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ма розуміння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, як працює middleware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❌ blind copy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paste з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нейромережок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❌ “потім прикрутимо безпеку”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Як це виглядає в логах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один і той самий JWT з різних IP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на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запити з простроченим токеном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видається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200 OK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доступ до ресурсів без [Authorize]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дивні userId в query/body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багато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401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, а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потім різкий 200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78205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700" dirty="0" err="1">
                <a:solidFill>
                  <a:srgbClr val="FFFFFF"/>
                </a:solidFill>
                <a:sym typeface="+mn-ea"/>
              </a:rPr>
              <a:t>ASP.NET Core Identity</a:t>
            </a:r>
            <a:endParaRPr lang="en-US" sz="37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ASP.NET Identity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система керування аутентифікацією та авторизацією для веб-додатків на платформі .NET. Вона використовується для того,       щоб безпечно і гнучко працювати з користувачами, ролями та правами доступу.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Дозволяє додавати реєстрацію, логін, зміну пароля та підтвердження електронної пошти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Керує ролями та правами доступу до різних частин додатку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Підтримує зовнішні логіни (Google, Facebook, Microsoft)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Забезпечує безпечне збереження паролів і токенів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Основні функції: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Користувачі (Users) – створення, редагування, видалення, автентифікація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Ролі (Roles) – розподіл прав доступу, групування користувачів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Паролі і безпека – хешування паролів, політика складності, блокування облікових записів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Токени і підтвердження – підтвердження email, відновлення пароля, двофакторна автентифікація (2FA)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Зовнішні логіни – інтеграція з соцмережами та іншими провайдерами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вразливості ВА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400" dirty="0" err="1">
                <a:solidFill>
                  <a:srgbClr val="FF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https://github.com/sunmeat/aspnetcore_broken_auth1</a:t>
            </a:r>
            <a:endParaRPr lang="en-US" altLang="en-US" sz="3400" dirty="0" err="1">
              <a:solidFill>
                <a:srgbClr val="FF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7 1454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90" y="2618740"/>
            <a:ext cx="3583940" cy="44342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виправити ВА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https://github.com/sunmeat/aspnetcore_broken_auth2</a:t>
            </a:r>
            <a:endParaRPr lang="uk-UA" sz="3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990" y="2663825"/>
            <a:ext cx="3961130" cy="44507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Захист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від ВА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(чеклист)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267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Механізми платформи</a:t>
            </a:r>
            <a:r>
              <a:rPr lang="uk-UA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ASP.NET Core Identity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AddAuthentication().AddJwtBearer()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ValidateIssuerSigningKey = true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ValidateLifetime = true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Refresh token + rotation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UserManager / SignInManager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MFA (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TOTP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/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FIDO2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Правильні патерни</a:t>
            </a:r>
            <a:r>
              <a:rPr lang="uk-UA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використання атрибуту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[Authorize] за замовчуванням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Claims-based </a:t>
            </a:r>
            <a:r>
              <a:rPr lang="ru-RU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доступ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короткоживучі </a:t>
            </a:r>
            <a:r>
              <a:rPr lang="uk-UA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токени доступу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оновлення токенів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 у БД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revoke при logout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Анти-патерни</a:t>
            </a:r>
            <a:r>
              <a:rPr lang="uk-UA" altLang="en-US" sz="1500" b="1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5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кастомний JWT-парсер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userId у body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role </a:t>
            </a:r>
            <a:r>
              <a:rPr lang="ru-RU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чита</a:t>
            </a:r>
            <a:r>
              <a:rPr lang="uk-UA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ється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з клієнта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один токен назавжди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auth </a:t>
            </a:r>
            <a:r>
              <a:rPr lang="uk-UA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в контролері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замість </a:t>
            </a:r>
            <a:r>
              <a:rPr lang="uk-UA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мідлвейра</a:t>
            </a:r>
            <a:endParaRPr lang="uk-UA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Broken Access Control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Access Control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— це ситуація, коли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вже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аутентифікований або навіть неаутентифікований користувач може виконувати дії, на які він не має прав: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бачити чужі дані (IDOR)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редагувати/видаляти чужі ресурси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викликати адмінські або сервісні endpoint-и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обходити бізнес-обмеження (role/ownership)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zh-CN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Ключове: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користувач уже “увійшов” або доступ до endpoint-а відкритий, але перевірка “чи має він право це робити” відсутня або зламана.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ВА порівняно з 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ВАС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Authentication</a:t>
            </a:r>
            <a:r>
              <a:rPr lang="ru-RU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 з</a:t>
            </a:r>
            <a:r>
              <a:rPr lang="en-US" altLang="en-US" sz="2200" dirty="0" err="1">
                <a:solidFill>
                  <a:srgbClr val="000000"/>
                </a:solidFill>
                <a:sym typeface="+mn-ea"/>
              </a:rPr>
              <a:t>ловмисник </a:t>
            </a:r>
            <a:r>
              <a:rPr lang="en-US" altLang="en-US" sz="2200" dirty="0" err="1">
                <a:solidFill>
                  <a:srgbClr val="FF0000"/>
                </a:solidFill>
                <a:sym typeface="+mn-ea"/>
              </a:rPr>
              <a:t>отримує доступ </a:t>
            </a:r>
            <a:r>
              <a:rPr lang="uk-UA" altLang="en-US" sz="2200" dirty="0" err="1">
                <a:solidFill>
                  <a:srgbClr val="FF0000"/>
                </a:solidFill>
                <a:sym typeface="+mn-ea"/>
              </a:rPr>
              <a:t>    </a:t>
            </a:r>
            <a:r>
              <a:rPr lang="en-US" altLang="en-US" sz="2200" dirty="0" err="1">
                <a:solidFill>
                  <a:srgbClr val="FF0000"/>
                </a:solidFill>
                <a:sym typeface="+mn-ea"/>
              </a:rPr>
              <a:t>до чужих акаунтів</a:t>
            </a:r>
            <a:r>
              <a:rPr lang="en-US" altLang="en-US" sz="2200" dirty="0" err="1">
                <a:solidFill>
                  <a:srgbClr val="000000"/>
                </a:solidFill>
                <a:sym typeface="+mn-ea"/>
              </a:rPr>
              <a:t> через слабкі або скомпрометовані облікові дані.</a:t>
            </a:r>
            <a:r>
              <a:rPr lang="ru-RU" altLang="en-US" sz="22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sym typeface="+mn-ea"/>
              </a:rPr>
              <a:t>Механізм атак</a:t>
            </a:r>
            <a:r>
              <a:rPr lang="ru-RU" altLang="en-US" sz="2200" dirty="0" err="1">
                <a:solidFill>
                  <a:srgbClr val="000000"/>
                </a:solidFill>
                <a:sym typeface="+mn-ea"/>
              </a:rPr>
              <a:t>и - </a:t>
            </a:r>
            <a:r>
              <a:rPr lang="ru-RU" altLang="en-US" sz="2200" u="sng" dirty="0" err="1">
                <a:solidFill>
                  <a:srgbClr val="000000"/>
                </a:solidFill>
                <a:sym typeface="+mn-ea"/>
              </a:rPr>
              <a:t>в</a:t>
            </a:r>
            <a:r>
              <a:rPr lang="en-US" altLang="en-US" sz="2200" u="sng" dirty="0" err="1">
                <a:solidFill>
                  <a:srgbClr val="000000"/>
                </a:solidFill>
                <a:sym typeface="+mn-ea"/>
              </a:rPr>
              <a:t>икористання слабких паролів, вкрадених токенів JWT, відсутн</a:t>
            </a:r>
            <a:r>
              <a:rPr lang="uk-UA" altLang="en-US" sz="2200" u="sng" dirty="0" err="1">
                <a:solidFill>
                  <a:srgbClr val="000000"/>
                </a:solidFill>
                <a:sym typeface="+mn-ea"/>
              </a:rPr>
              <a:t>і</a:t>
            </a:r>
            <a:r>
              <a:rPr lang="en-US" altLang="en-US" sz="2200" u="sng" dirty="0" err="1">
                <a:solidFill>
                  <a:srgbClr val="000000"/>
                </a:solidFill>
                <a:sym typeface="+mn-ea"/>
              </a:rPr>
              <a:t>ст</a:t>
            </a:r>
            <a:r>
              <a:rPr lang="ru-RU" altLang="en-US" sz="2200" u="sng" dirty="0" err="1">
                <a:solidFill>
                  <a:srgbClr val="000000"/>
                </a:solidFill>
                <a:sym typeface="+mn-ea"/>
              </a:rPr>
              <a:t>ь</a:t>
            </a:r>
            <a:r>
              <a:rPr lang="en-US" altLang="en-US" sz="2200" u="sng" dirty="0" err="1">
                <a:solidFill>
                  <a:srgbClr val="000000"/>
                </a:solidFill>
                <a:sym typeface="+mn-ea"/>
              </a:rPr>
              <a:t> MFA, сесійн</a:t>
            </a:r>
            <a:r>
              <a:rPr lang="uk-UA" altLang="en-US" sz="2200" u="sng" dirty="0" err="1">
                <a:solidFill>
                  <a:srgbClr val="000000"/>
                </a:solidFill>
                <a:sym typeface="+mn-ea"/>
              </a:rPr>
              <a:t>і</a:t>
            </a:r>
            <a:r>
              <a:rPr lang="en-US" altLang="en-US" sz="2200" u="sng" dirty="0" err="1">
                <a:solidFill>
                  <a:srgbClr val="000000"/>
                </a:solidFill>
                <a:sym typeface="+mn-ea"/>
              </a:rPr>
              <a:t> уразливост</a:t>
            </a:r>
            <a:r>
              <a:rPr lang="uk-UA" altLang="en-US" sz="2200" u="sng" dirty="0" err="1">
                <a:solidFill>
                  <a:srgbClr val="000000"/>
                </a:solidFill>
                <a:sym typeface="+mn-ea"/>
              </a:rPr>
              <a:t>і</a:t>
            </a:r>
            <a:r>
              <a:rPr lang="en-US" altLang="en-US" sz="2200" dirty="0" err="1">
                <a:solidFill>
                  <a:srgbClr val="000000"/>
                </a:solidFill>
                <a:sym typeface="+mn-ea"/>
              </a:rPr>
              <a:t>.</a:t>
            </a:r>
            <a:r>
              <a:rPr lang="ru-RU" altLang="en-US" sz="22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200" b="1" dirty="0" err="1">
                <a:solidFill>
                  <a:srgbClr val="FFC000"/>
                </a:solidFill>
                <a:sym typeface="+mn-ea"/>
              </a:rPr>
              <a:t>Ціль</a:t>
            </a:r>
            <a:r>
              <a:rPr lang="uk-UA" altLang="en-US" sz="2200" b="1" dirty="0" err="1">
                <a:solidFill>
                  <a:srgbClr val="FFC000"/>
                </a:solidFill>
                <a:sym typeface="+mn-ea"/>
              </a:rPr>
              <a:t> - о</a:t>
            </a:r>
            <a:r>
              <a:rPr lang="en-US" altLang="en-US" sz="2200" b="1" dirty="0" err="1">
                <a:solidFill>
                  <a:srgbClr val="FFC000"/>
                </a:solidFill>
                <a:sym typeface="+mn-ea"/>
              </a:rPr>
              <a:t>тримати доступ до чужого акаунту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  <a:sym typeface="+mn-ea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Broken Access Control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- к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ористувач </a:t>
            </a:r>
            <a:r>
              <a:rPr lang="en-US" altLang="en-US" sz="2200" u="sng" dirty="0" err="1">
                <a:solidFill>
                  <a:srgbClr val="000000"/>
                </a:solidFill>
                <a:ea typeface="Microsoft YaHei" panose="020B0503020204020204" charset="-122"/>
              </a:rPr>
              <a:t>вже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автентифікований, але </a:t>
            </a:r>
            <a:r>
              <a:rPr lang="en-US" altLang="en-US" sz="2200" dirty="0" err="1">
                <a:solidFill>
                  <a:srgbClr val="FF0000"/>
                </a:solidFill>
                <a:ea typeface="Microsoft YaHei" panose="020B0503020204020204" charset="-122"/>
              </a:rPr>
              <a:t>може робити те, що йому </a:t>
            </a:r>
            <a:r>
              <a:rPr lang="uk-UA" altLang="en-US" sz="2200" dirty="0" err="1">
                <a:solidFill>
                  <a:srgbClr val="FF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200" dirty="0" err="1">
                <a:solidFill>
                  <a:srgbClr val="FF0000"/>
                </a:solidFill>
                <a:ea typeface="Microsoft YaHei" panose="020B0503020204020204" charset="-122"/>
              </a:rPr>
              <a:t>не дозволено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(читати, змінювати чужі дані, викликати адмін-функції).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sym typeface="+mn-ea"/>
              </a:rPr>
              <a:t>Механізм атаки</a:t>
            </a:r>
            <a:r>
              <a:rPr lang="uk-UA" altLang="en-US" sz="2200" dirty="0" err="1">
                <a:solidFill>
                  <a:srgbClr val="000000"/>
                </a:solidFill>
                <a:sym typeface="+mn-ea"/>
              </a:rPr>
              <a:t> - </a:t>
            </a:r>
            <a:r>
              <a:rPr lang="uk-UA" altLang="en-US" sz="2200" u="sng" dirty="0" err="1">
                <a:solidFill>
                  <a:srgbClr val="000000"/>
                </a:solidFill>
                <a:sym typeface="+mn-ea"/>
              </a:rPr>
              <a:t>м</a:t>
            </a:r>
            <a:r>
              <a:rPr lang="en-US" altLang="en-US" sz="2200" u="sng" dirty="0" err="1">
                <a:solidFill>
                  <a:srgbClr val="000000"/>
                </a:solidFill>
                <a:ea typeface="Microsoft YaHei" panose="020B0503020204020204" charset="-122"/>
              </a:rPr>
              <a:t>аніпуляції URL / ID / payload, обходи ролей та політик, невірні перевірки </a:t>
            </a:r>
            <a:r>
              <a:rPr lang="uk-UA" altLang="en-US" sz="2200" u="sng" dirty="0" err="1">
                <a:solidFill>
                  <a:srgbClr val="000000"/>
                </a:solidFill>
                <a:ea typeface="Microsoft YaHei" panose="020B0503020204020204" charset="-122"/>
              </a:rPr>
              <a:t>прав </a:t>
            </a:r>
            <a:r>
              <a:rPr lang="en-US" altLang="en-US" sz="2200" u="sng" dirty="0" err="1">
                <a:solidFill>
                  <a:srgbClr val="000000"/>
                </a:solidFill>
                <a:ea typeface="Microsoft YaHei" panose="020B0503020204020204" charset="-122"/>
              </a:rPr>
              <a:t>у контролерах чи сервісах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b="1" dirty="0" err="1">
                <a:solidFill>
                  <a:srgbClr val="FFC000"/>
                </a:solidFill>
                <a:sym typeface="+mn-ea"/>
              </a:rPr>
              <a:t>Ціль</a:t>
            </a:r>
            <a:r>
              <a:rPr lang="uk-UA" altLang="en-US" sz="2200" b="1" dirty="0" err="1">
                <a:solidFill>
                  <a:srgbClr val="FFC000"/>
                </a:solidFill>
                <a:sym typeface="+mn-ea"/>
              </a:rPr>
              <a:t> - в</a:t>
            </a:r>
            <a:r>
              <a:rPr lang="en-US" altLang="en-US" sz="2200" b="1" dirty="0" err="1">
                <a:solidFill>
                  <a:srgbClr val="FFC000"/>
                </a:solidFill>
                <a:ea typeface="Microsoft YaHei" panose="020B0503020204020204" charset="-122"/>
              </a:rPr>
              <a:t>иконати заборонену дію або отримати доступ до чужих ресурсів</a:t>
            </a:r>
            <a:endParaRPr lang="en-US" altLang="en-US" sz="2200" b="1" dirty="0" err="1">
              <a:solidFill>
                <a:srgbClr val="FFC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Шкода від ВАС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Витік персональних і комерційних даних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Повна компрометація бізнес</a:t>
            </a:r>
            <a:r>
              <a:rPr lang="uk-UA" altLang="en-US" sz="1900" dirty="0" err="1">
                <a:solidFill>
                  <a:srgbClr val="000000"/>
                </a:solidFill>
                <a:sym typeface="+mn-ea"/>
              </a:rPr>
              <a:t>-</a:t>
            </a: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логіки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Ескалація привілеїв без зламу акаунтів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sym typeface="+mn-ea"/>
              </a:rPr>
              <a:t>Юридичні та фінансові наслідки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Наскільки часто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зустрічається: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Це ТОП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1 категорія OWASP багато років поспіль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 ASP.NET Core виникає регулярно, особливо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 CRUD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API та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мікросервісах</a:t>
            </a:r>
            <a:endParaRPr lang="uk-UA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Додаткова інформація щодо авторизації та автентифікації:</a:t>
            </a:r>
            <a:endParaRPr lang="uk-UA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https://github.com/sunmeat/aspnetcore_broken_auth2/blob/master/identity%20google.docx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  <a:hlinkClick r:id="rId2" tooltip="" action="ppaction://hlinkfile"/>
              </a:rPr>
              <a:t>https://github.com/sunmeat/aspnetcore_broken_auth2/blob/master/identity%20passwords.docx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  <a:hlinkClick r:id="rId3" tooltip="" action="ppaction://hlinkfile"/>
              </a:rPr>
              <a:t>https://github.com/sunmeat/aspnetcore_broken_auth2/blob/master/identity%20registration.docx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  <a:hlinkClick r:id="rId4" tooltip="" action="ppaction://hlinkfile"/>
              </a:rPr>
              <a:t>https://github.com/sunmeat/aspnetcore_broken_auth2/blob/master/identity.docx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53948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rgbClr val="FFFFFF"/>
                </a:solidFill>
                <a:ea typeface="Microsoft YaHei" panose="020B0503020204020204" charset="-122"/>
              </a:rPr>
              <a:t>Де саме виникає вразливість</a:t>
            </a:r>
            <a:r>
              <a:rPr lang="uk-UA" altLang="en-US" sz="4000" dirty="0" err="1">
                <a:solidFill>
                  <a:srgbClr val="FFFFFF"/>
                </a:solidFill>
                <a:ea typeface="Microsoft YaHei" panose="020B0503020204020204" charset="-122"/>
              </a:rPr>
              <a:t> ВАС</a:t>
            </a:r>
            <a:endParaRPr lang="uk-UA" altLang="en-US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Найчастіші місця</a:t>
            </a:r>
            <a:r>
              <a:rPr lang="uk-UA" altLang="en-US" sz="1800" dirty="0" err="1">
                <a:solidFill>
                  <a:srgbClr val="000000"/>
                </a:solidFill>
                <a:sym typeface="+mn-ea"/>
              </a:rPr>
              <a:t>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Controllers / Minimal APIs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Відсутній [Authorize]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Є [Authorize], але немає перевірки ownership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Неправильні policy / role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EF Core (Data Access Layer)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db.Orders.Find(id) без фільтра по UserId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Вся таблиця доступна, а фільтрація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відбувається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“на клієнті”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Custom Authorization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Самописні перевірки if (user.Role == "Admin")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Логіка розмазана по контролерах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Middleware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Access control реалізований після виконання endpoint-а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Неправильний порядок UseAuthentication() / UseAuthorization()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Program.cs 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Нема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app.UseAuthorization()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Policy оголошені, але ніде не використовуються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Типові помилки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BAC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Довіря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ти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id з URL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Фільтру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вати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дані після ToList()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Один “AdminController”, решта без захисту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“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Так ц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 ж внутрішній API”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Copy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paste прикладів без розуміння, що вони роблять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Наслідки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Перегляд / зміна / видалення чужих даних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Повний контроль над бізнес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процесами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Порушення GDPR /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PCI DSS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70077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100" dirty="0" err="1">
                <a:solidFill>
                  <a:srgbClr val="FFFFFF"/>
                </a:solidFill>
                <a:ea typeface="Microsoft YaHei" panose="020B0503020204020204" charset="-122"/>
              </a:rPr>
              <a:t>Real</a:t>
            </a:r>
            <a:r>
              <a:rPr lang="uk-UA" altLang="en-US" sz="4100" dirty="0" err="1">
                <a:solidFill>
                  <a:srgbClr val="FFFFFF"/>
                </a:solidFill>
                <a:ea typeface="Microsoft YaHei" panose="020B0503020204020204" charset="-122"/>
              </a:rPr>
              <a:t>-</a:t>
            </a:r>
            <a:r>
              <a:rPr lang="en-US" altLang="en-US" sz="4100" dirty="0" err="1">
                <a:solidFill>
                  <a:srgbClr val="FFFFFF"/>
                </a:solidFill>
                <a:ea typeface="Microsoft YaHei" panose="020B0503020204020204" charset="-122"/>
              </a:rPr>
              <a:t>world сценарій атаки (IDOR)</a:t>
            </a:r>
            <a:endParaRPr lang="en-US" altLang="en-US" sz="41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Хто атакує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Звичайний користувач, без адмінських прав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Що бачить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GET /api/orders/123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Що робить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Міняє 123 → 124, 125, 126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)))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Що отримує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Замовлення інших користувачів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Адреси, ціни, персональні дані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Broken Object Level Authorization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Broken Object Level Authorization (BOLA)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або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IDOR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—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це конкретний випадок Broken Access Control, коли користувач отримує або змінює об’єкти, які йому не належать, просто підставляючи чужий ідентифікатор у запиті. Сервер при цьому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 перевіряє належність об’єкта користувачу, і через це можна отримати доступ до чужих даних або виконати дії від імені іншого користувача. Це порушує базовий принцип контролю доступу на рівні об’єктів і створює критичну вразливість в API.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BOLA є підтипом BAC, бо, по суті, це одна з форм порушення прав користувача: він робить те, що йому заборонено. Відмінність лише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в тому, що BAC охоплює будь-яке недотримання правил доступу,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 BOLA конкретно стосується доступу до об’єктів на рівні даних,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де відсутня перевірка власності або дозволів. Таким чином,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всі випадки BOLA — це BAC, але не всі BAC обмежуються лише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доступом до окремих об’єктів.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0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Приклад вразливості </a:t>
            </a:r>
            <a:r>
              <a:rPr lang="en-US" altLang="uk-UA" sz="40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IDOR</a:t>
            </a:r>
            <a:endParaRPr lang="en-US" altLang="uk-UA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https://github.com/sunmeat/aspnetcore_idor1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75" y="2568575"/>
            <a:ext cx="6534150" cy="44767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0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Приклад боротьби з </a:t>
            </a:r>
            <a:r>
              <a:rPr lang="en-US" altLang="en-US" sz="40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IDOR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https://github.com/sunmeat/aspnetcore_idor2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8 1316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05" y="2618740"/>
            <a:ext cx="6104890" cy="41694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Cryptographic Failures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045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Cryptographic Failures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 вразливостей, коли: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дані не шифруються, коли мали б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або шифруються неправильно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або використовуються слабкі / застарілі алгоритми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або ключі зберігаються / передаються як попало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 часто зустрічається: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Дуже часто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старих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та й не дуже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проєктах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Часто в pet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проєктах, де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 так зійде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Масово зустрічається у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самописних системах автентифікації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Яку шкоду наносить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Витік паролів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Компрометація токенів / сесій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Витік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PII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(email, phone, address)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Повн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 втрата доступу до акаунту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Юридичні проблеми (GDPR,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HIPAA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Де саме виника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ють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CF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Найчастіші місця: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Controllers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Шифрування / дешифрування даних прямо в контролері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Хешування паролів вручну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Передача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конфіденційних даних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в query string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Кастомна автентифікація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/ JWT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Program.cs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HTTPS вимкнений або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опційний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Немає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HSTS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EF Core / Database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Паролі або токени зберігаються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як звичайний текст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«Зашифровані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 через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Base64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Ключі зберігаються в тій самій БД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Middleware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Логування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конфіденційних даних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Найпопулярніші фейли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045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Base64 ≠ encryption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var encoded = Convert.ToBase64String(bytes);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MD5 / SHA1 для паролів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using var sha1 = SHA1.Create(); 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Власний crypto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var encrypted = myCustomEncrypt(data);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Один ключ на всіх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const string SecretKey = "123456";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Sensitive data в URL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/mainpage?login=sunmeat&amp;password=qwerty1234</a:t>
            </a:r>
            <a:endParaRPr lang="ru-RU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запобігти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CF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Механізми платформи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Паролі: IPasswordHasher&lt;User&gt; (використовується в ASP.NET Identity)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Data Protection API: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IDataProtector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HTTPS + HSTS: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app.UseHttpsRedirection();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app.UseHsts();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JWT: ValidateLifetime = true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к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люч ≥ 256 біт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zh-CN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Secrets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User Secrets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Azure Key Vault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Змінні середовища</a:t>
            </a:r>
            <a:endParaRPr lang="uk-UA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Антипатерни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CF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Власна crypto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реалізація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Шифрування без аутентифікації (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AES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без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HMAC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      бо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мож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зашифрувати дані, але ніяк не впевнитися,     що вони не були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перед цим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підмінені)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Ключі в appsettings.json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Логи з токенами / паролями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А давайте з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ашифруємо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взагалі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u="sng" dirty="0" err="1">
                <a:solidFill>
                  <a:srgbClr val="000000"/>
                </a:solidFill>
                <a:ea typeface="Microsoft YaHei" panose="020B0503020204020204" charset="-122"/>
              </a:rPr>
              <a:t>все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про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всяк випадок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Де НЕ варто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оверсекьюріти: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Шифрувати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публічні дані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Кожен DTO 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Шифрувати вже зашифроване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бо страшно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	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828800" lvl="4" indent="457200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Security ≠ paranoia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:)</a:t>
            </a: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не треба робити 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1.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Зберіга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ти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парол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ь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у plain text або через Base64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user.Password = request.Password; </a:t>
            </a:r>
            <a:r>
              <a:rPr lang="en-US" altLang="en-US" sz="2300" dirty="0" err="1">
                <a:solidFill>
                  <a:srgbClr val="00B050"/>
                </a:solidFill>
                <a:ea typeface="Microsoft YaHei" panose="020B0503020204020204" charset="-122"/>
              </a:rPr>
              <a:t>// plain text в БД</a:t>
            </a:r>
            <a:endParaRPr lang="en-US" altLang="en-US" sz="2300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B050"/>
                </a:solidFill>
                <a:ea typeface="Microsoft YaHei" panose="020B0503020204020204" charset="-122"/>
              </a:rPr>
              <a:t>// або</a:t>
            </a:r>
            <a:endParaRPr lang="en-US" altLang="en-US" sz="2300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user.Password = Convert.ToBase64String(Encoding.UTF8.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200400" lvl="7" indent="457200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GetBytes(request.Password));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Base64 — це не шифрування, а лише кодування.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Будь-хто може декодувати назад.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не треба робити 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2.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Хешува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ти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парол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ь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через SHA1 або MD5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using var sha1 = SHA1.Create();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user.PasswordHash = Convert.ToBase64String(sha1.ComputeHash(Encoding.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											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UTF8.GetBytes(password)));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SHA1 та MD5 давно зламані для паролів.Треба використовувати Argon2, PBKDF2, bcrypt або SCrypt.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не треба робити 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3. Винаходити власні способи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шифрування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uk-UA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,      типу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XOR з фіксованим ключем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var key = Encoding.UTF8.GetBytes("mysecret123");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var encrypted = data.Select((b, i) =&gt;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828800" lvl="4" indent="457200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(byte)(b ^ key[i % key.Length])).ToArray();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Класичний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доморо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щен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ий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crypto — легко ламається, немає а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тентифікації даних.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не треба робити 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4. Зберігати фіксований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секретний ключ прямо в коді для JWT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var key = new SymmetricSecurityKey(Encoding.UTF8.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									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GetBytes("super_secret_key_12345"));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var creds = new SigningCredentials(key,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														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SecurityAlgorithms.HmacSha256);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Жорстко закодований ключ — після витоку коду (GitHub тощо) всі токени можна підробити.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не треба робити 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5.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Передавати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парол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ь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в query string (контролер)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[HttpGet("login")]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public IActionResult Login(string username, string password)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													</a:t>
            </a:r>
            <a:r>
              <a:rPr lang="uk-UA" altLang="en-US" sz="2000" dirty="0" err="1">
                <a:solidFill>
                  <a:srgbClr val="00B050"/>
                </a:solidFill>
                <a:ea typeface="Microsoft YaHei" panose="020B0503020204020204" charset="-122"/>
              </a:rPr>
              <a:t>	</a:t>
            </a:r>
            <a:r>
              <a:rPr lang="en-US" altLang="en-US" sz="2000" dirty="0" err="1">
                <a:solidFill>
                  <a:srgbClr val="00B050"/>
                </a:solidFill>
                <a:ea typeface="Microsoft YaHei" panose="020B0503020204020204" charset="-122"/>
              </a:rPr>
              <a:t>// password в URL!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або й</a:t>
            </a:r>
            <a:b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</a:b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[HttpPost]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[AllowAnonymous]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public async Task&lt;IActionResult&gt; Login(string username,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									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string password, string? returnUrl = null)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{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...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}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Конфіденційні дані в URL потрапляють в логи сервера, проксі, браузерну історію.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Хороші новини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 попередньому проєкті </a:t>
            </a:r>
            <a:r>
              <a:rPr lang="en-US" altLang="en-US" sz="1800" dirty="0" err="1">
                <a:solidFill>
                  <a:srgbClr val="000000"/>
                </a:solidFill>
                <a:sym typeface="+mn-ea"/>
                <a:hlinkClick r:id="rId1" action="ppaction://hlinkfile"/>
              </a:rPr>
              <a:t>https://github.com/sunmeat/aspnetcore_idor2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икорист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овується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ASP.NET Core Identity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Паролі автоматично хешуються за допомогою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PBKDF2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HMAC-SHA256, random salt, 10 000+ ітерацій (за замовчуванням у Identity).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Це сучасний, рекомендований алгоритм — ніяких MD5/SHA1/Base64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Немає ручного хешування чи шифрування паролів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накшталт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SHA1.ComputeHash(password) чи подібн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ого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— все делеговано _signInManager.PasswordSignInAsync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Сесії та кукі аутентифікації захищені за замовчуванням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Identity використовує захищені HttpOnly, Secure (при HTTPS) кукі.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Дані сесії шифруються та підписуються Data Protection API (AES-256 + HMAC)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app.UseHttpsRedirection() присутній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п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римусово перенаправляє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на HTTPS → кукі та паролі передаються шифрованим каналом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Пароль не логується і не зберігається в plain text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він передається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тільки в PasswordSignInAsync, далі Identity його одразу хешує і стирає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Немає жорстко закодованих секретів чи ключів у коді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2625" y="6049010"/>
            <a:ext cx="14462760" cy="5162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Погані новини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Дуже слабкі вимоги до пароля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lockoutOnFailure: false при логіні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имкнено блокування акаунту після кількох невдалих спроб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Пароль передається як окремі параметри в POST,       а не через модель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ru-RU" alt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не критично, але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ароль може випадково потрапити в логи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algn="ctr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Виправлена версія:</a:t>
            </a:r>
            <a:r>
              <a:rPr lang="en-US" alt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3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https://github.com/sunmeat/aspnetcore_cryptofailures</a:t>
            </a:r>
            <a:endParaRPr lang="en-US" altLang="en-US" sz="3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Injection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Injection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це ситуація, коли дані від користувача стають частиною коду, а не просто значенням. Сервер думає, що виконує логіку програми, а насправді виконує те, що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йому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підсунув клієнт.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це трапляється не через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дірявість фреймворку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а через необроблені вхідні дані, які: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напряму підставляють у SQL / MongoDB / shell-команди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використовують у динамічних виразах (LINQ, Expression,      raw SQL)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Виникає часто, особливо: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CRUD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ендпойнтах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фільтрації / сортуванні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кастомній авторизації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швидко написаних admin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API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Шкода — від читання чужих даних до повного RCE                    			(remote command execution).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9188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Де саме з’являється вразливість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Найчастіше — не в middleware, а ближче до бізнес-логіки.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controller’ах — коли параметри з query / body напряму йдуть у запит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 EF Core — коли замість LINQ використовують FromSqlRaw, ExecuteSqlRaw або динамічний LINQ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custom auth — коли ролі / permissions перевіряють через raw SQL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Program.cs — рідко, але буває, якщо там конфігурують shell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команди або міграції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Ключове: Injection — це не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SQL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проблема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проблема довіри до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інпуту грабками користувача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Критичність і поширеність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Injection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одна з топ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уразливостей у web взагалі,                   і ASP.NET Core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тут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не виняток.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Наслідки залежать від рівня доступу: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читання будь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яких даних з БД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обхід авторизації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модифікація даних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виконання команд на сервері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реальних .NET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проєктах це масова проблема, особливо: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внутрішніх API (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та це ж не публічне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старих проєктах на .NET Core 2/3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адмінках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запобігти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Injections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ASP.NET Core і .NET уже мають усе необхідне: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EF Core LINQ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параметризовані запити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model binding + validation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IFormFile, а не шляхи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ArgumentList, а не string-command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Правильний патерн — дані завжди залишаються даними.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Анти-патерн — будь-яка конкатенація, де поряд живуть input і код.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Injection у ASP.NET Core —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це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ой, не пощастило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а наслідок рішення розробника.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Фреймворк безпечний рівно настільки, наскільки його правильно використовують. І майже завжди це виправляється без архітектурних перебудов, якщо вчасно думати, де саме закінчуються дані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		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й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починається код.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вдалі ін’єкції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https://github.com/sunmeat/aspnetcore_injections</a:t>
            </a:r>
            <a:endParaRPr lang="en-US" altLang="en-US" sz="3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9 145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2746375"/>
            <a:ext cx="4189095" cy="3792855"/>
          </a:xfrm>
          <a:prstGeom prst="rect">
            <a:avLst/>
          </a:prstGeom>
        </p:spPr>
      </p:pic>
      <p:pic>
        <p:nvPicPr>
          <p:cNvPr id="3" name="Picture 2" descr="Screenshot 2026-01-09 1450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30" y="2663825"/>
            <a:ext cx="3674110" cy="40589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37311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Жах :)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9 1450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55" y="1062355"/>
            <a:ext cx="3593465" cy="2111375"/>
          </a:xfrm>
          <a:prstGeom prst="rect">
            <a:avLst/>
          </a:prstGeom>
        </p:spPr>
      </p:pic>
      <p:pic>
        <p:nvPicPr>
          <p:cNvPr id="3" name="Picture 2" descr="Screenshot 2026-01-09 145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490" y="64135"/>
            <a:ext cx="4423410" cy="3025140"/>
          </a:xfrm>
          <a:prstGeom prst="rect">
            <a:avLst/>
          </a:prstGeom>
        </p:spPr>
      </p:pic>
      <p:pic>
        <p:nvPicPr>
          <p:cNvPr id="4" name="Picture 3" descr="Screenshot 2026-01-09 150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" y="3311525"/>
            <a:ext cx="3817620" cy="3546475"/>
          </a:xfrm>
          <a:prstGeom prst="rect">
            <a:avLst/>
          </a:prstGeom>
        </p:spPr>
      </p:pic>
      <p:pic>
        <p:nvPicPr>
          <p:cNvPr id="5" name="Picture 4" descr="Screenshot 2026-01-09 1505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430" y="3184525"/>
            <a:ext cx="7266940" cy="357314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Security Misconfiguration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Security Misconfiguration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це не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одна конкретна дірка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а клас проблем. Суть проста: платформа дає безпечні механізми, але їх або не вмикають, або вмикають неправильно, або залишають дефолти, які підходять лише для локального девелопменту.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контексті ASP.NET Core це майже завжди: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відкритий або надто ліберальний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CORS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відсутні або неповні security headers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увімкнений debug / detailed errors / swagger / health endpoints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у production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зайві сервіси, middleware або endpoints, які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потім приберемо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конфігурація через appsettings.json, яка ніколи                           не переглядалася з точки зору загроз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Ця вразливість стабільно в топах OWASP, бо вона масова.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Не тому що ASP.NET Core поганий, а тому що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програмери ліниві, 		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або не думають про модель загроз взагалі.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CORS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Cross-Origin Resource Sharing (CORS)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—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стандартний механізм, який дозволяє серверу контролювати, які зовнішні джерела (origins) можуть отримувати доступ до ресурсів через браузер. CORS    не є засобом безпеки сам по собі, а лише інструментом для явного дозволу крос-доменних запитів. Браузери     за замовчуванням дотримуються політики same-origin, яка забороняє запити до іншого домену. Сервер додає спеціальні HTTP-заголовки (Access-Control-Allow-Origin, Access-Control-Allow-Methods, Access-Control-Allow-Headers, Access-Control-Allow-Credentials), які повідомляють браузеру, чи дозволено виконувати запит.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CORS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Налаштування CORS в ASP.NET Core здійснюється трьома основними способами: через middleware з іменованими або стандартною політикою, через атрибути на ендпоінтах та через endpoint routing. Найчастіше використовують метод middleware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спочатку реєстру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ються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політики в Program.cs за допомогою builder.Services.AddCors(...), а потім підключає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ться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app.UseCors(...). Політику створю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ють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через CorsPolicyBuilder, де можна вказати конкретні дозволені origins (WithOrigins), методи (WithMethods), заголовки (WithHeaders), підтримку credentials (AllowCredentials). Важливо: поєднання AllowAnyOrigin() та AllowCredentials() вважається небезпечним і може сприяти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CSRF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-атакам.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CORS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рекомендовано використовувати атрибут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[EnableCors("</a:t>
            </a:r>
            <a:r>
              <a:rPr lang="uk-UA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Назва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Політики")]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для максимально точного контролю над окремими контролерами чи діями. Практичні кейси включають: дозволяти доступ фронтенду на іншому домені (наприклад, https://frontend.com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зможе звертатися до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https://api.backend.com), підтримку credentials (дан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их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за допомогою яких сервер ідентифікує користувача)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для автентифікованих запитів (тільки конкретні origins, не "*"), автоматичну обробку запитів. У production-середовищі завжди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треба вказувати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точний список дозволених origins та методів,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щоб зменшити поверхню атаки.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Перевірку налаштувань зручно виконувати через мережеві інструменти браузера (Network tab) — потрібно переконатися,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що заголовок Access-Control-Allow-Origin відповідає Origin запиту.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разі помилок браузер блокує запит, а в консолі з'являється чітке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		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повідомлення про порушення CORS-політики.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rgbClr val="FFFFFF"/>
                </a:solidFill>
                <a:ea typeface="Microsoft YaHei" panose="020B0503020204020204" charset="-122"/>
              </a:rPr>
              <a:t>Де саме виникає</a:t>
            </a:r>
            <a:r>
              <a:rPr lang="uk-UA" altLang="en-US" sz="3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3200" dirty="0" err="1">
                <a:solidFill>
                  <a:srgbClr val="FFFFFF"/>
                </a:solidFill>
                <a:sym typeface="+mn-ea"/>
              </a:rPr>
              <a:t>Security Misconfiguration</a:t>
            </a:r>
            <a:endParaRPr lang="uk-UA" altLang="en-US" sz="3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Найчастіше — в Program.cs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UseCors() з політикою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AllowAnyOrigin().AllowAnyHeader().AllowAnyMethod()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UseDeveloperExceptionPage() або app.UseSwagger()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без перевірки environment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відсутній UseHsts(), UseHttpsRedirection() або security headers middleware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Controllers тут зазвичай не винні напряму, але саме вони стають поверхнею атаки, бо відкритий CORS або debug робить їх доступними з будь-якого браузера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EF Core — рідко першопричина, але через misconfiguration можна легко злити структуру БД, SQL-запити або connection string через stack trace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Custom auth — окрема пісня.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Коли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токен підписаний,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 прострочений, user знайдений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а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ле контекст, звідки і як цей токен використовується, ігнорується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Типові помилки розробників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Перша і найпоширеніша —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це ж backend, його не видно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Видно. Через браузер, через проксі, через curl, через чужий фронтенд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Друга — копіпаст з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нейромережки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без розуміння. Особливо CORS: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builder.Services.AddCors(options =&gt;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{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options.AddPolicy("AllowAll", p =&gt;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p.AllowAnyOrigin()</a:t>
            </a:r>
            <a:endParaRPr lang="en-US" altLang="en-US" sz="17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.AllowAnyMethod()</a:t>
            </a:r>
            <a:endParaRPr lang="en-US" altLang="en-US" sz="17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.AllowAnyHeader());</a:t>
            </a:r>
            <a:endParaRPr lang="en-US" altLang="en-US" sz="17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2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});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 це їде в production.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Третя — плутанина між authentication і authorization.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нас JWT, значить все ок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Ні, якщо браузер може автоматично відправляти цей JWT на ваш API з будь-якого домену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Четверта — debug-режим як спосіб життя. Детальні помилки, stack traces, environment variables — все це дуже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“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любить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”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production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Критичність і поширеність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не рідкісна прикрість, це масова проблема.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реальних ASP.NET Core проєктах відкритий або напіввідкритий CORS трапляється постійно,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особливо коли є SPA + API.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Наслідки залежать від контексту: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XSS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+ відкритий CORS = викрадення токенів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відкритий CORS + cookie auth = CSRF без жодних зусиль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debug + exception details = витік логіки, шляхів, секретів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swagger в production = готова карта API для атакуючого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Ч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ому це з’являється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117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Головна причина — відсутність моделі загроз. Люди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не сідають і не відповідають на базові питання: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хто клієнт?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 яких доменів він ходить?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що буде, якщо клієнт злий?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що бачить браузер?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Друга причина —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довіряємо клієнту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 Особливо frontend-команді.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Ну фронт же наш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 А браузер —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не ваш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Третя — неправильне використання фреймворку. ASP.NET Core гнучкий, але гнучкість без розуміння = дірки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 безпеці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Четверта — сліпе копіювання коду з нейромереж, туторіалів, демо-проєктів. Демо не дорівнює production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як не треба робити 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https://github.com/sunmeat/aspnetcore_cors</a:t>
            </a:r>
            <a:endParaRPr lang="en-US" altLang="en-US" sz="3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" y="2663825"/>
            <a:ext cx="7803515" cy="425894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зробити правильно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https://gist.github.com/sunmeat/b5d2e24308def238838e73968667ebb9</a:t>
            </a: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45756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700" dirty="0" err="1">
                <a:solidFill>
                  <a:srgbClr val="FFFFFF"/>
                </a:solidFill>
                <a:ea typeface="Microsoft YaHei" panose="020B0503020204020204" charset="-122"/>
              </a:rPr>
              <a:t>Vulnerable and Outdated Components</a:t>
            </a:r>
            <a:endParaRPr lang="en-US" altLang="en-US" sz="37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Vulnerable and Outdated Components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це одна з найбільш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простих для розуміння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 водночас найнебезпечніших вразливостей у вебзастосунках, і в ASP.NET Core вона трапляється не через “хакерську магію”, а через банальну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програмістську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лінь, поспіх або ілюзію стабільності.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Будь-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який застосунок складається не лише з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ашого коду,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 й з десятків або сотень сторонніх бібліотек — NuGet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пакетів, фреймворків, SDK. Кожна з них пишеться людьми, </a:t>
            </a:r>
            <a:r>
              <a:rPr lang="en-US" altLang="en-US" sz="2100" u="sng" dirty="0" err="1">
                <a:solidFill>
                  <a:srgbClr val="000000"/>
                </a:solidFill>
                <a:ea typeface="Microsoft YaHei" panose="020B0503020204020204" charset="-122"/>
              </a:rPr>
              <a:t>які теж помиляються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 Коли в бібліотеці знаходять вразливість, її або фіксять у новій версії, або залишають “як є”, якщо пакет застарілий. Якщо проєкт роками сидить на старій версії 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це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автоматично успадковує всі відомі дірки. Це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теж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не екзотика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 не “рідкісний кейс”, це реальність будь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якого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проєкту, який живе довше року.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49312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а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OC: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де виникає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 ASP.NET Core ця проблема не прив’язана до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якогось одного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конкретного шару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архітектури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 Вона може виникати в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мідлварях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, якщо використовується застарілий пакет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CORS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або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логування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 У контролерах — якщо напряму поклада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ти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сь на бібліотеки серіалізації або валідації, які вже мають відомі RCE або DoS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вразливості. В EF Core — якщо старі провайдери бази даних або lazy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loading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проксі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мають проблеми з SQL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ін’єкціями або витоками даних.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В кастомній автентифікації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—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якщо використовуються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старі JWT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бібліотеки, які неправильно валідують алгоритм. Навіть у Program.cs, де підключаються залежності, може бути закладена проблема, якщо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додаток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стартує на .NET runtime, який уже офіційно EOL.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2774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700" dirty="0" err="1">
                <a:solidFill>
                  <a:srgbClr val="FFFFFF"/>
                </a:solidFill>
                <a:sym typeface="+mn-ea"/>
              </a:rPr>
              <a:t>V</a:t>
            </a:r>
            <a:r>
              <a:rPr lang="uk-UA" altLang="en-US" sz="3700" dirty="0" err="1">
                <a:solidFill>
                  <a:srgbClr val="FFFFFF"/>
                </a:solidFill>
                <a:sym typeface="+mn-ea"/>
              </a:rPr>
              <a:t>а</a:t>
            </a:r>
            <a:r>
              <a:rPr lang="en-US" altLang="en-US" sz="3700" dirty="0" err="1">
                <a:solidFill>
                  <a:srgbClr val="FFFFFF"/>
                </a:solidFill>
                <a:sym typeface="+mn-ea"/>
              </a:rPr>
              <a:t>OC: </a:t>
            </a:r>
            <a:r>
              <a:rPr lang="uk-UA" altLang="en-US" sz="3700" dirty="0" err="1">
                <a:solidFill>
                  <a:srgbClr val="FFFFFF"/>
                </a:solidFill>
                <a:sym typeface="+mn-ea"/>
              </a:rPr>
              <a:t>типові помилки розробника</a:t>
            </a:r>
            <a:endParaRPr lang="uk-UA" altLang="en-US" sz="37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6007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Типова помилка .NET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розробника тут навіть не в тому, що він “не знає”, а в тому, що він </a:t>
            </a:r>
            <a:r>
              <a:rPr lang="en-US" altLang="en-US" sz="2100" u="sng" dirty="0" err="1">
                <a:solidFill>
                  <a:srgbClr val="000000"/>
                </a:solidFill>
                <a:ea typeface="Microsoft YaHei" panose="020B0503020204020204" charset="-122"/>
              </a:rPr>
              <a:t>вважає оновлення ризиком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 Фрази на кшталт “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й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так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все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працює”, “оновимо потім”, “боюсь,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що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сь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зламається” — класика. Ще одна поширена помилка — фіксовані версії пакетів без регулярного перегляду,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або </a:t>
            </a:r>
            <a:r>
              <a:rPr lang="uk-UA" sz="2100" dirty="0" err="1">
                <a:solidFill>
                  <a:srgbClr val="000000"/>
                </a:solidFill>
                <a:ea typeface="Microsoft YaHei" panose="020B0503020204020204" charset="-122"/>
              </a:rPr>
              <a:t>копіпаста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із чужого репозиторію, де половина залежностей уже мертва. 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За критичністю ця вразливість може коливатись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від “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мені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неприємно” до “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повний капець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”. Якщо застарілий логер — максимум DoS або витік логів. Якщо стара бібліотека автентифікації або серіалізації — це вже RCE, обхід auth або повний компроміс сервера. В ASP.NET Core проєктах це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не одноразова прикрість, а масова проблема, яка стабільно входить у топ OWASP. Просто вона не виглядає драматично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uk-UA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2774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а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OC: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як запобігти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Запобігання тут нудне, але ефективне. Платформа .NET вже дає інструменти: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dotnet list package --vulnerable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NuGet advisory database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GitHub Dependabot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. Правильний патерн — регулярні оновлення залежностей малими кроками, а не “раз на три роки”. Правильний підхід — знати, для чого кожен пакет у вашому проєкті і чи не можна його викинути. Анти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патерн — тягнути бібліотеки “про всяк випадок”, або використовувати фреймворк поверх фреймворку, не розуміючи, що всередині.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Першопричина завжди одна й та сама: відсутність моделі загроз і ілюзія, що “фреймворк подбає”. Додається сліпа довіра клієнту, неправильне використання API та бездумний copy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paste з блогів і нейромереж, де код виглядає красиво, але залежить від пакетів, які вже мають десяток CVE. Це не проблема технології —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це проблема дисципліни.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2774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а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OC: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усунення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Усунення теж виглядає нудно, але ефективно: оновлення бібліотеки до актуальної версії, явна типізація моделей, вимкнення небезпечних режимів серіалізації, видалення непотрібних пакетів і оновлення runtime. Часто це буквально кілька рядків: підняти версію пакета, змінити налаштування в AddControllers(), додати валідацію.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Іронія в тому, що це одна з небагатьох вразливостей,   яку можна закрити без героїзму, криптографії чи “чорної магії”. Потрібно лише перестати вірити, що час зупинився, і визнати: застарілий код — це не стабільність,                 а відкладена проблема.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Server-Side Request Forgery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SSRF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це вразливість, коли сервер сам робить </a:t>
            </a:r>
            <a:r>
              <a:rPr lang="ru-RU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ru-RU" sz="23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ru-RU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HTTP-запит туди, куди йому вкаже користувач.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Не браузер. Не Postman. Ваш backend. Під вашими правами. З вашої мережі.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Схема зазвичай наступна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Клієнт</a:t>
            </a:r>
            <a:r>
              <a:rPr lang="ru-RU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надсилає URL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Сервер без перевірок виконує HttpClient.GetAsync(url)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Атакер радісно лізе у</a:t>
            </a:r>
            <a:r>
              <a:rPr lang="ru-RU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http://localhost</a:t>
            </a:r>
            <a:r>
              <a:rPr lang="ru-RU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внутрішні сервіси, Redis, admin-панелі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тощо</a:t>
            </a:r>
            <a:endParaRPr lang="uk-UA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Яку шкоду наносить SSRF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SSRF — 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це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точка входу в інфраструктуру: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Доступ до внутрішніх сервісів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Викрадення cloud credentials (AWS / 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Azure metadata)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Обхід 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фаєрволів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(сервер</a:t>
            </a:r>
            <a:r>
              <a:rPr lang="ru-RU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-то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довіряє сам собі)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Доступ до admin-endpoint’ів без </a:t>
            </a:r>
            <a:r>
              <a:rPr lang="ru-RU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автентиф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ікації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Комбо з RCE (remote code execution) / deserialization / file upload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SSRF дуже часто — перший крок у ланцю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жку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атаки.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Де саме виникає SSRF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[HttpGet("fetch")]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public async Task&lt;IActionResult&gt; Fetch(string url)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{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var client = new HttpClient();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var data = await client.GetStringAsync(url);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return Ok(data);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lvl="1" indent="0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}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Мілдварі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логування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вебхуків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image / pdf preview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EF Core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зберігання URL в БД + подальше використання → SSRF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Program.cs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глобальні HttpClient’и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background services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Типові помилки розробників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“Це ж просто URL, що може піти не так?”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Використання HttpClient без: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whitelist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DNS-перевірки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IP-фільтрації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Copy-paste з StackOverflow / ChatGPT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Нуль threat-model’у: “у нас же</a:t>
            </a:r>
            <a:r>
              <a:rPr lang="uk-UA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 ж</a:t>
            </a: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 не банк”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Як усунути вразливість: </a:t>
            </a: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https://gist.github.com/sunmeat/c0ac4ded75a476a387f55dcf4de1b246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XSS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XSS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 вразливостей, коли користувацькі дані потрапляють у HTML / JS без коректного екранування,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 браузер виконує їх як код.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Зловмисник: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впроваджує JavaScript у сторінку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браузер жертви довіряє цьому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код виконується в контексті домену жертви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Ц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 не серверна вразливість, а клієнтська, але причина майже завжди на сервері.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XSS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Cross-Site Scripting (XSS)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— це атака, при якій зловмисник впроваджує шкідливий JavaScript-код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веб-сторінку через необроблені дані користувача. Код виконується в браузері жертви та може красти cookies, токени сесії, змінювати вміст сторінки чи виконувати дії від імені користувача. В ASP.NET Core існують три основні типи XSS: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reflected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(відбиття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 відповіді),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stored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(зберігання в базі даних)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та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DOM-based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(маніпуляція DOM на клієнті). Вразливість виникає, коли дані з форми, query string, заголовків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ч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и БД виводяться в HTML, JavaScript або атрибути без належного енкодингу.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Яку шкоду наносить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XSS дозволяє: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красти cookies / session / JWT (якщо в JS)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виконувати дії від імені користувача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підміняти DOM (фейкові кнопки, форми)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впроваджувати keylogger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робити pivot до CSRF, account takeover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 на </a:t>
            </a: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</a:rPr>
              <a:t>XSS: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https://gist.github.com/sunmeat/e267338adc870a6a5d9e5a1bb892f97c</a:t>
            </a: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Захист від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XSS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Захист від XSS в ASP.NET Core базується на принципі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defense-in-depth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 Razor автоматично HTML-енкодує вивід змінних (@Model.Property),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якщо не використовувати @Html.Raw().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JavaScript-контексту використову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ється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JavaScript-енкодинг,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атрибутів — HtmlAttributeEncoding. Рекомендується застосовувати Content Security Policy (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CSP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), який обмежує джерела скриптів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та ун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икати Html.Raw() з неперевіреними даними. ASP.NET Core зберігає сильний захист за замовчуванням —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будь-який вивід з моделі енкодується автоматично.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Cross-Site Request Forgery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CSRF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— це атака, за якої браузер авторизованого користувача примушують виконати небажаний запит     до вашого бекенду без його відома.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Ключове: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браузер автоматично додає cookies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сервер довіряє cookies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запит виглядає легітимним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Атакер не ламає сервер — він використовує довіру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сервера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до браузера.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CSRF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Cross-Site Request Forgery (CSRF)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— атака,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яка змушує автентифікованого користувача виконати небажану дію на довіреному сайті через підроблений запит з іншого ресурсу. Типовий сценарій: користувач автентифікований на банківському сайті, а шкідливий сайт надсилає йому приховану форму, яка виконує переказ грошей. Браузер автоматично додає cookies автентифікації до запиту, тому сервер вважає його легітимним. CSRF особливо небезпечний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при використанні cookie-based автентифікації.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Яку шкоду наносить</a:t>
            </a: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CSRF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Залежить від endpoint’ів: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зміна email / пароля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переказ коштів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зміна ролей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нових об’єктів від імені жертви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повний account takeover (не одразу, але ланцюжком)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Наслідки: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Порушення цілісності даних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Дії від імені користувача</a:t>
            </a:r>
            <a:endParaRPr lang="en-US" altLang="en-US" sz="2300" dirty="0" err="1">
              <a:solidFill>
                <a:srgbClr val="000000"/>
              </a:solidFill>
              <a:sym typeface="+mn-ea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 на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CSRF: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https://github.com/sunmeat/aspnetcore_csrf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18 210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220" y="961390"/>
            <a:ext cx="3057525" cy="1891030"/>
          </a:xfrm>
          <a:prstGeom prst="rect">
            <a:avLst/>
          </a:prstGeom>
        </p:spPr>
      </p:pic>
      <p:pic>
        <p:nvPicPr>
          <p:cNvPr id="3" name="Picture 2" descr="Screenshot 2026-01-18 2107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485" y="3609340"/>
            <a:ext cx="2797810" cy="17627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Захист від </a:t>
            </a:r>
            <a:r>
              <a:rPr lang="en-US" altLang="en-US" sz="4200" dirty="0" err="1">
                <a:sym typeface="+mn-ea"/>
              </a:rPr>
              <a:t>CSRF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Захист від CSRF в ASP.NET Core реалізований через Synchronizer Token Pattern (антифорджері-токен). Токен генерується сервером, додається в приховане поле форми (__RequestVerificationToken)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або в заголовок для API.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Фільтр [AutoValidateAntiforgeryToken] (глобальний або на контролері) автоматично перевіряє токен для всіх небезпечних методів (POST, PUT, DELETE, PATCH). Для SPA та API можна використовувати заголовки (наприклад, X-CSRF-TOKEN) або cookie-to-header підхід. У .NET 10 токени стали ще надійнішими завдяки покращеній генерації та валідації.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92492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900" dirty="0" err="1">
                <a:solidFill>
                  <a:schemeClr val="bg1"/>
                </a:solidFill>
                <a:sym typeface="+mn-ea"/>
              </a:rPr>
              <a:t>Unrestricted Resource Consumption</a:t>
            </a:r>
            <a:endParaRPr lang="en-US" altLang="en-US" sz="39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6007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Unrestricted Resource Consumption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це клас вразливостей, коли застосунок дозволяє одному користувачу (або запиту) споживати необмежену кількість ресурсів: CPU, RAM, дисковий IO, з’єднання з БД, потоки, зовнішні API-квоти.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Виникає часто, о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собливо в: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internal-API, які «не мали бути публічними»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стартап-коді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сервісах без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rate-limit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Яку шкоду наносить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DoS / self-DoS (навіть без злого умислу)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деградація продуктивності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падіння всього сервісу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та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каскадні фейли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фінансові втрати (хмарні ресурси, платні API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Типові помилки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при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URC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«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е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ж внутрішній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endpoint, туди ніхто не піде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довіра до pageSize, limit, includeAll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синхронний код у async-pipeline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MemoryStream для великих файлів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❌ відсутність cancellation tokens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Наслідки</a:t>
            </a:r>
            <a:r>
              <a:rPr lang="uk-UA" altLang="en-US" sz="2300" dirty="0" err="1">
                <a:solidFill>
                  <a:srgbClr val="000000"/>
                </a:solidFill>
                <a:sym typeface="+mn-ea"/>
              </a:rPr>
              <a:t>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CPU 100%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sym typeface="+mn-ea"/>
              </a:rPr>
              <a:t>переповнення </a:t>
            </a: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connection pool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падіння Kestrel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Механізми платформи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Обов’язково використовувати: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RateLimiterMiddleware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paging + limits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CancellationToken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AsNoTracking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(вимикає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мо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відстеження змін (change tracking) для сутностей, отриманих з бази даних у конкретному запиті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бо з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 замовчуванням EF Core відстежує всі сутності, які витягує з БД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з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берігає їх у Change Tracker (внутрішньому кеші контексту)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з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апам'ятовує оригінальні значення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та в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ідстежує будь-які зміни властивостей)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тайм-аути </a:t>
            </a: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для HttpClient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background jobs для важких операцій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Корисні патерни: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streaming замість buffer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все на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async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Анти-патерни: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«повернути все»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синхронні блокування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171450" indent="-1714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складна логіка в мідлварях</a:t>
            </a:r>
            <a:endParaRPr lang="uk-UA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Rate Limiting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Rate Limiting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в ASP.NET Core — це вбудований middleware (Microsoft.AspNetCore.RateLimiting), який </a:t>
            </a:r>
            <a:r>
              <a:rPr lang="en-US" altLang="en-US" sz="2100" u="sng" dirty="0" err="1">
                <a:solidFill>
                  <a:srgbClr val="000000"/>
                </a:solidFill>
                <a:ea typeface="Microsoft YaHei" panose="020B0503020204020204" charset="-122"/>
              </a:rPr>
              <a:t>обмежує кількість запитів від клієнта за певний період часу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 Це важливий механізм захисту від зловмисного навантаження, brute-force атак, DDoS та забезпечення справедливого розподілу ресурсів серед користувачів. Rate limiting особливо критичний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для публічних API.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доступні чотири основні алгоритми: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Fixed Window, Sliding Window, Token Bucket та Concurrency Limiter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 Кожен алгоритм підтримує налаштування черги запитів (QueueLimit) та відхилення надлишкових запитів.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Впровадження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Rate Limiting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Впровадження відбувається в Program.cs. Спочатку дода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ються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сервіси: builder.Services.AddRateLimiter(...), де створю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ються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політики — глобальн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або іменовані. Наприклад: фіксоване вікно на 100 запитів за хвилину по IP або за ідентифікатором користувача. Потім підключає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ться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middleware: app.UseRateLimiter(). Політику можна прив’язати до ендпоінтів через атрибут [EnableRateLimiting("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Назва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Політики")] або метод RequireRateLimiting("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Назва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Політики") для Minimal API.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При перевищенні ліміту зазвичай повертається статус 429 Too Many Requests з заголовком Retry-After.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Для кастомізації можна визначити власну поведінку через OnRejected — наприклад, додавати власні повідомлення, логи чи змінювати статус-код. У production рекомендується комбінувати обмеження по IP, користувачу та глобально, а також проводити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навантажувальне тестування перед розгортанням.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Глобальний Rate Limiting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043940"/>
            <a:ext cx="8588375" cy="575373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Secure-by-default чеклист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https://gist.github.com/sunmeat/3349e05ac6cabe60cf660d49c473d384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https://gist.github.com/sunmeat/e67e7bb1934a6019cb4d86a8984df733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50CDFA-3612-492B-8B9D-C995A6AFA427}"/>
</file>

<file path=customXml/itemProps2.xml><?xml version="1.0" encoding="utf-8"?>
<ds:datastoreItem xmlns:ds="http://schemas.openxmlformats.org/officeDocument/2006/customXml" ds:itemID="{A98AD1D5-4447-4B37-AC32-6BEB97DBB665}"/>
</file>

<file path=customXml/itemProps3.xml><?xml version="1.0" encoding="utf-8"?>
<ds:datastoreItem xmlns:ds="http://schemas.openxmlformats.org/officeDocument/2006/customXml" ds:itemID="{73754D14-CFDD-4006-B37B-19230818FD6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35454</Words>
  <Application>WPS Presentation</Application>
  <PresentationFormat/>
  <Paragraphs>787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88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96</cp:revision>
  <dcterms:created xsi:type="dcterms:W3CDTF">2005-09-22T16:26:00Z</dcterms:created>
  <dcterms:modified xsi:type="dcterms:W3CDTF">2026-02-01T13:32:24Z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