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626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717" r:id="rId18"/>
    <p:sldId id="721" r:id="rId19"/>
    <p:sldId id="723" r:id="rId20"/>
    <p:sldId id="698" r:id="rId21"/>
    <p:sldId id="720" r:id="rId22"/>
    <p:sldId id="724" r:id="rId23"/>
    <p:sldId id="711" r:id="rId24"/>
    <p:sldId id="722" r:id="rId25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presProps" Target="presProps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29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31" Type="http://schemas.openxmlformats.org/officeDocument/2006/relationships/customXml" Target="../customXml/item3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7" Type="http://schemas.openxmlformats.org/officeDocument/2006/relationships/viewProps" Target="viewProps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thub.com/sunmeat/aspnetcore_razor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1b4db54f9ca79bee0c8e3667cbe460f3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razorcrud" TargetMode="Externa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aspnetcore_razorrepo" TargetMode="External"/><Relationship Id="rId1" Type="http://schemas.openxmlformats.org/officeDocument/2006/relationships/hyperlink" Target="https://github.com/sunmeat/aspnetcore_razordi" TargetMode="Externa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aspnetcore_razorsession" TargetMode="External"/><Relationship Id="rId1" Type="http://schemas.openxmlformats.org/officeDocument/2006/relationships/hyperlink" Target="https://github.com/sunmeat/aspnetcore_razorcookie" TargetMode="Externa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metanit.com/sharp/razorpages/&#13;" TargetMode="External"/><Relationship Id="rId3" Type="http://schemas.openxmlformats.org/officeDocument/2006/relationships/hyperlink" Target="https://learn.microsoft.com/ru-ru/aspnet/core/razor-pages/?view=aspnetcore-10.0&amp;tabs=visual-studio&#13;" TargetMode="External"/><Relationship Id="rId2" Type="http://schemas.openxmlformats.org/officeDocument/2006/relationships/hyperlink" Target="https://github.com/sunmeat/aspnetcore_csrf/blob/master/Razor%20Pages.docx&#13;" TargetMode="External"/><Relationship Id="rId1" Type="http://schemas.openxmlformats.org/officeDocument/2006/relationships/hyperlink" Target="https://habr.com/ru/companies/otus/articles/839220/&#13;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601058a4dea077d4b32c68ff972b4bb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Razor Pages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</a:t>
            </a:r>
            <a:r>
              <a:rPr lang="en-US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Razor Pages</a:t>
            </a:r>
            <a:endParaRPr lang="en-US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Порівняння з </a:t>
            </a:r>
            <a:r>
              <a:rPr lang="en-US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MVC</a:t>
            </a:r>
            <a:endParaRPr lang="en-US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Переваги над </a:t>
            </a:r>
            <a:r>
              <a:rPr lang="en-US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MVC</a:t>
            </a:r>
            <a:endParaRPr lang="en-US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Створення проєкту, структура проєкту</a:t>
            </a:r>
            <a:endParaRPr lang="uk-UA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Page Model</a:t>
            </a:r>
            <a:endParaRPr lang="en-US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Tag Helpers</a:t>
            </a:r>
            <a:endParaRPr lang="en-US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Обробка форм та валідація</a:t>
            </a:r>
            <a:endParaRPr lang="uk-UA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Ін’єкція залежностей</a:t>
            </a:r>
            <a:endParaRPr lang="uk-UA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Робота з даними</a:t>
            </a:r>
            <a:endParaRPr lang="uk-UA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Практика</a:t>
            </a:r>
            <a:endParaRPr lang="uk-UA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Razor Pages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Razor Pages є сучасним підходом до створення       веб-додатків у ASP.NET Core, який фокусується                   на сторінко-орієнтованій архітектурі. На відміну           від традиційних фреймворків, Razor Pages  дозволя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поєднувати логіку та представлення в одному файлі, що спрощує процес розробки. У версії .NET 10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Razor Pages отримали покращення в продуктивності, включаючи оптимізовану компіляцію Razor-коду та інтеграцію з новими інструментами для сервер-сайд рендерингу, що робить їх ідеальними для динамічних веб-сайтів з мінімальним JavaScript.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Razor Pages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Цей фреймворк базується на Razor-рушії, який інтерпретує суміш C# та HTML, забезпечуючи безшовну інтеграцію коду та розмітки.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урахуванням зростання хмарних технологій, Razor Pages підтримують безшовну інтеграцію з Azure Functions та контейнеризацією через Docker, що полегшує розгортання. Це робить їх актуальними для мікросервісних архітектур, де швидкість розробки є ключовою.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Razor Pages сприяють кращій організації коду, зменшуючи кількість файлів порівняно з іншими патернами. У .NET 10 впроваджено автоматичне очищення ресурсів для Razor-сторінок, що зменшує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				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витоки пам'яті в довготривалих додатках.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Порівняння з MVC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Razor Pages і MVC обидва є частинами ASP.NET Core,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але відрізняються в архітектурному підході: MVC розділяє відповідальності на моделі, в'ю та контролери, тоді як Razor Pages об'єднують </a:t>
            </a:r>
            <a:r>
              <a:rPr lang="en-US" altLang="en-US" sz="1900" u="sng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і в'ю в єдиний файл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 сьогодні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MVC залишається кращим для складних API, але Razor Pages виграють у простоті для сторінко-центричних додатків, зменшуючи boilerplate-код.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 MVC маршрутизація відбувається через контролери та дії, що може призводити до більшої складності в великих про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ктах, тоді як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Razor Pages </a:t>
            </a:r>
            <a:r>
              <a:rPr lang="en-US" altLang="en-US" sz="1900" u="sng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використовують файлову систему</a:t>
            </a:r>
            <a:r>
              <a:rPr lang="uk-UA" altLang="en-US" sz="1900" u="sng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u="sng" dirty="0" err="1">
                <a:solidFill>
                  <a:srgbClr val="000000"/>
                </a:solidFill>
                <a:ea typeface="Microsoft YaHei" panose="020B0503020204020204" charset="-122"/>
              </a:rPr>
              <a:t>для автоматичної маршрутизації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Це спрощує навігацію та робить код більш інтуїтивним.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.NET 10 Razor Pages показують кращі результати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 сервер-сайд рендерингу для SEO-оптимізованих сайтів.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Ще одна відмінність – у обробці запитів: MVC використовує атрибути для HTTP-методів, тоді як </a:t>
            </a:r>
            <a:r>
              <a:rPr lang="en-US" altLang="en-US" sz="1900" u="sng" dirty="0" err="1">
                <a:solidFill>
                  <a:srgbClr val="000000"/>
                </a:solidFill>
                <a:sym typeface="+mn-ea"/>
              </a:rPr>
              <a:t>Razor Pages покладаються на обробники</a:t>
            </a: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 в </a:t>
            </a:r>
            <a:r>
              <a:rPr lang="uk-UA" altLang="en-US" sz="1900" dirty="0" err="1">
                <a:solidFill>
                  <a:srgbClr val="000000"/>
                </a:solidFill>
                <a:sym typeface="+mn-ea"/>
              </a:rPr>
              <a:t>		</a:t>
            </a: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PageModel</a:t>
            </a:r>
            <a:r>
              <a:rPr lang="uk-UA" altLang="en-US" sz="1900" dirty="0" err="1">
                <a:solidFill>
                  <a:srgbClr val="000000"/>
                </a:solidFill>
                <a:sym typeface="+mn-ea"/>
              </a:rPr>
              <a:t>, а це означає - буде менше класів.</a:t>
            </a:r>
            <a:endParaRPr lang="uk-UA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35850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Переваги Razor Pages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над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MVC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Для розробників, знайомих з MVC, Razor Pages пропонують швидкий перехід завдяки спільним концепціям, таким як Razor-синтаксис та Tag Helpers. У .NET 10 це доповнюється покращеною продуктивністю, де Razor Pages зменшують час завантаження сторінок на 20-30% порівняно з MVC за рахунок меншої абстракції. Це робить їх ідеальними для прототипування веб-додатків, де швидкість важливіша за складну структуру.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Перевага в зменшенні залежностей: у Razor Pages немає потреби в окремих контролерах, що спрощує тестування та підтримку коду.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Маючи досвід використання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Web API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можна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легко інтегрувати API-логіку в сторінки, використовуючи ті самі принципи ін'єкції. Razor Pages підтримують стандарти безпеки,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наприклад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автоматичну валідацію CSRF-токенів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проє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кту в VS 2026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кек</a:t>
            </a: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7325" y="1266825"/>
            <a:ext cx="6360795" cy="12134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940" y="2657475"/>
            <a:ext cx="6165850" cy="37890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" y="2033905"/>
            <a:ext cx="2621915" cy="4784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5073015"/>
            <a:ext cx="1804035" cy="17456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Структура проєкту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Структура про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кту Razor Pages організована навколо папки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Pages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де кожна сторінка представлена .cshtml-файлом та опціональним .cs-файлом для моделі.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 відрізняється від MVC, де в'ю та контролери розділені, роблячи навігацію простішою.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Папка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wwwroot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містить статичні файли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Файли _ViewImports.cshtml та _ViewStart.cshtml забезпечують глобальні імпорти та налаштування, подібно до MVC,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але з фокусом на сторінки.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Program.cs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слугує точкою входу, з мінімальним API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про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кт включає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appsettings.json 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для конфігурацій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Базовий синтаксис Razor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Razor-синтаксис поєднує C# з HTML за допомогою префіксу @, дозволяючи вставляти код безпосередньо в розмітку. У .NET 10 це включає покращену підтримку async-виразів, роблячи сторінки більш ефективними для асинхронних операцій. Директиви, як @model, визначають тип моделі для сторінки, подібно до в'ю в MVC.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Синтаксис підтримує цикли, умови та вирази, з автоматичним ескейпінгом для безпеки. Razor отримав оновлення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для кращої інтеграції з TypeScript, дозволяючи вбудовувати клієнт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ську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логіку.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Razor використовує Tag Helpers для спрощення HTML, роблячи код читабельнішим. У .NET 10 додані нові директиви для компонентів, як @component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PageModel і обробники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PageModel є класом, що містить обробники для HTTP-методів, як OnGet чи OnPost. У .NET 10 це включає підтримку асинхронних обробників з коробки,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з оптимізацією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високонавантажених додатків. Обробники дозволяють виконувати логіку перед рендерингом сторінки, подібно до дій у MVC.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Модель може містити властивості з анотаціями, спрощуючи обробку даних.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PageModel підтримує інтеграцію з AI-сервісами,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 Azure Cognitive Services, для динамічного контенту.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обробники можуть повертати IActionResult для редіректів чи помилок, забезпечуючи гнучкість.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Маршрутизація в Razor Pages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Маршрутизація в Razor Pages базується 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на файловій системі: шлях до файлу визначає URL. 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Директива @page дозволяє кастомізувати маршрут, додаючи параметри.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Автоматична маршрутизація спрощує конфігурацію порівняно з атрибутами в MVC.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маршрути можуть бути обмежені 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за HTTP-методами, забезпечуючи безпеку.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Це полегшує інтеграцію з відомими Web API концепціями.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Tag Helpers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Tag Helper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— це серверний компонент (клас на C#), який дозволяє додавати динамічну логіку до звичайних HTML-тегів безпосередньо в файлах .cshtml. Замість писати багато C#-коду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 @-символами (як у старих Html Helpers з MVC),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можна буде додавати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спеціальні атрибути з префіксом asp- до стандартних HTML-тегів — і ASP.NET Core сам оброб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ить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їх на сервері.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Головні переваги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Розмітка виглядає майже як чистий HTML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який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легше читати дизайнерам і фронтендерам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Менше переходів між HTML і C# (немає купи @Html.TextBoxFor(...))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Автоматично додає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ться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model binding, валідаці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CSRF-захист, правильні URL тощо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Працює "адитивно" — не ламає існуючий HTML, а лише доповнює його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Tag Helpers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Найкорисніші 5 Tag Helpers у Razor Pages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Input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&lt;input asp-for="Email" class="form-control" /&gt;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→ Автоматично генерує name, id, type, value, data-val валідацію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Label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&lt;label asp-for="Email"&gt;Email&lt;/label&gt;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→ Правильний for-атрибут + текст з [Display] або назви властивості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Form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&lt;form method="post"&gt; або &lt;form asp-page-handler="Save"&gt;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→ Додає antiforgery-токен + правильний action автоматично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Anchor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(посилання)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&lt;a asp-page="/Edit" asp-route-id="5" class="btn"&gt;Редагувати&lt;/a&gt;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→ Генерує href за маршрутом Razor Pages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Validation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&lt;span asp-validation-for="Email" class="text-danger"&gt;&lt;/span&gt;&lt;div asp-validation-summary="All" class="text-danger"&gt;&lt;/div&gt;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→ Виводить помилки поля / усі помилки форми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https://github.com/sunmeat/aspnetcore_razor1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390" y="2574290"/>
            <a:ext cx="6175375" cy="43281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28086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https://gist.github.com/sunmeat/1b4db54f9ca79bee0c8e3667cbe460f3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Робота з даними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Робота з даними в Razor Pages інтегрується з EF Core 10, підтримуючи CRUD через PageModel. 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Моделі бінд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ться до баз даних, з асинхронними операціями. Це подібно до Web API, але сторінко-орієнтоване.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підтримка JSON для API-like взаємодії робить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процес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гнучким.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Обробка форм і валідація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Обробка форм у Razor Pages використовує [BindProperty] для біндингу даних з POST. Валідація відбувається через анотації DataAnnotations,                 з клієнт-сайд перевіркою.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 .NET 10 додана підтримка кастомних валідацій з AI для складних правил. Це інтегрується з формами, подібно до Web API.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анти-CSRF токени вбудовані, забезпечуючи безпеку.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Приклад на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CRUD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: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https://github.com/sunmeat/aspnetcore_razorcrud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  <a:hlinkClick r:id="rId1" tooltip="" action="ppaction://hlinkfil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Ін'єкція залежностей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Ін'єкція залежностей (DI) у PageModel відбувається через конструктор, подібно до MVC. 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Це дозволяє інжектувати сервіси, як ILogger, для логування. 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конфігурація в Program.cs спрощує реєстрацію, полегшуючи інтеграцію з Web Apps.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Services: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https://github.com/sunmeat/aspnetcore_razordi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CRUD + IRepository: </a:t>
            </a:r>
            <a:r>
              <a:rPr lang="en-US" altLang="en-US" sz="2400">
                <a:solidFill>
                  <a:srgbClr val="0070C0"/>
                </a:solidFill>
                <a:sym typeface="+mn-ea"/>
                <a:hlinkClick r:id="rId2" action="ppaction://hlinkfile"/>
              </a:rPr>
              <a:t>https://github.com/sunmeat/aspnetcore_razorrepo</a:t>
            </a:r>
            <a:endParaRPr lang="en-US" altLang="en-US" sz="2400">
              <a:solidFill>
                <a:srgbClr val="0070C0"/>
              </a:solidFill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Кукі та сесії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7418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3500" dirty="0" err="1">
                <a:solidFill>
                  <a:srgbClr val="000000"/>
                </a:solidFill>
                <a:ea typeface="Microsoft YaHei" panose="020B0503020204020204" charset="-122"/>
              </a:rPr>
              <a:t>Кукі: </a:t>
            </a: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https://github.com/sunmeat/aspnetcore_razorcookie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3500" dirty="0" err="1">
                <a:solidFill>
                  <a:srgbClr val="000000"/>
                </a:solidFill>
                <a:ea typeface="Microsoft YaHei" panose="020B0503020204020204" charset="-122"/>
              </a:rPr>
              <a:t>Сесії:</a:t>
            </a:r>
            <a:r>
              <a:rPr lang="en-US" altLang="uk-UA" sz="35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2" tooltip="" action="ppaction://hlinkfile"/>
              </a:rPr>
              <a:t>https://github.com/sunmeat/aspnetcore_razorsession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Додаткова інформація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https://habr.com/ru/companies/otus/articles/839220/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  <a:hlinkClick r:id="rId1" tooltip="" action="ppaction://hlinkfile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  <a:hlinkClick r:id="rId2" tooltip="" action="ppaction://hlinkfile"/>
              </a:rPr>
              <a:t>https://github.com/sunmeat/aspnetcore_csrf/blob/master/Razor%20Pages.docx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  <a:hlinkClick r:id="rId2" tooltip="" action="ppaction://hlinkfile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  <a:hlinkClick r:id="rId3" tooltip="" action="ppaction://hlinkfile"/>
              </a:rPr>
              <a:t>https://learn.microsoft.com/ru-ru/aspnet/core/razor-pages/?view=aspnetcore-10.0&amp;tabs=visual-studio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  <a:hlinkClick r:id="rId3" tooltip="" action="ppaction://hlinkfile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  <a:hlinkClick r:id="rId4" tooltip="" action="ppaction://hlinkfile"/>
              </a:rPr>
              <a:t>https://metanit.com/sharp/razorpages/</a:t>
            </a: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28086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https://gist.github.com/sunmeat/601058a4dea077d4b32c68ff972b4bb2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47ABED0-BB1E-4428-B03E-160EEDD5D8DB}"/>
</file>

<file path=customXml/itemProps2.xml><?xml version="1.0" encoding="utf-8"?>
<ds:datastoreItem xmlns:ds="http://schemas.openxmlformats.org/officeDocument/2006/customXml" ds:itemID="{8DF0CCA5-2F4C-4EC7-8CC7-C9E4F7A72F33}"/>
</file>

<file path=customXml/itemProps3.xml><?xml version="1.0" encoding="utf-8"?>
<ds:datastoreItem xmlns:ds="http://schemas.openxmlformats.org/officeDocument/2006/customXml" ds:itemID="{3601AC80-B499-4B47-B030-26DEDA0E250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8528</Words>
  <Application>WPS Presentation</Application>
  <PresentationFormat/>
  <Paragraphs>148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82</cp:revision>
  <dcterms:created xsi:type="dcterms:W3CDTF">2005-09-22T16:26:00Z</dcterms:created>
  <dcterms:modified xsi:type="dcterms:W3CDTF">2026-01-19T14:17:12Z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