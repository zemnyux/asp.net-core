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Masters/slideMaster2.xml" ContentType="application/vnd.openxmlformats-officedocument.presentationml.slideMaster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3"/>
  </p:sldMasterIdLst>
  <p:notesMasterIdLst>
    <p:notesMasterId r:id="rId5"/>
  </p:notesMasterIdLst>
  <p:sldIdLst>
    <p:sldId id="256" r:id="rId4"/>
    <p:sldId id="257" r:id="rId6"/>
    <p:sldId id="626" r:id="rId7"/>
    <p:sldId id="688" r:id="rId8"/>
    <p:sldId id="689" r:id="rId9"/>
    <p:sldId id="690" r:id="rId10"/>
    <p:sldId id="691" r:id="rId11"/>
    <p:sldId id="692" r:id="rId12"/>
    <p:sldId id="693" r:id="rId13"/>
    <p:sldId id="694" r:id="rId14"/>
    <p:sldId id="695" r:id="rId15"/>
    <p:sldId id="696" r:id="rId16"/>
    <p:sldId id="697" r:id="rId17"/>
    <p:sldId id="698" r:id="rId18"/>
    <p:sldId id="699" r:id="rId19"/>
    <p:sldId id="700" r:id="rId20"/>
    <p:sldId id="701" r:id="rId21"/>
    <p:sldId id="702" r:id="rId22"/>
    <p:sldId id="703" r:id="rId23"/>
    <p:sldId id="704" r:id="rId24"/>
    <p:sldId id="705" r:id="rId25"/>
    <p:sldId id="706" r:id="rId26"/>
    <p:sldId id="718" r:id="rId27"/>
    <p:sldId id="707" r:id="rId28"/>
    <p:sldId id="708" r:id="rId29"/>
    <p:sldId id="709" r:id="rId30"/>
    <p:sldId id="716" r:id="rId31"/>
    <p:sldId id="710" r:id="rId32"/>
    <p:sldId id="711" r:id="rId33"/>
    <p:sldId id="712" r:id="rId34"/>
    <p:sldId id="717" r:id="rId35"/>
    <p:sldId id="713" r:id="rId36"/>
    <p:sldId id="714" r:id="rId37"/>
  </p:sldIdLst>
  <p:sldSz cx="9144000" cy="6858000" type="screen4x3"/>
  <p:notesSz cx="6858000" cy="9144000"/>
  <p:defaultTextStyle>
    <a:defPPr>
      <a:defRPr lang="en-GB"/>
    </a:defPPr>
    <a:lvl1pPr marL="0" lvl="0" indent="0" algn="l" defTabSz="457200" rtl="0" eaLnBrk="1" fontAlgn="base" latinLnBrk="0" hangingPunct="1">
      <a:lnSpc>
        <a:spcPct val="100000"/>
      </a:lnSpc>
      <a:spcBef>
        <a:spcPct val="0"/>
      </a:spcBef>
      <a:spcAft>
        <a:spcPct val="0"/>
      </a:spcAft>
      <a:buSzPct val="100000"/>
      <a:buFont typeface="Times New Roman" panose="02020603050405020304" pitchFamily="16" charset="0"/>
      <a:buNone/>
      <a:defRPr b="0" i="0" u="none" kern="1200" baseline="0">
        <a:solidFill>
          <a:schemeClr val="bg1"/>
        </a:solidFill>
        <a:latin typeface="Arial" panose="020B0604020202020204" pitchFamily="34" charset="0"/>
        <a:ea typeface="Microsoft YaHei" panose="020B0503020204020204" charset="-122"/>
        <a:cs typeface="+mn-cs"/>
      </a:defRPr>
    </a:lvl1pPr>
    <a:lvl2pPr marL="742950" lvl="1" indent="-285750" algn="l" defTabSz="457200" rtl="0" eaLnBrk="1" fontAlgn="base" latinLnBrk="0" hangingPunct="1">
      <a:lnSpc>
        <a:spcPct val="100000"/>
      </a:lnSpc>
      <a:spcBef>
        <a:spcPct val="0"/>
      </a:spcBef>
      <a:spcAft>
        <a:spcPct val="0"/>
      </a:spcAft>
      <a:buSzPct val="100000"/>
      <a:buFont typeface="Times New Roman" panose="02020603050405020304" pitchFamily="16" charset="0"/>
      <a:buNone/>
      <a:defRPr sz="1800" b="0" i="0" u="none" kern="1200" baseline="0">
        <a:solidFill>
          <a:srgbClr val="000000"/>
        </a:solidFill>
        <a:latin typeface="Arial" panose="020B0604020202020204" pitchFamily="34" charset="0"/>
        <a:ea typeface="Microsoft YaHei" panose="020B0503020204020204" charset="-122"/>
        <a:cs typeface="+mn-cs"/>
      </a:defRPr>
    </a:lvl2pPr>
    <a:lvl3pPr marL="1143000" lvl="2" indent="-228600" algn="l" defTabSz="457200" rtl="0" eaLnBrk="1" fontAlgn="base" latinLnBrk="0" hangingPunct="1">
      <a:lnSpc>
        <a:spcPct val="100000"/>
      </a:lnSpc>
      <a:spcBef>
        <a:spcPct val="0"/>
      </a:spcBef>
      <a:spcAft>
        <a:spcPct val="0"/>
      </a:spcAft>
      <a:buSzPct val="100000"/>
      <a:buFont typeface="Times New Roman" panose="02020603050405020304" pitchFamily="16" charset="0"/>
      <a:buNone/>
      <a:defRPr sz="1800" b="0" i="0" u="none" kern="1200" baseline="0">
        <a:solidFill>
          <a:srgbClr val="000000"/>
        </a:solidFill>
        <a:latin typeface="Arial" panose="020B0604020202020204" pitchFamily="34" charset="0"/>
        <a:ea typeface="Microsoft YaHei" panose="020B0503020204020204" charset="-122"/>
        <a:cs typeface="+mn-cs"/>
      </a:defRPr>
    </a:lvl3pPr>
    <a:lvl4pPr marL="1600200" lvl="3" indent="-228600" algn="l" defTabSz="457200" rtl="0" eaLnBrk="1" fontAlgn="base" latinLnBrk="0" hangingPunct="1">
      <a:lnSpc>
        <a:spcPct val="100000"/>
      </a:lnSpc>
      <a:spcBef>
        <a:spcPct val="0"/>
      </a:spcBef>
      <a:spcAft>
        <a:spcPct val="0"/>
      </a:spcAft>
      <a:buSzPct val="100000"/>
      <a:buFont typeface="Times New Roman" panose="02020603050405020304" pitchFamily="16" charset="0"/>
      <a:buNone/>
      <a:defRPr sz="1800" b="0" i="0" u="none" kern="1200" baseline="0">
        <a:solidFill>
          <a:srgbClr val="000000"/>
        </a:solidFill>
        <a:latin typeface="Arial" panose="020B0604020202020204" pitchFamily="34" charset="0"/>
        <a:ea typeface="Microsoft YaHei" panose="020B0503020204020204" charset="-122"/>
        <a:cs typeface="+mn-cs"/>
      </a:defRPr>
    </a:lvl4pPr>
    <a:lvl5pPr marL="2057400" lvl="4" indent="-228600" algn="l" defTabSz="457200" rtl="0" eaLnBrk="1" fontAlgn="base" latinLnBrk="0" hangingPunct="1">
      <a:lnSpc>
        <a:spcPct val="100000"/>
      </a:lnSpc>
      <a:spcBef>
        <a:spcPct val="0"/>
      </a:spcBef>
      <a:spcAft>
        <a:spcPct val="0"/>
      </a:spcAft>
      <a:buSzPct val="100000"/>
      <a:buFont typeface="Times New Roman" panose="02020603050405020304" pitchFamily="16" charset="0"/>
      <a:buNone/>
      <a:defRPr sz="1800" b="0" i="0" u="none" kern="1200" baseline="0">
        <a:solidFill>
          <a:srgbClr val="000000"/>
        </a:solidFill>
        <a:latin typeface="Arial" panose="020B0604020202020204" pitchFamily="34" charset="0"/>
        <a:ea typeface="Microsoft YaHei" panose="020B0503020204020204" charset="-122"/>
        <a:cs typeface="+mn-cs"/>
      </a:defRPr>
    </a:lvl5pPr>
    <a:lvl6pPr marL="2286000" lvl="5" indent="-228600" algn="l" defTabSz="457200" rtl="0" eaLnBrk="1" fontAlgn="base" latinLnBrk="0" hangingPunct="1">
      <a:lnSpc>
        <a:spcPct val="100000"/>
      </a:lnSpc>
      <a:spcBef>
        <a:spcPct val="0"/>
      </a:spcBef>
      <a:spcAft>
        <a:spcPct val="0"/>
      </a:spcAft>
      <a:buSzPct val="100000"/>
      <a:buFont typeface="Times New Roman" panose="02020603050405020304" pitchFamily="16" charset="0"/>
      <a:buNone/>
      <a:defRPr sz="1800" b="0" i="0" u="none" kern="1200" baseline="0">
        <a:solidFill>
          <a:srgbClr val="000000"/>
        </a:solidFill>
        <a:latin typeface="Arial" panose="020B0604020202020204" pitchFamily="34" charset="0"/>
        <a:ea typeface="Microsoft YaHei" panose="020B0503020204020204" charset="-122"/>
        <a:cs typeface="+mn-cs"/>
      </a:defRPr>
    </a:lvl6pPr>
    <a:lvl7pPr marL="2743200" lvl="6" indent="-228600" algn="l" defTabSz="457200" rtl="0" eaLnBrk="1" fontAlgn="base" latinLnBrk="0" hangingPunct="1">
      <a:lnSpc>
        <a:spcPct val="100000"/>
      </a:lnSpc>
      <a:spcBef>
        <a:spcPct val="0"/>
      </a:spcBef>
      <a:spcAft>
        <a:spcPct val="0"/>
      </a:spcAft>
      <a:buSzPct val="100000"/>
      <a:buFont typeface="Times New Roman" panose="02020603050405020304" pitchFamily="16" charset="0"/>
      <a:buNone/>
      <a:defRPr sz="1800" b="0" i="0" u="none" kern="1200" baseline="0">
        <a:solidFill>
          <a:srgbClr val="000000"/>
        </a:solidFill>
        <a:latin typeface="Arial" panose="020B0604020202020204" pitchFamily="34" charset="0"/>
        <a:ea typeface="Microsoft YaHei" panose="020B0503020204020204" charset="-122"/>
        <a:cs typeface="+mn-cs"/>
      </a:defRPr>
    </a:lvl7pPr>
    <a:lvl8pPr marL="3200400" lvl="7" indent="-228600" algn="l" defTabSz="457200" rtl="0" eaLnBrk="1" fontAlgn="base" latinLnBrk="0" hangingPunct="1">
      <a:lnSpc>
        <a:spcPct val="100000"/>
      </a:lnSpc>
      <a:spcBef>
        <a:spcPct val="0"/>
      </a:spcBef>
      <a:spcAft>
        <a:spcPct val="0"/>
      </a:spcAft>
      <a:buSzPct val="100000"/>
      <a:buFont typeface="Times New Roman" panose="02020603050405020304" pitchFamily="16" charset="0"/>
      <a:buNone/>
      <a:defRPr sz="1800" b="0" i="0" u="none" kern="1200" baseline="0">
        <a:solidFill>
          <a:srgbClr val="000000"/>
        </a:solidFill>
        <a:latin typeface="Arial" panose="020B0604020202020204" pitchFamily="34" charset="0"/>
        <a:ea typeface="Microsoft YaHei" panose="020B0503020204020204" charset="-122"/>
        <a:cs typeface="+mn-cs"/>
      </a:defRPr>
    </a:lvl8pPr>
    <a:lvl9pPr marL="3657600" lvl="8" indent="-228600" algn="l" defTabSz="457200" rtl="0" eaLnBrk="1" fontAlgn="base" latinLnBrk="0" hangingPunct="1">
      <a:lnSpc>
        <a:spcPct val="100000"/>
      </a:lnSpc>
      <a:spcBef>
        <a:spcPct val="0"/>
      </a:spcBef>
      <a:spcAft>
        <a:spcPct val="0"/>
      </a:spcAft>
      <a:buSzPct val="100000"/>
      <a:buFont typeface="Times New Roman" panose="02020603050405020304" pitchFamily="16" charset="0"/>
      <a:buNone/>
      <a:defRPr sz="1800" b="0" i="0" u="none" kern="1200" baseline="0">
        <a:solidFill>
          <a:srgbClr val="000000"/>
        </a:solidFill>
        <a:latin typeface="Arial" panose="020B0604020202020204" pitchFamily="34" charset="0"/>
        <a:ea typeface="Microsoft YaHei" panose="020B0503020204020204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68" userDrawn="1">
          <p15:clr>
            <a:srgbClr val="A4A3A4"/>
          </p15:clr>
        </p15:guide>
        <p15:guide id="2" pos="287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howGuides="1">
      <p:cViewPr varScale="1">
        <p:scale>
          <a:sx n="85" d="100"/>
          <a:sy n="85" d="100"/>
        </p:scale>
        <p:origin x="-780" y="-84"/>
      </p:cViewPr>
      <p:guideLst>
        <p:guide orient="horz" pos="2268"/>
        <p:guide pos="2870"/>
      </p:guideLst>
    </p:cSldViewPr>
  </p:slideViewPr>
  <p:outlineViewPr>
    <p:cViewPr varScale="1">
      <p:scale>
        <a:sx n="170" d="200"/>
        <a:sy n="170" d="200"/>
      </p:scale>
      <p:origin x="-780" y="-84"/>
    </p:cViewPr>
  </p:outlineViewPr>
  <p:gridSpacing cx="45005" cy="45005"/>
</p:viewPr>
</file>

<file path=ppt/_rels/presentation.xml.rels><?xml version="1.0" encoding="UTF-8" standalone="yes"?>
<Relationships xmlns="http://schemas.openxmlformats.org/package/2006/relationships"><Relationship Id="rId39" Type="http://schemas.openxmlformats.org/officeDocument/2006/relationships/viewProps" Target="viewProps.xml"/><Relationship Id="rId26" Type="http://schemas.openxmlformats.org/officeDocument/2006/relationships/slide" Target="slides/slide22.xml"/><Relationship Id="rId18" Type="http://schemas.openxmlformats.org/officeDocument/2006/relationships/slide" Target="slides/slide14.xml"/><Relationship Id="rId13" Type="http://schemas.openxmlformats.org/officeDocument/2006/relationships/slide" Target="slides/slide9.xml"/><Relationship Id="rId34" Type="http://schemas.openxmlformats.org/officeDocument/2006/relationships/slide" Target="slides/slide30.xml"/><Relationship Id="rId21" Type="http://schemas.openxmlformats.org/officeDocument/2006/relationships/slide" Target="slides/slide17.xml"/><Relationship Id="rId42" Type="http://schemas.openxmlformats.org/officeDocument/2006/relationships/customXml" Target="../customXml/item2.xml"/><Relationship Id="rId7" Type="http://schemas.openxmlformats.org/officeDocument/2006/relationships/slide" Target="slides/slide3.xml"/><Relationship Id="rId29" Type="http://schemas.openxmlformats.org/officeDocument/2006/relationships/slide" Target="slides/slide25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6" Type="http://schemas.openxmlformats.org/officeDocument/2006/relationships/slide" Target="slides/slide12.xml"/><Relationship Id="rId41" Type="http://schemas.openxmlformats.org/officeDocument/2006/relationships/customXml" Target="../customXml/item1.xml"/><Relationship Id="rId6" Type="http://schemas.openxmlformats.org/officeDocument/2006/relationships/slide" Target="slides/slide2.xml"/><Relationship Id="rId40" Type="http://schemas.openxmlformats.org/officeDocument/2006/relationships/tableStyles" Target="tableStyles.xml"/><Relationship Id="rId37" Type="http://schemas.openxmlformats.org/officeDocument/2006/relationships/slide" Target="slides/slide33.xml"/><Relationship Id="rId32" Type="http://schemas.openxmlformats.org/officeDocument/2006/relationships/slide" Target="slides/slide28.xml"/><Relationship Id="rId24" Type="http://schemas.openxmlformats.org/officeDocument/2006/relationships/slide" Target="slides/slide20.xml"/><Relationship Id="rId11" Type="http://schemas.openxmlformats.org/officeDocument/2006/relationships/slide" Target="slides/slide7.xml"/><Relationship Id="rId1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36" Type="http://schemas.openxmlformats.org/officeDocument/2006/relationships/slide" Target="slides/slide32.xml"/><Relationship Id="rId28" Type="http://schemas.openxmlformats.org/officeDocument/2006/relationships/slide" Target="slides/slide24.xml"/><Relationship Id="rId23" Type="http://schemas.openxmlformats.org/officeDocument/2006/relationships/slide" Target="slides/slide19.xml"/><Relationship Id="rId15" Type="http://schemas.openxmlformats.org/officeDocument/2006/relationships/slide" Target="slides/slide11.xml"/><Relationship Id="rId31" Type="http://schemas.openxmlformats.org/officeDocument/2006/relationships/slide" Target="slides/slide27.xml"/><Relationship Id="rId19" Type="http://schemas.openxmlformats.org/officeDocument/2006/relationships/slide" Target="slides/slide15.xml"/><Relationship Id="rId10" Type="http://schemas.openxmlformats.org/officeDocument/2006/relationships/slide" Target="slides/slide6.xml"/><Relationship Id="rId9" Type="http://schemas.openxmlformats.org/officeDocument/2006/relationships/slide" Target="slides/slide5.xml"/><Relationship Id="rId4" Type="http://schemas.openxmlformats.org/officeDocument/2006/relationships/slide" Target="slides/slide1.xml"/><Relationship Id="rId35" Type="http://schemas.openxmlformats.org/officeDocument/2006/relationships/slide" Target="slides/slide31.xml"/><Relationship Id="rId30" Type="http://schemas.openxmlformats.org/officeDocument/2006/relationships/slide" Target="slides/slide26.xml"/><Relationship Id="rId27" Type="http://schemas.openxmlformats.org/officeDocument/2006/relationships/slide" Target="slides/slide23.xml"/><Relationship Id="rId22" Type="http://schemas.openxmlformats.org/officeDocument/2006/relationships/slide" Target="slides/slide18.xml"/><Relationship Id="rId14" Type="http://schemas.openxmlformats.org/officeDocument/2006/relationships/slide" Target="slides/slide10.xml"/><Relationship Id="rId43" Type="http://schemas.openxmlformats.org/officeDocument/2006/relationships/customXml" Target="../customXml/item3.xml"/><Relationship Id="rId8" Type="http://schemas.openxmlformats.org/officeDocument/2006/relationships/slide" Target="slides/slide4.xml"/><Relationship Id="rId3" Type="http://schemas.openxmlformats.org/officeDocument/2006/relationships/slideMaster" Target="slideMasters/slideMaster2.xml"/><Relationship Id="rId38" Type="http://schemas.openxmlformats.org/officeDocument/2006/relationships/presProps" Target="presProps.xml"/><Relationship Id="rId33" Type="http://schemas.openxmlformats.org/officeDocument/2006/relationships/slide" Target="slides/slide29.xml"/><Relationship Id="rId25" Type="http://schemas.openxmlformats.org/officeDocument/2006/relationships/slide" Target="slides/slide21.xml"/><Relationship Id="rId17" Type="http://schemas.openxmlformats.org/officeDocument/2006/relationships/slide" Target="slides/slide13.xml"/><Relationship Id="rId12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098" name="Rounded Rectangle 3072"/>
          <p:cNvSpPr/>
          <p:nvPr/>
        </p:nvSpPr>
        <p:spPr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 w="9360">
            <a:noFill/>
          </a:ln>
        </p:spPr>
        <p:txBody>
          <a:bodyPr anchor="t" anchorCtr="0"/>
          <a:p>
            <a:pPr lvl="0"/>
            <a:endParaRPr lang="en-US" altLang="zh-CN"/>
          </a:p>
        </p:txBody>
      </p:sp>
      <p:sp>
        <p:nvSpPr>
          <p:cNvPr id="4099" name="Rounded Rectangle 3073"/>
          <p:cNvSpPr/>
          <p:nvPr/>
        </p:nvSpPr>
        <p:spPr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 w="9525">
            <a:noFill/>
          </a:ln>
        </p:spPr>
        <p:txBody>
          <a:bodyPr anchor="t" anchorCtr="0"/>
          <a:p>
            <a:pPr lvl="0"/>
            <a:endParaRPr lang="en-US" altLang="zh-CN"/>
          </a:p>
        </p:txBody>
      </p:sp>
      <p:sp>
        <p:nvSpPr>
          <p:cNvPr id="4100" name="Text Box 3074"/>
          <p:cNvSpPr txBox="1"/>
          <p:nvPr/>
        </p:nvSpPr>
        <p:spPr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endParaRPr lang="en-US" altLang="zh-CN"/>
          </a:p>
        </p:txBody>
      </p:sp>
      <p:sp>
        <p:nvSpPr>
          <p:cNvPr id="4101" name="Text Box 3075"/>
          <p:cNvSpPr txBox="1"/>
          <p:nvPr/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endParaRPr lang="en-US" altLang="zh-CN"/>
          </a:p>
        </p:txBody>
      </p:sp>
      <p:sp>
        <p:nvSpPr>
          <p:cNvPr id="4102" name="Slide Image Placeholder 3076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68825" cy="3425825"/>
          </a:xfrm>
          <a:prstGeom prst="rect">
            <a:avLst/>
          </a:prstGeom>
          <a:noFill/>
          <a:ln w="9360" cap="sq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4103" name="Text Placeholder 3077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3225" cy="41116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t" anchorCtr="0"/>
          <a:p>
            <a:pPr lvl="0"/>
            <a:endParaRPr lang="en-GB"/>
          </a:p>
        </p:txBody>
      </p:sp>
      <p:sp>
        <p:nvSpPr>
          <p:cNvPr id="4104" name="Text Box 3078"/>
          <p:cNvSpPr txBox="1"/>
          <p:nvPr/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endParaRPr lang="en-US" altLang="zh-CN"/>
          </a:p>
        </p:txBody>
      </p:sp>
      <p:sp>
        <p:nvSpPr>
          <p:cNvPr id="3080" name="Slide Number Placeholder 3079"/>
          <p:cNvSpPr>
            <a:spLocks noGrp="1"/>
          </p:cNvSpPr>
          <p:nvPr>
            <p:ph type="sldNum"/>
          </p:nvPr>
        </p:nvSpPr>
        <p:spPr>
          <a:xfrm>
            <a:off x="3884613" y="8685213"/>
            <a:ext cx="2968625" cy="4540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p>
            <a:pPr marL="215900" lvl="0" indent="-213995" algn="r" defTabSz="457200" eaLnBrk="1" fontAlgn="base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strike="noStrike" noProof="1" dirty="0" err="1">
                <a:latin typeface="Times New Roman" panose="02020603050405020304" pitchFamily="16" charset="0"/>
                <a:ea typeface="Arial Unicode MS" charset="-122"/>
                <a:cs typeface="+mn-cs"/>
              </a:rPr>
            </a:fld>
            <a:endParaRPr lang="ru-RU" altLang="x-none" sz="1200" strike="noStrike" noProof="1" dirty="0" err="1">
              <a:latin typeface="Times New Roman" panose="02020603050405020304" pitchFamily="16" charset="0"/>
              <a:ea typeface="Arial Unicode MS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lvl="0" indent="0" algn="l" defTabSz="457200" rtl="0" eaLnBrk="0" fontAlgn="base" latinLnBrk="0" hangingPunct="0">
      <a:lnSpc>
        <a:spcPct val="100000"/>
      </a:lnSpc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6" charset="0"/>
      <a:buNone/>
      <a:defRPr sz="1200" b="0" i="0" u="none" kern="1200" baseline="0">
        <a:solidFill>
          <a:srgbClr val="000000"/>
        </a:solidFill>
        <a:latin typeface="Times New Roman" panose="02020603050405020304" pitchFamily="16" charset="0"/>
      </a:defRPr>
    </a:lvl1pPr>
    <a:lvl2pPr marL="742950" lvl="1" indent="-285750" algn="l" defTabSz="457200" rtl="0" eaLnBrk="0" fontAlgn="base" latinLnBrk="0" hangingPunct="0">
      <a:lnSpc>
        <a:spcPct val="100000"/>
      </a:lnSpc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6" charset="0"/>
      <a:buNone/>
      <a:defRPr sz="1200" b="0" i="0" u="none" kern="1200" baseline="0">
        <a:solidFill>
          <a:srgbClr val="000000"/>
        </a:solidFill>
        <a:latin typeface="Times New Roman" panose="02020603050405020304" pitchFamily="16" charset="0"/>
      </a:defRPr>
    </a:lvl2pPr>
    <a:lvl3pPr marL="1143000" lvl="2" indent="-228600" algn="l" defTabSz="457200" rtl="0" eaLnBrk="0" fontAlgn="base" latinLnBrk="0" hangingPunct="0">
      <a:lnSpc>
        <a:spcPct val="100000"/>
      </a:lnSpc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6" charset="0"/>
      <a:buNone/>
      <a:defRPr sz="1200" b="0" i="0" u="none" kern="1200" baseline="0">
        <a:solidFill>
          <a:srgbClr val="000000"/>
        </a:solidFill>
        <a:latin typeface="Times New Roman" panose="02020603050405020304" pitchFamily="16" charset="0"/>
      </a:defRPr>
    </a:lvl3pPr>
    <a:lvl4pPr marL="1600200" lvl="3" indent="-228600" algn="l" defTabSz="457200" rtl="0" eaLnBrk="0" fontAlgn="base" latinLnBrk="0" hangingPunct="0">
      <a:lnSpc>
        <a:spcPct val="100000"/>
      </a:lnSpc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6" charset="0"/>
      <a:buNone/>
      <a:defRPr sz="1200" b="0" i="0" u="none" kern="1200" baseline="0">
        <a:solidFill>
          <a:srgbClr val="000000"/>
        </a:solidFill>
        <a:latin typeface="Times New Roman" panose="02020603050405020304" pitchFamily="16" charset="0"/>
      </a:defRPr>
    </a:lvl4pPr>
    <a:lvl5pPr marL="2057400" lvl="4" indent="-228600" algn="l" defTabSz="457200" rtl="0" eaLnBrk="0" fontAlgn="base" latinLnBrk="0" hangingPunct="0">
      <a:lnSpc>
        <a:spcPct val="100000"/>
      </a:lnSpc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6" charset="0"/>
      <a:buNone/>
      <a:defRPr sz="1200" b="0" i="0" u="none" kern="1200" baseline="0">
        <a:solidFill>
          <a:srgbClr val="000000"/>
        </a:solidFill>
        <a:latin typeface="Times New Roman" panose="02020603050405020304" pitchFamily="16" charset="0"/>
      </a:defRPr>
    </a:lvl5pPr>
    <a:lvl6pPr marL="2286000" lvl="5" indent="-228600" algn="l" defTabSz="457200" rtl="0" eaLnBrk="0" fontAlgn="base" latinLnBrk="0" hangingPunct="0">
      <a:lnSpc>
        <a:spcPct val="100000"/>
      </a:lnSpc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6" charset="0"/>
      <a:buNone/>
      <a:defRPr sz="1200" b="0" i="0" u="none" kern="1200" baseline="0">
        <a:solidFill>
          <a:srgbClr val="000000"/>
        </a:solidFill>
        <a:latin typeface="Times New Roman" panose="02020603050405020304" pitchFamily="16" charset="0"/>
      </a:defRPr>
    </a:lvl6pPr>
    <a:lvl7pPr marL="2743200" lvl="6" indent="-228600" algn="l" defTabSz="457200" rtl="0" eaLnBrk="0" fontAlgn="base" latinLnBrk="0" hangingPunct="0">
      <a:lnSpc>
        <a:spcPct val="100000"/>
      </a:lnSpc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6" charset="0"/>
      <a:buNone/>
      <a:defRPr sz="1200" b="0" i="0" u="none" kern="1200" baseline="0">
        <a:solidFill>
          <a:srgbClr val="000000"/>
        </a:solidFill>
        <a:latin typeface="Times New Roman" panose="02020603050405020304" pitchFamily="16" charset="0"/>
      </a:defRPr>
    </a:lvl7pPr>
    <a:lvl8pPr marL="3200400" lvl="7" indent="-228600" algn="l" defTabSz="457200" rtl="0" eaLnBrk="0" fontAlgn="base" latinLnBrk="0" hangingPunct="0">
      <a:lnSpc>
        <a:spcPct val="100000"/>
      </a:lnSpc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6" charset="0"/>
      <a:buNone/>
      <a:defRPr sz="1200" b="0" i="0" u="none" kern="1200" baseline="0">
        <a:solidFill>
          <a:srgbClr val="000000"/>
        </a:solidFill>
        <a:latin typeface="Times New Roman" panose="02020603050405020304" pitchFamily="16" charset="0"/>
      </a:defRPr>
    </a:lvl8pPr>
    <a:lvl9pPr marL="3657600" lvl="8" indent="-228600" algn="l" defTabSz="457200" rtl="0" eaLnBrk="0" fontAlgn="base" latinLnBrk="0" hangingPunct="0">
      <a:lnSpc>
        <a:spcPct val="100000"/>
      </a:lnSpc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6" charset="0"/>
      <a:buNone/>
      <a:defRPr sz="1200" b="0" i="0" u="none" kern="1200" baseline="0">
        <a:solidFill>
          <a:srgbClr val="000000"/>
        </a:solidFill>
        <a:latin typeface="Times New Roman" panose="02020603050405020304" pitchFamily="16" charset="0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146" name="Slide Number Placeholder 1"/>
          <p:cNvSpPr/>
          <p:nvPr>
            <p:ph type="sldNum" sz="quarter"/>
          </p:nvPr>
        </p:nvSpPr>
        <p:spPr>
          <a:xfrm>
            <a:off x="3884613" y="8685213"/>
            <a:ext cx="2968625" cy="4540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p>
            <a:pPr marL="215900" lvl="0" indent="-213995" algn="r" defTabSz="457200">
              <a:buClrTx/>
              <a:buSzPct val="45000"/>
              <a:buFontTx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solidFill>
                  <a:srgbClr val="000000"/>
                </a:solidFill>
                <a:latin typeface="Times New Roman" panose="02020603050405020304" pitchFamily="16" charset="0"/>
                <a:ea typeface="Arial Unicode MS" charset="-122"/>
              </a:rPr>
            </a:fld>
            <a:endParaRPr lang="ru-RU" altLang="x-none" sz="1200" dirty="0" err="1">
              <a:solidFill>
                <a:srgbClr val="000000"/>
              </a:solidFill>
              <a:latin typeface="Times New Roman" panose="02020603050405020304" pitchFamily="16" charset="0"/>
              <a:ea typeface="Arial Unicode MS" charset="-122"/>
            </a:endParaRPr>
          </a:p>
        </p:txBody>
      </p:sp>
      <p:sp>
        <p:nvSpPr>
          <p:cNvPr id="6147" name="Slide Image Placeholder 38912"/>
          <p:cNvSpPr txBox="1"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 cap="flat"/>
        </p:spPr>
      </p:sp>
      <p:sp>
        <p:nvSpPr>
          <p:cNvPr id="6148" name="Text Placeholder 38913"/>
          <p:cNvSpPr txBox="1"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</p:spPr>
        <p:txBody>
          <a:bodyPr wrap="none" lIns="90000" tIns="46800" rIns="90000" bIns="46800" anchor="ctr" anchorCtr="0"/>
          <a:p>
            <a:pPr lvl="0"/>
            <a:endParaRPr lang="en-GB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194" name="Slide Number Placeholder 1"/>
          <p:cNvSpPr/>
          <p:nvPr>
            <p:ph type="sldNum" sz="quarter"/>
          </p:nvPr>
        </p:nvSpPr>
        <p:spPr>
          <a:xfrm>
            <a:off x="3884613" y="8685213"/>
            <a:ext cx="2968625" cy="4540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p>
            <a:pPr marL="215900" lvl="0" indent="-213995" algn="r" defTabSz="457200">
              <a:buClrTx/>
              <a:buSzPct val="45000"/>
              <a:buFontTx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ea typeface="Arial Unicode MS" charset="-122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-122"/>
            </a:endParaRPr>
          </a:p>
        </p:txBody>
      </p:sp>
      <p:sp>
        <p:nvSpPr>
          <p:cNvPr id="8195" name="Slide Image Placeholder 39936"/>
          <p:cNvSpPr txBox="1"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 cap="flat"/>
        </p:spPr>
      </p:sp>
      <p:sp>
        <p:nvSpPr>
          <p:cNvPr id="8196" name="Text Placeholder 39937"/>
          <p:cNvSpPr txBox="1"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</p:spPr>
        <p:txBody>
          <a:bodyPr wrap="none" lIns="90000" tIns="46800" rIns="90000" bIns="46800" anchor="ctr" anchorCtr="0"/>
          <a:p>
            <a:pPr lvl="0"/>
            <a:endParaRPr lang="en-GB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en-US" strike="noStrike" noProof="1" smtClean="0"/>
              <a:t>Click to edit Master subtitle style</a:t>
            </a:r>
            <a:endParaRPr lang="en-US" strike="noStrike" noProof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3881596" cy="4416425"/>
          </a:xfrm>
        </p:spPr>
        <p:txBody>
          <a:bodyPr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9629" y="1600200"/>
            <a:ext cx="3881596" cy="4416425"/>
          </a:xfrm>
        </p:spPr>
        <p:txBody>
          <a:bodyPr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1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1" y="2505075"/>
            <a:ext cx="3868340" cy="3684588"/>
          </a:xfrm>
        </p:spPr>
        <p:txBody>
          <a:bodyPr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en-US" strike="noStrike" noProof="1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47235" y="228600"/>
            <a:ext cx="2083991" cy="5788025"/>
          </a:xfrm>
        </p:spPr>
        <p:txBody>
          <a:bodyPr vert="eaVert"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5263" y="228600"/>
            <a:ext cx="6131160" cy="5788025"/>
          </a:xfrm>
        </p:spPr>
        <p:txBody>
          <a:bodyPr vert="eaVert"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matchingName="Title and body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593367"/>
            <a:ext cx="85206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type="sldNum" idx="12"/>
          </p:nvPr>
        </p:nvSpPr>
        <p:spPr>
          <a:xfrm>
            <a:off x="8472458" y="6217623"/>
            <a:ext cx="5487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en-US" strike="noStrike" noProof="1" smtClean="0"/>
              <a:t>Click to edit Master subtitle style</a:t>
            </a:r>
            <a:endParaRPr lang="en-US" strike="noStrike" noProof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 Black" panose="020B0A04020102020204" pitchFamily="32" charset="0"/>
                <a:ea typeface="Arial Unicode MS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 Black" panose="020B0A04020102020204" pitchFamily="32" charset="0"/>
                <a:ea typeface="Arial Unicode MS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 Black" panose="020B0A04020102020204" pitchFamily="32" charset="0"/>
                <a:ea typeface="Arial Unicode MS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3881596" cy="4416425"/>
          </a:xfrm>
        </p:spPr>
        <p:txBody>
          <a:bodyPr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9629" y="1600200"/>
            <a:ext cx="3881596" cy="4416425"/>
          </a:xfrm>
        </p:spPr>
        <p:txBody>
          <a:bodyPr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 Black" panose="020B0A04020102020204" pitchFamily="32" charset="0"/>
                <a:ea typeface="Arial Unicode MS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1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1" y="2505075"/>
            <a:ext cx="3868340" cy="3684588"/>
          </a:xfrm>
        </p:spPr>
        <p:txBody>
          <a:bodyPr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 Black" panose="020B0A04020102020204" pitchFamily="32" charset="0"/>
                <a:ea typeface="Arial Unicode MS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 Black" panose="020B0A04020102020204" pitchFamily="32" charset="0"/>
                <a:ea typeface="Arial Unicode MS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 Black" panose="020B0A04020102020204" pitchFamily="32" charset="0"/>
                <a:ea typeface="Arial Unicode MS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 Black" panose="020B0A04020102020204" pitchFamily="32" charset="0"/>
                <a:ea typeface="Arial Unicode MS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en-US" strike="noStrike" noProof="1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 Black" panose="020B0A04020102020204" pitchFamily="32" charset="0"/>
                <a:ea typeface="Arial Unicode MS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 Black" panose="020B0A04020102020204" pitchFamily="32" charset="0"/>
                <a:ea typeface="Arial Unicode MS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47235" y="228600"/>
            <a:ext cx="2083991" cy="5788025"/>
          </a:xfrm>
        </p:spPr>
        <p:txBody>
          <a:bodyPr vert="eaVert"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5263" y="228600"/>
            <a:ext cx="6131160" cy="5788025"/>
          </a:xfrm>
        </p:spPr>
        <p:txBody>
          <a:bodyPr vert="eaVert"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 Black" panose="020B0A04020102020204" pitchFamily="32" charset="0"/>
                <a:ea typeface="Arial Unicode MS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1.xml"/><Relationship Id="rId8" Type="http://schemas.openxmlformats.org/officeDocument/2006/relationships/slideLayout" Target="../slideLayouts/slideLayout20.xml"/><Relationship Id="rId7" Type="http://schemas.openxmlformats.org/officeDocument/2006/relationships/slideLayout" Target="../slideLayouts/slideLayout19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1026" name="Group 1024"/>
          <p:cNvGrpSpPr/>
          <p:nvPr/>
        </p:nvGrpSpPr>
        <p:grpSpPr>
          <a:xfrm>
            <a:off x="0" y="152400"/>
            <a:ext cx="8683625" cy="6092825"/>
            <a:chOff x="0" y="96"/>
            <a:chExt cx="5470" cy="3838"/>
          </a:xfrm>
        </p:grpSpPr>
        <p:sp>
          <p:nvSpPr>
            <p:cNvPr id="1027" name="Rounded Rectangle 1025"/>
            <p:cNvSpPr/>
            <p:nvPr/>
          </p:nvSpPr>
          <p:spPr>
            <a:xfrm>
              <a:off x="240" y="336"/>
              <a:ext cx="5230" cy="3598"/>
            </a:xfrm>
            <a:prstGeom prst="roundRect">
              <a:avLst>
                <a:gd name="adj" fmla="val 13727"/>
              </a:avLst>
            </a:prstGeom>
            <a:noFill/>
            <a:ln w="50760" cap="sq" cmpd="sng">
              <a:solidFill>
                <a:srgbClr val="669999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p>
              <a:pPr lvl="0"/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1028" name="Freeform 1026"/>
            <p:cNvSpPr/>
            <p:nvPr/>
          </p:nvSpPr>
          <p:spPr>
            <a:xfrm>
              <a:off x="0" y="96"/>
              <a:ext cx="5374" cy="76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2"/>
                </a:cxn>
                <a:cxn ang="0">
                  <a:pos x="0" y="2"/>
                </a:cxn>
              </a:cxnLst>
              <a:pathLst>
                <a:path w="7000" h="1000">
                  <a:moveTo>
                    <a:pt x="0" y="0"/>
                  </a:moveTo>
                  <a:lnTo>
                    <a:pt x="6499" y="0"/>
                  </a:lnTo>
                  <a:cubicBezTo>
                    <a:pt x="6776" y="0"/>
                    <a:pt x="7000" y="223"/>
                    <a:pt x="7000" y="500"/>
                  </a:cubicBezTo>
                  <a:cubicBezTo>
                    <a:pt x="7000" y="776"/>
                    <a:pt x="6776" y="999"/>
                    <a:pt x="6500" y="1000"/>
                  </a:cubicBezTo>
                  <a:lnTo>
                    <a:pt x="0" y="1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666CC"/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029" name="Straight Connector 1027"/>
            <p:cNvSpPr/>
            <p:nvPr/>
          </p:nvSpPr>
          <p:spPr>
            <a:xfrm>
              <a:off x="0" y="768"/>
              <a:ext cx="5086" cy="0"/>
            </a:xfrm>
            <a:prstGeom prst="line">
              <a:avLst/>
            </a:prstGeom>
            <a:ln w="38160" cap="sq" cmpd="sng">
              <a:solidFill>
                <a:srgbClr val="FFFFFF"/>
              </a:solidFill>
              <a:prstDash val="solid"/>
              <a:miter/>
              <a:headEnd type="none" w="med" len="med"/>
              <a:tailEnd type="none" w="med" len="med"/>
            </a:ln>
          </p:spPr>
        </p:sp>
      </p:grpSp>
      <p:sp>
        <p:nvSpPr>
          <p:cNvPr id="1030" name="Title 1028"/>
          <p:cNvSpPr>
            <a:spLocks noGrp="1"/>
          </p:cNvSpPr>
          <p:nvPr>
            <p:ph type="title"/>
          </p:nvPr>
        </p:nvSpPr>
        <p:spPr>
          <a:xfrm>
            <a:off x="195263" y="228600"/>
            <a:ext cx="8012112" cy="9112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ctr" anchorCtr="0"/>
          <a:p>
            <a:pPr lvl="0"/>
            <a:r>
              <a:rPr lang="en-GB" dirty="0"/>
              <a:t>Для правки текста заголовка щелкните мышью</a:t>
            </a:r>
            <a:endParaRPr lang="en-GB" dirty="0"/>
          </a:p>
        </p:txBody>
      </p:sp>
      <p:sp>
        <p:nvSpPr>
          <p:cNvPr id="1031" name="Text Placeholder 1029"/>
          <p:cNvSpPr>
            <a:spLocks noGrp="1"/>
          </p:cNvSpPr>
          <p:nvPr>
            <p:ph type="body"/>
          </p:nvPr>
        </p:nvSpPr>
        <p:spPr>
          <a:xfrm>
            <a:off x="609600" y="1600200"/>
            <a:ext cx="7921625" cy="44164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t" anchorCtr="0"/>
          <a:p>
            <a:pPr lvl="0"/>
            <a:r>
              <a:rPr lang="en-GB" dirty="0"/>
              <a:t>Для правки структуры щелкните мышью</a:t>
            </a:r>
            <a:endParaRPr lang="en-GB" dirty="0"/>
          </a:p>
          <a:p>
            <a:pPr lvl="1"/>
            <a:r>
              <a:rPr lang="en-GB" dirty="0"/>
              <a:t>Второй уровень структуры</a:t>
            </a:r>
            <a:endParaRPr lang="en-GB" dirty="0"/>
          </a:p>
          <a:p>
            <a:pPr lvl="2"/>
            <a:r>
              <a:rPr lang="en-GB" dirty="0"/>
              <a:t>Третий уровень структуры</a:t>
            </a:r>
            <a:endParaRPr lang="en-GB" dirty="0"/>
          </a:p>
          <a:p>
            <a:pPr lvl="3"/>
            <a:r>
              <a:rPr lang="en-GB" dirty="0"/>
              <a:t>Четвёртый уровень структуры</a:t>
            </a:r>
            <a:endParaRPr lang="en-GB" dirty="0"/>
          </a:p>
          <a:p>
            <a:pPr lvl="4"/>
            <a:r>
              <a:rPr lang="en-GB" dirty="0"/>
              <a:t>Пятый уровень структуры</a:t>
            </a:r>
            <a:endParaRPr lang="en-GB" dirty="0"/>
          </a:p>
          <a:p>
            <a:pPr lvl="4"/>
            <a:r>
              <a:rPr lang="en-GB" dirty="0"/>
              <a:t>Шестой уровень структуры</a:t>
            </a:r>
            <a:endParaRPr lang="en-GB" dirty="0"/>
          </a:p>
          <a:p>
            <a:pPr lvl="4"/>
            <a:r>
              <a:rPr lang="en-GB" dirty="0"/>
              <a:t>Седьмой уровень структуры</a:t>
            </a:r>
            <a:endParaRPr lang="en-GB" dirty="0"/>
          </a:p>
          <a:p>
            <a:pPr lvl="4"/>
            <a:r>
              <a:rPr lang="en-GB" dirty="0"/>
              <a:t>Восьмой уровень структуры</a:t>
            </a:r>
            <a:endParaRPr lang="en-GB" dirty="0"/>
          </a:p>
          <a:p>
            <a:pPr lvl="4"/>
            <a:r>
              <a:rPr lang="en-GB" dirty="0"/>
              <a:t>Девятый уровень структуры</a:t>
            </a:r>
            <a:endParaRPr lang="en-GB" dirty="0"/>
          </a:p>
        </p:txBody>
      </p:sp>
      <p:sp>
        <p:nvSpPr>
          <p:cNvPr id="1032" name="Text Box 1030"/>
          <p:cNvSpPr txBox="1"/>
          <p:nvPr/>
        </p:nvSpPr>
        <p:spPr>
          <a:xfrm>
            <a:off x="457200" y="6248400"/>
            <a:ext cx="21336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1033" name="Text Box 1031"/>
          <p:cNvSpPr txBox="1"/>
          <p:nvPr/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2" name="Slide Number Placeholder 1032"/>
          <p:cNvSpPr>
            <a:spLocks noGrp="1"/>
          </p:cNvSpPr>
          <p:nvPr>
            <p:ph type="sldNum"/>
          </p:nvPr>
        </p:nvSpPr>
        <p:spPr>
          <a:xfrm>
            <a:off x="6553200" y="6248400"/>
            <a:ext cx="2130425" cy="4540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lstStyle>
            <a:lvl1pPr>
              <a:buFontTx/>
              <a:defRPr/>
            </a:lvl1pPr>
          </a:lstStyle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marL="0" lvl="0" indent="0" algn="l" defTabSz="4572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4200" b="0" i="0" u="none" kern="1200" baseline="0">
          <a:solidFill>
            <a:srgbClr val="FFFFFF"/>
          </a:solidFill>
          <a:latin typeface="+mj-lt"/>
          <a:ea typeface="+mj-ea"/>
          <a:cs typeface="+mj-cs"/>
        </a:defRPr>
      </a:lvl1pPr>
      <a:lvl2pPr marL="742950" lvl="1" indent="-285750" algn="l" defTabSz="4572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4200" b="0" i="0" u="none" kern="1200" baseline="0">
          <a:solidFill>
            <a:srgbClr val="FFFFFF"/>
          </a:solidFill>
          <a:latin typeface="Arial" panose="020B0604020202020204" pitchFamily="34" charset="0"/>
          <a:ea typeface="Microsoft YaHei" panose="020B0503020204020204" charset="-122"/>
          <a:cs typeface="+mj-cs"/>
        </a:defRPr>
      </a:lvl2pPr>
      <a:lvl3pPr marL="1143000" lvl="2" indent="-228600" algn="l" defTabSz="4572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4200" b="0" i="0" u="none" kern="1200" baseline="0">
          <a:solidFill>
            <a:srgbClr val="FFFFFF"/>
          </a:solidFill>
          <a:latin typeface="Arial" panose="020B0604020202020204" pitchFamily="34" charset="0"/>
          <a:ea typeface="Microsoft YaHei" panose="020B0503020204020204" charset="-122"/>
          <a:cs typeface="+mj-cs"/>
        </a:defRPr>
      </a:lvl3pPr>
      <a:lvl4pPr marL="1600200" lvl="3" indent="-228600" algn="l" defTabSz="4572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4200" b="0" i="0" u="none" kern="1200" baseline="0">
          <a:solidFill>
            <a:srgbClr val="FFFFFF"/>
          </a:solidFill>
          <a:latin typeface="Arial" panose="020B0604020202020204" pitchFamily="34" charset="0"/>
          <a:ea typeface="Microsoft YaHei" panose="020B0503020204020204" charset="-122"/>
          <a:cs typeface="+mj-cs"/>
        </a:defRPr>
      </a:lvl4pPr>
      <a:lvl5pPr marL="2057400" lvl="4" indent="-228600" algn="l" defTabSz="4572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4200" b="0" i="0" u="none" kern="1200" baseline="0">
          <a:solidFill>
            <a:srgbClr val="FFFFFF"/>
          </a:solidFill>
          <a:latin typeface="Arial" panose="020B0604020202020204" pitchFamily="34" charset="0"/>
          <a:ea typeface="Microsoft YaHei" panose="020B0503020204020204" charset="-122"/>
          <a:cs typeface="+mj-cs"/>
        </a:defRPr>
      </a:lvl5pPr>
    </p:titleStyle>
    <p:bodyStyle>
      <a:lvl1pPr marL="342900" lvl="0" indent="-342900" algn="l" defTabSz="457200" rtl="0" eaLnBrk="0" fontAlgn="base" latinLnBrk="0" hangingPunct="0">
        <a:lnSpc>
          <a:spcPct val="100000"/>
        </a:lnSpc>
        <a:spcBef>
          <a:spcPts val="8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32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1pPr>
      <a:lvl2pPr marL="742950" lvl="1" indent="-285750" algn="l" defTabSz="457200" rtl="0" eaLnBrk="0" fontAlgn="base" latinLnBrk="0" hangingPunct="0">
        <a:lnSpc>
          <a:spcPct val="100000"/>
        </a:lnSpc>
        <a:spcBef>
          <a:spcPts val="7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2pPr>
      <a:lvl3pPr marL="1143000" lvl="2" indent="-228600" algn="l" defTabSz="457200" rtl="0" eaLnBrk="0" fontAlgn="base" latinLnBrk="0" hangingPunct="0">
        <a:lnSpc>
          <a:spcPct val="100000"/>
        </a:lnSpc>
        <a:spcBef>
          <a:spcPts val="6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4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3pPr>
      <a:lvl4pPr marL="1600200" lvl="3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4pPr>
      <a:lvl5pPr marL="2057400" lvl="4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5pPr>
      <a:lvl6pPr marL="2514600" lvl="5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6pPr>
      <a:lvl7pPr marL="2971800" lvl="6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7pPr>
      <a:lvl8pPr marL="3429000" lvl="7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8pPr>
      <a:lvl9pPr marL="3886200" lvl="8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9pPr>
    </p:bodyStyle>
    <p:otherStyle>
      <a:lvl1pPr marL="0" lvl="0" indent="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1pPr>
      <a:lvl2pPr marL="742950" lvl="1" indent="-28575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2pPr>
      <a:lvl3pPr marL="1143000" lvl="2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3pPr>
      <a:lvl4pPr marL="1600200" lvl="3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4pPr>
      <a:lvl5pPr marL="2057400" lvl="4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5pPr>
      <a:lvl6pPr marL="2286000" lvl="5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6pPr>
      <a:lvl7pPr marL="2743200" lvl="6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7pPr>
      <a:lvl8pPr marL="3200400" lvl="7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8pPr>
      <a:lvl9pPr marL="3657600" lvl="8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2050" name="Group 2048"/>
          <p:cNvGrpSpPr/>
          <p:nvPr/>
        </p:nvGrpSpPr>
        <p:grpSpPr>
          <a:xfrm>
            <a:off x="0" y="927100"/>
            <a:ext cx="8988425" cy="4492625"/>
            <a:chOff x="0" y="584"/>
            <a:chExt cx="5662" cy="2830"/>
          </a:xfrm>
        </p:grpSpPr>
        <p:sp>
          <p:nvSpPr>
            <p:cNvPr id="2051" name="Rounded Rectangle 2049"/>
            <p:cNvSpPr/>
            <p:nvPr/>
          </p:nvSpPr>
          <p:spPr>
            <a:xfrm>
              <a:off x="432" y="1304"/>
              <a:ext cx="4654" cy="2110"/>
            </a:xfrm>
            <a:prstGeom prst="roundRect">
              <a:avLst>
                <a:gd name="adj" fmla="val 16667"/>
              </a:avLst>
            </a:prstGeom>
            <a:noFill/>
            <a:ln w="50760" cap="sq" cmpd="sng">
              <a:solidFill>
                <a:srgbClr val="669999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p>
              <a:pPr lvl="0"/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2052" name="Rectangles 2050"/>
            <p:cNvSpPr/>
            <p:nvPr/>
          </p:nvSpPr>
          <p:spPr>
            <a:xfrm>
              <a:off x="144" y="584"/>
              <a:ext cx="4510" cy="622"/>
            </a:xfrm>
            <a:prstGeom prst="rect">
              <a:avLst/>
            </a:prstGeom>
            <a:solidFill>
              <a:srgbClr val="FFFFFF"/>
            </a:solidFill>
            <a:ln w="57240" cap="sq" cmpd="sng">
              <a:solidFill>
                <a:srgbClr val="669999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p>
              <a:pPr lvl="0"/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2053" name="Freeform 2051"/>
            <p:cNvSpPr/>
            <p:nvPr/>
          </p:nvSpPr>
          <p:spPr>
            <a:xfrm>
              <a:off x="0" y="872"/>
              <a:ext cx="5662" cy="115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78537909" y="0"/>
                </a:cxn>
                <a:cxn ang="0">
                  <a:pos x="198785821" y="20342807"/>
                </a:cxn>
                <a:cxn ang="0">
                  <a:pos x="178577890" y="40617799"/>
                </a:cxn>
                <a:cxn ang="0">
                  <a:pos x="0" y="40617799"/>
                </a:cxn>
              </a:cxnLst>
              <a:pathLst>
                <a:path w="4917" h="1000">
                  <a:moveTo>
                    <a:pt x="0" y="0"/>
                  </a:moveTo>
                  <a:lnTo>
                    <a:pt x="4416" y="0"/>
                  </a:lnTo>
                  <a:cubicBezTo>
                    <a:pt x="4693" y="0"/>
                    <a:pt x="4917" y="223"/>
                    <a:pt x="4917" y="500"/>
                  </a:cubicBezTo>
                  <a:cubicBezTo>
                    <a:pt x="4917" y="776"/>
                    <a:pt x="4693" y="999"/>
                    <a:pt x="4417" y="1000"/>
                  </a:cubicBezTo>
                  <a:lnTo>
                    <a:pt x="0" y="1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666CC"/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2054" name="Straight Connector 2052"/>
            <p:cNvSpPr/>
            <p:nvPr/>
          </p:nvSpPr>
          <p:spPr>
            <a:xfrm>
              <a:off x="0" y="1928"/>
              <a:ext cx="5230" cy="0"/>
            </a:xfrm>
            <a:prstGeom prst="line">
              <a:avLst/>
            </a:prstGeom>
            <a:ln w="50760" cap="sq" cmpd="sng">
              <a:solidFill>
                <a:srgbClr val="FFFFFF"/>
              </a:solidFill>
              <a:prstDash val="solid"/>
              <a:miter/>
              <a:headEnd type="none" w="med" len="med"/>
              <a:tailEnd type="none" w="med" len="med"/>
            </a:ln>
          </p:spPr>
        </p:sp>
      </p:grpSp>
      <p:sp>
        <p:nvSpPr>
          <p:cNvPr id="2055" name="Title 2053"/>
          <p:cNvSpPr>
            <a:spLocks noGrp="1"/>
          </p:cNvSpPr>
          <p:nvPr>
            <p:ph type="title"/>
          </p:nvPr>
        </p:nvSpPr>
        <p:spPr>
          <a:xfrm>
            <a:off x="195263" y="228600"/>
            <a:ext cx="8012112" cy="9112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ctr" anchorCtr="0"/>
          <a:p>
            <a:pPr lvl="0"/>
            <a:r>
              <a:rPr lang="en-GB" dirty="0"/>
              <a:t>Для правки текста заголовка щелкните мышью</a:t>
            </a:r>
            <a:endParaRPr lang="en-GB" dirty="0"/>
          </a:p>
        </p:txBody>
      </p:sp>
      <p:sp>
        <p:nvSpPr>
          <p:cNvPr id="2056" name="Text Placeholder 2054"/>
          <p:cNvSpPr>
            <a:spLocks noGrp="1"/>
          </p:cNvSpPr>
          <p:nvPr>
            <p:ph type="body"/>
          </p:nvPr>
        </p:nvSpPr>
        <p:spPr>
          <a:xfrm>
            <a:off x="609600" y="1600200"/>
            <a:ext cx="7921625" cy="44164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t" anchorCtr="0"/>
          <a:p>
            <a:pPr lvl="0"/>
            <a:r>
              <a:rPr lang="en-GB" dirty="0"/>
              <a:t>Для правки структуры щелкните мышью</a:t>
            </a:r>
            <a:endParaRPr lang="en-GB" dirty="0"/>
          </a:p>
          <a:p>
            <a:pPr lvl="1"/>
            <a:r>
              <a:rPr lang="en-GB" dirty="0"/>
              <a:t>Второй уровень структуры</a:t>
            </a:r>
            <a:endParaRPr lang="en-GB" dirty="0"/>
          </a:p>
          <a:p>
            <a:pPr lvl="2"/>
            <a:r>
              <a:rPr lang="en-GB" dirty="0"/>
              <a:t>Третий уровень структуры</a:t>
            </a:r>
            <a:endParaRPr lang="en-GB" dirty="0"/>
          </a:p>
          <a:p>
            <a:pPr lvl="3"/>
            <a:r>
              <a:rPr lang="en-GB" dirty="0"/>
              <a:t>Четвёртый уровень структуры</a:t>
            </a:r>
            <a:endParaRPr lang="en-GB" dirty="0"/>
          </a:p>
          <a:p>
            <a:pPr lvl="4"/>
            <a:r>
              <a:rPr lang="en-GB" dirty="0"/>
              <a:t>Пятый уровень структуры</a:t>
            </a:r>
            <a:endParaRPr lang="en-GB" dirty="0"/>
          </a:p>
          <a:p>
            <a:pPr lvl="4"/>
            <a:r>
              <a:rPr lang="en-GB" dirty="0"/>
              <a:t>Шестой уровень структуры</a:t>
            </a:r>
            <a:endParaRPr lang="en-GB" dirty="0"/>
          </a:p>
          <a:p>
            <a:pPr lvl="4"/>
            <a:r>
              <a:rPr lang="en-GB" dirty="0"/>
              <a:t>Седьмой уровень структуры</a:t>
            </a:r>
            <a:endParaRPr lang="en-GB" dirty="0"/>
          </a:p>
          <a:p>
            <a:pPr lvl="4"/>
            <a:r>
              <a:rPr lang="en-GB" dirty="0"/>
              <a:t>Восьмой уровень структуры</a:t>
            </a:r>
            <a:endParaRPr lang="en-GB" dirty="0"/>
          </a:p>
          <a:p>
            <a:pPr lvl="4"/>
            <a:r>
              <a:rPr lang="en-GB" dirty="0"/>
              <a:t>Девятый уровень структуры</a:t>
            </a:r>
            <a:endParaRPr lang="en-GB" dirty="0"/>
          </a:p>
        </p:txBody>
      </p:sp>
      <p:sp>
        <p:nvSpPr>
          <p:cNvPr id="2057" name="Text Box 2055"/>
          <p:cNvSpPr txBox="1"/>
          <p:nvPr/>
        </p:nvSpPr>
        <p:spPr>
          <a:xfrm>
            <a:off x="457200" y="6248400"/>
            <a:ext cx="2133600" cy="471488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2058" name="Text Box 2056"/>
          <p:cNvSpPr txBox="1"/>
          <p:nvPr/>
        </p:nvSpPr>
        <p:spPr>
          <a:xfrm>
            <a:off x="3124200" y="6253163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2" name="Slide Number Placeholder 2057"/>
          <p:cNvSpPr>
            <a:spLocks noGrp="1"/>
          </p:cNvSpPr>
          <p:nvPr>
            <p:ph type="sldNum"/>
          </p:nvPr>
        </p:nvSpPr>
        <p:spPr>
          <a:xfrm>
            <a:off x="6553200" y="6248400"/>
            <a:ext cx="2130425" cy="468313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lstStyle>
            <a:lvl1pPr algn="r">
              <a:buFontTx/>
              <a:defRPr sz="1200">
                <a:latin typeface="Arial Black" panose="020B0A04020102020204" pitchFamily="32" charset="0"/>
                <a:ea typeface="Arial Unicode MS" charset="-122"/>
              </a:defRPr>
            </a:lvl1pPr>
          </a:lstStyle>
          <a:p>
            <a:pPr lvl="0" defTabSz="457200" eaLnBrk="1" fontAlgn="base" hangingPunct="1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 Black" panose="020B0A04020102020204" pitchFamily="32" charset="0"/>
                <a:ea typeface="Arial Unicode MS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hf sldNum="0" hdr="0" ftr="0" dt="0"/>
  <p:txStyles>
    <p:titleStyle>
      <a:lvl1pPr marL="0" lvl="0" indent="0" algn="l" defTabSz="4572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4200" b="0" i="0" u="none" kern="1200" baseline="0">
          <a:solidFill>
            <a:srgbClr val="FFFFFF"/>
          </a:solidFill>
          <a:latin typeface="+mj-lt"/>
          <a:ea typeface="+mj-ea"/>
          <a:cs typeface="+mj-cs"/>
        </a:defRPr>
      </a:lvl1pPr>
      <a:lvl2pPr marL="742950" lvl="1" indent="-285750" algn="l" defTabSz="4572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4200" b="0" i="0" u="none" kern="1200" baseline="0">
          <a:solidFill>
            <a:srgbClr val="FFFFFF"/>
          </a:solidFill>
          <a:latin typeface="Arial" panose="020B0604020202020204" pitchFamily="34" charset="0"/>
          <a:ea typeface="Microsoft YaHei" panose="020B0503020204020204" charset="-122"/>
          <a:cs typeface="+mj-cs"/>
        </a:defRPr>
      </a:lvl2pPr>
      <a:lvl3pPr marL="1143000" lvl="2" indent="-228600" algn="l" defTabSz="4572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4200" b="0" i="0" u="none" kern="1200" baseline="0">
          <a:solidFill>
            <a:srgbClr val="FFFFFF"/>
          </a:solidFill>
          <a:latin typeface="Arial" panose="020B0604020202020204" pitchFamily="34" charset="0"/>
          <a:ea typeface="Microsoft YaHei" panose="020B0503020204020204" charset="-122"/>
          <a:cs typeface="+mj-cs"/>
        </a:defRPr>
      </a:lvl3pPr>
      <a:lvl4pPr marL="1600200" lvl="3" indent="-228600" algn="l" defTabSz="4572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4200" b="0" i="0" u="none" kern="1200" baseline="0">
          <a:solidFill>
            <a:srgbClr val="FFFFFF"/>
          </a:solidFill>
          <a:latin typeface="Arial" panose="020B0604020202020204" pitchFamily="34" charset="0"/>
          <a:ea typeface="Microsoft YaHei" panose="020B0503020204020204" charset="-122"/>
          <a:cs typeface="+mj-cs"/>
        </a:defRPr>
      </a:lvl4pPr>
      <a:lvl5pPr marL="2057400" lvl="4" indent="-228600" algn="l" defTabSz="4572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4200" b="0" i="0" u="none" kern="1200" baseline="0">
          <a:solidFill>
            <a:srgbClr val="FFFFFF"/>
          </a:solidFill>
          <a:latin typeface="Arial" panose="020B0604020202020204" pitchFamily="34" charset="0"/>
          <a:ea typeface="Microsoft YaHei" panose="020B0503020204020204" charset="-122"/>
          <a:cs typeface="+mj-cs"/>
        </a:defRPr>
      </a:lvl5pPr>
    </p:titleStyle>
    <p:bodyStyle>
      <a:lvl1pPr marL="342900" lvl="0" indent="-342900" algn="l" defTabSz="457200" rtl="0" eaLnBrk="0" fontAlgn="base" latinLnBrk="0" hangingPunct="0">
        <a:lnSpc>
          <a:spcPct val="100000"/>
        </a:lnSpc>
        <a:spcBef>
          <a:spcPts val="8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32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1pPr>
      <a:lvl2pPr marL="742950" lvl="1" indent="-285750" algn="l" defTabSz="457200" rtl="0" eaLnBrk="0" fontAlgn="base" latinLnBrk="0" hangingPunct="0">
        <a:lnSpc>
          <a:spcPct val="100000"/>
        </a:lnSpc>
        <a:spcBef>
          <a:spcPts val="7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2pPr>
      <a:lvl3pPr marL="1143000" lvl="2" indent="-228600" algn="l" defTabSz="457200" rtl="0" eaLnBrk="0" fontAlgn="base" latinLnBrk="0" hangingPunct="0">
        <a:lnSpc>
          <a:spcPct val="100000"/>
        </a:lnSpc>
        <a:spcBef>
          <a:spcPts val="6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4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3pPr>
      <a:lvl4pPr marL="1600200" lvl="3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4pPr>
      <a:lvl5pPr marL="2057400" lvl="4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5pPr>
      <a:lvl6pPr marL="2514600" lvl="5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6pPr>
      <a:lvl7pPr marL="2971800" lvl="6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7pPr>
      <a:lvl8pPr marL="3429000" lvl="7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8pPr>
      <a:lvl9pPr marL="3886200" lvl="8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9pPr>
    </p:bodyStyle>
    <p:otherStyle>
      <a:lvl1pPr marL="0" lvl="0" indent="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1pPr>
      <a:lvl2pPr marL="742950" lvl="1" indent="-28575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2pPr>
      <a:lvl3pPr marL="1143000" lvl="2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3pPr>
      <a:lvl4pPr marL="1600200" lvl="3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4pPr>
      <a:lvl5pPr marL="2057400" lvl="4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5pPr>
      <a:lvl6pPr marL="2286000" lvl="5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6pPr>
      <a:lvl7pPr marL="2743200" lvl="6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7pPr>
      <a:lvl8pPr marL="3200400" lvl="7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8pPr>
      <a:lvl9pPr marL="3657600" lvl="8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9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7.jpeg"/><Relationship Id="rId1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4.jpe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7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8.jpe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7.xml"/><Relationship Id="rId1" Type="http://schemas.openxmlformats.org/officeDocument/2006/relationships/hyperlink" Target="https://refactoring.guru/uk/design-patterns/chain-of-responsibility" TargetMode="Externa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9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1" Type="http://schemas.openxmlformats.org/officeDocument/2006/relationships/hyperlink" Target="https://doka.guide/tools/cors/" TargetMode="External"/></Relationships>
</file>

<file path=ppt/slides/_rels/slide3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0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1" Type="http://schemas.openxmlformats.org/officeDocument/2006/relationships/hyperlink" Target="https://gist.github.com/sunmeat/e6f606dfca30c9bddf1e0361a28443e4&#13;" TargetMode="External"/></Relationships>
</file>

<file path=ppt/slides/_rels/slide3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1.xml"/><Relationship Id="rId5" Type="http://schemas.openxmlformats.org/officeDocument/2006/relationships/slideLayout" Target="../slideLayouts/slideLayout7.xml"/><Relationship Id="rId4" Type="http://schemas.openxmlformats.org/officeDocument/2006/relationships/hyperlink" Target="https://github.com/sunmeat/aspnetcore_mvc/blob/master/middleware%20classes.docx" TargetMode="External"/><Relationship Id="rId3" Type="http://schemas.openxmlformats.org/officeDocument/2006/relationships/hyperlink" Target="https://github.com/sunmeat/aspnetcore_mvc/blob/master/middleware%20basics.docx" TargetMode="External"/><Relationship Id="rId2" Type="http://schemas.openxmlformats.org/officeDocument/2006/relationships/hyperlink" Target="https://github.com/sunmeat/aspnetcore_mvc/blob/master/conveyor.docx" TargetMode="External"/><Relationship Id="rId1" Type="http://schemas.openxmlformats.org/officeDocument/2006/relationships/image" Target="../media/image21.png"/></Relationships>
</file>

<file path=ppt/slides/_rels/slide3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2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image" Target="../media/image22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122" name="Text Box 4096"/>
          <p:cNvSpPr txBox="1"/>
          <p:nvPr/>
        </p:nvSpPr>
        <p:spPr>
          <a:xfrm>
            <a:off x="228600" y="1427480"/>
            <a:ext cx="8395335" cy="1609725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5200" dirty="0" err="1">
                <a:solidFill>
                  <a:srgbClr val="FFFFFF"/>
                </a:solidFill>
                <a:latin typeface="Arial" panose="020B0604020202020204" pitchFamily="34" charset="0"/>
              </a:rPr>
              <a:t>Middleware pipeline</a:t>
            </a:r>
            <a:endParaRPr lang="en-US" altLang="en-US" sz="5200" dirty="0" err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5123" name="Rectangles 4097"/>
          <p:cNvSpPr/>
          <p:nvPr/>
        </p:nvSpPr>
        <p:spPr>
          <a:xfrm>
            <a:off x="5867400" y="44450"/>
            <a:ext cx="3280410" cy="369570"/>
          </a:xfrm>
          <a:prstGeom prst="rect">
            <a:avLst/>
          </a:prstGeom>
          <a:noFill/>
          <a:ln w="9525">
            <a:noFill/>
          </a:ln>
        </p:spPr>
        <p:txBody>
          <a:bodyPr wrap="none" lIns="90000" tIns="46800" rIns="90000" bIns="46800" anchor="t" anchorCtr="0">
            <a:spAutoFit/>
          </a:bodyPr>
          <a:p>
            <a:pPr defTabSz="457200">
              <a:buClrTx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dirty="0" err="1">
                <a:solidFill>
                  <a:srgbClr val="F7F7F7"/>
                </a:solidFill>
                <a:latin typeface="Arial" panose="020B0604020202020204" pitchFamily="34" charset="0"/>
              </a:rPr>
              <a:t>О</a:t>
            </a:r>
            <a:r>
              <a:rPr lang="ru-RU" altLang="x-none" dirty="0" err="1">
                <a:solidFill>
                  <a:srgbClr val="F7F7F7"/>
                </a:solidFill>
                <a:latin typeface="Arial" panose="020B0604020202020204" pitchFamily="34" charset="0"/>
              </a:rPr>
              <a:t>лександр Загоруйко © 20</a:t>
            </a:r>
            <a:r>
              <a:rPr lang="en-US" altLang="x-none" dirty="0" err="1">
                <a:solidFill>
                  <a:srgbClr val="F7F7F7"/>
                </a:solidFill>
                <a:latin typeface="Arial" panose="020B0604020202020204" pitchFamily="34" charset="0"/>
              </a:rPr>
              <a:t>2</a:t>
            </a:r>
            <a:r>
              <a:rPr lang="uk-UA" altLang="ru-RU" dirty="0" err="1">
                <a:solidFill>
                  <a:srgbClr val="F7F7F7"/>
                </a:solidFill>
                <a:latin typeface="Arial" panose="020B0604020202020204" pitchFamily="34" charset="0"/>
              </a:rPr>
              <a:t>6</a:t>
            </a:r>
            <a:endParaRPr lang="uk-UA" altLang="ru-RU" dirty="0" err="1">
              <a:solidFill>
                <a:srgbClr val="F7F7F7"/>
              </a:solidFill>
              <a:latin typeface="Arial" panose="020B0604020202020204" pitchFamily="34" charset="0"/>
            </a:endParaRPr>
          </a:p>
        </p:txBody>
      </p:sp>
      <p:pic>
        <p:nvPicPr>
          <p:cNvPr id="4" name="Picture 3" descr="ASP.NET-Core-Log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665" y="3361690"/>
            <a:ext cx="6657975" cy="3382010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170" name="Text Box 5120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ru-RU" altLang="x-none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План презентац</a:t>
            </a:r>
            <a:r>
              <a:rPr lang="uk-UA" altLang="ru-RU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ії</a:t>
            </a:r>
            <a:r>
              <a:rPr lang="ru-RU" altLang="x-none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 - </a:t>
            </a:r>
            <a:r>
              <a:rPr lang="en-US" altLang="ru-RU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2 </a:t>
            </a:r>
            <a:r>
              <a:rPr lang="ru-RU" altLang="x-none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пар</a:t>
            </a:r>
            <a:r>
              <a:rPr lang="uk-UA" altLang="ru-RU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и</a:t>
            </a:r>
            <a:endParaRPr lang="uk-UA" altLang="ru-RU" sz="4200" dirty="0" err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7171" name="Text Box 5121"/>
          <p:cNvSpPr txBox="1"/>
          <p:nvPr/>
        </p:nvSpPr>
        <p:spPr>
          <a:xfrm>
            <a:off x="476885" y="1403985"/>
            <a:ext cx="8017510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marL="215900" indent="-215900" algn="l" defTabSz="457200">
              <a:buSzPct val="45000"/>
              <a:buFont typeface="Wingdings" panose="05000000000000000000" pitchFamily="2" charset="2"/>
              <a:buChar char=""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  <a:tab pos="9359900" algn="l"/>
              </a:tabLst>
            </a:pPr>
            <a:r>
              <a:rPr lang="ru-RU" altLang="uk-UA" sz="3200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6" charset="0"/>
              </a:rPr>
              <a:t> </a:t>
            </a:r>
            <a:r>
              <a:rPr lang="uk-UA" altLang="ru-RU" sz="3200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6" charset="0"/>
              </a:rPr>
              <a:t>Рівні архітектури </a:t>
            </a:r>
            <a:r>
              <a:rPr lang="en-US" altLang="ru-RU" sz="3200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6" charset="0"/>
              </a:rPr>
              <a:t>ASP.Net Core</a:t>
            </a:r>
            <a:endParaRPr lang="en-US" altLang="ru-RU" sz="3200" dirty="0" err="1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6" charset="0"/>
            </a:endParaRPr>
          </a:p>
          <a:p>
            <a:pPr marL="215900" indent="-215900" algn="l" defTabSz="457200">
              <a:buSzPct val="45000"/>
              <a:buFont typeface="Wingdings" panose="05000000000000000000" pitchFamily="2" charset="2"/>
              <a:buChar char=""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  <a:tab pos="9359900" algn="l"/>
              </a:tabLst>
            </a:pPr>
            <a:r>
              <a:rPr lang="ru-RU" altLang="uk-UA" sz="3200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6" charset="0"/>
              </a:rPr>
              <a:t> </a:t>
            </a:r>
            <a:r>
              <a:rPr lang="uk-UA" altLang="ru-RU" sz="3200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6" charset="0"/>
              </a:rPr>
              <a:t>Моделі розробки додатків </a:t>
            </a:r>
            <a:endParaRPr lang="uk-UA" altLang="ru-RU" sz="3200" dirty="0" err="1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6" charset="0"/>
            </a:endParaRPr>
          </a:p>
          <a:p>
            <a:pPr marL="215900" indent="-215900" algn="l" defTabSz="457200">
              <a:buSzPct val="45000"/>
              <a:buFont typeface="Wingdings" panose="05000000000000000000" pitchFamily="2" charset="2"/>
              <a:buChar char=""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  <a:tab pos="9359900" algn="l"/>
              </a:tabLst>
            </a:pPr>
            <a:r>
              <a:rPr lang="ru-RU" altLang="uk-UA" sz="3200" dirty="0" err="1">
                <a:solidFill>
                  <a:schemeClr val="tx1"/>
                </a:solidFill>
                <a:latin typeface="Arial" panose="020B0604020202020204" pitchFamily="34" charset="0"/>
                <a:ea typeface="Times New Roman" panose="02020603050405020304" pitchFamily="16" charset="0"/>
              </a:rPr>
              <a:t> </a:t>
            </a:r>
            <a:r>
              <a:rPr lang="en-US" altLang="en-US" sz="3200" dirty="0" err="1">
                <a:solidFill>
                  <a:schemeClr val="tx1"/>
                </a:solidFill>
                <a:sym typeface="+mn-ea"/>
              </a:rPr>
              <a:t>Конвеєр обробки запиту </a:t>
            </a:r>
            <a:endParaRPr lang="ru-RU" altLang="uk-UA" sz="3200" dirty="0" err="1">
              <a:solidFill>
                <a:schemeClr val="tx1"/>
              </a:solidFill>
              <a:latin typeface="Arial" panose="020B0604020202020204" pitchFamily="34" charset="0"/>
              <a:ea typeface="Times New Roman" panose="02020603050405020304" pitchFamily="16" charset="0"/>
            </a:endParaRPr>
          </a:p>
          <a:p>
            <a:pPr marL="215900" indent="-215900" algn="l" defTabSz="457200">
              <a:buSzPct val="45000"/>
              <a:buFont typeface="Wingdings" panose="05000000000000000000" pitchFamily="2" charset="2"/>
              <a:buChar char=""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  <a:tab pos="9359900" algn="l"/>
              </a:tabLst>
            </a:pPr>
            <a:r>
              <a:rPr lang="ru-RU" altLang="uk-UA" sz="3200" dirty="0" err="1">
                <a:solidFill>
                  <a:srgbClr val="000000"/>
                </a:solidFill>
                <a:ea typeface="Times New Roman" panose="02020603050405020304" pitchFamily="16" charset="0"/>
                <a:sym typeface="+mn-ea"/>
              </a:rPr>
              <a:t> </a:t>
            </a:r>
            <a:r>
              <a:rPr lang="uk-UA" altLang="uk-UA" sz="3200" dirty="0" err="1">
                <a:solidFill>
                  <a:srgbClr val="000000"/>
                </a:solidFill>
                <a:ea typeface="Times New Roman" panose="02020603050405020304" pitchFamily="16" charset="0"/>
                <a:sym typeface="+mn-ea"/>
              </a:rPr>
              <a:t>Приклад роботи з </a:t>
            </a:r>
            <a:r>
              <a:rPr lang="en-US" altLang="uk-UA" sz="3200" dirty="0" err="1">
                <a:solidFill>
                  <a:srgbClr val="000000"/>
                </a:solidFill>
                <a:ea typeface="Times New Roman" panose="02020603050405020304" pitchFamily="16" charset="0"/>
                <a:sym typeface="+mn-ea"/>
              </a:rPr>
              <a:t>middleware</a:t>
            </a:r>
            <a:endParaRPr lang="en-US" altLang="uk-UA" sz="3200" dirty="0" err="1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6" charset="0"/>
              <a:sym typeface="+mn-ea"/>
            </a:endParaRP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Контрольні питання</a:t>
            </a:r>
            <a:endParaRPr lang="uk-UA" altLang="ru-RU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15620" y="1430655"/>
            <a:ext cx="805370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2400" b="1" dirty="0" err="1">
                <a:solidFill>
                  <a:srgbClr val="000000"/>
                </a:solidFill>
                <a:ea typeface="Microsoft YaHei" panose="020B0503020204020204" charset="-122"/>
              </a:rPr>
              <a:t>Що таке фронтенд? Які технології треба знати, щоб називати себе фронтендером?</a:t>
            </a:r>
            <a:endParaRPr lang="uk-UA" altLang="ru-RU" sz="2400" b="1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2400" b="1" dirty="0" err="1">
                <a:solidFill>
                  <a:srgbClr val="000000"/>
                </a:solidFill>
                <a:ea typeface="Microsoft YaHei" panose="020B0503020204020204" charset="-122"/>
              </a:rPr>
              <a:t>Що таке бекенд? Які його компоненти?</a:t>
            </a:r>
            <a:endParaRPr lang="uk-UA" altLang="ru-RU" sz="2400" b="1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2400" b="1" dirty="0" err="1">
                <a:solidFill>
                  <a:srgbClr val="000000"/>
                </a:solidFill>
                <a:ea typeface="Microsoft YaHei" panose="020B0503020204020204" charset="-122"/>
              </a:rPr>
              <a:t>Куди браузер відправляє запити?</a:t>
            </a:r>
            <a:endParaRPr lang="uk-UA" altLang="ru-RU" sz="2400" b="1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2400" b="1" dirty="0" err="1">
                <a:solidFill>
                  <a:srgbClr val="000000"/>
                </a:solidFill>
                <a:ea typeface="Microsoft YaHei" panose="020B0503020204020204" charset="-122"/>
              </a:rPr>
              <a:t>Що таке </a:t>
            </a:r>
            <a:r>
              <a:rPr lang="en-US" altLang="ru-RU" sz="2400" b="1" dirty="0" err="1">
                <a:solidFill>
                  <a:srgbClr val="000000"/>
                </a:solidFill>
                <a:ea typeface="Microsoft YaHei" panose="020B0503020204020204" charset="-122"/>
              </a:rPr>
              <a:t>AJAX-</a:t>
            </a:r>
            <a:r>
              <a:rPr lang="uk-UA" altLang="ru-RU" sz="2400" b="1" dirty="0" err="1">
                <a:solidFill>
                  <a:srgbClr val="000000"/>
                </a:solidFill>
                <a:ea typeface="Microsoft YaHei" panose="020B0503020204020204" charset="-122"/>
              </a:rPr>
              <a:t>підхід?</a:t>
            </a:r>
            <a:endParaRPr lang="uk-UA" altLang="ru-RU" sz="2400" b="1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2400" b="1" dirty="0" err="1">
                <a:solidFill>
                  <a:srgbClr val="000000"/>
                </a:solidFill>
                <a:ea typeface="Microsoft YaHei" panose="020B0503020204020204" charset="-122"/>
              </a:rPr>
              <a:t>В чому різниця </a:t>
            </a:r>
            <a:r>
              <a:rPr lang="en-US" altLang="ru-RU" sz="2400" b="1" dirty="0" err="1">
                <a:solidFill>
                  <a:srgbClr val="000000"/>
                </a:solidFill>
                <a:ea typeface="Microsoft YaHei" panose="020B0503020204020204" charset="-122"/>
              </a:rPr>
              <a:t>ASP.NET </a:t>
            </a:r>
            <a:r>
              <a:rPr lang="uk-UA" altLang="ru-RU" sz="2400" b="1" dirty="0" err="1">
                <a:solidFill>
                  <a:srgbClr val="000000"/>
                </a:solidFill>
                <a:ea typeface="Microsoft YaHei" panose="020B0503020204020204" charset="-122"/>
              </a:rPr>
              <a:t>та </a:t>
            </a:r>
            <a:r>
              <a:rPr lang="en-US" altLang="ru-RU" sz="2400" b="1" dirty="0" err="1">
                <a:solidFill>
                  <a:srgbClr val="000000"/>
                </a:solidFill>
                <a:ea typeface="Microsoft YaHei" panose="020B0503020204020204" charset="-122"/>
              </a:rPr>
              <a:t>ASP.NET Core?</a:t>
            </a:r>
            <a:endParaRPr lang="en-US" altLang="ru-RU" sz="2400" b="1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2400" b="1" dirty="0" err="1">
                <a:solidFill>
                  <a:srgbClr val="000000"/>
                </a:solidFill>
                <a:ea typeface="Microsoft YaHei" panose="020B0503020204020204" charset="-122"/>
              </a:rPr>
              <a:t>Який </a:t>
            </a:r>
            <a:r>
              <a:rPr lang="en-US" altLang="ru-RU" sz="2400" b="1" dirty="0" err="1">
                <a:solidFill>
                  <a:srgbClr val="000000"/>
                </a:solidFill>
                <a:ea typeface="Microsoft YaHei" panose="020B0503020204020204" charset="-122"/>
              </a:rPr>
              <a:t>HTTP-</a:t>
            </a:r>
            <a:r>
              <a:rPr lang="uk-UA" altLang="ru-RU" sz="2400" b="1" dirty="0" err="1">
                <a:solidFill>
                  <a:srgbClr val="000000"/>
                </a:solidFill>
                <a:ea typeface="Microsoft YaHei" panose="020B0503020204020204" charset="-122"/>
              </a:rPr>
              <a:t>сервер використовується                 під </a:t>
            </a:r>
            <a:r>
              <a:rPr lang="en-US" altLang="ru-RU" sz="2400" b="1" dirty="0" err="1">
                <a:solidFill>
                  <a:srgbClr val="000000"/>
                </a:solidFill>
                <a:ea typeface="Microsoft YaHei" panose="020B0503020204020204" charset="-122"/>
              </a:rPr>
              <a:t>Windows? </a:t>
            </a:r>
            <a:r>
              <a:rPr lang="uk-UA" altLang="ru-RU" sz="2400" b="1" dirty="0" err="1">
                <a:solidFill>
                  <a:srgbClr val="000000"/>
                </a:solidFill>
                <a:ea typeface="Microsoft YaHei" panose="020B0503020204020204" charset="-122"/>
              </a:rPr>
              <a:t>Як називається кросплатформний сервер?</a:t>
            </a:r>
            <a:endParaRPr lang="uk-UA" altLang="ru-RU" sz="2400" b="1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2400" b="1" dirty="0" err="1">
                <a:solidFill>
                  <a:srgbClr val="000000"/>
                </a:solidFill>
                <a:ea typeface="Microsoft YaHei" panose="020B0503020204020204" charset="-122"/>
              </a:rPr>
              <a:t>Що таке мідлвейр-компонент?</a:t>
            </a:r>
            <a:endParaRPr lang="uk-UA" altLang="ru-RU" sz="2400" b="1" dirty="0" err="1">
              <a:solidFill>
                <a:srgbClr val="000000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algn="ctr"/>
            <a:r>
              <a:rPr lang="ru-RU" sz="4200" dirty="0">
                <a:sym typeface="+mn-ea"/>
              </a:rPr>
              <a:t>Арх</a:t>
            </a:r>
            <a:r>
              <a:rPr lang="uk-UA" altLang="ru-RU" sz="4200" dirty="0">
                <a:sym typeface="+mn-ea"/>
              </a:rPr>
              <a:t>і</a:t>
            </a:r>
            <a:r>
              <a:rPr lang="ru-RU" sz="4200" dirty="0">
                <a:sym typeface="+mn-ea"/>
              </a:rPr>
              <a:t>тектура </a:t>
            </a:r>
            <a:r>
              <a:rPr lang="uk-UA" altLang="ru-RU" sz="4200" dirty="0">
                <a:sym typeface="+mn-ea"/>
              </a:rPr>
              <a:t>та</a:t>
            </a:r>
            <a:r>
              <a:rPr lang="ru-RU" sz="4200" dirty="0">
                <a:sym typeface="+mn-ea"/>
              </a:rPr>
              <a:t> модел</a:t>
            </a:r>
            <a:r>
              <a:rPr lang="uk-UA" altLang="ru-RU" sz="4200" dirty="0">
                <a:sym typeface="+mn-ea"/>
              </a:rPr>
              <a:t>і</a:t>
            </a:r>
            <a:r>
              <a:rPr lang="ru-RU" sz="4200" dirty="0">
                <a:sym typeface="+mn-ea"/>
              </a:rPr>
              <a:t> р</a:t>
            </a:r>
            <a:r>
              <a:rPr lang="uk-UA" altLang="ru-RU" sz="4200" dirty="0">
                <a:sym typeface="+mn-ea"/>
              </a:rPr>
              <a:t>о</a:t>
            </a:r>
            <a:r>
              <a:rPr lang="ru-RU" sz="4200" dirty="0">
                <a:sym typeface="+mn-ea"/>
              </a:rPr>
              <a:t>зр</a:t>
            </a:r>
            <a:r>
              <a:rPr lang="uk-UA" altLang="ru-RU" sz="4200" dirty="0">
                <a:sym typeface="+mn-ea"/>
              </a:rPr>
              <a:t>обки</a:t>
            </a:r>
            <a:endParaRPr lang="uk-UA" altLang="ru-RU" sz="4200" dirty="0">
              <a:solidFill>
                <a:srgbClr val="FFFFFF"/>
              </a:solidFill>
              <a:ea typeface="Microsoft YaHei" panose="020B0503020204020204" charset="-122"/>
              <a:sym typeface="+mn-ea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15620" y="1430655"/>
            <a:ext cx="805370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ru-RU" sz="2400" b="1" dirty="0" err="1">
              <a:solidFill>
                <a:srgbClr val="000000"/>
              </a:solidFill>
              <a:ea typeface="Microsoft YaHei" panose="020B0503020204020204" charset="-122"/>
            </a:endParaRPr>
          </a:p>
        </p:txBody>
      </p:sp>
      <p:pic>
        <p:nvPicPr>
          <p:cNvPr id="3" name="Рисунок 2" descr="1.14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08585" y="1538605"/>
            <a:ext cx="9310370" cy="5001895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algn="l"/>
            <a:r>
              <a:rPr lang="uk-UA" sz="4200" dirty="0">
                <a:sym typeface="+mn-ea"/>
              </a:rPr>
              <a:t>Верхній рівень</a:t>
            </a:r>
            <a:endParaRPr lang="uk-UA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15620" y="1430655"/>
            <a:ext cx="805370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300" b="1" dirty="0" err="1">
                <a:solidFill>
                  <a:srgbClr val="000000"/>
                </a:solidFill>
                <a:ea typeface="Microsoft YaHei" panose="020B0503020204020204" charset="-122"/>
              </a:rPr>
              <a:t>На верхньому рівні розташовуються різні моделі взаємодії з користувачем</a:t>
            </a:r>
            <a:r>
              <a:rPr lang="uk-UA" altLang="en-US" sz="2300" b="1" dirty="0" err="1">
                <a:solidFill>
                  <a:srgbClr val="000000"/>
                </a:solidFill>
                <a:ea typeface="Microsoft YaHei" panose="020B0503020204020204" charset="-122"/>
              </a:rPr>
              <a:t>, ц</a:t>
            </a:r>
            <a:r>
              <a:rPr lang="en-US" altLang="en-US" sz="2300" b="1" dirty="0" err="1">
                <a:solidFill>
                  <a:srgbClr val="000000"/>
                </a:solidFill>
                <a:ea typeface="Microsoft YaHei" panose="020B0503020204020204" charset="-122"/>
              </a:rPr>
              <a:t>е технології побудови інтерфейсу користувача та обробки введення користувача</a:t>
            </a:r>
            <a:r>
              <a:rPr lang="uk-UA" altLang="en-US" sz="2300" b="1" dirty="0" err="1">
                <a:solidFill>
                  <a:srgbClr val="000000"/>
                </a:solidFill>
                <a:ea typeface="Microsoft YaHei" panose="020B0503020204020204" charset="-122"/>
              </a:rPr>
              <a:t>.</a:t>
            </a:r>
            <a:endParaRPr lang="uk-UA" altLang="en-US" sz="2300" b="1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uk-UA" altLang="en-US" sz="2300" b="1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300" b="1" dirty="0" err="1">
                <a:solidFill>
                  <a:srgbClr val="000000"/>
                </a:solidFill>
                <a:ea typeface="Microsoft YaHei" panose="020B0503020204020204" charset="-122"/>
              </a:rPr>
              <a:t>Всі ці технології базуються або взаємодіють</a:t>
            </a:r>
            <a:r>
              <a:rPr lang="uk-UA" altLang="en-US" sz="2300" b="1" dirty="0" err="1">
                <a:solidFill>
                  <a:srgbClr val="000000"/>
                </a:solidFill>
                <a:ea typeface="Microsoft YaHei" panose="020B0503020204020204" charset="-122"/>
              </a:rPr>
              <a:t>              </a:t>
            </a:r>
            <a:r>
              <a:rPr lang="en-US" altLang="en-US" sz="2300" b="1" dirty="0" err="1">
                <a:solidFill>
                  <a:srgbClr val="000000"/>
                </a:solidFill>
                <a:ea typeface="Microsoft YaHei" panose="020B0503020204020204" charset="-122"/>
              </a:rPr>
              <a:t> із </a:t>
            </a:r>
            <a:r>
              <a:rPr lang="en-US" altLang="en-US" sz="2300" b="1" dirty="0" err="1">
                <a:solidFill>
                  <a:srgbClr val="000000"/>
                </a:solidFill>
                <a:ea typeface="Microsoft YaHei" panose="020B0503020204020204" charset="-122"/>
              </a:rPr>
              <a:t>«</a:t>
            </a:r>
            <a:r>
              <a:rPr lang="en-US" altLang="en-US" sz="2300" b="1" dirty="0" err="1">
                <a:solidFill>
                  <a:srgbClr val="000000"/>
                </a:solidFill>
                <a:ea typeface="Microsoft YaHei" panose="020B0503020204020204" charset="-122"/>
              </a:rPr>
              <a:t>чистим</a:t>
            </a:r>
            <a:r>
              <a:rPr lang="en-US" altLang="en-US" sz="2300" b="1" dirty="0" err="1">
                <a:solidFill>
                  <a:srgbClr val="000000"/>
                </a:solidFill>
                <a:ea typeface="Microsoft YaHei" panose="020B0503020204020204" charset="-122"/>
              </a:rPr>
              <a:t>»</a:t>
            </a:r>
            <a:r>
              <a:rPr lang="en-US" altLang="en-US" sz="2300" b="1" dirty="0" err="1">
                <a:solidFill>
                  <a:srgbClr val="000000"/>
                </a:solidFill>
                <a:ea typeface="Microsoft YaHei" panose="020B0503020204020204" charset="-122"/>
              </a:rPr>
              <a:t> ASP.NET Core</a:t>
            </a:r>
            <a:r>
              <a:rPr lang="uk-UA" altLang="en-US" sz="2300" b="1" dirty="0" err="1">
                <a:solidFill>
                  <a:srgbClr val="000000"/>
                </a:solidFill>
                <a:ea typeface="Microsoft YaHei" panose="020B0503020204020204" charset="-122"/>
              </a:rPr>
              <a:t>, який є повністю самодостатній, і в ДЗ ви стикнулися саме з ним :)</a:t>
            </a:r>
            <a:endParaRPr lang="uk-UA" altLang="en-US" sz="2300" b="1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uk-UA" altLang="en-US" sz="2300" b="1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300" b="1" dirty="0" err="1">
                <a:solidFill>
                  <a:srgbClr val="000000"/>
                </a:solidFill>
                <a:ea typeface="Microsoft YaHei" panose="020B0503020204020204" charset="-122"/>
              </a:rPr>
              <a:t>Базовий ASP.NET Core підтримує все необхідне</a:t>
            </a:r>
            <a:r>
              <a:rPr lang="uk-UA" altLang="en-US" sz="2300" b="1" dirty="0" err="1">
                <a:solidFill>
                  <a:srgbClr val="000000"/>
                </a:solidFill>
                <a:ea typeface="Microsoft YaHei" panose="020B0503020204020204" charset="-122"/>
              </a:rPr>
              <a:t> для</a:t>
            </a:r>
            <a:r>
              <a:rPr lang="en-US" altLang="en-US" sz="2300" b="1" dirty="0" err="1">
                <a:solidFill>
                  <a:srgbClr val="000000"/>
                </a:solidFill>
                <a:ea typeface="Microsoft YaHei" panose="020B0503020204020204" charset="-122"/>
              </a:rPr>
              <a:t> роботи web-</a:t>
            </a:r>
            <a:r>
              <a:rPr lang="uk-UA" altLang="en-US" sz="2300" b="1" dirty="0" err="1">
                <a:solidFill>
                  <a:srgbClr val="000000"/>
                </a:solidFill>
                <a:ea typeface="Microsoft YaHei" panose="020B0503020204020204" charset="-122"/>
              </a:rPr>
              <a:t>додатку</a:t>
            </a:r>
            <a:r>
              <a:rPr lang="en-US" altLang="en-US" sz="2300" b="1" dirty="0" err="1">
                <a:solidFill>
                  <a:srgbClr val="000000"/>
                </a:solidFill>
                <a:ea typeface="Microsoft YaHei" panose="020B0503020204020204" charset="-122"/>
              </a:rPr>
              <a:t>: маршрутизація, конфігурація, логування, можливість роботи з різними системами </a:t>
            </a:r>
            <a:r>
              <a:rPr lang="uk-UA" altLang="en-US" sz="2300" b="1" dirty="0" err="1">
                <a:solidFill>
                  <a:srgbClr val="000000"/>
                </a:solidFill>
                <a:ea typeface="Microsoft YaHei" panose="020B0503020204020204" charset="-122"/>
              </a:rPr>
              <a:t>			</a:t>
            </a:r>
            <a:r>
              <a:rPr lang="en-US" altLang="en-US" sz="2300" b="1" dirty="0" err="1">
                <a:solidFill>
                  <a:srgbClr val="000000"/>
                </a:solidFill>
                <a:ea typeface="Microsoft YaHei" panose="020B0503020204020204" charset="-122"/>
              </a:rPr>
              <a:t>баз даних тощо.</a:t>
            </a:r>
            <a:endParaRPr lang="en-US" altLang="en-US" sz="2300" b="1" dirty="0" err="1">
              <a:solidFill>
                <a:srgbClr val="000000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sz="4200" dirty="0" err="1">
                <a:solidFill>
                  <a:srgbClr val="FFFFFF"/>
                </a:solidFill>
                <a:ea typeface="Microsoft YaHei" panose="020B0503020204020204" charset="-122"/>
              </a:rPr>
              <a:t>Середній рівень</a:t>
            </a:r>
            <a:endParaRPr lang="uk-UA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15620" y="1430655"/>
            <a:ext cx="805370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400" b="1" dirty="0" err="1">
                <a:solidFill>
                  <a:srgbClr val="000000"/>
                </a:solidFill>
                <a:ea typeface="Microsoft YaHei" panose="020B0503020204020204" charset="-122"/>
              </a:rPr>
              <a:t>Базовий ASP.NET Core представлений</a:t>
            </a:r>
            <a:endParaRPr lang="en-US" altLang="en-US" sz="2400" b="1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400" b="1" dirty="0" err="1">
                <a:solidFill>
                  <a:srgbClr val="000000"/>
                </a:solidFill>
                <a:ea typeface="Microsoft YaHei" panose="020B0503020204020204" charset="-122"/>
              </a:rPr>
              <a:t>різними middleware-компонентами, </a:t>
            </a:r>
            <a:r>
              <a:rPr lang="uk-UA" altLang="en-US" sz="2400" b="1" dirty="0" err="1">
                <a:solidFill>
                  <a:srgbClr val="000000"/>
                </a:solidFill>
                <a:ea typeface="Microsoft YaHei" panose="020B0503020204020204" charset="-122"/>
              </a:rPr>
              <a:t>                          </a:t>
            </a:r>
            <a:r>
              <a:rPr lang="en-US" altLang="en-US" sz="2400" b="1" dirty="0" err="1">
                <a:solidFill>
                  <a:srgbClr val="000000"/>
                </a:solidFill>
                <a:ea typeface="Microsoft YaHei" panose="020B0503020204020204" charset="-122"/>
              </a:rPr>
              <a:t>які застосовуються для обробки HTTP-запиту</a:t>
            </a:r>
            <a:r>
              <a:rPr lang="uk-UA" altLang="en-US" sz="2400" b="1" dirty="0" err="1">
                <a:solidFill>
                  <a:srgbClr val="000000"/>
                </a:solidFill>
                <a:ea typeface="Microsoft YaHei" panose="020B0503020204020204" charset="-122"/>
              </a:rPr>
              <a:t>.</a:t>
            </a:r>
            <a:endParaRPr lang="uk-UA" altLang="en-US" sz="2400" b="1" dirty="0" err="1">
              <a:solidFill>
                <a:srgbClr val="000000"/>
              </a:solidFill>
              <a:ea typeface="Microsoft YaHei" panose="020B0503020204020204" charset="-122"/>
            </a:endParaRPr>
          </a:p>
        </p:txBody>
      </p:sp>
      <p:pic>
        <p:nvPicPr>
          <p:cNvPr id="4" name="Рисунок 3" descr="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3075" y="2708910"/>
            <a:ext cx="8110855" cy="4403090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algn="l"/>
            <a:r>
              <a:rPr lang="uk-UA" sz="4200" dirty="0">
                <a:sym typeface="+mn-ea"/>
              </a:rPr>
              <a:t>Нижній рівень</a:t>
            </a:r>
            <a:endParaRPr lang="uk-UA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15620" y="1430655"/>
            <a:ext cx="805370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400" b="1" dirty="0" err="1">
                <a:solidFill>
                  <a:srgbClr val="000000"/>
                </a:solidFill>
                <a:ea typeface="Microsoft YaHei" panose="020B0503020204020204" charset="-122"/>
              </a:rPr>
              <a:t>На нижньому рівні програма ASP.NET Core працює в рамках деякого веб-сервера, наприклад,</a:t>
            </a:r>
            <a:endParaRPr lang="en-US" altLang="en-US" sz="2400" b="1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400" b="1" dirty="0" err="1">
                <a:solidFill>
                  <a:srgbClr val="000000"/>
                </a:solidFill>
                <a:ea typeface="Microsoft YaHei" panose="020B0503020204020204" charset="-122"/>
              </a:rPr>
              <a:t>Kestrel, IIS, бібліотеки HTTP.sys</a:t>
            </a:r>
            <a:r>
              <a:rPr lang="uk-UA" altLang="en-US" sz="2400" b="1" dirty="0" err="1">
                <a:solidFill>
                  <a:srgbClr val="000000"/>
                </a:solidFill>
                <a:ea typeface="Microsoft YaHei" panose="020B0503020204020204" charset="-122"/>
              </a:rPr>
              <a:t>.</a:t>
            </a:r>
            <a:endParaRPr lang="uk-UA" altLang="en-US" sz="2400" b="1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uk-UA" altLang="en-US" sz="2400" b="1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400" b="1" dirty="0" err="1">
                <a:solidFill>
                  <a:srgbClr val="000000"/>
                </a:solidFill>
                <a:ea typeface="Microsoft YaHei" panose="020B0503020204020204" charset="-122"/>
              </a:rPr>
              <a:t>Kestrel може застосовуватися як прикордонний</a:t>
            </a:r>
            <a:r>
              <a:rPr lang="ru-RU" altLang="en-US" sz="2400" b="1" dirty="0" err="1">
                <a:solidFill>
                  <a:srgbClr val="000000"/>
                </a:solidFill>
                <a:ea typeface="Microsoft YaHei" panose="020B0503020204020204" charset="-122"/>
              </a:rPr>
              <a:t>, </a:t>
            </a:r>
            <a:r>
              <a:rPr lang="en-US" altLang="ru-RU" sz="2400" b="1" dirty="0" err="1">
                <a:solidFill>
                  <a:srgbClr val="000000"/>
                </a:solidFill>
                <a:ea typeface="Microsoft YaHei" panose="020B0503020204020204" charset="-122"/>
              </a:rPr>
              <a:t>       </a:t>
            </a:r>
            <a:r>
              <a:rPr lang="en-US" altLang="en-US" sz="2400" b="1" dirty="0" err="1">
                <a:solidFill>
                  <a:srgbClr val="000000"/>
                </a:solidFill>
                <a:ea typeface="Microsoft YaHei" panose="020B0503020204020204" charset="-122"/>
              </a:rPr>
              <a:t>з виходом в Інтернет</a:t>
            </a:r>
            <a:r>
              <a:rPr lang="ru-RU" altLang="en-US" sz="2400" b="1" dirty="0" err="1">
                <a:solidFill>
                  <a:srgbClr val="000000"/>
                </a:solidFill>
                <a:ea typeface="Microsoft YaHei" panose="020B0503020204020204" charset="-122"/>
              </a:rPr>
              <a:t> (</a:t>
            </a:r>
            <a:r>
              <a:rPr lang="en-US" altLang="en-US" sz="2400" b="1" dirty="0" err="1">
                <a:solidFill>
                  <a:srgbClr val="000000"/>
                </a:solidFill>
                <a:ea typeface="Microsoft YaHei" panose="020B0503020204020204" charset="-122"/>
              </a:rPr>
              <a:t>edge, internet-facing)</a:t>
            </a:r>
            <a:endParaRPr lang="en-US" altLang="en-US" sz="2400" b="1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400" b="1" dirty="0" err="1">
                <a:solidFill>
                  <a:srgbClr val="000000"/>
                </a:solidFill>
                <a:ea typeface="Microsoft YaHei" panose="020B0503020204020204" charset="-122"/>
              </a:rPr>
              <a:t>веб-сервер.</a:t>
            </a:r>
            <a:endParaRPr lang="en-US" altLang="en-US" sz="2400" b="1" dirty="0" err="1">
              <a:solidFill>
                <a:srgbClr val="000000"/>
              </a:solidFill>
              <a:ea typeface="Microsoft YaHei" panose="020B0503020204020204" charset="-122"/>
            </a:endParaRPr>
          </a:p>
        </p:txBody>
      </p:sp>
      <p:pic>
        <p:nvPicPr>
          <p:cNvPr id="3" name="Рисунок 2" descr="1__RDxO5wcAzxwcUyQfY2nsA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120" y="4172585"/>
            <a:ext cx="9281795" cy="2608580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Проксі-сервер</a:t>
            </a:r>
            <a:endParaRPr lang="uk-UA" altLang="ru-RU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15620" y="1430655"/>
            <a:ext cx="805370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500" b="1" dirty="0" err="1">
                <a:solidFill>
                  <a:srgbClr val="000000"/>
                </a:solidFill>
                <a:ea typeface="Microsoft YaHei" panose="020B0503020204020204" charset="-122"/>
              </a:rPr>
              <a:t>Kestrel також часто використовується </a:t>
            </a:r>
            <a:r>
              <a:rPr lang="uk-UA" altLang="en-US" sz="2500" b="1" dirty="0" err="1">
                <a:solidFill>
                  <a:srgbClr val="000000"/>
                </a:solidFill>
                <a:ea typeface="Microsoft YaHei" panose="020B0503020204020204" charset="-122"/>
              </a:rPr>
              <a:t>                    </a:t>
            </a:r>
            <a:r>
              <a:rPr lang="en-US" altLang="en-US" sz="2500" b="1" dirty="0" err="1">
                <a:solidFill>
                  <a:srgbClr val="000000"/>
                </a:solidFill>
                <a:ea typeface="Microsoft YaHei" panose="020B0503020204020204" charset="-122"/>
              </a:rPr>
              <a:t>зі зворотним проксі-сервером</a:t>
            </a:r>
            <a:r>
              <a:rPr lang="uk-UA" altLang="en-US" sz="2500" b="1" dirty="0" err="1">
                <a:solidFill>
                  <a:srgbClr val="000000"/>
                </a:solidFill>
                <a:ea typeface="Microsoft YaHei" panose="020B0503020204020204" charset="-122"/>
              </a:rPr>
              <a:t>, який:</a:t>
            </a:r>
            <a:endParaRPr lang="uk-UA" altLang="en-US" sz="2500" b="1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en-US" sz="2500" b="1" dirty="0" err="1">
                <a:solidFill>
                  <a:srgbClr val="000000"/>
                </a:solidFill>
                <a:ea typeface="Microsoft YaHei" panose="020B0503020204020204" charset="-122"/>
              </a:rPr>
              <a:t>н</a:t>
            </a:r>
            <a:r>
              <a:rPr lang="en-US" altLang="en-US" sz="2500" b="1" dirty="0" err="1">
                <a:solidFill>
                  <a:srgbClr val="000000"/>
                </a:solidFill>
                <a:ea typeface="Microsoft YaHei" panose="020B0503020204020204" charset="-122"/>
              </a:rPr>
              <a:t>адає додатковий рівень конфігурації </a:t>
            </a:r>
            <a:r>
              <a:rPr lang="uk-UA" altLang="en-US" sz="2500" b="1" dirty="0" err="1">
                <a:solidFill>
                  <a:srgbClr val="000000"/>
                </a:solidFill>
                <a:ea typeface="Microsoft YaHei" panose="020B0503020204020204" charset="-122"/>
              </a:rPr>
              <a:t>               </a:t>
            </a:r>
            <a:r>
              <a:rPr lang="en-US" altLang="en-US" sz="2500" b="1" dirty="0" err="1">
                <a:solidFill>
                  <a:srgbClr val="000000"/>
                </a:solidFill>
                <a:ea typeface="Microsoft YaHei" panose="020B0503020204020204" charset="-122"/>
              </a:rPr>
              <a:t>та захисту</a:t>
            </a:r>
            <a:endParaRPr lang="en-US" altLang="en-US" sz="2500" b="1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en-US" sz="2500" b="1" dirty="0" err="1">
                <a:solidFill>
                  <a:srgbClr val="000000"/>
                </a:solidFill>
                <a:ea typeface="Microsoft YaHei" panose="020B0503020204020204" charset="-122"/>
              </a:rPr>
              <a:t>м</a:t>
            </a:r>
            <a:r>
              <a:rPr lang="en-US" altLang="en-US" sz="2500" b="1" dirty="0" err="1">
                <a:solidFill>
                  <a:srgbClr val="000000"/>
                </a:solidFill>
                <a:ea typeface="Microsoft YaHei" panose="020B0503020204020204" charset="-122"/>
              </a:rPr>
              <a:t>оже краще інтегруватися з існуючою інфраструктурою</a:t>
            </a:r>
            <a:endParaRPr lang="en-US" altLang="en-US" sz="2500" b="1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en-US" sz="2500" b="1" dirty="0" err="1">
                <a:solidFill>
                  <a:srgbClr val="000000"/>
                </a:solidFill>
                <a:ea typeface="Microsoft YaHei" panose="020B0503020204020204" charset="-122"/>
              </a:rPr>
              <a:t>с</a:t>
            </a:r>
            <a:r>
              <a:rPr lang="en-US" altLang="en-US" sz="2500" b="1" dirty="0" err="1">
                <a:solidFill>
                  <a:srgbClr val="000000"/>
                </a:solidFill>
                <a:ea typeface="Microsoft YaHei" panose="020B0503020204020204" charset="-122"/>
              </a:rPr>
              <a:t>прощує балансування навантаження </a:t>
            </a:r>
            <a:r>
              <a:rPr lang="uk-UA" altLang="en-US" sz="2500" b="1" dirty="0" err="1">
                <a:solidFill>
                  <a:srgbClr val="000000"/>
                </a:solidFill>
                <a:ea typeface="Microsoft YaHei" panose="020B0503020204020204" charset="-122"/>
              </a:rPr>
              <a:t>              </a:t>
            </a:r>
            <a:r>
              <a:rPr lang="en-US" altLang="en-US" sz="2500" b="1" dirty="0" err="1">
                <a:solidFill>
                  <a:srgbClr val="000000"/>
                </a:solidFill>
                <a:ea typeface="Microsoft YaHei" panose="020B0503020204020204" charset="-122"/>
              </a:rPr>
              <a:t>та налаштування безпечної взаємодії (HTTPS)</a:t>
            </a:r>
            <a:endParaRPr lang="en-US" altLang="en-US" sz="2500" b="1" dirty="0" err="1">
              <a:solidFill>
                <a:srgbClr val="000000"/>
              </a:solidFill>
              <a:ea typeface="Microsoft YaHei" panose="020B0503020204020204" charset="-122"/>
            </a:endParaRPr>
          </a:p>
        </p:txBody>
      </p:sp>
      <p:pic>
        <p:nvPicPr>
          <p:cNvPr id="2" name="Рисунок 1" descr="Изображение выглядит как текст, снимок экрана, Шрифт, линия&#10;&#10;Автоматически созданное описание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8415" y="4819650"/>
            <a:ext cx="9198610" cy="1579245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Що таке </a:t>
            </a:r>
            <a:r>
              <a:rPr lang="en-US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Kestrel </a:t>
            </a:r>
            <a:r>
              <a:rPr lang="uk-UA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:)</a:t>
            </a:r>
            <a:endParaRPr lang="uk-UA" altLang="ru-RU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15620" y="1430655"/>
            <a:ext cx="805370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Чому саме назва </a:t>
            </a:r>
            <a:r>
              <a:rPr lang="en-US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«</a:t>
            </a:r>
            <a:r>
              <a:rPr lang="en-US" altLang="en-US" sz="2000" b="1" dirty="0" err="1">
                <a:solidFill>
                  <a:srgbClr val="000000"/>
                </a:solidFill>
                <a:ea typeface="Microsoft YaHei" panose="020B0503020204020204" charset="-122"/>
              </a:rPr>
              <a:t>Kestrel</a:t>
            </a:r>
            <a:r>
              <a:rPr lang="en-US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»</a:t>
            </a:r>
            <a:r>
              <a:rPr lang="en-US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 (сокіл)</a:t>
            </a:r>
            <a:r>
              <a:rPr lang="uk-UA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?</a:t>
            </a:r>
            <a:endParaRPr lang="en-US" altLang="en-US" sz="20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Це частина традиції Microsoft називати веб-сервери іменами птахів, причому чим швидший птах — </a:t>
            </a:r>
            <a:r>
              <a:rPr lang="uk-UA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        </a:t>
            </a:r>
            <a:r>
              <a:rPr lang="en-US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тим швидший сервер:</a:t>
            </a:r>
            <a:endParaRPr lang="en-US" altLang="en-US" sz="20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b="1" dirty="0" err="1">
                <a:solidFill>
                  <a:srgbClr val="000000"/>
                </a:solidFill>
                <a:ea typeface="Microsoft YaHei" panose="020B0503020204020204" charset="-122"/>
              </a:rPr>
              <a:t>Katana </a:t>
            </a:r>
            <a:r>
              <a:rPr lang="en-US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— назва японського меча</a:t>
            </a:r>
            <a:endParaRPr lang="en-US" altLang="en-US" sz="20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Потім перейшли на птахів:</a:t>
            </a:r>
            <a:endParaRPr lang="en-US" altLang="en-US" sz="20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b="1" dirty="0" err="1">
                <a:solidFill>
                  <a:srgbClr val="000000"/>
                </a:solidFill>
                <a:ea typeface="Microsoft YaHei" panose="020B0503020204020204" charset="-122"/>
              </a:rPr>
              <a:t>Falcon </a:t>
            </a:r>
            <a:r>
              <a:rPr lang="en-US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— найшвидший птах у світі</a:t>
            </a:r>
            <a:endParaRPr lang="en-US" altLang="en-US" sz="20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b="1" dirty="0" err="1">
                <a:solidFill>
                  <a:srgbClr val="000000"/>
                </a:solidFill>
                <a:ea typeface="Microsoft YaHei" panose="020B0503020204020204" charset="-122"/>
              </a:rPr>
              <a:t>Kestrel </a:t>
            </a:r>
            <a:r>
              <a:rPr lang="en-US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— маленький сокіл, один з найшвидших </a:t>
            </a:r>
            <a:r>
              <a:rPr lang="en-US" altLang="en-US" sz="2000" b="1" dirty="0" err="1">
                <a:solidFill>
                  <a:srgbClr val="000000"/>
                </a:solidFill>
                <a:ea typeface="Microsoft YaHei" panose="020B0503020204020204" charset="-122"/>
              </a:rPr>
              <a:t>птахів </a:t>
            </a:r>
            <a:r>
              <a:rPr lang="en-US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(до 390 км/год)</a:t>
            </a:r>
            <a:endParaRPr lang="en-US" altLang="en-US" sz="20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b="1" dirty="0" err="1">
                <a:solidFill>
                  <a:srgbClr val="000000"/>
                </a:solidFill>
                <a:ea typeface="Microsoft YaHei" panose="020B0503020204020204" charset="-122"/>
              </a:rPr>
              <a:t>Raven </a:t>
            </a:r>
            <a:r>
              <a:rPr lang="en-US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— був прототип</a:t>
            </a:r>
            <a:endParaRPr lang="en-US" altLang="en-US" sz="20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b="1" dirty="0" err="1">
                <a:solidFill>
                  <a:srgbClr val="000000"/>
                </a:solidFill>
                <a:ea typeface="Microsoft YaHei" panose="020B0503020204020204" charset="-122"/>
              </a:rPr>
              <a:t>Swan </a:t>
            </a:r>
            <a:r>
              <a:rPr lang="en-US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— теж був</a:t>
            </a:r>
            <a:endParaRPr lang="en-US" altLang="en-US" sz="20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20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а ще, це - тайваньський ручний </a:t>
            </a:r>
            <a:endParaRPr lang="uk-UA" altLang="en-US" sz="20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протитанковий гранатомет :)</a:t>
            </a:r>
            <a:endParaRPr lang="uk-UA" altLang="en-US" sz="2000" dirty="0" err="1">
              <a:solidFill>
                <a:srgbClr val="000000"/>
              </a:solidFill>
              <a:ea typeface="Microsoft YaHei" panose="020B0503020204020204" charset="-122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44795" y="3679825"/>
            <a:ext cx="3712210" cy="3114675"/>
          </a:xfrm>
          <a:prstGeom prst="rect">
            <a:avLst/>
          </a:prstGeom>
        </p:spPr>
      </p:pic>
      <p:pic>
        <p:nvPicPr>
          <p:cNvPr id="3" name="Picture 2" descr="screenshot-www.ncsist.org.tw-2018.10.02-00-20-0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8415" y="5467985"/>
            <a:ext cx="4771390" cy="1440180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Вибір </a:t>
            </a:r>
            <a:r>
              <a:rPr lang="en-US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HTTP-</a:t>
            </a:r>
            <a:r>
              <a:rPr lang="uk-UA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сервера</a:t>
            </a:r>
            <a:endParaRPr lang="uk-UA" altLang="ru-RU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15620" y="1430655"/>
            <a:ext cx="805370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400" b="1" dirty="0" err="1">
                <a:solidFill>
                  <a:srgbClr val="000000"/>
                </a:solidFill>
                <a:ea typeface="Microsoft YaHei" panose="020B0503020204020204" charset="-122"/>
              </a:rPr>
              <a:t>У Visual Studio біля зеленої стрілки замість назви проєкту </a:t>
            </a:r>
            <a:r>
              <a:rPr lang="uk-UA" altLang="en-US" sz="2400" b="1" dirty="0" err="1">
                <a:solidFill>
                  <a:srgbClr val="000000"/>
                </a:solidFill>
                <a:ea typeface="Microsoft YaHei" panose="020B0503020204020204" charset="-122"/>
              </a:rPr>
              <a:t>можна обрати </a:t>
            </a:r>
            <a:r>
              <a:rPr lang="en-US" altLang="en-US" sz="2400" b="1" dirty="0" err="1">
                <a:solidFill>
                  <a:srgbClr val="000000"/>
                </a:solidFill>
                <a:ea typeface="Microsoft YaHei" panose="020B0503020204020204" charset="-122"/>
              </a:rPr>
              <a:t>IIS Express</a:t>
            </a:r>
            <a:r>
              <a:rPr lang="uk-UA" altLang="en-US" sz="2400" b="1" dirty="0" err="1">
                <a:solidFill>
                  <a:srgbClr val="000000"/>
                </a:solidFill>
                <a:ea typeface="Microsoft YaHei" panose="020B0503020204020204" charset="-122"/>
              </a:rPr>
              <a:t>, та</a:t>
            </a:r>
            <a:r>
              <a:rPr lang="en-US" altLang="en-US" sz="2400" b="1" dirty="0" err="1">
                <a:solidFill>
                  <a:srgbClr val="000000"/>
                </a:solidFill>
                <a:ea typeface="Microsoft YaHei" panose="020B0503020204020204" charset="-122"/>
              </a:rPr>
              <a:t> запус</a:t>
            </a:r>
            <a:r>
              <a:rPr lang="uk-UA" altLang="en-US" sz="2400" b="1" dirty="0" err="1">
                <a:solidFill>
                  <a:srgbClr val="000000"/>
                </a:solidFill>
                <a:ea typeface="Microsoft YaHei" panose="020B0503020204020204" charset="-122"/>
              </a:rPr>
              <a:t>тити</a:t>
            </a:r>
            <a:r>
              <a:rPr lang="en-US" altLang="en-US" sz="2400" b="1" dirty="0" err="1">
                <a:solidFill>
                  <a:srgbClr val="000000"/>
                </a:solidFill>
                <a:ea typeface="Microsoft YaHei" panose="020B0503020204020204" charset="-122"/>
              </a:rPr>
              <a:t>.</a:t>
            </a:r>
            <a:endParaRPr lang="en-US" altLang="en-US" sz="2400" b="1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en-US" sz="2400" b="1" dirty="0" err="1">
                <a:solidFill>
                  <a:srgbClr val="000000"/>
                </a:solidFill>
                <a:ea typeface="Microsoft YaHei" panose="020B0503020204020204" charset="-122"/>
              </a:rPr>
              <a:t>П</a:t>
            </a:r>
            <a:r>
              <a:rPr lang="en-US" altLang="en-US" sz="2400" b="1" dirty="0" err="1">
                <a:solidFill>
                  <a:srgbClr val="000000"/>
                </a:solidFill>
                <a:ea typeface="Microsoft YaHei" panose="020B0503020204020204" charset="-122"/>
              </a:rPr>
              <a:t>рацює і HTTP, і HTTPS, сертифікат автоматично довірений.</a:t>
            </a:r>
            <a:endParaRPr lang="en-US" altLang="en-US" sz="2400" b="1" dirty="0" err="1">
              <a:solidFill>
                <a:srgbClr val="000000"/>
              </a:solidFill>
              <a:ea typeface="Microsoft YaHei" panose="020B0503020204020204" charset="-122"/>
            </a:endParaRPr>
          </a:p>
        </p:txBody>
      </p:sp>
      <p:pic>
        <p:nvPicPr>
          <p:cNvPr id="2" name="Picture 1" descr="Screenshot 2025-12-04 16003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9690" y="3068955"/>
            <a:ext cx="6465570" cy="3571240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Деплой</a:t>
            </a:r>
            <a:endParaRPr lang="uk-UA" altLang="ru-RU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15620" y="1430655"/>
            <a:ext cx="805370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en-US" sz="2200" dirty="0" err="1">
                <a:solidFill>
                  <a:srgbClr val="000000"/>
                </a:solidFill>
                <a:ea typeface="Microsoft YaHei" panose="020B0503020204020204" charset="-122"/>
              </a:rPr>
              <a:t>Д</a:t>
            </a:r>
            <a:r>
              <a:rPr lang="en-US" altLang="en-US" sz="2200" dirty="0" err="1">
                <a:solidFill>
                  <a:srgbClr val="000000"/>
                </a:solidFill>
                <a:ea typeface="Microsoft YaHei" panose="020B0503020204020204" charset="-122"/>
              </a:rPr>
              <a:t>еплой ASP.NET Core</a:t>
            </a:r>
            <a:r>
              <a:rPr lang="uk-UA" altLang="en-US" sz="2200" dirty="0" err="1">
                <a:solidFill>
                  <a:srgbClr val="000000"/>
                </a:solidFill>
                <a:ea typeface="Microsoft YaHei" panose="020B0503020204020204" charset="-122"/>
              </a:rPr>
              <a:t> додатків</a:t>
            </a:r>
            <a:r>
              <a:rPr lang="en-US" altLang="en-US" sz="2200" dirty="0" err="1">
                <a:solidFill>
                  <a:srgbClr val="000000"/>
                </a:solidFill>
                <a:ea typeface="Microsoft YaHei" panose="020B0503020204020204" charset="-122"/>
              </a:rPr>
              <a:t> у 202</a:t>
            </a:r>
            <a:r>
              <a:rPr lang="uk-UA" altLang="en-US" sz="2200" dirty="0" err="1">
                <a:solidFill>
                  <a:srgbClr val="000000"/>
                </a:solidFill>
                <a:ea typeface="Microsoft YaHei" panose="020B0503020204020204" charset="-122"/>
              </a:rPr>
              <a:t>6</a:t>
            </a:r>
            <a:r>
              <a:rPr lang="en-US" altLang="en-US" sz="2200" dirty="0" err="1">
                <a:solidFill>
                  <a:srgbClr val="000000"/>
                </a:solidFill>
                <a:ea typeface="Microsoft YaHei" panose="020B0503020204020204" charset="-122"/>
              </a:rPr>
              <a:t> році — це просто пуш у Git </a:t>
            </a:r>
            <a:r>
              <a:rPr lang="uk-UA" altLang="en-US" sz="2200" dirty="0" err="1">
                <a:solidFill>
                  <a:srgbClr val="000000"/>
                </a:solidFill>
                <a:ea typeface="Microsoft YaHei" panose="020B0503020204020204" charset="-122"/>
              </a:rPr>
              <a:t>репозиторій </a:t>
            </a:r>
            <a:r>
              <a:rPr lang="en-US" altLang="en-US" sz="2200" dirty="0" err="1">
                <a:solidFill>
                  <a:srgbClr val="000000"/>
                </a:solidFill>
                <a:ea typeface="Microsoft YaHei" panose="020B0503020204020204" charset="-122"/>
              </a:rPr>
              <a:t>+ вибір платформи.</a:t>
            </a:r>
            <a:r>
              <a:rPr lang="uk-UA" altLang="en-US" sz="2200" dirty="0" err="1">
                <a:solidFill>
                  <a:srgbClr val="000000"/>
                </a:solidFill>
                <a:ea typeface="Microsoft YaHei" panose="020B0503020204020204" charset="-122"/>
              </a:rPr>
              <a:t> Варіанти:</a:t>
            </a:r>
            <a:endParaRPr lang="en-US" altLang="en-US" sz="22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200" b="1" dirty="0" err="1">
                <a:solidFill>
                  <a:srgbClr val="000000"/>
                </a:solidFill>
                <a:ea typeface="Microsoft YaHei" panose="020B0503020204020204" charset="-122"/>
              </a:rPr>
              <a:t>Azure App Service </a:t>
            </a:r>
            <a:r>
              <a:rPr lang="en-US" altLang="en-US" sz="2200" dirty="0" err="1">
                <a:solidFill>
                  <a:srgbClr val="000000"/>
                </a:solidFill>
                <a:ea typeface="Microsoft YaHei" panose="020B0503020204020204" charset="-122"/>
              </a:rPr>
              <a:t>(Free tier)</a:t>
            </a:r>
            <a:r>
              <a:rPr lang="uk-UA" altLang="en-US" sz="2200" dirty="0" err="1">
                <a:solidFill>
                  <a:srgbClr val="000000"/>
                </a:solidFill>
                <a:ea typeface="Microsoft YaHei" panose="020B0503020204020204" charset="-122"/>
              </a:rPr>
              <a:t> - </a:t>
            </a:r>
            <a:r>
              <a:rPr lang="en-US" altLang="en-US" sz="2200" dirty="0" err="1">
                <a:solidFill>
                  <a:srgbClr val="000000"/>
                </a:solidFill>
                <a:ea typeface="Microsoft YaHei" panose="020B0503020204020204" charset="-122"/>
              </a:rPr>
              <a:t>без Docker, деплой прямо з GitHub/VS одним кліком, нативна підтримка, </a:t>
            </a:r>
            <a:r>
              <a:rPr lang="uk-UA" altLang="en-US" sz="2200" dirty="0" err="1">
                <a:solidFill>
                  <a:srgbClr val="000000"/>
                </a:solidFill>
                <a:ea typeface="Microsoft YaHei" panose="020B0503020204020204" charset="-122"/>
              </a:rPr>
              <a:t>                  </a:t>
            </a:r>
            <a:r>
              <a:rPr lang="en-US" altLang="en-US" sz="2200" dirty="0" err="1">
                <a:solidFill>
                  <a:srgbClr val="000000"/>
                </a:solidFill>
                <a:ea typeface="Microsoft YaHei" panose="020B0503020204020204" charset="-122"/>
              </a:rPr>
              <a:t>є справжній безкоштовний tier (F1, 60 хвилин CPU/день, не спить)</a:t>
            </a:r>
            <a:endParaRPr lang="en-US" altLang="en-US" sz="22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200" b="1" dirty="0" err="1">
                <a:solidFill>
                  <a:srgbClr val="000000"/>
                </a:solidFill>
                <a:ea typeface="Microsoft YaHei" panose="020B0503020204020204" charset="-122"/>
              </a:rPr>
              <a:t>Render.com</a:t>
            </a:r>
            <a:r>
              <a:rPr lang="uk-UA" altLang="en-US" sz="2200" dirty="0" err="1">
                <a:solidFill>
                  <a:srgbClr val="000000"/>
                </a:solidFill>
                <a:ea typeface="Microsoft YaHei" panose="020B0503020204020204" charset="-122"/>
              </a:rPr>
              <a:t> - </a:t>
            </a:r>
            <a:r>
              <a:rPr lang="en-US" altLang="en-US" sz="2200" dirty="0" err="1">
                <a:solidFill>
                  <a:srgbClr val="000000"/>
                </a:solidFill>
                <a:ea typeface="Microsoft YaHei" panose="020B0503020204020204" charset="-122"/>
              </a:rPr>
              <a:t>простий дашборд, </a:t>
            </a:r>
            <a:r>
              <a:rPr lang="uk-UA" altLang="en-US" sz="2200" dirty="0" err="1">
                <a:solidFill>
                  <a:srgbClr val="000000"/>
                </a:solidFill>
                <a:ea typeface="Microsoft YaHei" panose="020B0503020204020204" charset="-122"/>
              </a:rPr>
              <a:t>треба підключити </a:t>
            </a:r>
            <a:r>
              <a:rPr lang="en-US" altLang="en-US" sz="2200" dirty="0" err="1">
                <a:solidFill>
                  <a:srgbClr val="000000"/>
                </a:solidFill>
                <a:ea typeface="Microsoft YaHei" panose="020B0503020204020204" charset="-122"/>
              </a:rPr>
              <a:t>GitHub</a:t>
            </a:r>
            <a:r>
              <a:rPr lang="uk-UA" altLang="en-US" sz="2200" dirty="0" err="1">
                <a:solidFill>
                  <a:srgbClr val="000000"/>
                </a:solidFill>
                <a:ea typeface="Microsoft YaHei" panose="020B0503020204020204" charset="-122"/>
              </a:rPr>
              <a:t>, обрати </a:t>
            </a:r>
            <a:r>
              <a:rPr lang="en-US" altLang="en-US" sz="2200" dirty="0" err="1">
                <a:solidFill>
                  <a:srgbClr val="000000"/>
                </a:solidFill>
                <a:ea typeface="Microsoft YaHei" panose="020B0503020204020204" charset="-122"/>
              </a:rPr>
              <a:t>.NET → готово</a:t>
            </a:r>
            <a:endParaRPr lang="en-US" altLang="en-US" sz="22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200" b="1" dirty="0" err="1">
                <a:solidFill>
                  <a:srgbClr val="000000"/>
                </a:solidFill>
                <a:ea typeface="Microsoft YaHei" panose="020B0503020204020204" charset="-122"/>
              </a:rPr>
              <a:t>Railway.app</a:t>
            </a:r>
            <a:r>
              <a:rPr lang="uk-UA" altLang="en-US" sz="2200" dirty="0" err="1">
                <a:solidFill>
                  <a:srgbClr val="000000"/>
                </a:solidFill>
                <a:ea typeface="Microsoft YaHei" panose="020B0503020204020204" charset="-122"/>
              </a:rPr>
              <a:t> - с</a:t>
            </a:r>
            <a:r>
              <a:rPr lang="en-US" altLang="en-US" sz="2200" dirty="0" err="1">
                <a:solidFill>
                  <a:srgbClr val="000000"/>
                </a:solidFill>
                <a:ea typeface="Microsoft YaHei" panose="020B0503020204020204" charset="-122"/>
              </a:rPr>
              <a:t>упер-простий дашборд, дає $5 кредитів без картки (вистачає на місяць-два реального використання), DB одним кліком</a:t>
            </a:r>
            <a:endParaRPr lang="en-US" altLang="en-US" sz="22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200" b="1" dirty="0" err="1">
                <a:solidFill>
                  <a:srgbClr val="000000"/>
                </a:solidFill>
                <a:ea typeface="Microsoft YaHei" panose="020B0503020204020204" charset="-122"/>
              </a:rPr>
              <a:t>Fly.io</a:t>
            </a:r>
            <a:r>
              <a:rPr lang="uk-UA" altLang="en-US" sz="2200" b="1" dirty="0" err="1">
                <a:solidFill>
                  <a:srgbClr val="000000"/>
                </a:solidFill>
                <a:ea typeface="Microsoft YaHei" panose="020B0503020204020204" charset="-122"/>
              </a:rPr>
              <a:t> </a:t>
            </a:r>
            <a:r>
              <a:rPr lang="uk-UA" altLang="en-US" sz="2200" dirty="0" err="1">
                <a:solidFill>
                  <a:srgbClr val="000000"/>
                </a:solidFill>
                <a:ea typeface="Microsoft YaHei" panose="020B0503020204020204" charset="-122"/>
              </a:rPr>
              <a:t>- б</a:t>
            </a:r>
            <a:r>
              <a:rPr lang="en-US" altLang="en-US" sz="2200" dirty="0" err="1">
                <a:solidFill>
                  <a:srgbClr val="000000"/>
                </a:solidFill>
                <a:ea typeface="Microsoft YaHei" panose="020B0503020204020204" charset="-122"/>
              </a:rPr>
              <a:t>езкоштовно 3 маленькі VM 24/7 (256 MB RAM кожна), вистачає для більшості </a:t>
            </a:r>
            <a:r>
              <a:rPr lang="uk-UA" altLang="en-US" sz="2200" dirty="0" err="1">
                <a:solidFill>
                  <a:srgbClr val="000000"/>
                </a:solidFill>
                <a:ea typeface="Microsoft YaHei" panose="020B0503020204020204" charset="-122"/>
              </a:rPr>
              <a:t>середніх проєктів</a:t>
            </a:r>
            <a:r>
              <a:rPr lang="en-US" altLang="en-US" sz="2200" dirty="0" err="1">
                <a:solidFill>
                  <a:srgbClr val="000000"/>
                </a:solidFill>
                <a:ea typeface="Microsoft YaHei" panose="020B0503020204020204" charset="-122"/>
              </a:rPr>
              <a:t>. Потрібен Dockerfile і 2 команди в терміналі</a:t>
            </a:r>
            <a:endParaRPr lang="en-US" altLang="en-US" sz="22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ru-RU" sz="2200" dirty="0" err="1">
              <a:solidFill>
                <a:srgbClr val="000000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4200" dirty="0" err="1">
                <a:solidFill>
                  <a:srgbClr val="FFFFFF"/>
                </a:solidFill>
                <a:ea typeface="Microsoft YaHei" panose="020B0503020204020204" charset="-122"/>
              </a:rPr>
              <a:t>Моделі розробки додатків</a:t>
            </a:r>
            <a:endParaRPr lang="en-US" altLang="en-US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15620" y="1519555"/>
            <a:ext cx="805370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3000" b="1" dirty="0" err="1">
                <a:solidFill>
                  <a:srgbClr val="000000"/>
                </a:solidFill>
                <a:ea typeface="Microsoft YaHei" panose="020B0503020204020204" charset="-122"/>
              </a:rPr>
              <a:t>Паттерн MVC (Model View Controller)</a:t>
            </a:r>
            <a:endParaRPr lang="en-US" altLang="en-US" sz="3000" b="1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3000" b="1" dirty="0" err="1">
                <a:solidFill>
                  <a:srgbClr val="000000"/>
                </a:solidFill>
                <a:ea typeface="Microsoft YaHei" panose="020B0503020204020204" charset="-122"/>
              </a:rPr>
              <a:t>Razor Pages</a:t>
            </a:r>
            <a:endParaRPr lang="en-US" altLang="en-US" sz="3000" b="1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3000" b="1" dirty="0" err="1">
                <a:solidFill>
                  <a:srgbClr val="000000"/>
                </a:solidFill>
                <a:ea typeface="Microsoft YaHei" panose="020B0503020204020204" charset="-122"/>
              </a:rPr>
              <a:t>SPA (Single Page Application)</a:t>
            </a:r>
            <a:endParaRPr lang="en-US" altLang="en-US" sz="3000" b="1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3000" b="1" dirty="0" err="1">
                <a:solidFill>
                  <a:srgbClr val="000000"/>
                </a:solidFill>
                <a:ea typeface="Microsoft YaHei" panose="020B0503020204020204" charset="-122"/>
              </a:rPr>
              <a:t>Blazor</a:t>
            </a:r>
            <a:endParaRPr lang="en-US" altLang="en-US" sz="3000" b="1" dirty="0" err="1">
              <a:solidFill>
                <a:srgbClr val="000000"/>
              </a:solidFill>
              <a:ea typeface="Microsoft YaHei" panose="020B0503020204020204" charset="-122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7315" y="3608705"/>
            <a:ext cx="6425565" cy="2518410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4200" dirty="0" err="1">
                <a:solidFill>
                  <a:schemeClr val="bg1"/>
                </a:solidFill>
                <a:sym typeface="+mn-ea"/>
              </a:rPr>
              <a:t>ASP.NET Core MVC</a:t>
            </a:r>
            <a:endParaRPr lang="en-US" altLang="en-US" sz="4200" dirty="0" err="1">
              <a:solidFill>
                <a:schemeClr val="bg1"/>
              </a:solidFill>
              <a:ea typeface="Microsoft YaHei" panose="020B0503020204020204" charset="-122"/>
              <a:sym typeface="+mn-ea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15620" y="1430655"/>
            <a:ext cx="805370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400" b="1" dirty="0" err="1">
                <a:solidFill>
                  <a:srgbClr val="000000"/>
                </a:solidFill>
                <a:ea typeface="Microsoft YaHei" panose="020B0503020204020204" charset="-122"/>
              </a:rPr>
              <a:t>ASP.NET Core MVC представляє модель розробки додатків на основі патерну MVC - Model (модель), View (подання) та Controller (контролер)</a:t>
            </a:r>
            <a:r>
              <a:rPr lang="uk-UA" altLang="en-US" sz="2400" b="1" dirty="0" err="1">
                <a:solidFill>
                  <a:srgbClr val="000000"/>
                </a:solidFill>
                <a:ea typeface="Microsoft YaHei" panose="020B0503020204020204" charset="-122"/>
              </a:rPr>
              <a:t>.</a:t>
            </a:r>
            <a:endParaRPr lang="uk-UA" altLang="en-US" sz="2400" b="1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uk-UA" altLang="en-US" sz="2400" b="1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400" b="1" dirty="0" err="1">
                <a:solidFill>
                  <a:srgbClr val="000000"/>
                </a:solidFill>
                <a:ea typeface="Microsoft YaHei" panose="020B0503020204020204" charset="-122"/>
              </a:rPr>
              <a:t>Модель відповідає за роботу з даними, контролер представляє логіку обробки запитів, а подання визначає візуальну складову</a:t>
            </a:r>
            <a:r>
              <a:rPr lang="uk-UA" altLang="en-US" sz="2400" b="1" dirty="0" err="1">
                <a:solidFill>
                  <a:srgbClr val="000000"/>
                </a:solidFill>
                <a:ea typeface="Microsoft YaHei" panose="020B0503020204020204" charset="-122"/>
              </a:rPr>
              <a:t>.</a:t>
            </a:r>
            <a:endParaRPr lang="uk-UA" altLang="en-US" sz="2400" b="1" dirty="0" err="1">
              <a:solidFill>
                <a:srgbClr val="000000"/>
              </a:solidFill>
              <a:ea typeface="Microsoft YaHei" panose="020B0503020204020204" charset="-122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62455" y="4193540"/>
            <a:ext cx="5299075" cy="2560320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Учасники </a:t>
            </a:r>
            <a:r>
              <a:rPr lang="en-US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MVC (</a:t>
            </a:r>
            <a:r>
              <a:rPr lang="uk-UA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для початку)</a:t>
            </a:r>
            <a:endParaRPr lang="uk-UA" altLang="ru-RU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15620" y="1386205"/>
            <a:ext cx="8083550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400" b="1" dirty="0" err="1">
                <a:solidFill>
                  <a:srgbClr val="000000"/>
                </a:solidFill>
                <a:ea typeface="Microsoft YaHei" panose="020B0503020204020204" charset="-122"/>
              </a:rPr>
              <a:t>Controller (Контролер)</a:t>
            </a:r>
            <a:endParaRPr lang="en-US" altLang="en-US" sz="1400" b="1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400" dirty="0" err="1">
                <a:solidFill>
                  <a:srgbClr val="000000"/>
                </a:solidFill>
                <a:ea typeface="Microsoft YaHei" panose="020B0503020204020204" charset="-122"/>
              </a:rPr>
              <a:t>Ловить кліки й запити з браузера</a:t>
            </a:r>
            <a:endParaRPr lang="en-US" altLang="en-US" sz="14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400" dirty="0" err="1">
                <a:solidFill>
                  <a:srgbClr val="000000"/>
                </a:solidFill>
                <a:ea typeface="Microsoft YaHei" panose="020B0503020204020204" charset="-122"/>
              </a:rPr>
              <a:t>Нічого розумного сам не робить</a:t>
            </a:r>
            <a:r>
              <a:rPr lang="uk-UA" altLang="en-US" sz="1400" dirty="0" err="1">
                <a:solidFill>
                  <a:srgbClr val="000000"/>
                </a:solidFill>
                <a:ea typeface="Microsoft YaHei" panose="020B0503020204020204" charset="-122"/>
              </a:rPr>
              <a:t> (логіка переноситься в сервіси)</a:t>
            </a:r>
            <a:endParaRPr lang="en-US" altLang="en-US" sz="14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400" dirty="0" err="1">
                <a:solidFill>
                  <a:srgbClr val="000000"/>
                </a:solidFill>
                <a:ea typeface="Microsoft YaHei" panose="020B0503020204020204" charset="-122"/>
              </a:rPr>
              <a:t>Тільки</a:t>
            </a:r>
            <a:r>
              <a:rPr lang="uk-UA" altLang="en-US" sz="1400" dirty="0" err="1">
                <a:solidFill>
                  <a:srgbClr val="000000"/>
                </a:solidFill>
                <a:ea typeface="Microsoft YaHei" panose="020B0503020204020204" charset="-122"/>
              </a:rPr>
              <a:t> </a:t>
            </a:r>
            <a:r>
              <a:rPr lang="en-US" altLang="en-US" sz="1400" dirty="0" err="1">
                <a:solidFill>
                  <a:srgbClr val="000000"/>
                </a:solidFill>
                <a:ea typeface="Microsoft YaHei" panose="020B0503020204020204" charset="-122"/>
              </a:rPr>
              <a:t>бере дані з форми &gt; віддає їх далі </a:t>
            </a:r>
            <a:r>
              <a:rPr lang="en-US" altLang="en-US" sz="1400" dirty="0" err="1">
                <a:solidFill>
                  <a:srgbClr val="000000"/>
                </a:solidFill>
                <a:sym typeface="+mn-ea"/>
              </a:rPr>
              <a:t>&gt;</a:t>
            </a:r>
            <a:r>
              <a:rPr lang="en-US" altLang="en-US" sz="1400" dirty="0" err="1">
                <a:solidFill>
                  <a:srgbClr val="000000"/>
                </a:solidFill>
                <a:ea typeface="Microsoft YaHei" panose="020B0503020204020204" charset="-122"/>
              </a:rPr>
              <a:t> отримує результат </a:t>
            </a:r>
            <a:r>
              <a:rPr lang="en-US" altLang="en-US" sz="1400" dirty="0" err="1">
                <a:solidFill>
                  <a:srgbClr val="000000"/>
                </a:solidFill>
                <a:sym typeface="+mn-ea"/>
              </a:rPr>
              <a:t>&gt;</a:t>
            </a:r>
            <a:r>
              <a:rPr lang="en-US" altLang="en-US" sz="1400" dirty="0" err="1">
                <a:solidFill>
                  <a:srgbClr val="000000"/>
                </a:solidFill>
                <a:ea typeface="Microsoft YaHei" panose="020B0503020204020204" charset="-122"/>
              </a:rPr>
              <a:t> показує сторінку</a:t>
            </a:r>
            <a:endParaRPr lang="en-US" altLang="en-US" sz="14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400" b="1" dirty="0" err="1">
                <a:solidFill>
                  <a:srgbClr val="000000"/>
                </a:solidFill>
                <a:ea typeface="Microsoft YaHei" panose="020B0503020204020204" charset="-122"/>
              </a:rPr>
              <a:t>View (представлення</a:t>
            </a:r>
            <a:r>
              <a:rPr lang="uk-UA" altLang="en-US" sz="1400" b="1" dirty="0" err="1">
                <a:solidFill>
                  <a:srgbClr val="000000"/>
                </a:solidFill>
                <a:ea typeface="Microsoft YaHei" panose="020B0503020204020204" charset="-122"/>
              </a:rPr>
              <a:t>, подання </a:t>
            </a:r>
            <a:r>
              <a:rPr lang="en-US" altLang="en-US" sz="1400" b="1" dirty="0" err="1">
                <a:solidFill>
                  <a:srgbClr val="000000"/>
                </a:solidFill>
                <a:ea typeface="Microsoft YaHei" panose="020B0503020204020204" charset="-122"/>
              </a:rPr>
              <a:t>.cshtml)</a:t>
            </a:r>
            <a:endParaRPr lang="en-US" altLang="en-US" sz="1400" b="1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400" dirty="0" err="1">
                <a:solidFill>
                  <a:srgbClr val="000000"/>
                </a:solidFill>
                <a:ea typeface="Microsoft YaHei" panose="020B0503020204020204" charset="-122"/>
              </a:rPr>
              <a:t>Просто гарно малює HTML</a:t>
            </a:r>
            <a:r>
              <a:rPr lang="ru-RU" altLang="en-US" sz="1400" dirty="0" err="1">
                <a:solidFill>
                  <a:srgbClr val="000000"/>
                </a:solidFill>
                <a:ea typeface="Microsoft YaHei" panose="020B0503020204020204" charset="-122"/>
              </a:rPr>
              <a:t>. </a:t>
            </a:r>
            <a:r>
              <a:rPr lang="ru-RU" altLang="en-US" sz="1400" dirty="0" err="1">
                <a:solidFill>
                  <a:srgbClr val="FF0000"/>
                </a:solidFill>
                <a:ea typeface="Microsoft YaHei" panose="020B0503020204020204" charset="-122"/>
              </a:rPr>
              <a:t>Важливо: це теж сторона сервера! </a:t>
            </a:r>
            <a:r>
              <a:rPr lang="ru-RU" altLang="en-US" sz="1400" dirty="0" err="1">
                <a:solidFill>
                  <a:srgbClr val="000000"/>
                </a:solidFill>
                <a:ea typeface="Microsoft YaHei" panose="020B0503020204020204" charset="-122"/>
              </a:rPr>
              <a:t>Вона форму</a:t>
            </a:r>
            <a:r>
              <a:rPr lang="uk-UA" altLang="en-US" sz="1400" dirty="0" err="1">
                <a:solidFill>
                  <a:srgbClr val="000000"/>
                </a:solidFill>
                <a:ea typeface="Microsoft YaHei" panose="020B0503020204020204" charset="-122"/>
              </a:rPr>
              <a:t>є сторінки.</a:t>
            </a:r>
            <a:endParaRPr lang="en-US" altLang="en-US" sz="14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400" dirty="0" err="1">
                <a:solidFill>
                  <a:srgbClr val="000000"/>
                </a:solidFill>
                <a:ea typeface="Microsoft YaHei" panose="020B0503020204020204" charset="-122"/>
              </a:rPr>
              <a:t>Отримує від контролера готову модель і показує її користувачу</a:t>
            </a:r>
            <a:endParaRPr lang="en-US" altLang="en-US" sz="14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400" dirty="0" err="1">
                <a:solidFill>
                  <a:srgbClr val="000000"/>
                </a:solidFill>
                <a:ea typeface="Microsoft YaHei" panose="020B0503020204020204" charset="-122"/>
              </a:rPr>
              <a:t>Жодної логіки і жодних запитів до бази!</a:t>
            </a:r>
            <a:endParaRPr lang="en-US" altLang="en-US" sz="14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400" b="1" dirty="0" err="1">
                <a:solidFill>
                  <a:srgbClr val="000000"/>
                </a:solidFill>
                <a:ea typeface="Microsoft YaHei" panose="020B0503020204020204" charset="-122"/>
              </a:rPr>
              <a:t>Model / Entity (Модель / Сутність)</a:t>
            </a:r>
            <a:endParaRPr lang="en-US" altLang="en-US" sz="1400" b="1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400" dirty="0" err="1">
                <a:solidFill>
                  <a:srgbClr val="000000"/>
                </a:solidFill>
                <a:ea typeface="Microsoft YaHei" panose="020B0503020204020204" charset="-122"/>
              </a:rPr>
              <a:t>Звичайний клас із даними (Id, Name, Price тощо)</a:t>
            </a:r>
            <a:endParaRPr lang="en-US" altLang="en-US" sz="14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400" dirty="0" err="1">
                <a:solidFill>
                  <a:srgbClr val="000000"/>
                </a:solidFill>
                <a:ea typeface="Microsoft YaHei" panose="020B0503020204020204" charset="-122"/>
              </a:rPr>
              <a:t>Сам по собі ніколи не лізе в базу і не знає, що таке EF Core чи SQL</a:t>
            </a:r>
            <a:endParaRPr lang="en-US" altLang="en-US" sz="14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400" dirty="0" err="1">
                <a:solidFill>
                  <a:srgbClr val="000000"/>
                </a:solidFill>
                <a:ea typeface="Microsoft YaHei" panose="020B0503020204020204" charset="-122"/>
              </a:rPr>
              <a:t>Це просто </a:t>
            </a:r>
            <a:r>
              <a:rPr lang="en-US" altLang="en-US" sz="1400" dirty="0" err="1">
                <a:solidFill>
                  <a:srgbClr val="000000"/>
                </a:solidFill>
                <a:ea typeface="Microsoft YaHei" panose="020B0503020204020204" charset="-122"/>
              </a:rPr>
              <a:t>«</a:t>
            </a:r>
            <a:r>
              <a:rPr lang="en-US" altLang="en-US" sz="1400" dirty="0" err="1">
                <a:solidFill>
                  <a:srgbClr val="000000"/>
                </a:solidFill>
                <a:ea typeface="Microsoft YaHei" panose="020B0503020204020204" charset="-122"/>
              </a:rPr>
              <a:t>розумний шматок даних</a:t>
            </a:r>
            <a:r>
              <a:rPr lang="en-US" altLang="en-US" sz="1400" dirty="0" err="1">
                <a:solidFill>
                  <a:srgbClr val="000000"/>
                </a:solidFill>
                <a:ea typeface="Microsoft YaHei" panose="020B0503020204020204" charset="-122"/>
              </a:rPr>
              <a:t>»</a:t>
            </a:r>
            <a:r>
              <a:rPr lang="en-US" altLang="en-US" sz="1400" dirty="0" err="1">
                <a:solidFill>
                  <a:srgbClr val="000000"/>
                </a:solidFill>
                <a:ea typeface="Microsoft YaHei" panose="020B0503020204020204" charset="-122"/>
              </a:rPr>
              <a:t> із правилами (наприклад, ціна не може бути від’ємною)</a:t>
            </a:r>
            <a:endParaRPr lang="en-US" altLang="en-US" sz="14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400" b="1" dirty="0" err="1">
                <a:solidFill>
                  <a:srgbClr val="000000"/>
                </a:solidFill>
                <a:ea typeface="Microsoft YaHei" panose="020B0503020204020204" charset="-122"/>
              </a:rPr>
              <a:t>Repository (Репозиторій) або Service</a:t>
            </a:r>
            <a:endParaRPr lang="en-US" altLang="en-US" sz="1400" b="1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en-US" sz="1400" dirty="0" err="1">
                <a:solidFill>
                  <a:srgbClr val="000000"/>
                </a:solidFill>
                <a:ea typeface="Microsoft YaHei" panose="020B0503020204020204" charset="-122"/>
              </a:rPr>
              <a:t>Х</a:t>
            </a:r>
            <a:r>
              <a:rPr lang="en-US" altLang="en-US" sz="1400" dirty="0" err="1">
                <a:solidFill>
                  <a:srgbClr val="000000"/>
                </a:solidFill>
                <a:ea typeface="Microsoft YaHei" panose="020B0503020204020204" charset="-122"/>
              </a:rPr>
              <a:t>одить у базу</a:t>
            </a:r>
            <a:endParaRPr lang="en-US" altLang="en-US" sz="14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400" dirty="0" err="1">
                <a:solidFill>
                  <a:srgbClr val="000000"/>
                </a:solidFill>
                <a:ea typeface="Microsoft YaHei" panose="020B0503020204020204" charset="-122"/>
              </a:rPr>
              <a:t>Контролер</a:t>
            </a:r>
            <a:r>
              <a:rPr lang="uk-UA" altLang="en-US" sz="1400" dirty="0" err="1">
                <a:solidFill>
                  <a:srgbClr val="000000"/>
                </a:solidFill>
                <a:ea typeface="Microsoft YaHei" panose="020B0503020204020204" charset="-122"/>
              </a:rPr>
              <a:t> </a:t>
            </a:r>
            <a:r>
              <a:rPr lang="en-US" altLang="en-US" sz="1400" dirty="0" err="1">
                <a:solidFill>
                  <a:srgbClr val="000000"/>
                </a:solidFill>
                <a:ea typeface="Microsoft YaHei" panose="020B0503020204020204" charset="-122"/>
              </a:rPr>
              <a:t>просить у нього дані </a:t>
            </a:r>
            <a:r>
              <a:rPr lang="en-US" altLang="en-US" sz="1400" dirty="0" err="1">
                <a:solidFill>
                  <a:srgbClr val="000000"/>
                </a:solidFill>
                <a:sym typeface="+mn-ea"/>
              </a:rPr>
              <a:t>&gt;</a:t>
            </a:r>
            <a:r>
              <a:rPr lang="en-US" altLang="en-US" sz="1400" dirty="0" err="1">
                <a:solidFill>
                  <a:srgbClr val="000000"/>
                </a:solidFill>
                <a:ea typeface="Microsoft YaHei" panose="020B0503020204020204" charset="-122"/>
              </a:rPr>
              <a:t> </a:t>
            </a:r>
            <a:r>
              <a:rPr lang="uk-UA" altLang="en-US" sz="1400" dirty="0" err="1">
                <a:solidFill>
                  <a:srgbClr val="000000"/>
                </a:solidFill>
                <a:ea typeface="Microsoft YaHei" panose="020B0503020204020204" charset="-122"/>
              </a:rPr>
              <a:t>р</a:t>
            </a:r>
            <a:r>
              <a:rPr lang="en-US" altLang="en-US" sz="1400" dirty="0" err="1">
                <a:solidFill>
                  <a:srgbClr val="000000"/>
                </a:solidFill>
                <a:ea typeface="Microsoft YaHei" panose="020B0503020204020204" charset="-122"/>
              </a:rPr>
              <a:t>епозиторій лізе в БД через EF Core і віддає готові моделі</a:t>
            </a:r>
            <a:endParaRPr lang="en-US" altLang="en-US" sz="14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400" b="1" dirty="0" err="1">
                <a:solidFill>
                  <a:srgbClr val="000000"/>
                </a:solidFill>
                <a:ea typeface="Microsoft YaHei" panose="020B0503020204020204" charset="-122"/>
              </a:rPr>
              <a:t>DbContext</a:t>
            </a:r>
            <a:endParaRPr lang="en-US" altLang="en-US" sz="14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400" dirty="0" err="1">
                <a:solidFill>
                  <a:srgbClr val="000000"/>
                </a:solidFill>
                <a:ea typeface="Microsoft YaHei" panose="020B0503020204020204" charset="-122"/>
              </a:rPr>
              <a:t>Це </a:t>
            </a:r>
            <a:r>
              <a:rPr lang="en-US" altLang="en-US" sz="1400" dirty="0" err="1">
                <a:solidFill>
                  <a:srgbClr val="000000"/>
                </a:solidFill>
                <a:ea typeface="Microsoft YaHei" panose="020B0503020204020204" charset="-122"/>
              </a:rPr>
              <a:t>«</a:t>
            </a:r>
            <a:r>
              <a:rPr lang="en-US" altLang="en-US" sz="1400" dirty="0" err="1">
                <a:solidFill>
                  <a:srgbClr val="000000"/>
                </a:solidFill>
                <a:ea typeface="Microsoft YaHei" panose="020B0503020204020204" charset="-122"/>
              </a:rPr>
              <a:t>міст</a:t>
            </a:r>
            <a:r>
              <a:rPr lang="en-US" altLang="en-US" sz="1400" dirty="0" err="1">
                <a:solidFill>
                  <a:srgbClr val="000000"/>
                </a:solidFill>
                <a:ea typeface="Microsoft YaHei" panose="020B0503020204020204" charset="-122"/>
              </a:rPr>
              <a:t>»</a:t>
            </a:r>
            <a:r>
              <a:rPr lang="en-US" altLang="en-US" sz="1400" dirty="0" err="1">
                <a:solidFill>
                  <a:srgbClr val="000000"/>
                </a:solidFill>
                <a:ea typeface="Microsoft YaHei" panose="020B0503020204020204" charset="-122"/>
              </a:rPr>
              <a:t> між кодом і базою даних</a:t>
            </a:r>
            <a:endParaRPr lang="en-US" altLang="en-US" sz="14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400" dirty="0" err="1">
                <a:solidFill>
                  <a:srgbClr val="000000"/>
                </a:solidFill>
                <a:ea typeface="Microsoft YaHei" panose="020B0503020204020204" charset="-122"/>
              </a:rPr>
              <a:t>Знає, як перетворити клас Product на рядок у таблиці</a:t>
            </a:r>
            <a:endParaRPr lang="en-US" altLang="en-US" sz="14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400" dirty="0" err="1">
                <a:solidFill>
                  <a:srgbClr val="000000"/>
                </a:solidFill>
                <a:ea typeface="Microsoft YaHei" panose="020B0503020204020204" charset="-122"/>
              </a:rPr>
              <a:t>Живе тільки в одному місці і більше ніде напряму не використовується</a:t>
            </a:r>
            <a:endParaRPr lang="en-US" altLang="en-US" sz="1400" dirty="0" err="1">
              <a:solidFill>
                <a:srgbClr val="000000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Хто кого бачить</a:t>
            </a:r>
            <a:endParaRPr lang="uk-UA" altLang="ru-RU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15620" y="1430655"/>
            <a:ext cx="805370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500" b="1" dirty="0" err="1">
                <a:solidFill>
                  <a:srgbClr val="000000"/>
                </a:solidFill>
                <a:ea typeface="Microsoft YaHei" panose="020B0503020204020204" charset="-122"/>
              </a:rPr>
              <a:t>Контролер може розмовляти тільки </a:t>
            </a:r>
            <a:r>
              <a:rPr lang="uk-UA" altLang="en-US" sz="2500" b="1" dirty="0" err="1">
                <a:solidFill>
                  <a:srgbClr val="000000"/>
                </a:solidFill>
                <a:ea typeface="Microsoft YaHei" panose="020B0503020204020204" charset="-122"/>
              </a:rPr>
              <a:t>                   </a:t>
            </a:r>
            <a:r>
              <a:rPr lang="en-US" altLang="en-US" sz="2500" b="1" dirty="0" err="1">
                <a:solidFill>
                  <a:srgbClr val="000000"/>
                </a:solidFill>
                <a:ea typeface="Microsoft YaHei" panose="020B0503020204020204" charset="-122"/>
              </a:rPr>
              <a:t>з Repository/Service</a:t>
            </a:r>
            <a:endParaRPr lang="en-US" altLang="en-US" sz="2500" b="1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500" b="1" dirty="0" err="1">
                <a:solidFill>
                  <a:srgbClr val="000000"/>
                </a:solidFill>
                <a:ea typeface="Microsoft YaHei" panose="020B0503020204020204" charset="-122"/>
              </a:rPr>
              <a:t>View</a:t>
            </a:r>
            <a:r>
              <a:rPr lang="uk-UA" altLang="en-US" sz="2500" b="1" dirty="0" err="1">
                <a:solidFill>
                  <a:srgbClr val="000000"/>
                </a:solidFill>
                <a:ea typeface="Microsoft YaHei" panose="020B0503020204020204" charset="-122"/>
              </a:rPr>
              <a:t> </a:t>
            </a:r>
            <a:r>
              <a:rPr lang="en-US" altLang="en-US" sz="2500" b="1" dirty="0" err="1">
                <a:solidFill>
                  <a:srgbClr val="000000"/>
                </a:solidFill>
                <a:ea typeface="Microsoft YaHei" panose="020B0503020204020204" charset="-122"/>
              </a:rPr>
              <a:t>може розмовляти тільки з Контролером</a:t>
            </a:r>
            <a:r>
              <a:rPr lang="uk-UA" altLang="en-US" sz="2500" b="1" dirty="0" err="1">
                <a:solidFill>
                  <a:srgbClr val="000000"/>
                </a:solidFill>
                <a:ea typeface="Microsoft YaHei" panose="020B0503020204020204" charset="-122"/>
              </a:rPr>
              <a:t>, ні в якому разі не змінює модель, хоча може читати</a:t>
            </a:r>
            <a:endParaRPr lang="en-US" altLang="en-US" sz="2500" b="1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500" b="1" dirty="0" err="1">
                <a:solidFill>
                  <a:srgbClr val="000000"/>
                </a:solidFill>
                <a:ea typeface="Microsoft YaHei" panose="020B0503020204020204" charset="-122"/>
              </a:rPr>
              <a:t>Model взагалі ні з ким напряму не розмовляє (його просто таскають за собою інші)</a:t>
            </a:r>
            <a:endParaRPr lang="en-US" altLang="en-US" sz="2500" b="1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500" b="1" dirty="0" err="1">
                <a:solidFill>
                  <a:srgbClr val="000000"/>
                </a:solidFill>
                <a:ea typeface="Microsoft YaHei" panose="020B0503020204020204" charset="-122"/>
              </a:rPr>
              <a:t>Repository єдиний, хто має право чіпати DbContext і базу</a:t>
            </a:r>
            <a:endParaRPr lang="en-US" altLang="en-US" sz="2500" b="1" dirty="0" err="1">
              <a:solidFill>
                <a:srgbClr val="000000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4200" dirty="0" err="1">
                <a:solidFill>
                  <a:schemeClr val="bg1"/>
                </a:solidFill>
                <a:sym typeface="+mn-ea"/>
              </a:rPr>
              <a:t>Razor Pages</a:t>
            </a:r>
            <a:endParaRPr lang="en-US" altLang="en-US" sz="4200" dirty="0" err="1">
              <a:solidFill>
                <a:schemeClr val="bg1"/>
              </a:solidFill>
              <a:ea typeface="Microsoft YaHei" panose="020B0503020204020204" charset="-122"/>
              <a:sym typeface="+mn-ea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15620" y="1430655"/>
            <a:ext cx="805370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300" b="1" dirty="0" err="1">
                <a:solidFill>
                  <a:srgbClr val="000000"/>
                </a:solidFill>
                <a:ea typeface="Microsoft YaHei" panose="020B0503020204020204" charset="-122"/>
              </a:rPr>
              <a:t>Razor Pages - технологія, альтернативна фреймворку MVC</a:t>
            </a:r>
            <a:r>
              <a:rPr lang="uk-UA" altLang="en-US" sz="2300" b="1" dirty="0" err="1">
                <a:solidFill>
                  <a:srgbClr val="000000"/>
                </a:solidFill>
                <a:ea typeface="Microsoft YaHei" panose="020B0503020204020204" charset="-122"/>
              </a:rPr>
              <a:t>.</a:t>
            </a:r>
            <a:endParaRPr lang="uk-UA" altLang="en-US" sz="2300" b="1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uk-UA" altLang="en-US" sz="2300" b="1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300" b="1" dirty="0" err="1">
                <a:solidFill>
                  <a:srgbClr val="000000"/>
                </a:solidFill>
                <a:ea typeface="Microsoft YaHei" panose="020B0503020204020204" charset="-122"/>
              </a:rPr>
              <a:t>Razor Pages представляє модель розробки додатків, в якій за обробку запиту відповідають спеціальні сутності - сторінки Razor Pages</a:t>
            </a:r>
            <a:r>
              <a:rPr lang="uk-UA" altLang="en-US" sz="2300" b="1" dirty="0" err="1">
                <a:solidFill>
                  <a:srgbClr val="000000"/>
                </a:solidFill>
                <a:ea typeface="Microsoft YaHei" panose="020B0503020204020204" charset="-122"/>
              </a:rPr>
              <a:t>.</a:t>
            </a:r>
            <a:endParaRPr lang="uk-UA" altLang="en-US" sz="2300" b="1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uk-UA" altLang="en-US" sz="2300" b="1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300" b="1" dirty="0" err="1">
                <a:solidFill>
                  <a:srgbClr val="000000"/>
                </a:solidFill>
                <a:ea typeface="Microsoft YaHei" panose="020B0503020204020204" charset="-122"/>
              </a:rPr>
              <a:t>Кожна сторінка представляє інтерфейс користувача </a:t>
            </a:r>
            <a:r>
              <a:rPr lang="uk-UA" altLang="en-US" sz="2300" b="1" dirty="0" err="1">
                <a:solidFill>
                  <a:srgbClr val="000000"/>
                </a:solidFill>
                <a:ea typeface="Microsoft YaHei" panose="020B0503020204020204" charset="-122"/>
              </a:rPr>
              <a:t>  </a:t>
            </a:r>
            <a:r>
              <a:rPr lang="en-US" altLang="en-US" sz="2300" b="1" dirty="0" err="1">
                <a:solidFill>
                  <a:srgbClr val="000000"/>
                </a:solidFill>
                <a:ea typeface="Microsoft YaHei" panose="020B0503020204020204" charset="-122"/>
              </a:rPr>
              <a:t>і пов'язану з ним логіку</a:t>
            </a:r>
            <a:r>
              <a:rPr lang="uk-UA" altLang="en-US" sz="2300" b="1" dirty="0" err="1">
                <a:solidFill>
                  <a:srgbClr val="000000"/>
                </a:solidFill>
                <a:ea typeface="Microsoft YaHei" panose="020B0503020204020204" charset="-122"/>
              </a:rPr>
              <a:t>.</a:t>
            </a:r>
            <a:endParaRPr lang="uk-UA" altLang="en-US" sz="2300" b="1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uk-UA" altLang="en-US" sz="2300" b="1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300" b="1" dirty="0" err="1">
                <a:solidFill>
                  <a:srgbClr val="000000"/>
                </a:solidFill>
                <a:ea typeface="Microsoft YaHei" panose="020B0503020204020204" charset="-122"/>
              </a:rPr>
              <a:t>Для визначення інтерфейсу користувача застосовується двигун Razor, а для опису логіки - C#</a:t>
            </a:r>
            <a:r>
              <a:rPr lang="uk-UA" altLang="en-US" sz="2300" b="1" dirty="0" err="1">
                <a:solidFill>
                  <a:srgbClr val="000000"/>
                </a:solidFill>
                <a:ea typeface="Microsoft YaHei" panose="020B0503020204020204" charset="-122"/>
              </a:rPr>
              <a:t>.</a:t>
            </a:r>
            <a:endParaRPr lang="uk-UA" altLang="en-US" sz="2300" b="1" dirty="0" err="1">
              <a:solidFill>
                <a:srgbClr val="000000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4200" dirty="0" err="1">
                <a:sym typeface="+mn-ea"/>
              </a:rPr>
              <a:t>Razor Pages</a:t>
            </a:r>
            <a:endParaRPr lang="ru-RU" altLang="uk-UA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15620" y="1430655"/>
            <a:ext cx="805370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Razor Pages </a:t>
            </a:r>
            <a:r>
              <a:rPr lang="uk-UA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простіше </a:t>
            </a: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MVC. Її основна ідея – page-centric (орієнтована на сторінку) розробка: кожна сторінка сайту є самостійною одиницею, яка містить і розмітку (UI), </a:t>
            </a:r>
            <a:r>
              <a:rPr lang="uk-UA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           </a:t>
            </a: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і логіку обробки запитів.</a:t>
            </a:r>
            <a:endParaRPr lang="en-US" altLang="en-US" sz="23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Активно використовується, коли потрібна швидка розробка простих та середніх за складністю веб-додатків (сайти-візитки, адміністративні панелі, landing pages, інтернет-магазини невеликого масштабу)</a:t>
            </a:r>
            <a:r>
              <a:rPr lang="uk-UA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, та</a:t>
            </a: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/</a:t>
            </a:r>
            <a:r>
              <a:rPr lang="uk-UA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або коли є багато </a:t>
            </a: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CRUD-</a:t>
            </a:r>
            <a:r>
              <a:rPr lang="uk-UA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форм. </a:t>
            </a: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MVC </a:t>
            </a:r>
            <a:r>
              <a:rPr lang="uk-UA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варто обрати, якщо </a:t>
            </a:r>
            <a:r>
              <a:rPr lang="ru-RU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про</a:t>
            </a:r>
            <a:r>
              <a:rPr lang="uk-UA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єкт великий, складний, з багатошаровою архітектурою,</a:t>
            </a:r>
            <a:r>
              <a:rPr lang="en-US" altLang="uk-UA" sz="2300" dirty="0" err="1">
                <a:solidFill>
                  <a:srgbClr val="000000"/>
                </a:solidFill>
                <a:ea typeface="Microsoft YaHei" panose="020B0503020204020204" charset="-122"/>
              </a:rPr>
              <a:t>   </a:t>
            </a:r>
            <a:r>
              <a:rPr lang="uk-UA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 коли багато </a:t>
            </a: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API-</a:t>
            </a:r>
            <a:r>
              <a:rPr lang="uk-UA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ендпоінтів + фронтенду, коли є чітке розділення на репозиторії, контролери, сервіси</a:t>
            </a:r>
            <a:r>
              <a:rPr lang="en-US" altLang="uk-UA" sz="2300" dirty="0" err="1">
                <a:solidFill>
                  <a:srgbClr val="000000"/>
                </a:solidFill>
                <a:ea typeface="Microsoft YaHei" panose="020B0503020204020204" charset="-122"/>
              </a:rPr>
              <a:t> </a:t>
            </a:r>
            <a:r>
              <a:rPr lang="uk-UA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тощо.</a:t>
            </a:r>
            <a:endParaRPr lang="en-US" altLang="en-US" sz="23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23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2300" dirty="0" err="1">
              <a:solidFill>
                <a:srgbClr val="000000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Чому така назва?</a:t>
            </a:r>
            <a:endParaRPr lang="uk-UA" altLang="ru-RU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15620" y="1430655"/>
            <a:ext cx="805370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Слово </a:t>
            </a:r>
            <a:r>
              <a:rPr lang="en-US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«</a:t>
            </a:r>
            <a:r>
              <a:rPr lang="en-US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Razor</a:t>
            </a:r>
            <a:r>
              <a:rPr lang="en-US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»</a:t>
            </a:r>
            <a:r>
              <a:rPr lang="en-US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 було обрано тому, що цей шаблонізатор (view engine) </a:t>
            </a:r>
            <a:r>
              <a:rPr lang="uk-UA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є</a:t>
            </a:r>
            <a:r>
              <a:rPr lang="en-US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 надзвичайно </a:t>
            </a:r>
            <a:r>
              <a:rPr lang="en-US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«</a:t>
            </a:r>
            <a:r>
              <a:rPr lang="en-US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гострим</a:t>
            </a:r>
            <a:r>
              <a:rPr lang="en-US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»</a:t>
            </a:r>
            <a:r>
              <a:rPr lang="en-US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 і легким — швидко рі</a:t>
            </a:r>
            <a:r>
              <a:rPr lang="uk-UA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же </a:t>
            </a:r>
            <a:r>
              <a:rPr lang="en-US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(to raze — зрівнювати з землею) всю громіздкість і надлишковий синтаксис попереднього Web Forms та старого движка </a:t>
            </a:r>
            <a:r>
              <a:rPr lang="uk-UA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подань</a:t>
            </a:r>
            <a:r>
              <a:rPr lang="en-US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. </a:t>
            </a:r>
            <a:r>
              <a:rPr lang="uk-UA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               </a:t>
            </a:r>
            <a:r>
              <a:rPr lang="en-US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Microsoft підкре</a:t>
            </a:r>
            <a:r>
              <a:rPr lang="uk-UA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слює</a:t>
            </a:r>
            <a:r>
              <a:rPr lang="en-US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, що Razor — це мінімалістичний, чистий і дуже ефективний спосіб змішувати C# та HTML без зайвих &lt;% %&gt; тегів, </a:t>
            </a:r>
            <a:r>
              <a:rPr lang="uk-UA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 </a:t>
            </a:r>
            <a:r>
              <a:rPr lang="en-US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які робили код важким для читання.</a:t>
            </a:r>
            <a:endParaRPr lang="en-US" altLang="en-US" sz="19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19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Друге значення назви — це пряме відсилання до самого синтаксису. У Razor код C# починається з символу @, який виглядає як лезо бритви (razor blade). Цей єдиний символ миттєво перемикає контекст з HTML на C#, роблячи код максимально лаконічним і читабельним.  Тому назва одночасно і технічна, і маркетингова — вона передає швидкість, простоту й </a:t>
            </a:r>
            <a:r>
              <a:rPr lang="en-US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«</a:t>
            </a:r>
            <a:r>
              <a:rPr lang="en-US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гостроту</a:t>
            </a:r>
            <a:r>
              <a:rPr lang="en-US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»</a:t>
            </a:r>
            <a:r>
              <a:rPr lang="en-US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 нового підходу.</a:t>
            </a:r>
            <a:endParaRPr lang="en-US" altLang="en-US" sz="1900" dirty="0" err="1">
              <a:solidFill>
                <a:srgbClr val="000000"/>
              </a:solidFill>
              <a:ea typeface="Microsoft YaHei" panose="020B0503020204020204" charset="-122"/>
            </a:endParaRPr>
          </a:p>
        </p:txBody>
      </p:sp>
      <p:pic>
        <p:nvPicPr>
          <p:cNvPr id="2" name="Picture 1" descr="sp_overview_402x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77335" y="4824095"/>
            <a:ext cx="6122670" cy="6858000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algn="l"/>
            <a:r>
              <a:rPr lang="en-US" sz="4200" dirty="0">
                <a:sym typeface="+mn-ea"/>
              </a:rPr>
              <a:t>ASP.NET Core Web API</a:t>
            </a:r>
            <a:endParaRPr lang="ru-RU" altLang="uk-UA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15620" y="1430655"/>
            <a:ext cx="805370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ru-RU" sz="2400" b="1" dirty="0" err="1">
              <a:solidFill>
                <a:srgbClr val="000000"/>
              </a:solidFill>
              <a:ea typeface="Microsoft YaHei" panose="020B0503020204020204" charset="-122"/>
            </a:endParaRPr>
          </a:p>
        </p:txBody>
      </p:sp>
      <p:pic>
        <p:nvPicPr>
          <p:cNvPr id="4" name="Рисунок 3" descr="AspNetCoreWebApiArchitectur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025" y="1853565"/>
            <a:ext cx="8989060" cy="3783330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algn="l"/>
            <a:r>
              <a:rPr lang="en-US" sz="4200" dirty="0">
                <a:sym typeface="+mn-ea"/>
              </a:rPr>
              <a:t>ASP.NET Core Web API</a:t>
            </a:r>
            <a:endParaRPr lang="ru-RU" altLang="uk-UA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15620" y="1430655"/>
            <a:ext cx="805370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400" b="1" dirty="0" err="1">
                <a:solidFill>
                  <a:srgbClr val="000000"/>
                </a:solidFill>
                <a:ea typeface="Microsoft YaHei" panose="020B0503020204020204" charset="-122"/>
              </a:rPr>
              <a:t>ASP.NET Core Web API представляє реалізацію патерну REST, при якому для кожного типу HTTP-запиту (GET, POST, PUT, DELETE) призначений окремий ресурс</a:t>
            </a:r>
            <a:r>
              <a:rPr lang="uk-UA" altLang="en-US" sz="2400" b="1" dirty="0" err="1">
                <a:solidFill>
                  <a:srgbClr val="000000"/>
                </a:solidFill>
                <a:ea typeface="Microsoft YaHei" panose="020B0503020204020204" charset="-122"/>
              </a:rPr>
              <a:t>. </a:t>
            </a:r>
            <a:r>
              <a:rPr lang="en-US" altLang="en-US" sz="2400" b="1" dirty="0" err="1">
                <a:solidFill>
                  <a:srgbClr val="000000"/>
                </a:solidFill>
                <a:ea typeface="Microsoft YaHei" panose="020B0503020204020204" charset="-122"/>
              </a:rPr>
              <a:t>Подібні ресурси визначаються </a:t>
            </a:r>
            <a:r>
              <a:rPr lang="uk-UA" altLang="en-US" sz="2400" b="1" dirty="0" err="1">
                <a:solidFill>
                  <a:srgbClr val="000000"/>
                </a:solidFill>
                <a:ea typeface="Microsoft YaHei" panose="020B0503020204020204" charset="-122"/>
              </a:rPr>
              <a:t>     </a:t>
            </a:r>
            <a:r>
              <a:rPr lang="en-US" altLang="en-US" sz="2400" b="1" dirty="0" err="1">
                <a:solidFill>
                  <a:srgbClr val="000000"/>
                </a:solidFill>
                <a:ea typeface="Microsoft YaHei" panose="020B0503020204020204" charset="-122"/>
              </a:rPr>
              <a:t>у вигляді методів контролера Web API</a:t>
            </a:r>
            <a:r>
              <a:rPr lang="uk-UA" altLang="en-US" sz="2400" b="1" dirty="0" err="1">
                <a:solidFill>
                  <a:srgbClr val="000000"/>
                </a:solidFill>
                <a:ea typeface="Microsoft YaHei" panose="020B0503020204020204" charset="-122"/>
              </a:rPr>
              <a:t>.</a:t>
            </a:r>
            <a:endParaRPr lang="uk-UA" altLang="en-US" sz="2400" b="1" dirty="0" err="1">
              <a:solidFill>
                <a:srgbClr val="000000"/>
              </a:solidFill>
              <a:ea typeface="Microsoft YaHei" panose="020B0503020204020204" charset="-122"/>
            </a:endParaRPr>
          </a:p>
        </p:txBody>
      </p:sp>
      <p:pic>
        <p:nvPicPr>
          <p:cNvPr id="3" name="Рисунок 2" descr="what_is_rest_api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12395" y="3383915"/>
            <a:ext cx="9041765" cy="3639185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algn="l"/>
            <a:r>
              <a:rPr lang="en-US" sz="4200" dirty="0">
                <a:sym typeface="+mn-ea"/>
              </a:rPr>
              <a:t>ASP.NET Core Web API</a:t>
            </a:r>
            <a:endParaRPr lang="ru-RU" altLang="uk-UA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15620" y="1430655"/>
            <a:ext cx="805370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algn="ctr"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400" b="1" dirty="0" err="1">
                <a:solidFill>
                  <a:srgbClr val="000000"/>
                </a:solidFill>
                <a:ea typeface="Microsoft YaHei" panose="020B0503020204020204" charset="-122"/>
              </a:rPr>
              <a:t>Ця модель особливо підходить </a:t>
            </a:r>
            <a:r>
              <a:rPr lang="uk-UA" altLang="en-US" sz="2400" b="1" dirty="0" err="1">
                <a:solidFill>
                  <a:srgbClr val="000000"/>
                </a:solidFill>
                <a:ea typeface="Microsoft YaHei" panose="020B0503020204020204" charset="-122"/>
              </a:rPr>
              <a:t>                                </a:t>
            </a:r>
            <a:r>
              <a:rPr lang="en-US" altLang="en-US" sz="2400" b="1" dirty="0" err="1">
                <a:solidFill>
                  <a:srgbClr val="000000"/>
                </a:solidFill>
                <a:ea typeface="Microsoft YaHei" panose="020B0503020204020204" charset="-122"/>
              </a:rPr>
              <a:t>для односторінкових програм - </a:t>
            </a:r>
            <a:r>
              <a:rPr lang="uk-UA" altLang="en-US" sz="2400" b="1" dirty="0" err="1">
                <a:solidFill>
                  <a:srgbClr val="000000"/>
                </a:solidFill>
                <a:ea typeface="Microsoft YaHei" panose="020B0503020204020204" charset="-122"/>
              </a:rPr>
              <a:t>                              </a:t>
            </a:r>
            <a:r>
              <a:rPr lang="en-US" altLang="en-US" sz="2400" b="1" dirty="0" err="1">
                <a:solidFill>
                  <a:srgbClr val="000000"/>
                </a:solidFill>
                <a:ea typeface="Microsoft YaHei" panose="020B0503020204020204" charset="-122"/>
              </a:rPr>
              <a:t>SPA (Single Page Application)</a:t>
            </a:r>
            <a:r>
              <a:rPr lang="uk-UA" altLang="en-US" sz="2400" b="1" dirty="0" err="1">
                <a:solidFill>
                  <a:srgbClr val="000000"/>
                </a:solidFill>
                <a:ea typeface="Microsoft YaHei" panose="020B0503020204020204" charset="-122"/>
              </a:rPr>
              <a:t>.</a:t>
            </a:r>
            <a:endParaRPr lang="uk-UA" altLang="en-US" sz="2400" b="1" dirty="0" err="1">
              <a:solidFill>
                <a:srgbClr val="000000"/>
              </a:solidFill>
              <a:ea typeface="Microsoft YaHei" panose="020B0503020204020204" charset="-122"/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8585" y="2753360"/>
            <a:ext cx="9431020" cy="3112135"/>
          </a:xfrm>
          <a:prstGeom prst="rect">
            <a:avLst/>
          </a:prstGeom>
        </p:spPr>
      </p:pic>
      <p:sp>
        <p:nvSpPr>
          <p:cNvPr id="2" name="Text Box 1"/>
          <p:cNvSpPr txBox="1"/>
          <p:nvPr/>
        </p:nvSpPr>
        <p:spPr>
          <a:xfrm>
            <a:off x="24765" y="6315710"/>
            <a:ext cx="915225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sz="2400" b="1" dirty="0" err="1">
                <a:solidFill>
                  <a:srgbClr val="000000"/>
                </a:solidFill>
                <a:sym typeface="+mn-ea"/>
              </a:rPr>
              <a:t>фактично, це саме те, що відбувалося в першому ДЗ :)</a:t>
            </a:r>
            <a:endParaRPr lang="uk-UA" sz="2400" b="1" dirty="0" err="1">
              <a:solidFill>
                <a:srgbClr val="000000"/>
              </a:solidFill>
              <a:sym typeface="+mn-ea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algn="l"/>
            <a:r>
              <a:rPr lang="en-US" sz="4200" dirty="0">
                <a:sym typeface="+mn-ea"/>
              </a:rPr>
              <a:t>ASP.NET Core Blazor</a:t>
            </a:r>
            <a:endParaRPr lang="ru-RU" altLang="uk-UA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15620" y="1430655"/>
            <a:ext cx="805370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Blazor представляє UI-фреймворк для створення інтерактивних програм, які можуть працювати               як на стороні сервера, так і на стороні клієнта. Функціонально Blazor підрозділяється</a:t>
            </a:r>
            <a:endParaRPr lang="en-US" altLang="en-US" sz="24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на дві підсистеми:</a:t>
            </a:r>
            <a:endParaRPr lang="en-US" altLang="en-US" sz="24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400" b="1" dirty="0" err="1">
                <a:solidFill>
                  <a:srgbClr val="000000"/>
                </a:solidFill>
                <a:ea typeface="Microsoft YaHei" panose="020B0503020204020204" charset="-122"/>
              </a:rPr>
              <a:t>Blazor Server </a:t>
            </a:r>
            <a:r>
              <a:rPr lang="en-US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дозволяє створювати серверні програми на C#</a:t>
            </a:r>
            <a:endParaRPr lang="en-US" altLang="en-US" sz="24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400" b="1" dirty="0" err="1">
                <a:solidFill>
                  <a:srgbClr val="000000"/>
                </a:solidFill>
                <a:ea typeface="Microsoft YaHei" panose="020B0503020204020204" charset="-122"/>
              </a:rPr>
              <a:t>Blazor WebAssembly</a:t>
            </a:r>
            <a:r>
              <a:rPr lang="en-US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 дозволяє створювати односторінкові інтерактивні клієнтські програми</a:t>
            </a:r>
            <a:endParaRPr lang="en-US" altLang="en-US" sz="24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24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Blazor = Browser + Razor</a:t>
            </a:r>
            <a:endParaRPr lang="en-US" altLang="en-US" sz="24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Тобто буквально: Razor, який працює в браузері</a:t>
            </a:r>
            <a:endParaRPr lang="en-US" altLang="en-US" sz="2400" dirty="0" err="1">
              <a:solidFill>
                <a:srgbClr val="000000"/>
              </a:solidFill>
              <a:ea typeface="Microsoft YaHei" panose="020B0503020204020204" charset="-122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96200" y="8255"/>
            <a:ext cx="1417320" cy="1355725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algn="l"/>
            <a:endParaRPr lang="ru-RU" altLang="uk-UA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pic>
        <p:nvPicPr>
          <p:cNvPr id="2" name="Picture 1" descr="Screenshot 2026-02-12 1342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32385" y="151765"/>
            <a:ext cx="9265285" cy="6155690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4200" dirty="0" err="1">
                <a:solidFill>
                  <a:srgbClr val="FFFFFF"/>
                </a:solidFill>
                <a:ea typeface="Microsoft YaHei" panose="020B0503020204020204" charset="-122"/>
              </a:rPr>
              <a:t>Конвеєр обробки запиту </a:t>
            </a:r>
            <a:endParaRPr lang="en-US" altLang="en-US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15620" y="1430655"/>
            <a:ext cx="805370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b="1" dirty="0" err="1">
                <a:solidFill>
                  <a:srgbClr val="000000"/>
                </a:solidFill>
                <a:ea typeface="Microsoft YaHei" panose="020B0503020204020204" charset="-122"/>
              </a:rPr>
              <a:t>Одне з основних завдань програми - це обробка запитів, що входять.</a:t>
            </a:r>
            <a:endParaRPr lang="en-US" altLang="en-US" sz="2100" b="1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2100" b="1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b="1" dirty="0" err="1">
                <a:solidFill>
                  <a:srgbClr val="000000"/>
                </a:solidFill>
                <a:ea typeface="Microsoft YaHei" panose="020B0503020204020204" charset="-122"/>
              </a:rPr>
              <a:t>Обробка запиту ASP.NET Core влаштована за принципом </a:t>
            </a:r>
            <a:r>
              <a:rPr lang="en-US" altLang="en-US" sz="2100" b="1" dirty="0" err="1">
                <a:solidFill>
                  <a:srgbClr val="0070C0"/>
                </a:solidFill>
                <a:ea typeface="Microsoft YaHei" panose="020B0503020204020204" charset="-122"/>
              </a:rPr>
              <a:t>конвеєра</a:t>
            </a:r>
            <a:r>
              <a:rPr lang="en-US" altLang="en-US" sz="2100" b="1" dirty="0" err="1">
                <a:solidFill>
                  <a:srgbClr val="000000"/>
                </a:solidFill>
                <a:ea typeface="Microsoft YaHei" panose="020B0503020204020204" charset="-122"/>
              </a:rPr>
              <a:t>, який складається з компонентів. Ці компоненти називаються </a:t>
            </a:r>
            <a:r>
              <a:rPr lang="en-US" altLang="en-US" sz="2100" b="1" dirty="0" err="1">
                <a:solidFill>
                  <a:srgbClr val="0070C0"/>
                </a:solidFill>
                <a:ea typeface="Microsoft YaHei" panose="020B0503020204020204" charset="-122"/>
              </a:rPr>
              <a:t>middleware</a:t>
            </a:r>
            <a:r>
              <a:rPr lang="en-US" altLang="en-US" sz="2100" b="1" dirty="0" err="1">
                <a:solidFill>
                  <a:srgbClr val="000000"/>
                </a:solidFill>
                <a:ea typeface="Microsoft YaHei" panose="020B0503020204020204" charset="-122"/>
              </a:rPr>
              <a:t>.</a:t>
            </a:r>
            <a:endParaRPr lang="en-US" altLang="en-US" sz="2100" b="1" dirty="0" err="1">
              <a:solidFill>
                <a:srgbClr val="000000"/>
              </a:solidFill>
              <a:ea typeface="Microsoft YaHei" panose="020B0503020204020204" charset="-122"/>
            </a:endParaRPr>
          </a:p>
        </p:txBody>
      </p:sp>
      <p:pic>
        <p:nvPicPr>
          <p:cNvPr id="2" name="Рисунок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8415" y="3496945"/>
            <a:ext cx="9608185" cy="3644265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4200" dirty="0" err="1">
                <a:solidFill>
                  <a:srgbClr val="FFFFFF"/>
                </a:solidFill>
                <a:sym typeface="+mn-ea"/>
              </a:rPr>
              <a:t>Конвеєр обробки запиту </a:t>
            </a:r>
            <a:endParaRPr lang="ru-RU" altLang="uk-UA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15620" y="1430655"/>
            <a:ext cx="805370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b="1" dirty="0" err="1">
                <a:solidFill>
                  <a:srgbClr val="000000"/>
                </a:solidFill>
                <a:ea typeface="Microsoft YaHei" panose="020B0503020204020204" charset="-122"/>
              </a:rPr>
              <a:t>При отриманні запиту спочатку дані запиту отримує перший компонент у конвеєрі.</a:t>
            </a:r>
            <a:endParaRPr lang="en-US" altLang="en-US" sz="2100" b="1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2100" b="1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b="1" dirty="0" err="1">
                <a:solidFill>
                  <a:srgbClr val="000000"/>
                </a:solidFill>
                <a:ea typeface="Microsoft YaHei" panose="020B0503020204020204" charset="-122"/>
              </a:rPr>
              <a:t>Після обробки запиту компонент middleware може закінчити обробку запиту</a:t>
            </a:r>
            <a:r>
              <a:rPr lang="uk-UA" altLang="en-US" sz="2100" b="1" dirty="0" err="1">
                <a:solidFill>
                  <a:srgbClr val="000000"/>
                </a:solidFill>
                <a:ea typeface="Microsoft YaHei" panose="020B0503020204020204" charset="-122"/>
              </a:rPr>
              <a:t>, у</a:t>
            </a:r>
            <a:r>
              <a:rPr lang="en-US" altLang="en-US" sz="2100" b="1" dirty="0" err="1">
                <a:solidFill>
                  <a:srgbClr val="000000"/>
                </a:solidFill>
                <a:ea typeface="Microsoft YaHei" panose="020B0503020204020204" charset="-122"/>
              </a:rPr>
              <a:t> цьому випадку компонент називається </a:t>
            </a:r>
            <a:r>
              <a:rPr lang="en-US" altLang="en-US" sz="2100" b="1" dirty="0" err="1">
                <a:solidFill>
                  <a:srgbClr val="0070C0"/>
                </a:solidFill>
                <a:ea typeface="Microsoft YaHei" panose="020B0503020204020204" charset="-122"/>
              </a:rPr>
              <a:t>термінальним компонентом</a:t>
            </a:r>
            <a:r>
              <a:rPr lang="uk-UA" altLang="en-US" sz="2100" b="1" dirty="0" err="1">
                <a:solidFill>
                  <a:srgbClr val="0070C0"/>
                </a:solidFill>
                <a:ea typeface="Microsoft YaHei" panose="020B0503020204020204" charset="-122"/>
              </a:rPr>
              <a:t> </a:t>
            </a:r>
            <a:r>
              <a:rPr lang="en-US" altLang="en-US" sz="2100" b="1" dirty="0" err="1">
                <a:solidFill>
                  <a:srgbClr val="000000"/>
                </a:solidFill>
                <a:ea typeface="Microsoft YaHei" panose="020B0503020204020204" charset="-122"/>
              </a:rPr>
              <a:t>(terminal middleware)</a:t>
            </a:r>
            <a:r>
              <a:rPr lang="uk-UA" altLang="en-US" sz="2100" b="1" dirty="0" err="1">
                <a:solidFill>
                  <a:srgbClr val="000000"/>
                </a:solidFill>
                <a:ea typeface="Microsoft YaHei" panose="020B0503020204020204" charset="-122"/>
              </a:rPr>
              <a:t>.</a:t>
            </a:r>
            <a:endParaRPr lang="uk-UA" altLang="en-US" sz="2100" b="1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uk-UA" altLang="en-US" sz="2100" b="1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b="1" dirty="0" err="1">
                <a:solidFill>
                  <a:srgbClr val="000000"/>
                </a:solidFill>
                <a:ea typeface="Microsoft YaHei" panose="020B0503020204020204" charset="-122"/>
              </a:rPr>
              <a:t>Або компонент може передати дані запиту для обробки наступного в конвеєрі компоненту і т.д.</a:t>
            </a:r>
            <a:endParaRPr lang="en-US" altLang="en-US" sz="2100" b="1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2100" b="1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b="1" dirty="0" err="1">
                <a:solidFill>
                  <a:srgbClr val="000000"/>
                </a:solidFill>
                <a:ea typeface="Microsoft YaHei" panose="020B0503020204020204" charset="-122"/>
              </a:rPr>
              <a:t>Після обробки запиту останнім компонентом</a:t>
            </a:r>
            <a:r>
              <a:rPr lang="uk-UA" altLang="en-US" sz="2100" b="1" dirty="0" err="1">
                <a:solidFill>
                  <a:srgbClr val="000000"/>
                </a:solidFill>
                <a:ea typeface="Microsoft YaHei" panose="020B0503020204020204" charset="-122"/>
              </a:rPr>
              <a:t>,</a:t>
            </a:r>
            <a:r>
              <a:rPr lang="en-US" altLang="en-US" sz="2100" b="1" dirty="0" err="1">
                <a:solidFill>
                  <a:srgbClr val="000000"/>
                </a:solidFill>
                <a:ea typeface="Microsoft YaHei" panose="020B0503020204020204" charset="-122"/>
              </a:rPr>
              <a:t> результат обробки запиту повертається до попереднього </a:t>
            </a:r>
            <a:r>
              <a:rPr lang="uk-UA" altLang="en-US" sz="2100" b="1" dirty="0" err="1">
                <a:solidFill>
                  <a:srgbClr val="000000"/>
                </a:solidFill>
                <a:ea typeface="Microsoft YaHei" panose="020B0503020204020204" charset="-122"/>
              </a:rPr>
              <a:t>					</a:t>
            </a:r>
            <a:r>
              <a:rPr lang="en-US" altLang="en-US" sz="2100" b="1" dirty="0" err="1">
                <a:solidFill>
                  <a:srgbClr val="000000"/>
                </a:solidFill>
                <a:ea typeface="Microsoft YaHei" panose="020B0503020204020204" charset="-122"/>
              </a:rPr>
              <a:t>компонента</a:t>
            </a:r>
            <a:r>
              <a:rPr lang="uk-UA" altLang="en-US" sz="2100" b="1" dirty="0" err="1">
                <a:solidFill>
                  <a:srgbClr val="000000"/>
                </a:solidFill>
                <a:ea typeface="Microsoft YaHei" panose="020B0503020204020204" charset="-122"/>
              </a:rPr>
              <a:t>.</a:t>
            </a:r>
            <a:endParaRPr lang="uk-UA" altLang="en-US" sz="2100" b="1" dirty="0" err="1">
              <a:solidFill>
                <a:srgbClr val="000000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4200" dirty="0" err="1">
                <a:solidFill>
                  <a:srgbClr val="FFFFFF"/>
                </a:solidFill>
                <a:sym typeface="+mn-ea"/>
              </a:rPr>
              <a:t>Конвеєр обробки запиту </a:t>
            </a:r>
            <a:endParaRPr lang="ru-RU" altLang="uk-UA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15620" y="1430655"/>
            <a:ext cx="805370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ru-RU" sz="2400" b="1" dirty="0" err="1">
              <a:solidFill>
                <a:srgbClr val="000000"/>
              </a:solidFill>
              <a:ea typeface="Microsoft YaHei" panose="020B0503020204020204" charset="-122"/>
            </a:endParaRPr>
          </a:p>
        </p:txBody>
      </p:sp>
      <p:pic>
        <p:nvPicPr>
          <p:cNvPr id="2" name="Рисунок 1" descr="Изображение выглядит как текст, снимок экрана, Шрифт, диаграмма&#10;&#10;Автоматически созданное описание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243205" y="1810385"/>
            <a:ext cx="9400540" cy="3952875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en-US" sz="4200" dirty="0" err="1">
                <a:solidFill>
                  <a:srgbClr val="FFFFFF"/>
                </a:solidFill>
                <a:sym typeface="+mn-ea"/>
              </a:rPr>
              <a:t>Ланцюжок відповідальності</a:t>
            </a:r>
            <a:endParaRPr lang="uk-UA" altLang="en-US" sz="4200" dirty="0" err="1">
              <a:solidFill>
                <a:srgbClr val="FFFFFF"/>
              </a:solidFill>
              <a:ea typeface="Microsoft YaHei" panose="020B0503020204020204" charset="-122"/>
              <a:sym typeface="+mn-ea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15620" y="1430655"/>
            <a:ext cx="805370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Middleware-конвеєр у ASP.NET Core — це класична, чиста реалізація паттерну </a:t>
            </a:r>
            <a:r>
              <a:rPr lang="en-US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«</a:t>
            </a:r>
            <a:r>
              <a:rPr lang="en-US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Ланцюжок відповідальності</a:t>
            </a:r>
            <a:r>
              <a:rPr lang="en-US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»</a:t>
            </a:r>
            <a:r>
              <a:rPr lang="en-US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 (Chain of Responsibility).</a:t>
            </a:r>
            <a:endParaRPr lang="en-US" altLang="en-US" sz="19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b="1" dirty="0" err="1">
                <a:solidFill>
                  <a:srgbClr val="0070C0"/>
                </a:solidFill>
                <a:ea typeface="Microsoft YaHei" panose="020B0503020204020204" charset="-122"/>
                <a:hlinkClick r:id="rId1" action="ppaction://hlinkfile"/>
              </a:rPr>
              <a:t>https://refactoring.guru/uk/design-patterns/chain-of-responsibility</a:t>
            </a:r>
            <a:endParaRPr lang="en-US" altLang="en-US" sz="1900" b="1" dirty="0" err="1">
              <a:solidFill>
                <a:srgbClr val="0070C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Кожен виклик app.Use</a:t>
            </a:r>
            <a:r>
              <a:rPr lang="uk-UA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...</a:t>
            </a:r>
            <a:r>
              <a:rPr lang="en-US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() додає нову ланку в ланцюжок.</a:t>
            </a:r>
            <a:endParaRPr lang="en-US" altLang="en-US" sz="19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Кожна мідлвар</a:t>
            </a:r>
            <a:r>
              <a:rPr lang="uk-UA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ь</a:t>
            </a:r>
            <a:r>
              <a:rPr lang="en-US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 отримує HttpContext і делегат next — це і є </a:t>
            </a:r>
            <a:r>
              <a:rPr lang="en-US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«</a:t>
            </a:r>
            <a:r>
              <a:rPr lang="en-US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наступний обробник</a:t>
            </a:r>
            <a:r>
              <a:rPr lang="en-US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»</a:t>
            </a:r>
            <a:r>
              <a:rPr lang="en-US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.</a:t>
            </a:r>
            <a:endParaRPr lang="en-US" altLang="en-US" sz="19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en-US" sz="1900" dirty="0" err="1">
                <a:solidFill>
                  <a:srgbClr val="000000"/>
                </a:solidFill>
                <a:sym typeface="+mn-ea"/>
              </a:rPr>
              <a:t>М</a:t>
            </a:r>
            <a:r>
              <a:rPr lang="en-US" altLang="en-US" sz="1900" dirty="0" err="1">
                <a:solidFill>
                  <a:srgbClr val="000000"/>
                </a:solidFill>
                <a:sym typeface="+mn-ea"/>
              </a:rPr>
              <a:t>ідлвар</a:t>
            </a:r>
            <a:r>
              <a:rPr lang="uk-UA" altLang="en-US" sz="1900" dirty="0" err="1">
                <a:solidFill>
                  <a:srgbClr val="000000"/>
                </a:solidFill>
                <a:sym typeface="+mn-ea"/>
              </a:rPr>
              <a:t>ь</a:t>
            </a:r>
            <a:r>
              <a:rPr lang="en-US" altLang="en-US" sz="1900" dirty="0" err="1">
                <a:solidFill>
                  <a:srgbClr val="000000"/>
                </a:solidFill>
                <a:sym typeface="+mn-ea"/>
              </a:rPr>
              <a:t> </a:t>
            </a:r>
            <a:r>
              <a:rPr lang="en-US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може:</a:t>
            </a:r>
            <a:endParaRPr lang="en-US" altLang="en-US" sz="19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повністю обробити запит і не викликати next (коротке замикання)</a:t>
            </a:r>
            <a:endParaRPr lang="en-US" altLang="en-US" sz="19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виконати свою логіку до </a:t>
            </a:r>
            <a:r>
              <a:rPr lang="uk-UA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та</a:t>
            </a:r>
            <a:r>
              <a:rPr lang="en-US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/або після виклику next,</a:t>
            </a:r>
            <a:endParaRPr lang="en-US" altLang="en-US" sz="19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або просто пропустити запит далі</a:t>
            </a:r>
            <a:endParaRPr lang="en-US" altLang="en-US" sz="19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Самі мідлвар</a:t>
            </a:r>
            <a:r>
              <a:rPr lang="uk-UA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і</a:t>
            </a:r>
            <a:r>
              <a:rPr lang="en-US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 нічого не знають про конкретні класи сусідів — вони працюють тільки з абстракцією RequestDelegate, що ідеально відповідає принципу Chain of Responsibility.</a:t>
            </a:r>
            <a:endParaRPr lang="en-US" altLang="en-US" sz="19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sz="1500" dirty="0" err="1">
                <a:solidFill>
                  <a:srgbClr val="FF0000"/>
                </a:solidFill>
                <a:ea typeface="Microsoft YaHei" panose="020B0503020204020204" charset="-122"/>
              </a:rPr>
              <a:t>П</a:t>
            </a:r>
            <a:r>
              <a:rPr lang="en-US" altLang="en-US" sz="1500" dirty="0" err="1">
                <a:solidFill>
                  <a:srgbClr val="FF0000"/>
                </a:solidFill>
                <a:ea typeface="Microsoft YaHei" panose="020B0503020204020204" charset="-122"/>
              </a:rPr>
              <a:t>айплайн</a:t>
            </a:r>
            <a:r>
              <a:rPr lang="uk-UA" altLang="en-US" sz="1500" dirty="0" err="1">
                <a:solidFill>
                  <a:srgbClr val="FF0000"/>
                </a:solidFill>
                <a:ea typeface="Microsoft YaHei" panose="020B0503020204020204" charset="-122"/>
              </a:rPr>
              <a:t> - це</a:t>
            </a:r>
            <a:r>
              <a:rPr lang="en-US" altLang="en-US" sz="1500" dirty="0" err="1">
                <a:solidFill>
                  <a:srgbClr val="FF0000"/>
                </a:solidFill>
                <a:ea typeface="Microsoft YaHei" panose="020B0503020204020204" charset="-122"/>
              </a:rPr>
              <a:t> сучасн</a:t>
            </a:r>
            <a:r>
              <a:rPr lang="uk-UA" altLang="en-US" sz="1500" dirty="0" err="1">
                <a:solidFill>
                  <a:srgbClr val="FF0000"/>
                </a:solidFill>
                <a:ea typeface="Microsoft YaHei" panose="020B0503020204020204" charset="-122"/>
              </a:rPr>
              <a:t>а</a:t>
            </a:r>
            <a:r>
              <a:rPr lang="en-US" altLang="en-US" sz="1500" dirty="0" err="1">
                <a:solidFill>
                  <a:srgbClr val="FF0000"/>
                </a:solidFill>
                <a:ea typeface="Microsoft YaHei" panose="020B0503020204020204" charset="-122"/>
              </a:rPr>
              <a:t>, оптимізован</a:t>
            </a:r>
            <a:r>
              <a:rPr lang="uk-UA" altLang="en-US" sz="1500" dirty="0" err="1">
                <a:solidFill>
                  <a:srgbClr val="FF0000"/>
                </a:solidFill>
                <a:ea typeface="Microsoft YaHei" panose="020B0503020204020204" charset="-122"/>
              </a:rPr>
              <a:t>а</a:t>
            </a:r>
            <a:r>
              <a:rPr lang="en-US" altLang="en-US" sz="1500" dirty="0" err="1">
                <a:solidFill>
                  <a:srgbClr val="FF0000"/>
                </a:solidFill>
                <a:ea typeface="Microsoft YaHei" panose="020B0503020204020204" charset="-122"/>
              </a:rPr>
              <a:t>, двосторонн</a:t>
            </a:r>
            <a:r>
              <a:rPr lang="uk-UA" altLang="en-US" sz="1500" dirty="0" err="1">
                <a:solidFill>
                  <a:srgbClr val="FF0000"/>
                </a:solidFill>
                <a:ea typeface="Microsoft YaHei" panose="020B0503020204020204" charset="-122"/>
              </a:rPr>
              <a:t>я</a:t>
            </a:r>
            <a:r>
              <a:rPr lang="en-US" altLang="en-US" sz="1500" dirty="0" err="1">
                <a:solidFill>
                  <a:srgbClr val="FF0000"/>
                </a:solidFill>
                <a:ea typeface="Microsoft YaHei" panose="020B0503020204020204" charset="-122"/>
              </a:rPr>
              <a:t> версі</a:t>
            </a:r>
            <a:r>
              <a:rPr lang="uk-UA" altLang="en-US" sz="1500" dirty="0" err="1">
                <a:solidFill>
                  <a:srgbClr val="FF0000"/>
                </a:solidFill>
                <a:ea typeface="Microsoft YaHei" panose="020B0503020204020204" charset="-122"/>
              </a:rPr>
              <a:t>я</a:t>
            </a:r>
            <a:r>
              <a:rPr lang="en-US" altLang="en-US" sz="1500" dirty="0" err="1">
                <a:solidFill>
                  <a:srgbClr val="FF0000"/>
                </a:solidFill>
                <a:ea typeface="Microsoft YaHei" panose="020B0503020204020204" charset="-122"/>
              </a:rPr>
              <a:t> паттерну </a:t>
            </a:r>
            <a:r>
              <a:rPr lang="en-US" altLang="en-US" sz="1500" dirty="0" err="1">
                <a:solidFill>
                  <a:srgbClr val="FF0000"/>
                </a:solidFill>
                <a:ea typeface="Microsoft YaHei" panose="020B0503020204020204" charset="-122"/>
              </a:rPr>
              <a:t>«</a:t>
            </a:r>
            <a:r>
              <a:rPr lang="en-US" altLang="en-US" sz="1500" dirty="0" err="1">
                <a:solidFill>
                  <a:srgbClr val="FF0000"/>
                </a:solidFill>
                <a:ea typeface="Microsoft YaHei" panose="020B0503020204020204" charset="-122"/>
              </a:rPr>
              <a:t>Ланцюжок відповідальності</a:t>
            </a:r>
            <a:r>
              <a:rPr lang="en-US" altLang="en-US" sz="1500" dirty="0" err="1">
                <a:solidFill>
                  <a:srgbClr val="FF0000"/>
                </a:solidFill>
                <a:ea typeface="Microsoft YaHei" panose="020B0503020204020204" charset="-122"/>
              </a:rPr>
              <a:t>»</a:t>
            </a:r>
            <a:r>
              <a:rPr lang="en-US" altLang="en-US" sz="1500" dirty="0" err="1">
                <a:solidFill>
                  <a:srgbClr val="FF0000"/>
                </a:solidFill>
                <a:ea typeface="Microsoft YaHei" panose="020B0503020204020204" charset="-122"/>
              </a:rPr>
              <a:t>, спеціально заточен</a:t>
            </a:r>
            <a:r>
              <a:rPr lang="uk-UA" altLang="en-US" sz="1500" dirty="0" err="1">
                <a:solidFill>
                  <a:srgbClr val="FF0000"/>
                </a:solidFill>
                <a:ea typeface="Microsoft YaHei" panose="020B0503020204020204" charset="-122"/>
              </a:rPr>
              <a:t>а</a:t>
            </a:r>
            <a:r>
              <a:rPr lang="en-US" altLang="en-US" sz="1500" dirty="0" err="1">
                <a:solidFill>
                  <a:srgbClr val="FF0000"/>
                </a:solidFill>
                <a:ea typeface="Microsoft YaHei" panose="020B0503020204020204" charset="-122"/>
              </a:rPr>
              <a:t> під обробку HTTP-запитів.</a:t>
            </a:r>
            <a:r>
              <a:rPr lang="uk-UA" altLang="en-US" sz="1500" dirty="0" err="1">
                <a:solidFill>
                  <a:srgbClr val="FF0000"/>
                </a:solidFill>
                <a:ea typeface="Microsoft YaHei" panose="020B0503020204020204" charset="-122"/>
              </a:rPr>
              <a:t> </a:t>
            </a:r>
            <a:r>
              <a:rPr lang="en-US" altLang="en-US" sz="1500" dirty="0" err="1">
                <a:solidFill>
                  <a:srgbClr val="FF0000"/>
                </a:solidFill>
                <a:ea typeface="Microsoft YaHei" panose="020B0503020204020204" charset="-122"/>
              </a:rPr>
              <a:t>Саме завдяки цьому паттерну </a:t>
            </a:r>
            <a:r>
              <a:rPr lang="uk-UA" altLang="en-US" sz="1500" dirty="0" err="1">
                <a:solidFill>
                  <a:srgbClr val="FF0000"/>
                </a:solidFill>
                <a:ea typeface="Microsoft YaHei" panose="020B0503020204020204" charset="-122"/>
              </a:rPr>
              <a:t>отримується</a:t>
            </a:r>
            <a:r>
              <a:rPr lang="en-US" altLang="en-US" sz="1500" dirty="0" err="1">
                <a:solidFill>
                  <a:srgbClr val="FF0000"/>
                </a:solidFill>
                <a:ea typeface="Microsoft YaHei" panose="020B0503020204020204" charset="-122"/>
              </a:rPr>
              <a:t> гнучкість і передбачуваність порядку виконання компонентів.</a:t>
            </a:r>
            <a:endParaRPr lang="en-US" altLang="en-US" sz="1500" dirty="0" err="1">
              <a:solidFill>
                <a:srgbClr val="FF0000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4200" dirty="0" err="1">
                <a:solidFill>
                  <a:srgbClr val="FFFFFF"/>
                </a:solidFill>
                <a:sym typeface="+mn-ea"/>
              </a:rPr>
              <a:t>Конвеєр обробки запиту </a:t>
            </a:r>
            <a:endParaRPr lang="ru-RU" altLang="uk-UA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15620" y="1430655"/>
            <a:ext cx="805370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b="1" dirty="0" err="1">
                <a:solidFill>
                  <a:srgbClr val="0070C0"/>
                </a:solidFill>
                <a:ea typeface="Microsoft YaHei" panose="020B0503020204020204" charset="-122"/>
              </a:rPr>
              <a:t>Компоненти middleware створюються один раз і існують протягом усього життєвого циклу програми</a:t>
            </a:r>
            <a:r>
              <a:rPr lang="uk-UA" altLang="en-US" sz="1900" b="1" dirty="0" err="1">
                <a:solidFill>
                  <a:srgbClr val="0070C0"/>
                </a:solidFill>
                <a:ea typeface="Microsoft YaHei" panose="020B0503020204020204" charset="-122"/>
              </a:rPr>
              <a:t>.</a:t>
            </a:r>
            <a:r>
              <a:rPr lang="uk-UA" altLang="en-US" sz="1900" dirty="0" err="1">
                <a:solidFill>
                  <a:srgbClr val="0070C0"/>
                </a:solidFill>
                <a:ea typeface="Microsoft YaHei" panose="020B0503020204020204" charset="-122"/>
              </a:rPr>
              <a:t> </a:t>
            </a:r>
            <a:r>
              <a:rPr lang="en-US" altLang="en-US" sz="1900" b="1" dirty="0" err="1">
                <a:solidFill>
                  <a:srgbClr val="000000"/>
                </a:solidFill>
                <a:ea typeface="Microsoft YaHei" panose="020B0503020204020204" charset="-122"/>
              </a:rPr>
              <a:t>Для подальшої обробки нових запитів протягом усього життєвого циклу програми використовуються одні та</a:t>
            </a:r>
            <a:r>
              <a:rPr lang="uk-UA" altLang="en-US" sz="1900" b="1" dirty="0" err="1">
                <a:solidFill>
                  <a:srgbClr val="000000"/>
                </a:solidFill>
                <a:ea typeface="Microsoft YaHei" panose="020B0503020204020204" charset="-122"/>
              </a:rPr>
              <a:t> й </a:t>
            </a:r>
            <a:r>
              <a:rPr lang="en-US" altLang="en-US" sz="1900" b="1" dirty="0" err="1">
                <a:solidFill>
                  <a:srgbClr val="000000"/>
                </a:solidFill>
                <a:ea typeface="Microsoft YaHei" panose="020B0503020204020204" charset="-122"/>
              </a:rPr>
              <a:t>ті ж компоненти</a:t>
            </a:r>
            <a:r>
              <a:rPr lang="uk-UA" altLang="en-US" sz="1900" b="1" dirty="0" err="1">
                <a:solidFill>
                  <a:srgbClr val="000000"/>
                </a:solidFill>
                <a:ea typeface="Microsoft YaHei" panose="020B0503020204020204" charset="-122"/>
              </a:rPr>
              <a:t>.</a:t>
            </a:r>
            <a:endParaRPr lang="uk-UA" altLang="en-US" sz="19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uk-UA" altLang="en-US" sz="19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Хоча, при бажанні, все ж можна організувати додавання middleware вже після старту програми</a:t>
            </a:r>
            <a:r>
              <a:rPr lang="uk-UA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:</a:t>
            </a:r>
            <a:endParaRPr lang="en-US" altLang="en-US" sz="19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UseWhen / MapWhen з </a:t>
            </a:r>
            <a:r>
              <a:rPr lang="uk-UA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перезбиранням </a:t>
            </a:r>
            <a:r>
              <a:rPr lang="en-US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гілки на кожен запит</a:t>
            </a:r>
            <a:endParaRPr lang="en-US" altLang="en-US" sz="19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Повна заміна пайплайну через app.New()</a:t>
            </a:r>
            <a:endParaRPr lang="en-US" altLang="en-US" sz="19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Кастомний динамічний пайплайн з власною колекцією компонентів</a:t>
            </a:r>
            <a:endParaRPr lang="en-US" altLang="en-US" sz="19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Middleware-завод з активацією через IServiceProvider у рантаймі</a:t>
            </a:r>
            <a:endParaRPr lang="en-US" altLang="en-US" sz="19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Але так роблять рідко і це не рекомендовано в більшості випадків — пайплайн задум</a:t>
            </a:r>
            <a:r>
              <a:rPr lang="uk-UA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аний </a:t>
            </a:r>
            <a:r>
              <a:rPr lang="en-US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як незмінний після запуску. У 99 % реальних проєктів достатньо одного </a:t>
            </a:r>
            <a:r>
              <a:rPr lang="en-US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«</a:t>
            </a:r>
            <a:r>
              <a:rPr lang="en-US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розумного</a:t>
            </a:r>
            <a:r>
              <a:rPr lang="en-US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»</a:t>
            </a:r>
            <a:r>
              <a:rPr lang="en-US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 middleware або UseWhen </a:t>
            </a:r>
            <a:r>
              <a:rPr lang="uk-UA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       </a:t>
            </a:r>
            <a:r>
              <a:rPr lang="en-US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з умовною логікою.</a:t>
            </a:r>
            <a:endParaRPr lang="en-US" altLang="en-US" sz="1900" dirty="0" err="1">
              <a:solidFill>
                <a:srgbClr val="000000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4200" dirty="0" err="1">
                <a:solidFill>
                  <a:srgbClr val="FFFFFF"/>
                </a:solidFill>
                <a:sym typeface="+mn-ea"/>
              </a:rPr>
              <a:t>Конвеєр обробки запиту </a:t>
            </a:r>
            <a:endParaRPr lang="ru-RU" altLang="uk-UA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15620" y="1386205"/>
            <a:ext cx="805370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ASP.NET</a:t>
            </a: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 </a:t>
            </a: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Core</a:t>
            </a: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 </a:t>
            </a: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за </a:t>
            </a:r>
            <a:r>
              <a:rPr lang="uk-UA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за</a:t>
            </a: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мовч</a:t>
            </a:r>
            <a:r>
              <a:rPr lang="uk-UA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ув</a:t>
            </a: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анням</a:t>
            </a:r>
            <a:r>
              <a:rPr lang="uk-UA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 </a:t>
            </a: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надає ряд вбудованих компонентів middleware для </a:t>
            </a:r>
            <a:r>
              <a:rPr lang="uk-UA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поширених </a:t>
            </a: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задач</a:t>
            </a:r>
            <a:r>
              <a:rPr lang="uk-UA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:</a:t>
            </a:r>
            <a:endParaRPr lang="uk-UA" altLang="en-US" sz="23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300" b="1" dirty="0" err="1">
                <a:solidFill>
                  <a:srgbClr val="000000"/>
                </a:solidFill>
                <a:ea typeface="Microsoft YaHei" panose="020B0503020204020204" charset="-122"/>
              </a:rPr>
              <a:t>Аутентифікація </a:t>
            </a: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(AuthenticationMiddleware)</a:t>
            </a:r>
            <a:endParaRPr lang="en-US" altLang="en-US" sz="23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300" b="1" dirty="0" err="1">
                <a:solidFill>
                  <a:srgbClr val="000000"/>
                </a:solidFill>
                <a:ea typeface="Microsoft YaHei" panose="020B0503020204020204" charset="-122"/>
              </a:rPr>
              <a:t>Авторизація </a:t>
            </a: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(AuthorizationMiddleware)</a:t>
            </a:r>
            <a:endParaRPr lang="en-US" altLang="en-US" sz="23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300" b="1" dirty="0" err="1">
                <a:solidFill>
                  <a:srgbClr val="000000"/>
                </a:solidFill>
                <a:ea typeface="Microsoft YaHei" panose="020B0503020204020204" charset="-122"/>
              </a:rPr>
              <a:t>CORS </a:t>
            </a: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(CorsMiddleware) </a:t>
            </a:r>
            <a:r>
              <a:rPr lang="en-US" altLang="en-US" sz="2300" b="1" dirty="0" err="1">
                <a:solidFill>
                  <a:srgbClr val="0070C0"/>
                </a:solidFill>
                <a:ea typeface="Microsoft YaHei" panose="020B0503020204020204" charset="-122"/>
                <a:hlinkClick r:id="rId1" action="ppaction://hlinkfile"/>
              </a:rPr>
              <a:t>https://doka.guide/tools/cors/</a:t>
            </a:r>
            <a:endParaRPr lang="en-US" altLang="en-US" sz="23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300" b="1" dirty="0" err="1">
                <a:solidFill>
                  <a:srgbClr val="000000"/>
                </a:solidFill>
                <a:ea typeface="Microsoft YaHei" panose="020B0503020204020204" charset="-122"/>
              </a:rPr>
              <a:t>Обробка винятків / сторінка помилок</a:t>
            </a:r>
            <a:endParaRPr lang="en-US" altLang="en-US" sz="2300" b="1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300" b="1" dirty="0" err="1">
                <a:solidFill>
                  <a:srgbClr val="000000"/>
                </a:solidFill>
                <a:ea typeface="Microsoft YaHei" panose="020B0503020204020204" charset="-122"/>
              </a:rPr>
              <a:t>Статичні файли</a:t>
            </a: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 (StaticFileMiddleware)</a:t>
            </a:r>
            <a:endParaRPr lang="en-US" altLang="en-US" sz="23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300" b="1" dirty="0" err="1">
                <a:solidFill>
                  <a:srgbClr val="000000"/>
                </a:solidFill>
                <a:ea typeface="Microsoft YaHei" panose="020B0503020204020204" charset="-122"/>
              </a:rPr>
              <a:t>Роутинг </a:t>
            </a: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(RoutingMiddleware та EndpointRoutingMiddleware)</a:t>
            </a:r>
            <a:endParaRPr lang="en-US" altLang="en-US" sz="23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300" b="1" dirty="0" err="1">
                <a:solidFill>
                  <a:srgbClr val="000000"/>
                </a:solidFill>
                <a:ea typeface="Microsoft YaHei" panose="020B0503020204020204" charset="-122"/>
              </a:rPr>
              <a:t>Керування сесіями</a:t>
            </a: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 (SessionMiddleware)</a:t>
            </a:r>
            <a:endParaRPr lang="en-US" altLang="en-US" sz="23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300" b="1" dirty="0" err="1">
                <a:solidFill>
                  <a:srgbClr val="000000"/>
                </a:solidFill>
                <a:ea typeface="Microsoft YaHei" panose="020B0503020204020204" charset="-122"/>
              </a:rPr>
              <a:t>Локалізація та культура </a:t>
            </a: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(RequestLocalizationMiddleware)</a:t>
            </a:r>
            <a:endParaRPr lang="en-US" altLang="en-US" sz="23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300" b="1" dirty="0" err="1">
                <a:solidFill>
                  <a:srgbClr val="000000"/>
                </a:solidFill>
                <a:ea typeface="Microsoft YaHei" panose="020B0503020204020204" charset="-122"/>
              </a:rPr>
              <a:t>Кешування відповідей</a:t>
            </a: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 (ResponseCachingMiddleware)</a:t>
            </a:r>
            <a:endParaRPr lang="en-US" altLang="en-US" sz="23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2300" dirty="0" err="1">
              <a:solidFill>
                <a:srgbClr val="000000"/>
              </a:solidFill>
              <a:ea typeface="Microsoft YaHei" panose="020B0503020204020204" charset="-122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6855" y="3383915"/>
            <a:ext cx="1960245" cy="1861820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4200" dirty="0" err="1">
                <a:solidFill>
                  <a:srgbClr val="FFFFFF"/>
                </a:solidFill>
                <a:ea typeface="Microsoft YaHei" panose="020B0503020204020204" charset="-122"/>
              </a:rPr>
              <a:t>Request</a:t>
            </a:r>
            <a:r>
              <a:rPr lang="uk-UA" altLang="en-US" sz="4200" dirty="0" err="1">
                <a:solidFill>
                  <a:srgbClr val="FFFFFF"/>
                </a:solidFill>
                <a:ea typeface="Microsoft YaHei" panose="020B0503020204020204" charset="-122"/>
              </a:rPr>
              <a:t> </a:t>
            </a:r>
            <a:r>
              <a:rPr lang="en-US" altLang="en-US" sz="4200" dirty="0" err="1">
                <a:solidFill>
                  <a:srgbClr val="FFFFFF"/>
                </a:solidFill>
                <a:ea typeface="Microsoft YaHei" panose="020B0503020204020204" charset="-122"/>
              </a:rPr>
              <a:t>Processing</a:t>
            </a:r>
            <a:r>
              <a:rPr lang="uk-UA" altLang="en-US" sz="4200" dirty="0" err="1">
                <a:solidFill>
                  <a:srgbClr val="FFFFFF"/>
                </a:solidFill>
                <a:ea typeface="Microsoft YaHei" panose="020B0503020204020204" charset="-122"/>
              </a:rPr>
              <a:t> </a:t>
            </a:r>
            <a:r>
              <a:rPr lang="en-US" altLang="en-US" sz="4200" dirty="0" err="1">
                <a:solidFill>
                  <a:srgbClr val="FFFFFF"/>
                </a:solidFill>
                <a:ea typeface="Microsoft YaHei" panose="020B0503020204020204" charset="-122"/>
              </a:rPr>
              <a:t>Pipeline</a:t>
            </a:r>
            <a:endParaRPr lang="en-US" altLang="en-US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15620" y="1430655"/>
            <a:ext cx="805370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algn="ctr"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2400" b="1" dirty="0" err="1">
              <a:solidFill>
                <a:srgbClr val="0070C0"/>
              </a:solidFill>
              <a:ea typeface="Microsoft YaHei" panose="020B0503020204020204" charset="-122"/>
              <a:hlinkClick r:id="rId1" action="ppaction://hlinkfile"/>
            </a:endParaRPr>
          </a:p>
          <a:p>
            <a:pPr algn="ctr"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2400" b="1" dirty="0" err="1">
              <a:solidFill>
                <a:srgbClr val="0070C0"/>
              </a:solidFill>
              <a:ea typeface="Microsoft YaHei" panose="020B0503020204020204" charset="-122"/>
              <a:hlinkClick r:id="rId1" action="ppaction://hlinkfile"/>
            </a:endParaRPr>
          </a:p>
          <a:p>
            <a:pPr algn="ctr"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400" b="1" dirty="0" err="1">
                <a:solidFill>
                  <a:srgbClr val="0070C0"/>
                </a:solidFill>
                <a:ea typeface="Microsoft YaHei" panose="020B0503020204020204" charset="-122"/>
                <a:hlinkClick r:id="rId1" action="ppaction://hlinkfile"/>
              </a:rPr>
              <a:t>https://gist.github.com/sunmeat/e6f606dfca30c9bddf1e0361a28443e4</a:t>
            </a:r>
            <a:endParaRPr lang="en-US" altLang="en-US" sz="2400" b="1" dirty="0" err="1">
              <a:solidFill>
                <a:srgbClr val="0070C0"/>
              </a:solidFill>
              <a:ea typeface="Microsoft YaHei" panose="020B0503020204020204" charset="-122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2050" y="3692525"/>
            <a:ext cx="6819900" cy="1962150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sz="4200" dirty="0" err="1">
                <a:solidFill>
                  <a:srgbClr val="FFFFFF"/>
                </a:solidFill>
                <a:ea typeface="Microsoft YaHei" panose="020B0503020204020204" charset="-122"/>
              </a:rPr>
              <a:t>Основні прийоми</a:t>
            </a:r>
            <a:endParaRPr lang="uk-UA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15620" y="1430655"/>
            <a:ext cx="805370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algn="ctr"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2400" b="1" dirty="0" err="1">
              <a:solidFill>
                <a:srgbClr val="0070C0"/>
              </a:solidFill>
              <a:ea typeface="Microsoft YaHei" panose="020B0503020204020204" charset="-122"/>
            </a:endParaRPr>
          </a:p>
        </p:txBody>
      </p:sp>
      <p:pic>
        <p:nvPicPr>
          <p:cNvPr id="2" name="Picture 1" descr="Screenshot 2026-01-28 19593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568450"/>
            <a:ext cx="9144000" cy="2032000"/>
          </a:xfrm>
          <a:prstGeom prst="rect">
            <a:avLst/>
          </a:prstGeom>
        </p:spPr>
      </p:pic>
      <p:sp>
        <p:nvSpPr>
          <p:cNvPr id="3" name="Text Box 2"/>
          <p:cNvSpPr txBox="1"/>
          <p:nvPr/>
        </p:nvSpPr>
        <p:spPr>
          <a:xfrm>
            <a:off x="485140" y="4159885"/>
            <a:ext cx="807339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 b="1">
                <a:hlinkClick r:id="rId2" action="ppaction://hlinkfile"/>
              </a:rPr>
              <a:t>https://github.com/sunmeat/aspnetcore_mvc/blob/master/conveyor.docx</a:t>
            </a:r>
            <a:endParaRPr lang="en-US" b="1"/>
          </a:p>
        </p:txBody>
      </p:sp>
      <p:sp>
        <p:nvSpPr>
          <p:cNvPr id="4" name="Text Box 3"/>
          <p:cNvSpPr txBox="1"/>
          <p:nvPr/>
        </p:nvSpPr>
        <p:spPr>
          <a:xfrm>
            <a:off x="478155" y="4688205"/>
            <a:ext cx="807974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altLang="en-US" b="1">
                <a:hlinkClick r:id="rId3" action="ppaction://hlinkfile"/>
              </a:rPr>
              <a:t>https://github.com/sunmeat/aspnetcore_mvc/blob/master/middleware%20basics.docx</a:t>
            </a:r>
            <a:endParaRPr lang="en-US" b="1"/>
          </a:p>
        </p:txBody>
      </p:sp>
      <p:sp>
        <p:nvSpPr>
          <p:cNvPr id="5" name="Text Box 4"/>
          <p:cNvSpPr txBox="1"/>
          <p:nvPr/>
        </p:nvSpPr>
        <p:spPr>
          <a:xfrm>
            <a:off x="701675" y="5452745"/>
            <a:ext cx="775589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altLang="en-US" b="1">
                <a:hlinkClick r:id="rId4" action="ppaction://hlinkfile"/>
              </a:rPr>
              <a:t>https://github.com/sunmeat/aspnetcore_mvc/blob/master/middleware%20classes.docx</a:t>
            </a:r>
            <a:endParaRPr lang="en-US" b="1"/>
          </a:p>
        </p:txBody>
      </p:sp>
      <p:sp>
        <p:nvSpPr>
          <p:cNvPr id="6" name="Text Box 5"/>
          <p:cNvSpPr txBox="1"/>
          <p:nvPr/>
        </p:nvSpPr>
        <p:spPr>
          <a:xfrm>
            <a:off x="521970" y="3698875"/>
            <a:ext cx="4572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en-US" sz="2400" b="1" dirty="0" err="1">
                <a:solidFill>
                  <a:srgbClr val="000000"/>
                </a:solidFill>
                <a:sym typeface="+mn-ea"/>
              </a:rPr>
              <a:t>Більше інформації:</a:t>
            </a:r>
            <a:endParaRPr lang="uk-UA" altLang="en-US" sz="2400" b="1" dirty="0" err="1">
              <a:solidFill>
                <a:srgbClr val="000000"/>
              </a:solidFill>
              <a:sym typeface="+mn-ea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Налагодження прикладу</a:t>
            </a:r>
            <a:endParaRPr lang="uk-UA" altLang="ru-RU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15620" y="1430655"/>
            <a:ext cx="805370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en-US" sz="1800" b="1" dirty="0" err="1">
                <a:solidFill>
                  <a:srgbClr val="000000"/>
                </a:solidFill>
                <a:ea typeface="Microsoft YaHei" panose="020B0503020204020204" charset="-122"/>
              </a:rPr>
              <a:t>на рядку </a:t>
            </a:r>
            <a:r>
              <a:rPr lang="en-US" altLang="en-US" sz="1800" b="1" dirty="0" err="1">
                <a:solidFill>
                  <a:srgbClr val="0070C0"/>
                </a:solidFill>
                <a:ea typeface="Microsoft YaHei" panose="020B0503020204020204" charset="-122"/>
              </a:rPr>
              <a:t>if (!int.TryParse(token, out int number))</a:t>
            </a:r>
            <a:endParaRPr lang="en-US" altLang="en-US" sz="1800" b="1" dirty="0" err="1">
              <a:solidFill>
                <a:srgbClr val="0070C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en-US" sz="1800" b="1" dirty="0" err="1">
                <a:solidFill>
                  <a:srgbClr val="000000"/>
                </a:solidFill>
                <a:ea typeface="Microsoft YaHei" panose="020B0503020204020204" charset="-122"/>
              </a:rPr>
              <a:t>у файлі </a:t>
            </a:r>
            <a:r>
              <a:rPr lang="en-US" altLang="en-US" sz="1800" b="1" dirty="0" err="1">
                <a:solidFill>
                  <a:srgbClr val="000000"/>
                </a:solidFill>
                <a:ea typeface="Microsoft YaHei" panose="020B0503020204020204" charset="-122"/>
              </a:rPr>
              <a:t>FromTwentyToHundredMiddleware.cs </a:t>
            </a:r>
            <a:r>
              <a:rPr lang="uk-UA" altLang="en-US" sz="1800" b="1" dirty="0" err="1">
                <a:solidFill>
                  <a:srgbClr val="000000"/>
                </a:solidFill>
                <a:ea typeface="Microsoft YaHei" panose="020B0503020204020204" charset="-122"/>
              </a:rPr>
              <a:t>тиснемо </a:t>
            </a:r>
            <a:r>
              <a:rPr lang="en-US" altLang="en-US" sz="1800" b="1" dirty="0" err="1">
                <a:solidFill>
                  <a:srgbClr val="FF0000"/>
                </a:solidFill>
                <a:ea typeface="Microsoft YaHei" panose="020B0503020204020204" charset="-122"/>
              </a:rPr>
              <a:t>Ctrl + F10</a:t>
            </a:r>
            <a:endParaRPr lang="en-US" altLang="en-US" sz="1800" b="1" dirty="0" err="1">
              <a:solidFill>
                <a:srgbClr val="FF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1800" b="1" dirty="0" err="1">
              <a:solidFill>
                <a:srgbClr val="FF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1800" b="1" dirty="0" err="1">
              <a:solidFill>
                <a:srgbClr val="FF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1800" b="1" dirty="0" err="1">
              <a:solidFill>
                <a:srgbClr val="FF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1800" b="1" dirty="0" err="1">
              <a:solidFill>
                <a:srgbClr val="FF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1800" b="1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en-US" sz="1800" b="1" dirty="0" err="1">
                <a:solidFill>
                  <a:schemeClr val="tx1"/>
                </a:solidFill>
                <a:ea typeface="Microsoft YaHei" panose="020B0503020204020204" charset="-122"/>
              </a:rPr>
              <a:t>можливо навіть рази три, це ок :)</a:t>
            </a:r>
            <a:br>
              <a:rPr lang="uk-UA" altLang="en-US" sz="1800" b="1" dirty="0" err="1">
                <a:solidFill>
                  <a:schemeClr val="tx1"/>
                </a:solidFill>
                <a:ea typeface="Microsoft YaHei" panose="020B0503020204020204" charset="-122"/>
              </a:rPr>
            </a:br>
            <a:r>
              <a:rPr lang="uk-UA" altLang="en-US" sz="1800" b="1" dirty="0" err="1">
                <a:solidFill>
                  <a:schemeClr val="tx1"/>
                </a:solidFill>
                <a:ea typeface="Microsoft YaHei" panose="020B0503020204020204" charset="-122"/>
              </a:rPr>
              <a:t>потім в барузері набираємо </a:t>
            </a:r>
            <a:r>
              <a:rPr lang="en-US" altLang="en-US" sz="1800" b="1" dirty="0" err="1">
                <a:solidFill>
                  <a:srgbClr val="FF0000"/>
                </a:solidFill>
                <a:ea typeface="Microsoft YaHei" panose="020B0503020204020204" charset="-122"/>
              </a:rPr>
              <a:t>https://aspnet.dev.localhost:7046/?number=25</a:t>
            </a:r>
            <a:endParaRPr lang="en-US" altLang="en-US" sz="1800" b="1" dirty="0" err="1">
              <a:solidFill>
                <a:srgbClr val="FF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1800" b="1" dirty="0" err="1">
              <a:solidFill>
                <a:srgbClr val="FF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en-US" sz="1800" b="1" dirty="0" err="1">
                <a:solidFill>
                  <a:schemeClr val="tx1"/>
                </a:solidFill>
                <a:ea typeface="Microsoft YaHei" panose="020B0503020204020204" charset="-122"/>
              </a:rPr>
              <a:t>шаримось </a:t>
            </a:r>
            <a:r>
              <a:rPr lang="en-US" altLang="en-US" sz="1800" b="1" dirty="0" err="1">
                <a:solidFill>
                  <a:schemeClr val="tx1"/>
                </a:solidFill>
                <a:ea typeface="Microsoft YaHei" panose="020B0503020204020204" charset="-122"/>
              </a:rPr>
              <a:t>F10 </a:t>
            </a:r>
            <a:r>
              <a:rPr lang="uk-UA" altLang="en-US" sz="1800" b="1" dirty="0" err="1">
                <a:solidFill>
                  <a:schemeClr val="tx1"/>
                </a:solidFill>
                <a:ea typeface="Microsoft YaHei" panose="020B0503020204020204" charset="-122"/>
              </a:rPr>
              <a:t>по рядках, до цього місця:</a:t>
            </a:r>
            <a:endParaRPr lang="uk-UA" altLang="en-US" sz="1800" b="1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uk-UA" altLang="en-US" sz="1800" b="1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uk-UA" altLang="en-US" sz="1800" b="1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en-US" sz="1800" b="1" dirty="0" err="1">
                <a:solidFill>
                  <a:schemeClr val="tx1"/>
                </a:solidFill>
                <a:ea typeface="Microsoft YaHei" panose="020B0503020204020204" charset="-122"/>
              </a:rPr>
              <a:t>                                                                               тут уже </a:t>
            </a:r>
            <a:r>
              <a:rPr lang="en-US" altLang="en-US" sz="1800" b="1" dirty="0" err="1">
                <a:solidFill>
                  <a:schemeClr val="tx1"/>
                </a:solidFill>
                <a:ea typeface="Microsoft YaHei" panose="020B0503020204020204" charset="-122"/>
              </a:rPr>
              <a:t>F11</a:t>
            </a:r>
            <a:r>
              <a:rPr lang="uk-UA" altLang="en-US" sz="1800" b="1" dirty="0" err="1">
                <a:solidFill>
                  <a:schemeClr val="tx1"/>
                </a:solidFill>
                <a:ea typeface="Microsoft YaHei" panose="020B0503020204020204" charset="-122"/>
              </a:rPr>
              <a:t>, щоб зайти</a:t>
            </a:r>
            <a:endParaRPr lang="uk-UA" altLang="en-US" sz="1800" b="1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en-US" sz="1800" b="1" dirty="0" err="1">
                <a:solidFill>
                  <a:schemeClr val="tx1"/>
                </a:solidFill>
                <a:ea typeface="Microsoft YaHei" panose="020B0503020204020204" charset="-122"/>
              </a:rPr>
              <a:t>                                                                               в наступну мідлварь</a:t>
            </a:r>
            <a:endParaRPr lang="uk-UA" altLang="en-US" sz="1800" b="1" dirty="0" err="1">
              <a:solidFill>
                <a:schemeClr val="tx1"/>
              </a:solidFill>
              <a:ea typeface="Microsoft YaHei" panose="020B0503020204020204" charset="-122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89075" y="2169160"/>
            <a:ext cx="6165215" cy="1204595"/>
          </a:xfrm>
          <a:prstGeom prst="rect">
            <a:avLst/>
          </a:prstGeom>
        </p:spPr>
      </p:pic>
      <p:pic>
        <p:nvPicPr>
          <p:cNvPr id="6" name="Picture 5" descr="Screenshot 2025-12-05 1627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355" y="4779010"/>
            <a:ext cx="4916170" cy="1155065"/>
          </a:xfrm>
          <a:prstGeom prst="rect">
            <a:avLst/>
          </a:prstGeom>
        </p:spPr>
      </p:pic>
      <p:pic>
        <p:nvPicPr>
          <p:cNvPr id="7" name="Picture 6" descr="Screenshot 2025-12-05 16272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7255" y="5904230"/>
            <a:ext cx="4474845" cy="986155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ДЗ</a:t>
            </a:r>
            <a:endParaRPr lang="uk-UA" altLang="ru-RU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15620" y="1430655"/>
            <a:ext cx="805370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400" b="1" dirty="0" err="1">
                <a:solidFill>
                  <a:srgbClr val="000000"/>
                </a:solidFill>
                <a:ea typeface="Microsoft YaHei" panose="020B0503020204020204" charset="-122"/>
              </a:rPr>
              <a:t>Розробити Web-додаток "Інтерпретатор чисел". Діапазон</a:t>
            </a:r>
            <a:r>
              <a:rPr lang="uk-UA" altLang="en-US" sz="2400" b="1" dirty="0" err="1">
                <a:solidFill>
                  <a:srgbClr val="000000"/>
                </a:solidFill>
                <a:ea typeface="Microsoft YaHei" panose="020B0503020204020204" charset="-122"/>
              </a:rPr>
              <a:t> </a:t>
            </a:r>
            <a:r>
              <a:rPr lang="en-US" altLang="en-US" sz="2400" b="1" dirty="0" err="1">
                <a:solidFill>
                  <a:srgbClr val="000000"/>
                </a:solidFill>
                <a:ea typeface="Microsoft YaHei" panose="020B0503020204020204" charset="-122"/>
              </a:rPr>
              <a:t>чисел - </a:t>
            </a:r>
            <a:r>
              <a:rPr lang="en-US" altLang="en-US" sz="2400" b="1" dirty="0" err="1">
                <a:solidFill>
                  <a:srgbClr val="0070C0"/>
                </a:solidFill>
                <a:ea typeface="Microsoft YaHei" panose="020B0503020204020204" charset="-122"/>
              </a:rPr>
              <a:t>від 0 до 100000</a:t>
            </a:r>
            <a:r>
              <a:rPr lang="uk-UA" altLang="en-US" sz="2400" b="1" dirty="0" err="1">
                <a:solidFill>
                  <a:srgbClr val="000000"/>
                </a:solidFill>
                <a:ea typeface="Microsoft YaHei" panose="020B0503020204020204" charset="-122"/>
              </a:rPr>
              <a:t> (ста тисяч).</a:t>
            </a:r>
            <a:endParaRPr lang="en-US" altLang="en-US" sz="2400" b="1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400" b="1" dirty="0" err="1">
                <a:solidFill>
                  <a:srgbClr val="000000"/>
                </a:solidFill>
                <a:ea typeface="Microsoft YaHei" panose="020B0503020204020204" charset="-122"/>
              </a:rPr>
              <a:t>Для обробки HTTP GET-запиту необхідно використовувати кілька </a:t>
            </a:r>
            <a:r>
              <a:rPr lang="uk-UA" altLang="en-US" sz="2400" b="1" dirty="0" err="1">
                <a:solidFill>
                  <a:srgbClr val="000000"/>
                </a:solidFill>
                <a:ea typeface="Microsoft YaHei" panose="020B0503020204020204" charset="-122"/>
              </a:rPr>
              <a:t>додаткових </a:t>
            </a:r>
            <a:r>
              <a:rPr lang="en-US" altLang="en-US" sz="2400" b="1" dirty="0" err="1">
                <a:solidFill>
                  <a:srgbClr val="000000"/>
                </a:solidFill>
                <a:ea typeface="Microsoft YaHei" panose="020B0503020204020204" charset="-122"/>
              </a:rPr>
              <a:t>middleware-компонентів.</a:t>
            </a:r>
            <a:endParaRPr lang="en-US" altLang="en-US" sz="2400" b="1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400" b="1" dirty="0" err="1">
                <a:solidFill>
                  <a:srgbClr val="000000"/>
                </a:solidFill>
                <a:ea typeface="Microsoft YaHei" panose="020B0503020204020204" charset="-122"/>
              </a:rPr>
              <a:t>На негативні числа має бути приставка </a:t>
            </a:r>
            <a:r>
              <a:rPr lang="uk-UA" altLang="en-US" sz="2400" b="1" dirty="0" err="1">
                <a:solidFill>
                  <a:srgbClr val="0070C0"/>
                </a:solidFill>
                <a:ea typeface="Microsoft YaHei" panose="020B0503020204020204" charset="-122"/>
              </a:rPr>
              <a:t>“</a:t>
            </a:r>
            <a:r>
              <a:rPr lang="en-US" altLang="en-US" sz="2400" b="1" dirty="0" err="1">
                <a:solidFill>
                  <a:srgbClr val="0070C0"/>
                </a:solidFill>
                <a:ea typeface="Microsoft YaHei" panose="020B0503020204020204" charset="-122"/>
              </a:rPr>
              <a:t>мінус</a:t>
            </a:r>
            <a:r>
              <a:rPr lang="uk-UA" altLang="en-US" sz="2400" b="1" dirty="0" err="1">
                <a:solidFill>
                  <a:srgbClr val="0070C0"/>
                </a:solidFill>
                <a:ea typeface="Microsoft YaHei" panose="020B0503020204020204" charset="-122"/>
              </a:rPr>
              <a:t> ”</a:t>
            </a:r>
            <a:r>
              <a:rPr lang="uk-UA" altLang="en-US" sz="2400" b="1" dirty="0" err="1">
                <a:solidFill>
                  <a:srgbClr val="000000"/>
                </a:solidFill>
                <a:ea typeface="Microsoft YaHei" panose="020B0503020204020204" charset="-122"/>
              </a:rPr>
              <a:t>.</a:t>
            </a:r>
            <a:endParaRPr lang="uk-UA" altLang="en-US" sz="2400" b="1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en-US" sz="2400" b="1" dirty="0" err="1">
                <a:solidFill>
                  <a:srgbClr val="000000"/>
                </a:solidFill>
                <a:ea typeface="Microsoft YaHei" panose="020B0503020204020204" charset="-122"/>
              </a:rPr>
              <a:t>Екстеншени для мідлварєй винести в окремі файли (і бажано їх розподілити по папках, мідлварі - окремо, розширення - окремо).</a:t>
            </a:r>
            <a:endParaRPr lang="uk-UA" altLang="en-US" sz="2400" b="1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en-US" sz="2400" b="1" dirty="0" err="1">
                <a:solidFill>
                  <a:srgbClr val="000000"/>
                </a:solidFill>
                <a:ea typeface="Microsoft YaHei" panose="020B0503020204020204" charset="-122"/>
              </a:rPr>
              <a:t>Рішення викласти в публічний репозиторій, посилання на який надіслати в коментар до цього ДЗ на Майстат.</a:t>
            </a:r>
            <a:endParaRPr lang="uk-UA" altLang="en-US" sz="2400" b="1" dirty="0" err="1">
              <a:solidFill>
                <a:srgbClr val="000000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7"/>
      </a:accent6>
      <a:hlink>
        <a:srgbClr val="CCCCFF"/>
      </a:hlink>
      <a:folHlink>
        <a:srgbClr val="B2B2B2"/>
      </a:folHlink>
    </a:clrScheme>
    <a:fontScheme name="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7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FF"/>
        </a:lt1>
        <a:dk2>
          <a:srgbClr val="FFFF00"/>
        </a:dk2>
        <a:lt2>
          <a:srgbClr val="0000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CDCDC"/>
        </a:accent4>
        <a:accent5>
          <a:srgbClr val="FFCAAA"/>
        </a:accent5>
        <a:accent6>
          <a:srgbClr val="00E5E5"/>
        </a:accent6>
        <a:hlink>
          <a:srgbClr val="FF0000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2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27272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9"/>
        </a:accent5>
        <a:accent6>
          <a:srgbClr val="0000E5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BE5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9E5B7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7"/>
      </a:accent6>
      <a:hlink>
        <a:srgbClr val="CCCCFF"/>
      </a:hlink>
      <a:folHlink>
        <a:srgbClr val="B2B2B2"/>
      </a:folHlink>
    </a:clrScheme>
    <a:fontScheme name="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7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FF"/>
        </a:lt1>
        <a:dk2>
          <a:srgbClr val="FFFF00"/>
        </a:dk2>
        <a:lt2>
          <a:srgbClr val="0000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CDCDC"/>
        </a:accent4>
        <a:accent5>
          <a:srgbClr val="FFCAAA"/>
        </a:accent5>
        <a:accent6>
          <a:srgbClr val="00E5E5"/>
        </a:accent6>
        <a:hlink>
          <a:srgbClr val="FF0000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2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27272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9"/>
        </a:accent5>
        <a:accent6>
          <a:srgbClr val="0000E5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BE5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9E5B7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7"/>
      </a:accent6>
      <a:hlink>
        <a:srgbClr val="CCCCFF"/>
      </a:hlink>
      <a:folHlink>
        <a:srgbClr val="B2B2B2"/>
      </a:folHlink>
    </a:clrScheme>
    <a:fontScheme name="Cambria-Calibri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Документ" ma:contentTypeID="0x010100CB973167729B9844A7328B341F515C98" ma:contentTypeVersion="12" ma:contentTypeDescription="Создание документа." ma:contentTypeScope="" ma:versionID="d6ee7b10c34e512e5b0e393e1ebaa933">
  <xsd:schema xmlns:xsd="http://www.w3.org/2001/XMLSchema" xmlns:xs="http://www.w3.org/2001/XMLSchema" xmlns:p="http://schemas.microsoft.com/office/2006/metadata/properties" xmlns:ns2="d6ce6581-db8d-4dc6-8601-0a8e8076c593" xmlns:ns3="bbbe7e71-a692-48df-be9d-e5dc64190325" targetNamespace="http://schemas.microsoft.com/office/2006/metadata/properties" ma:root="true" ma:fieldsID="0b92462fc06dbb24bfa1325724e44fec" ns2:_="" ns3:_="">
    <xsd:import namespace="d6ce6581-db8d-4dc6-8601-0a8e8076c593"/>
    <xsd:import namespace="bbbe7e71-a692-48df-be9d-e5dc6419032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6ce6581-db8d-4dc6-8601-0a8e8076c59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Теги изображений" ma:readOnly="false" ma:fieldId="{5cf76f15-5ced-4ddc-b409-7134ff3c332f}" ma:taxonomyMulti="true" ma:sspId="168b2bcd-3960-4df8-afb5-1b38f073375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bbe7e71-a692-48df-be9d-e5dc64190325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92df2618-9916-4c02-9aa1-42dcc332f6bf}" ma:internalName="TaxCatchAll" ma:showField="CatchAllData" ma:web="bbbe7e71-a692-48df-be9d-e5dc6419032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Тип контента"/>
        <xsd:element ref="dc:title" minOccurs="0" maxOccurs="1" ma:index="4" ma:displayName="Название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bbe7e71-a692-48df-be9d-e5dc64190325" xsi:nil="true"/>
    <lcf76f155ced4ddcb4097134ff3c332f xmlns="d6ce6581-db8d-4dc6-8601-0a8e8076c593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736D3BBC-72FB-4E62-A5D6-56F152B2C686}"/>
</file>

<file path=customXml/itemProps2.xml><?xml version="1.0" encoding="utf-8"?>
<ds:datastoreItem xmlns:ds="http://schemas.openxmlformats.org/officeDocument/2006/customXml" ds:itemID="{C93EACBE-BCF8-4CD5-9F1C-B95C4F9E79D6}"/>
</file>

<file path=customXml/itemProps3.xml><?xml version="1.0" encoding="utf-8"?>
<ds:datastoreItem xmlns:ds="http://schemas.openxmlformats.org/officeDocument/2006/customXml" ds:itemID="{05105596-15FB-4047-B8D9-1017742B25B8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11548</Words>
  <Application>WPS Presentation</Application>
  <PresentationFormat/>
  <Paragraphs>262</Paragraphs>
  <Slides>33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33</vt:i4>
      </vt:variant>
    </vt:vector>
  </HeadingPairs>
  <TitlesOfParts>
    <vt:vector size="43" baseType="lpstr">
      <vt:lpstr>Arial</vt:lpstr>
      <vt:lpstr>SimSun</vt:lpstr>
      <vt:lpstr>Wingdings</vt:lpstr>
      <vt:lpstr>Times New Roman</vt:lpstr>
      <vt:lpstr>Microsoft YaHei</vt:lpstr>
      <vt:lpstr>Arial Black</vt:lpstr>
      <vt:lpstr>Arial Unicode MS</vt:lpstr>
      <vt:lpstr>Arial Unicode MS</vt:lpstr>
      <vt:lpstr/>
      <vt:lpstr/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Alex</cp:lastModifiedBy>
  <cp:revision>91</cp:revision>
  <dcterms:created xsi:type="dcterms:W3CDTF">2005-09-22T16:26:00Z</dcterms:created>
  <dcterms:modified xsi:type="dcterms:W3CDTF">2026-02-12T12:16:57Z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88202296253F431A9DC5B73F9C110873_12</vt:lpwstr>
  </property>
  <property fmtid="{D5CDD505-2E9C-101B-9397-08002B2CF9AE}" pid="3" name="KSOProductBuildVer">
    <vt:lpwstr>1033-12.2.0.23155</vt:lpwstr>
  </property>
  <property fmtid="{D5CDD505-2E9C-101B-9397-08002B2CF9AE}" pid="4" name="ContentTypeId">
    <vt:lpwstr>0x010100CB973167729B9844A7328B341F515C98</vt:lpwstr>
  </property>
</Properties>
</file>