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56" r:id="rId5"/>
    <p:sldId id="257" r:id="rId7"/>
    <p:sldId id="626" r:id="rId8"/>
    <p:sldId id="688" r:id="rId9"/>
    <p:sldId id="689" r:id="rId10"/>
    <p:sldId id="690" r:id="rId11"/>
    <p:sldId id="691" r:id="rId12"/>
    <p:sldId id="692" r:id="rId13"/>
    <p:sldId id="693" r:id="rId14"/>
    <p:sldId id="694" r:id="rId15"/>
    <p:sldId id="695" r:id="rId16"/>
    <p:sldId id="696" r:id="rId17"/>
    <p:sldId id="697" r:id="rId18"/>
    <p:sldId id="718" r:id="rId19"/>
    <p:sldId id="719" r:id="rId20"/>
    <p:sldId id="698" r:id="rId21"/>
    <p:sldId id="699" r:id="rId22"/>
    <p:sldId id="716" r:id="rId23"/>
    <p:sldId id="700" r:id="rId24"/>
    <p:sldId id="701" r:id="rId25"/>
    <p:sldId id="702" r:id="rId26"/>
    <p:sldId id="703" r:id="rId27"/>
    <p:sldId id="704" r:id="rId28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8" Type="http://schemas.openxmlformats.org/officeDocument/2006/relationships/slide" Target="slides/slide13.xml"/><Relationship Id="rId13" Type="http://schemas.openxmlformats.org/officeDocument/2006/relationships/slide" Target="slides/slide8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6.xml"/><Relationship Id="rId34" Type="http://schemas.openxmlformats.org/officeDocument/2006/relationships/customXml" Target="../customXml/item3.xml"/><Relationship Id="rId7" Type="http://schemas.openxmlformats.org/officeDocument/2006/relationships/slide" Target="slides/slide2.xml"/><Relationship Id="rId25" Type="http://schemas.openxmlformats.org/officeDocument/2006/relationships/slide" Target="slides/slide20.xml"/><Relationship Id="rId17" Type="http://schemas.openxmlformats.org/officeDocument/2006/relationships/slide" Target="slides/slide12.xml"/><Relationship Id="rId12" Type="http://schemas.openxmlformats.org/officeDocument/2006/relationships/slide" Target="slides/slide7.xml"/><Relationship Id="rId33" Type="http://schemas.openxmlformats.org/officeDocument/2006/relationships/customXml" Target="../customXml/item2.xml"/><Relationship Id="rId29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6" Type="http://schemas.openxmlformats.org/officeDocument/2006/relationships/notesMaster" Target="notesMasters/notesMaster1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32" Type="http://schemas.openxmlformats.org/officeDocument/2006/relationships/customXml" Target="../customXml/item1.xml"/><Relationship Id="rId5" Type="http://schemas.openxmlformats.org/officeDocument/2006/relationships/slide" Target="slides/slide1.xml"/><Relationship Id="rId28" Type="http://schemas.openxmlformats.org/officeDocument/2006/relationships/slide" Target="slides/slide23.xml"/><Relationship Id="rId23" Type="http://schemas.openxmlformats.org/officeDocument/2006/relationships/slide" Target="slides/slide18.xml"/><Relationship Id="rId15" Type="http://schemas.openxmlformats.org/officeDocument/2006/relationships/slide" Target="slides/slide10.xml"/><Relationship Id="rId31" Type="http://schemas.openxmlformats.org/officeDocument/2006/relationships/tableStyles" Target="tableStyles.xml"/><Relationship Id="rId19" Type="http://schemas.openxmlformats.org/officeDocument/2006/relationships/slide" Target="slides/slide14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4" Type="http://schemas.openxmlformats.org/officeDocument/2006/relationships/slideMaster" Target="slideMasters/slideMaster3.xml"/><Relationship Id="rId30" Type="http://schemas.openxmlformats.org/officeDocument/2006/relationships/viewProps" Target="viewProps.xml"/><Relationship Id="rId27" Type="http://schemas.openxmlformats.org/officeDocument/2006/relationships/slide" Target="slides/slide22.xml"/><Relationship Id="rId22" Type="http://schemas.openxmlformats.org/officeDocument/2006/relationships/slide" Target="slides/slide17.xml"/><Relationship Id="rId14" Type="http://schemas.openxmlformats.org/officeDocument/2006/relationships/slide" Target="slides/slide9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 sz="1800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ebassembly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kubernetes.io/" TargetMode="External"/><Relationship Id="rId1" Type="http://schemas.openxmlformats.org/officeDocument/2006/relationships/hyperlink" Target="https://www.docker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abr.com/ru/articles/818907/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0.xml"/><Relationship Id="rId1" Type="http://schemas.openxmlformats.org/officeDocument/2006/relationships/hyperlink" Target="https://developer.mozilla.org/ru/docs/WebAssembl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microsoft.com/ru-ru/dotnet/api/microsoft.jsinterop?view=aspnetcore-10.0" TargetMode="Externa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hyperlink" Target="https://github.com/sunmeat/aspnetcore_blazorcomponent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931ceaf79d81bf96bb53bb673f900cdb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4cffc5e0d63ad3385ae511fe2de236c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blazorDI/blob/master/BlazorApp1.Client/Pages/ContactInfo.razor" TargetMode="Externa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sunmeat/aspnetcore_blazorEF/tree/master/BlazorApp1" TargetMode="External"/><Relationship Id="rId3" Type="http://schemas.openxmlformats.org/officeDocument/2006/relationships/hyperlink" Target="https://graphql.org/#how-it-works" TargetMode="External"/><Relationship Id="rId2" Type="http://schemas.openxmlformats.org/officeDocument/2006/relationships/hyperlink" Target="https://github.com/mrpmorris/Fluxor" TargetMode="External"/><Relationship Id="rId1" Type="http://schemas.openxmlformats.org/officeDocument/2006/relationships/hyperlink" Target="https://www.odata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dbc9e8ca14a25dd0ad2daa1a829301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Blazor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Blazor</a:t>
            </a:r>
            <a:endParaRPr lang="en-US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Компонентна архітектура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Порівняння з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MVC </a:t>
            </a: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та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Razor Pages</a:t>
            </a:r>
            <a:endParaRPr lang="en-US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Типи проєктів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Blazor</a:t>
            </a:r>
            <a:endParaRPr lang="en-US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Створення проєкту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Blazor Web App</a:t>
            </a:r>
            <a:endParaRPr lang="en-US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Використання компонентів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Огляд вбудованих компонентів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Обробка форм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Ін’єкція залежностей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Взаємодія з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EF Core</a:t>
            </a:r>
            <a:endParaRPr lang="en-US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Практика</a:t>
            </a:r>
            <a:endParaRPr lang="uk-UA" altLang="ru-RU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Blazor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Blazor є інноваційним фреймворком у ASP.NET Core             для побудови інтерактивних клієнтських веб-інтерфейсів        за допомогою C# замість JavaScript. Він дозволяє розробникам створювати повноцінні веб-додатки з використанням .NET-екосистеми, де логіка виконується або на сервері (Blazor Server), або безпосередньо в браузері (Blazor WebAssembly). У .NET 10 Blazor отримав значні оновлення, такі як покращена підтримка гібридних режимів з нативними мобільними додатками та оптимізований рендеринг для зменшення затримок, що робить його придатним для realtime-додатків,    як чати чи дашборди. Цей підхід усуває потребу в додаткових фреймворках на кшталт React чи Angular, спрощуючи стек технологій.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Компонентна архітектура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Фреймворк Blazor базується на компонентній архітектурі, де інтерфейс розбивається на перевикористовувані частини, подібно до веб-компонентів. З поширенням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WebAssembly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Blazor WASM дозволяє запускати .NET-код у браузері без плагінів, забезпечуючи крос-платформовість. У контексті хмарних рішень, Blazor легко інтегрується з Azure Static Web Apps та Kubernetes, полегшуючи масштабування. Це робить його ефективним для enterprise-додатків, де безпека та продуктивність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 першому місці. Крім того, Blazor підтримує сервер-сайд рендеринг (SSR) для покращення SEO та швидкого початкового завантаження.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з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MVC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Blazor і MVC відрізняються фокусом: MVC орієнтований на серверну генерацію сторінок з чітким поділом            на моделі, контролери та в'ю, тоді як Blazor акцентує     на клієнтській інтерактивності з використанням компонентів. MVC краще підходить для статичних сайтів чи API, а Blazor виграє в динамічних UI з подієвою обробкою. У .NET 10 Blazor демонструє вищу швидкість  у клієнтських взаємодіях завдяки AOT-компіляції,           на відміну від MVC, де маршрутизація залежить            від серверних запитів. Ще одна ключова відмінність –      у моделі виконання: MVC оброблює запити синхронно   на сервері, тоді як Blazor може використовувати SignalR 			для realtime-оновлень у Server-режимі.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Порівняння з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MVC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Blazor пропонує знайомі інструменти, як Razor-синтаксис, але з акцентом на компоненти. У .NET 10 Blazor зменшує накладні витрати на 15-25% порівняно з MVC за рахунок меншої кількості мережевих запитів у WASM-моді. Це робить Blazor оптимальним для SPA (Single Page Applications), де користувацький досвід    є пріоритетом. Переваги включають уніфікацію коду: весь додаток на C#, без перемикання між мовами,    що знижує помилки. Blazor також інтегрує безпеку,      як аутентифікацію через Identity, подібно до MVC,    але з клієнтськими можливостями.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Порівняння з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Razor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Blazor і Razor Pages — це два підходи до побудови веб-додатків  в ASP.NET Core, але вони принципово відрізняються за моделлю виконання та рівнем інтерактивності. Razor Pages — це серверно-орієнтований фреймворк, де кожна сторінка генерується             на сервері, надсилається як повний HTML-документ, а будь-яка взаємодія (наприклад, відправка форми чи клік) зазвичай призводить до повного або часткового перезавантаження сторінки. Blazor, навпаки, є компонентно-орієнтованим фреймворком,   який дозволяє створювати багатосторінкові інтерактивні додатки  з використанням C# замість JavaScript. У .NET 8+ (і особливо в .NET 10) Blazor Unified (Blazor Web App) підтримує гібридний підхід: статичний SSR (як у Razor Pages), streaming rendering,       а також інтерактивність через Blazor Server (SignalR)                    чи WebAssembly — і все це в одному проєкті.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Порівняння з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Razor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Ключова перевага Blazor над Razor Pages полягає в рівні клієнтської інтерактивності без написання JavaScript: компоненти реагують миттєво, оновлюють лише потрібні частини DOM (через diffing), підтримують real-time оновлення без перезавантаження. Razor Pages чудово підходить          для простих форм-центричних сайтів, адмінок чи контенту        з хорошим SEO, де не потрібна складна клієнтська логіка — код залишається мінімалістичним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без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boilerplate. Blazor же виграє в сценаріях, де потрібен багатий UI (дашборди, редактори, чати, SPA-подібні додатки): вся логіка пише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ться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на C#, використову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ються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одні й ті ж моделі/сервіси на клієнті   й сервері, а в .NET 10 продуктивність покращена завдяки AOT, кращому стрімінгу та оптимізованому Blazorscript.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Типи проєктів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Blazor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Blazor Web App: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Новий проєкт, адмінка, корпоративний додаток, сайт з формами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Ш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видк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ий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SSR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+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інтерактивність тільки там, де потрібно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Вибір за замовчуванням для більшості проєктів</a:t>
            </a:r>
            <a:endParaRPr lang="uk-UA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Blazor WebAssembly Standalone: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Додаток повністю автономни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й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(без .NET сервера)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коли бекенд це окремий API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Легко розгорнути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на статичному хостингу (дешево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та просто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М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аксимальн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ізоляці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я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клієнта від сервера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.NET Aspire Starter App: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Для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розподілен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их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систем з кількома сервісами (API + фронт + кеш + БД)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Observability (логування, метрики, tracing) з коробки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Є можливість локального запуску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через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Docker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/контейнери одним кліком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Підтримується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розгортання в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Kubernetes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Azure, AWS з мінімальними змінами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Чудово підходить для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cloud-native розроб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ки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на .NET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Blazor Web App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sym typeface="+mn-ea"/>
              </a:rPr>
              <a:t>Blazor Web App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 — це уніфікований, найбільш сучасний                                і рекомендований шаблон від Microsoft починаючи з .NET 8. Він дозволяє використовувати всі можливі режими рендерингу в одному проєкті: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Статичний SSR (Static Server-Side Rendering) — швидкий, SEO-friendly, без інтерактивності (як звичайні Razor Pages)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Інтерактивний серверний рендеринг (Interactive Server) — через SignalR, низька затримка, але потребує постійного з'єднання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Інтерактивний WebAssembly (Interactive WebAssembly) — клієнтський .NET у браузері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Auto — спочатку сервер, потім перемикається на WebAssembly    після завантаження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Streaming rendering тощо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Можна вибирати режим per-component або per-page через @rendermode. Якщо ввімкнути Interactive WebAssembly — з'явиться додатковий проєкт .Client. Це повноцінний full-stack шаблон з ASP.NET Core сервером, який ідеально підходить для більшості нових проєктів.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44816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Blazor WebAssembly Standalone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Blazor WebAssembly Standalone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— це чисто клієнтський додаток, який працює виключно на WebAssembly у браузері. Немає ASP.NET Core сервера в рішенні (standalone =       без бекенду в проєкті)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Весь .NET runtime + assemblies завантажуються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 браузер (~5–15 МБ перший запуск)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Повністю автономний: можна розгорнути як статичні файли на будь-якому хостингу (GitHub Pages, Azure Static Web Apps, Nginx тощо)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Найкраще для PWA (Progressive Web Apps),         офлайн-додатків, або коли бекенд — це окремий API (наприклад, сторонній або headless CMS)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Немає серверного пре-рендерингу, перше завантаження повільніше, SEO гірше без додаткових зусиль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.NET Aspire Starter App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.NET Aspire Starter App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це не просто Blazor-шаблон,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оркестратор для cloud-native / distributed систем з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.NET Aspire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Він створює рішення з кількома проєктами: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Blazor фронтенд (зазвичай на базі Blazor Web App)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Один або кілька API (наприклад, мінімальний Weather API)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AppHost проєкт — оркестратор, який запускає всі сервіси локально (включаючи Redis, Postgres, RabbitMQ тощо через контейнери)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ServiceDefaults — спільні налаштування (observability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тощо)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Має вбудований dashboard для моніторингу (логів, метрик, трасування)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Ідеально для мікросервісів, розподілених систем, коли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треба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одразу мати observability, service discovery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тощо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out-of-the-box.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chemeClr val="bg1"/>
                </a:solidFill>
                <a:ea typeface="Microsoft YaHei" panose="020B0503020204020204" charset="-122"/>
              </a:rPr>
              <a:t>Створення 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Blazor Web App 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22 113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2663825"/>
            <a:ext cx="4235450" cy="4083685"/>
          </a:xfrm>
          <a:prstGeom prst="rect">
            <a:avLst/>
          </a:prstGeom>
        </p:spPr>
      </p:pic>
      <p:pic>
        <p:nvPicPr>
          <p:cNvPr id="3" name="Picture 2" descr="Screenshot 2026-01-22 112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1449070"/>
            <a:ext cx="5154930" cy="11245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95" y="2630805"/>
            <a:ext cx="4697730" cy="29400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436745" y="5628005"/>
            <a:ext cx="31686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1600" dirty="0" err="1">
                <a:solidFill>
                  <a:srgbClr val="000000"/>
                </a:solidFill>
                <a:sym typeface="+mn-ea"/>
              </a:rPr>
              <a:t>комент</a:t>
            </a:r>
            <a:r>
              <a:rPr lang="uk-UA" sz="1600" dirty="0" err="1">
                <a:solidFill>
                  <a:srgbClr val="000000"/>
                </a:solidFill>
                <a:sym typeface="+mn-ea"/>
              </a:rPr>
              <a:t>арі по коду проєкта</a:t>
            </a:r>
            <a:endParaRPr lang="uk-UA" sz="1600" dirty="0" err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Interactive Render Mode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Interactive Render Mode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(інтерактивний режим рендерингу) у Blazor визначає, де саме виконується інтерактивна логіка компонентів — обробка кліків, подій, оновлення UI тощо.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Варіанти: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Interactive Server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— усе виконується на сервері через SignalR (WebSocket). Швидкий старт сторінки, але кожен клік йде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 (потрібен постійний зв'язок, масштабується гірше)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Interactive WebAssembly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— усе виконується в браузері (завантажується .NET runtime + код у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WebAssembly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). Повільніший перший запуск (завантаження ~кілька МБ), але потім дуже швидко, працює офлайн, не навантажує сервер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Interactive Auto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— гібрид: перший раз (або поки не завантажиться WASM) працює як Interactive Server (швидко), потім автоматично переходить на WebAssembly (кращий досвід при повторних візитах). Це найпопулярніший вибір за замовчуванням у нових проєктах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Interactivity location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Interactivity location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(місце застосування інтерактивності) — де саме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треба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увімкнути інтерактивний режим: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Global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— весь додаток (всі сторінки та компоненти) отримує один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 той самий інтерактивний режим. Зазвичай задається в App.razor через &lt;Routes @rendermode="..." /&gt;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Per page / Per component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— інтерактивність можна вмикати окремо для кожної сторінки чи навіть конкретного компонента (наприклад, @rendermode InteractiveAuto прямо в .razor-файлі). Решта сторінок може залишатися статичною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(SSR без інтерактивності)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uto + Global — це означає, що весь додаток спочатку стартує швидко через сервер, а потім переходить на клієнтську логіку. Дуже зручний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і рекомендований варіант для більшості сучасних Blazor-додатків.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SSR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Сервер-сайд рендеринг (SSR)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- сторінка повністю збирається на сервері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і надсилається користувачеві вже готовою до показу. 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Клієнтський рендеринг (CSR)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- б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раузер отримує майже порожній HTML + великий JavaScript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потім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JS сам будує всю сторінку. Спочатку білий екран, потім завантаження, потім поява контенту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Сервер-сайд рендеринг (SSR)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- с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ервер бере дані, рендерит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ь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React/Vue/Next.js-компоненти в HTML прямо там. Браузер отримує вже готову сторінку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з контентом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тому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одразу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видно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текст, картинки, структуру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Ключові плюси SSR: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Швидкий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перший показ (First Contentful Paint)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Краще для SEO - пошукові системи відразу бачать контент, а не порожню оболонку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Працює навіть з вимкненим JavaScript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Краще для слабкого інтернету та мобільних мереж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Мінус - серверу треба щоразу рендерити сторінку, тому навантаження вище.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Тому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роблять гібрид - SSR для першого заходу + гідратація (пожвавлення) на клієнті, щоб далі все працювало як у звичайному SPA.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Саме так роблять Next.js, Nuxt, Remix тощо.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Компоненти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Компоненти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Blazor є основними будівельними блоками, що поєднують розмітку, стилі та логіку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одному .razor-файлі. Вони підтримують параметри, події та життєвий цикл, як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-от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OnInitializedAsync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асинхронних ініціалізацій. У .NET 10 компоненти отримали покращену підтримку для стрімінгу даних, роблячи їх ефективними для великих наборів.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Компоненти можуть бути вкладеними, забезпечуючи модульність, і інтегруватися з зовнішніми бібліотеками через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JSInterop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компоненти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740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https://github.com/sunmeat/aspnetcore_blazorcomponents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75" y="2078990"/>
            <a:ext cx="3028950" cy="3895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484120"/>
            <a:ext cx="4866005" cy="44170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Вбудовані компоненти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Tag Helpers у Blazor еволюціонували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вбудовані компоненти, як &lt;InputText&gt; чи &lt;NavLink&gt;,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які спрощують створення UI. Вони автоматично біндять дані та обробляють події, роблячи код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декларативним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 У .NET 10 додані нові хелпери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доступності, як ARIA-атрибути, та інтеграція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 CSS-ізоляцією для уникнення конфліктів стилів.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https://gist.github.com/sunmeat/931ceaf79d81bf96bb53bb673f900cdb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Обробка форм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Обробка форм у Blazor використовує &lt;EditForm&gt;   з моделлю для біндингу, де валідація базується  на DataAnnotations чи кастомних валідаторах. Клієнтська перевірка відбувається автоматично,    з підтримкою асинхронних правил. У .NET 10 впроваджено інтеграцію з ML.NET для динамічної валідації, як виявлення аномалій у вводах.      Анти-фальсифікаційні токени вбудовані              для захисту від CSRF.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https://gist.github.com/sunmeat/4cffc5e0d63ad3385ae511fe2de236cd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Ін'єкція залежностей 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Ін'єкція залежностей у Blazor здійснюється через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@inject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у компонентах або конструктори,                    з реєстрацією сервісів у Program.cs. Це дозволяє використовувати scoped, transient чи singleton сервіси, як HttpClient для API-запитів. У .NET 10 DI оптимізоване для WASM, зменшуючи розмір бандлу.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FF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https://github.com/sunmeat/aspnetcore_blazorDI/blob/master/BlazorApp1.Client/Pages/ContactInfo.razor</a:t>
            </a:r>
            <a:endParaRPr lang="en-US" altLang="en-US" sz="2400" b="1" dirty="0" err="1">
              <a:solidFill>
                <a:srgbClr val="FF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завантажити весь проєкт з репозиторію!</a:t>
            </a:r>
            <a:endParaRPr lang="uk-UA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Робота з даними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Робота з даними в Blazor інтегрується з EF Core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чи API через HttpClient, з підтримкою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OData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запитів. Компоненти можуть використовувати State Management, як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Fluxor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для глобальних даних. У .NET 10 додана нативна підтримка для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GraphQL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роблячи доступ до даних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декларативним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4" action="ppaction://hlinkfile"/>
              </a:rPr>
              <a:t>https://github.com/sunmeat/aspnetcore_blazorEF/tree/master/BlazorApp1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/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https://gist.github.com/sunmeat/fdbc9e8ca14a25dd0ad2daa1a8293013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0FE741-20A4-4287-B14D-A6F5117CC18A}"/>
</file>

<file path=customXml/itemProps2.xml><?xml version="1.0" encoding="utf-8"?>
<ds:datastoreItem xmlns:ds="http://schemas.openxmlformats.org/officeDocument/2006/customXml" ds:itemID="{85143794-F52D-4C10-8520-FDB42BDADAD2}"/>
</file>

<file path=customXml/itemProps3.xml><?xml version="1.0" encoding="utf-8"?>
<ds:datastoreItem xmlns:ds="http://schemas.openxmlformats.org/officeDocument/2006/customXml" ds:itemID="{23F458F9-A305-403E-8652-82F6EF3CD26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12640</Words>
  <Application>WPS Presentation</Application>
  <PresentationFormat/>
  <Paragraphs>166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1_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81</cp:revision>
  <dcterms:created xsi:type="dcterms:W3CDTF">2005-09-22T16:26:00Z</dcterms:created>
  <dcterms:modified xsi:type="dcterms:W3CDTF">2026-03-23T12:15:04Z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1033-12.1.0.25242</vt:lpwstr>
  </property>
  <property fmtid="{D5CDD505-2E9C-101B-9397-08002B2CF9AE}" pid="4" name="ContentTypeId">
    <vt:lpwstr>0x010100CB973167729B9844A7328B341F515C98</vt:lpwstr>
  </property>
</Properties>
</file>