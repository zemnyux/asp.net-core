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Masters/slideMaster2.xml" ContentType="application/vnd.openxmlformats-officedocument.presentationml.slide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3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commentAuthors.xml" ContentType="application/vnd.openxmlformats-officedocument.presentationml.commentAuthor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</p:sldMasterIdLst>
  <p:notesMasterIdLst>
    <p:notesMasterId r:id="rId5"/>
  </p:notesMasterIdLst>
  <p:sldIdLst>
    <p:sldId id="256" r:id="rId4"/>
    <p:sldId id="815" r:id="rId6"/>
    <p:sldId id="816" r:id="rId7"/>
    <p:sldId id="817" r:id="rId8"/>
    <p:sldId id="818" r:id="rId9"/>
    <p:sldId id="819" r:id="rId10"/>
    <p:sldId id="820" r:id="rId11"/>
    <p:sldId id="821" r:id="rId12"/>
    <p:sldId id="822" r:id="rId13"/>
    <p:sldId id="823" r:id="rId14"/>
    <p:sldId id="824" r:id="rId15"/>
    <p:sldId id="825" r:id="rId16"/>
    <p:sldId id="826" r:id="rId17"/>
    <p:sldId id="827" r:id="rId18"/>
    <p:sldId id="828" r:id="rId19"/>
    <p:sldId id="829" r:id="rId20"/>
    <p:sldId id="830" r:id="rId21"/>
    <p:sldId id="831" r:id="rId22"/>
    <p:sldId id="832" r:id="rId23"/>
    <p:sldId id="833" r:id="rId24"/>
    <p:sldId id="834" r:id="rId25"/>
    <p:sldId id="835" r:id="rId26"/>
    <p:sldId id="836" r:id="rId27"/>
    <p:sldId id="837" r:id="rId28"/>
    <p:sldId id="838" r:id="rId29"/>
    <p:sldId id="839" r:id="rId30"/>
    <p:sldId id="840" r:id="rId31"/>
    <p:sldId id="841" r:id="rId32"/>
    <p:sldId id="842" r:id="rId33"/>
    <p:sldId id="843" r:id="rId34"/>
    <p:sldId id="844" r:id="rId35"/>
    <p:sldId id="845" r:id="rId36"/>
    <p:sldId id="865" r:id="rId37"/>
    <p:sldId id="866" r:id="rId38"/>
    <p:sldId id="867" r:id="rId39"/>
    <p:sldId id="868" r:id="rId40"/>
    <p:sldId id="869" r:id="rId41"/>
    <p:sldId id="870" r:id="rId42"/>
    <p:sldId id="871" r:id="rId43"/>
    <p:sldId id="872" r:id="rId44"/>
    <p:sldId id="873" r:id="rId45"/>
    <p:sldId id="846" r:id="rId46"/>
    <p:sldId id="847" r:id="rId47"/>
    <p:sldId id="848" r:id="rId48"/>
    <p:sldId id="849" r:id="rId49"/>
    <p:sldId id="850" r:id="rId50"/>
    <p:sldId id="851" r:id="rId51"/>
    <p:sldId id="852" r:id="rId52"/>
    <p:sldId id="853" r:id="rId53"/>
    <p:sldId id="854" r:id="rId54"/>
    <p:sldId id="855" r:id="rId55"/>
    <p:sldId id="856" r:id="rId56"/>
    <p:sldId id="858" r:id="rId57"/>
    <p:sldId id="864" r:id="rId58"/>
    <p:sldId id="874" r:id="rId59"/>
    <p:sldId id="859" r:id="rId60"/>
    <p:sldId id="875" r:id="rId61"/>
    <p:sldId id="876" r:id="rId62"/>
    <p:sldId id="863" r:id="rId63"/>
    <p:sldId id="877" r:id="rId64"/>
    <p:sldId id="878" r:id="rId65"/>
    <p:sldId id="879" r:id="rId66"/>
  </p:sldIdLst>
  <p:sldSz cx="9144000" cy="6858000" type="screen4x3"/>
  <p:notesSz cx="6858000" cy="9144000"/>
  <p:defaultTextStyle>
    <a:defPPr>
      <a:defRPr lang="en-GB"/>
    </a:defPPr>
    <a:lvl1pPr marL="0" lvl="0" indent="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Microsoft YaHei" panose="020B0503020204020204" charset="-122"/>
        <a:cs typeface="+mn-cs"/>
      </a:defRPr>
    </a:lvl1pPr>
    <a:lvl2pPr marL="742950" lvl="1" indent="-28575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2pPr>
    <a:lvl3pPr marL="1143000" lvl="2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3pPr>
    <a:lvl4pPr marL="1600200" lvl="3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4pPr>
    <a:lvl5pPr marL="2057400" lvl="4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5pPr>
    <a:lvl6pPr marL="2286000" lvl="5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6pPr>
    <a:lvl7pPr marL="2743200" lvl="6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7pPr>
    <a:lvl8pPr marL="3200400" lvl="7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8pPr>
    <a:lvl9pPr marL="3657600" lvl="8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93" userDrawn="1">
          <p15:clr>
            <a:srgbClr val="A4A3A4"/>
          </p15:clr>
        </p15:guide>
        <p15:guide id="2" pos="2841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ex" initials="A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85" d="100"/>
          <a:sy n="85" d="100"/>
        </p:scale>
        <p:origin x="-780" y="-84"/>
      </p:cViewPr>
      <p:guideLst>
        <p:guide orient="horz" pos="2293"/>
        <p:guide pos="2841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gridSpacing cx="45005" cy="45005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68" Type="http://schemas.openxmlformats.org/officeDocument/2006/relationships/viewProps" Target="viewProps.xml"/><Relationship Id="rId63" Type="http://schemas.openxmlformats.org/officeDocument/2006/relationships/slide" Target="slides/slide59.xml"/><Relationship Id="rId47" Type="http://schemas.openxmlformats.org/officeDocument/2006/relationships/slide" Target="slides/slide43.xml"/><Relationship Id="rId42" Type="http://schemas.openxmlformats.org/officeDocument/2006/relationships/slide" Target="slides/slide38.xml"/><Relationship Id="rId21" Type="http://schemas.openxmlformats.org/officeDocument/2006/relationships/slide" Target="slides/slide17.xml"/><Relationship Id="rId29" Type="http://schemas.openxmlformats.org/officeDocument/2006/relationships/slide" Target="slides/slide25.xml"/><Relationship Id="rId2" Type="http://schemas.openxmlformats.org/officeDocument/2006/relationships/theme" Target="theme/theme1.xml"/><Relationship Id="rId16" Type="http://schemas.openxmlformats.org/officeDocument/2006/relationships/slide" Target="slides/slide12.xml"/><Relationship Id="rId66" Type="http://schemas.openxmlformats.org/officeDocument/2006/relationships/slide" Target="slides/slide62.xml"/><Relationship Id="rId58" Type="http://schemas.openxmlformats.org/officeDocument/2006/relationships/slide" Target="slides/slide54.xml"/><Relationship Id="rId53" Type="http://schemas.openxmlformats.org/officeDocument/2006/relationships/slide" Target="slides/slide49.xml"/><Relationship Id="rId45" Type="http://schemas.openxmlformats.org/officeDocument/2006/relationships/slide" Target="slides/slide41.xml"/><Relationship Id="rId40" Type="http://schemas.openxmlformats.org/officeDocument/2006/relationships/slide" Target="slides/slide36.xml"/><Relationship Id="rId37" Type="http://schemas.openxmlformats.org/officeDocument/2006/relationships/slide" Target="slides/slide33.xml"/><Relationship Id="rId32" Type="http://schemas.openxmlformats.org/officeDocument/2006/relationships/slide" Target="slides/slide28.xml"/><Relationship Id="rId24" Type="http://schemas.openxmlformats.org/officeDocument/2006/relationships/slide" Target="slides/slide20.xml"/><Relationship Id="rId11" Type="http://schemas.openxmlformats.org/officeDocument/2006/relationships/slide" Target="slides/slide7.xml"/><Relationship Id="rId61" Type="http://schemas.openxmlformats.org/officeDocument/2006/relationships/slide" Target="slides/slide57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5.xml"/><Relationship Id="rId69" Type="http://schemas.openxmlformats.org/officeDocument/2006/relationships/tableStyles" Target="tableStyles.xml"/><Relationship Id="rId64" Type="http://schemas.openxmlformats.org/officeDocument/2006/relationships/slide" Target="slides/slide60.xml"/><Relationship Id="rId56" Type="http://schemas.openxmlformats.org/officeDocument/2006/relationships/slide" Target="slides/slide52.xml"/><Relationship Id="rId48" Type="http://schemas.openxmlformats.org/officeDocument/2006/relationships/slide" Target="slides/slide44.xml"/><Relationship Id="rId43" Type="http://schemas.openxmlformats.org/officeDocument/2006/relationships/slide" Target="slides/slide39.xml"/><Relationship Id="rId35" Type="http://schemas.openxmlformats.org/officeDocument/2006/relationships/slide" Target="slides/slide31.xml"/><Relationship Id="rId30" Type="http://schemas.openxmlformats.org/officeDocument/2006/relationships/slide" Target="slides/slide26.xml"/><Relationship Id="rId27" Type="http://schemas.openxmlformats.org/officeDocument/2006/relationships/slide" Target="slides/slide23.xml"/><Relationship Id="rId22" Type="http://schemas.openxmlformats.org/officeDocument/2006/relationships/slide" Target="slides/slide18.xml"/><Relationship Id="rId14" Type="http://schemas.openxmlformats.org/officeDocument/2006/relationships/slide" Target="slides/slide10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customXml" Target="../customXml/item2.xml"/><Relationship Id="rId3" Type="http://schemas.openxmlformats.org/officeDocument/2006/relationships/slideMaster" Target="slideMasters/slideMaster2.xml"/><Relationship Id="rId67" Type="http://schemas.openxmlformats.org/officeDocument/2006/relationships/presProps" Target="presProps.xml"/><Relationship Id="rId59" Type="http://schemas.openxmlformats.org/officeDocument/2006/relationships/slide" Target="slides/slide55.xml"/><Relationship Id="rId46" Type="http://schemas.openxmlformats.org/officeDocument/2006/relationships/slide" Target="slides/slide42.xml"/><Relationship Id="rId38" Type="http://schemas.openxmlformats.org/officeDocument/2006/relationships/slide" Target="slides/slide34.xml"/><Relationship Id="rId33" Type="http://schemas.openxmlformats.org/officeDocument/2006/relationships/slide" Target="slides/slide29.xml"/><Relationship Id="rId25" Type="http://schemas.openxmlformats.org/officeDocument/2006/relationships/slide" Target="slides/slide21.xml"/><Relationship Id="rId17" Type="http://schemas.openxmlformats.org/officeDocument/2006/relationships/slide" Target="slides/slide13.xml"/><Relationship Id="rId12" Type="http://schemas.openxmlformats.org/officeDocument/2006/relationships/slide" Target="slides/slide8.xml"/><Relationship Id="rId70" Type="http://schemas.openxmlformats.org/officeDocument/2006/relationships/commentAuthors" Target="commentAuthors.xml"/><Relationship Id="rId62" Type="http://schemas.openxmlformats.org/officeDocument/2006/relationships/slide" Target="slides/slide58.xml"/><Relationship Id="rId54" Type="http://schemas.openxmlformats.org/officeDocument/2006/relationships/slide" Target="slides/slide50.xml"/><Relationship Id="rId41" Type="http://schemas.openxmlformats.org/officeDocument/2006/relationships/slide" Target="slides/slide37.xml"/><Relationship Id="rId20" Type="http://schemas.openxmlformats.org/officeDocument/2006/relationships/slide" Target="slides/slide16.xml"/><Relationship Id="rId6" Type="http://schemas.openxmlformats.org/officeDocument/2006/relationships/slide" Target="slides/slide2.xml"/><Relationship Id="rId1" Type="http://schemas.openxmlformats.org/officeDocument/2006/relationships/slideMaster" Target="slideMasters/slideMaster1.xml"/><Relationship Id="rId57" Type="http://schemas.openxmlformats.org/officeDocument/2006/relationships/slide" Target="slides/slide53.xml"/><Relationship Id="rId49" Type="http://schemas.openxmlformats.org/officeDocument/2006/relationships/slide" Target="slides/slide45.xml"/><Relationship Id="rId36" Type="http://schemas.openxmlformats.org/officeDocument/2006/relationships/slide" Target="slides/slide32.xml"/><Relationship Id="rId28" Type="http://schemas.openxmlformats.org/officeDocument/2006/relationships/slide" Target="slides/slide24.xml"/><Relationship Id="rId23" Type="http://schemas.openxmlformats.org/officeDocument/2006/relationships/slide" Target="slides/slide19.xml"/><Relationship Id="rId15" Type="http://schemas.openxmlformats.org/officeDocument/2006/relationships/slide" Target="slides/slide11.xml"/><Relationship Id="rId65" Type="http://schemas.openxmlformats.org/officeDocument/2006/relationships/slide" Target="slides/slide61.xml"/><Relationship Id="rId60" Type="http://schemas.openxmlformats.org/officeDocument/2006/relationships/slide" Target="slides/slide56.xml"/><Relationship Id="rId52" Type="http://schemas.openxmlformats.org/officeDocument/2006/relationships/slide" Target="slides/slide48.xml"/><Relationship Id="rId44" Type="http://schemas.openxmlformats.org/officeDocument/2006/relationships/slide" Target="slides/slide40.xml"/><Relationship Id="rId31" Type="http://schemas.openxmlformats.org/officeDocument/2006/relationships/slide" Target="slides/slide27.xml"/><Relationship Id="rId10" Type="http://schemas.openxmlformats.org/officeDocument/2006/relationships/slide" Target="slides/slide6.xml"/><Relationship Id="rId73" Type="http://schemas.openxmlformats.org/officeDocument/2006/relationships/customXml" Target="../customXml/item3.xml"/><Relationship Id="rId9" Type="http://schemas.openxmlformats.org/officeDocument/2006/relationships/slide" Target="slides/slide5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18" Type="http://schemas.openxmlformats.org/officeDocument/2006/relationships/slide" Target="slides/slide14.xml"/><Relationship Id="rId13" Type="http://schemas.openxmlformats.org/officeDocument/2006/relationships/slide" Target="slides/slide9.xml"/><Relationship Id="rId55" Type="http://schemas.openxmlformats.org/officeDocument/2006/relationships/slide" Target="slides/slide51.xml"/><Relationship Id="rId50" Type="http://schemas.openxmlformats.org/officeDocument/2006/relationships/slide" Target="slides/slide46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71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098" name="Rounded Rectangle 3072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360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4099" name="Rounded Rectangle 3073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4100" name="Text Box 3074"/>
          <p:cNvSpPr txBox="1"/>
          <p:nvPr/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4101" name="Text Box 3075"/>
          <p:cNvSpPr txBox="1"/>
          <p:nvPr/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4102" name="Slide Image Placeholder 3076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68825" cy="3425825"/>
          </a:xfrm>
          <a:prstGeom prst="rect">
            <a:avLst/>
          </a:prstGeom>
          <a:noFill/>
          <a:ln w="9360" cap="sq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103" name="Text Placeholder 3077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3225" cy="41116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t" anchorCtr="0"/>
          <a:p>
            <a:pPr lvl="0"/>
            <a:endParaRPr lang="en-GB"/>
          </a:p>
        </p:txBody>
      </p:sp>
      <p:sp>
        <p:nvSpPr>
          <p:cNvPr id="4104" name="Text Box 3078"/>
          <p:cNvSpPr txBox="1"/>
          <p:nvPr/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3080" name="Slide Number Placeholder 3079"/>
          <p:cNvSpPr>
            <a:spLocks noGrp="1"/>
          </p:cNvSpPr>
          <p:nvPr>
            <p:ph type="sldNum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 eaLnBrk="1" fontAlgn="base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strike="noStrike" noProof="1" dirty="0" err="1">
                <a:latin typeface="Times New Roman" panose="02020603050405020304" pitchFamily="16" charset="0"/>
                <a:ea typeface="Arial Unicode MS" charset="-122"/>
                <a:cs typeface="+mn-cs"/>
              </a:rPr>
            </a:fld>
            <a:endParaRPr lang="ru-RU" altLang="x-none" sz="1200" strike="noStrike" noProof="1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lvl="0" indent="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1pPr>
    <a:lvl2pPr marL="742950" lvl="1" indent="-28575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2pPr>
    <a:lvl3pPr marL="1143000" lvl="2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3pPr>
    <a:lvl4pPr marL="1600200" lvl="3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4pPr>
    <a:lvl5pPr marL="2057400" lvl="4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5pPr>
    <a:lvl6pPr marL="2286000" lvl="5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6pPr>
    <a:lvl7pPr marL="2743200" lvl="6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7pPr>
    <a:lvl8pPr marL="3200400" lvl="7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8pPr>
    <a:lvl9pPr marL="3657600" lvl="8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146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solidFill>
                  <a:srgbClr val="000000"/>
                </a:solidFill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solidFill>
                <a:srgbClr val="000000"/>
              </a:solidFill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6147" name="Slide Image Placeholder 38912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6148" name="Text Placeholder 38913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215900" algn="r" defTabSz="457200" eaLnBrk="1" hangingPunct="1">
              <a:buClr>
                <a:srgbClr val="000000"/>
              </a:buClr>
              <a:buSzPct val="45000"/>
              <a:buFont typeface="Wingdings" panose="05000000000000000000" pitchFamily="2" charset="2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74753" name="Slide Image Placeholder 74752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74754" name="Text Placeholder 74753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215900" algn="r" defTabSz="457200" eaLnBrk="1" hangingPunct="1">
              <a:buClr>
                <a:srgbClr val="000000"/>
              </a:buClr>
              <a:buSzPct val="45000"/>
              <a:buFont typeface="Wingdings" panose="05000000000000000000" pitchFamily="2" charset="2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74753" name="Slide Image Placeholder 74752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74754" name="Text Placeholder 74753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215900" algn="r" defTabSz="457200" eaLnBrk="1" hangingPunct="1">
              <a:buClr>
                <a:srgbClr val="000000"/>
              </a:buClr>
              <a:buSzPct val="45000"/>
              <a:buFont typeface="Wingdings" panose="05000000000000000000" pitchFamily="2" charset="2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74753" name="Slide Image Placeholder 74752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74754" name="Text Placeholder 74753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215900" algn="r" defTabSz="457200" eaLnBrk="1" hangingPunct="1">
              <a:buClr>
                <a:srgbClr val="000000"/>
              </a:buClr>
              <a:buSzPct val="45000"/>
              <a:buFont typeface="Wingdings" panose="05000000000000000000" pitchFamily="2" charset="2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74753" name="Slide Image Placeholder 74752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74754" name="Text Placeholder 74753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215900" algn="r" defTabSz="457200" eaLnBrk="1" hangingPunct="1">
              <a:buClr>
                <a:srgbClr val="000000"/>
              </a:buClr>
              <a:buSzPct val="45000"/>
              <a:buFont typeface="Wingdings" panose="05000000000000000000" pitchFamily="2" charset="2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74753" name="Slide Image Placeholder 74752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74754" name="Text Placeholder 74753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215900" algn="r" defTabSz="457200" eaLnBrk="1" hangingPunct="1">
              <a:buClr>
                <a:srgbClr val="000000"/>
              </a:buClr>
              <a:buSzPct val="45000"/>
              <a:buFont typeface="Wingdings" panose="05000000000000000000" pitchFamily="2" charset="2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74753" name="Slide Image Placeholder 74752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74754" name="Text Placeholder 74753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215900" algn="r" defTabSz="457200" eaLnBrk="1" hangingPunct="1">
              <a:buClr>
                <a:srgbClr val="000000"/>
              </a:buClr>
              <a:buSzPct val="45000"/>
              <a:buFont typeface="Wingdings" panose="05000000000000000000" pitchFamily="2" charset="2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74753" name="Slide Image Placeholder 74752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74754" name="Text Placeholder 74753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215900" algn="r" defTabSz="457200" eaLnBrk="1" hangingPunct="1">
              <a:buClr>
                <a:srgbClr val="000000"/>
              </a:buClr>
              <a:buSzPct val="45000"/>
              <a:buFont typeface="Wingdings" panose="05000000000000000000" pitchFamily="2" charset="2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74753" name="Slide Image Placeholder 74752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74754" name="Text Placeholder 74753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215900" algn="r" defTabSz="457200" eaLnBrk="1" hangingPunct="1">
              <a:buClr>
                <a:srgbClr val="000000"/>
              </a:buClr>
              <a:buSzPct val="45000"/>
              <a:buFont typeface="Wingdings" panose="05000000000000000000" pitchFamily="2" charset="2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74753" name="Slide Image Placeholder 74752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74754" name="Text Placeholder 74753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266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11267" name="Slide Image Placeholder 81920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11268" name="Text Placeholder 8192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215900" algn="r" defTabSz="457200" eaLnBrk="1" hangingPunct="1">
              <a:buClr>
                <a:srgbClr val="000000"/>
              </a:buClr>
              <a:buSzPct val="45000"/>
              <a:buFont typeface="Wingdings" panose="05000000000000000000" pitchFamily="2" charset="2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74753" name="Slide Image Placeholder 74752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74754" name="Text Placeholder 74753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266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11267" name="Slide Image Placeholder 81920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11268" name="Text Placeholder 8192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266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11267" name="Slide Image Placeholder 81920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11268" name="Text Placeholder 8192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en-US" strike="noStrike" noProof="1" smtClean="0"/>
              <a:t>Click to edit Master subtitle style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3881596" cy="4416425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9629" y="1600200"/>
            <a:ext cx="3881596" cy="4416425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47235" y="228600"/>
            <a:ext cx="2083991" cy="5788025"/>
          </a:xfrm>
        </p:spPr>
        <p:txBody>
          <a:bodyPr vert="eaVert"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5263" y="228600"/>
            <a:ext cx="6131160" cy="5788025"/>
          </a:xfrm>
        </p:spPr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593367"/>
            <a:ext cx="8520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en-US" strike="noStrike" noProof="1" smtClean="0"/>
              <a:t>Click to edit Master subtitle style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3881596" cy="4416425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9629" y="1600200"/>
            <a:ext cx="3881596" cy="4416425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47235" y="228600"/>
            <a:ext cx="2083991" cy="5788025"/>
          </a:xfrm>
        </p:spPr>
        <p:txBody>
          <a:bodyPr vert="eaVert"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5263" y="228600"/>
            <a:ext cx="6131160" cy="5788025"/>
          </a:xfrm>
        </p:spPr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Group 1024"/>
          <p:cNvGrpSpPr/>
          <p:nvPr/>
        </p:nvGrpSpPr>
        <p:grpSpPr>
          <a:xfrm>
            <a:off x="0" y="152400"/>
            <a:ext cx="8683625" cy="6092825"/>
            <a:chOff x="0" y="96"/>
            <a:chExt cx="5470" cy="3838"/>
          </a:xfrm>
        </p:grpSpPr>
        <p:sp>
          <p:nvSpPr>
            <p:cNvPr id="1027" name="Rounded Rectangle 1025"/>
            <p:cNvSpPr/>
            <p:nvPr/>
          </p:nvSpPr>
          <p:spPr>
            <a:xfrm>
              <a:off x="240" y="336"/>
              <a:ext cx="5230" cy="3598"/>
            </a:xfrm>
            <a:prstGeom prst="roundRect">
              <a:avLst>
                <a:gd name="adj" fmla="val 13727"/>
              </a:avLst>
            </a:prstGeom>
            <a:noFill/>
            <a:ln w="50760" cap="sq" cmpd="sng">
              <a:solidFill>
                <a:srgbClr val="6699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lvl="0"/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028" name="Freeform 1026"/>
            <p:cNvSpPr/>
            <p:nvPr/>
          </p:nvSpPr>
          <p:spPr>
            <a:xfrm>
              <a:off x="0" y="96"/>
              <a:ext cx="5374" cy="76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2"/>
                </a:cxn>
                <a:cxn ang="0">
                  <a:pos x="0" y="2"/>
                </a:cxn>
              </a:cxnLst>
              <a:pathLst>
                <a:path w="7000" h="1000">
                  <a:moveTo>
                    <a:pt x="0" y="0"/>
                  </a:moveTo>
                  <a:lnTo>
                    <a:pt x="6499" y="0"/>
                  </a:lnTo>
                  <a:cubicBezTo>
                    <a:pt x="6776" y="0"/>
                    <a:pt x="7000" y="223"/>
                    <a:pt x="7000" y="500"/>
                  </a:cubicBezTo>
                  <a:cubicBezTo>
                    <a:pt x="7000" y="776"/>
                    <a:pt x="6776" y="999"/>
                    <a:pt x="6500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66CC"/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29" name="Straight Connector 1027"/>
            <p:cNvSpPr/>
            <p:nvPr/>
          </p:nvSpPr>
          <p:spPr>
            <a:xfrm>
              <a:off x="0" y="768"/>
              <a:ext cx="5086" cy="0"/>
            </a:xfrm>
            <a:prstGeom prst="line">
              <a:avLst/>
            </a:prstGeom>
            <a:ln w="38160" cap="sq" cmpd="sng">
              <a:solidFill>
                <a:srgbClr val="FFFFFF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sp>
        <p:nvSpPr>
          <p:cNvPr id="1030" name="Title 1028"/>
          <p:cNvSpPr>
            <a:spLocks noGrp="1"/>
          </p:cNvSpPr>
          <p:nvPr>
            <p:ph type="title"/>
          </p:nvPr>
        </p:nvSpPr>
        <p:spPr>
          <a:xfrm>
            <a:off x="195263" y="228600"/>
            <a:ext cx="8012112" cy="9112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ctr" anchorCtr="0"/>
          <a:p>
            <a:pPr lvl="0"/>
            <a:r>
              <a:rPr lang="en-GB" dirty="0"/>
              <a:t>Для правки текста заголовка щелкните мышью</a:t>
            </a:r>
            <a:endParaRPr lang="en-GB" dirty="0"/>
          </a:p>
        </p:txBody>
      </p:sp>
      <p:sp>
        <p:nvSpPr>
          <p:cNvPr id="1031" name="Text Placeholder 1029"/>
          <p:cNvSpPr>
            <a:spLocks noGrp="1"/>
          </p:cNvSpPr>
          <p:nvPr>
            <p:ph type="body"/>
          </p:nvPr>
        </p:nvSpPr>
        <p:spPr>
          <a:xfrm>
            <a:off x="609600" y="1600200"/>
            <a:ext cx="7921625" cy="44164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t" anchorCtr="0"/>
          <a:p>
            <a:pPr lvl="0"/>
            <a:r>
              <a:rPr lang="en-GB" dirty="0"/>
              <a:t>Для правки структуры щелкните мышью</a:t>
            </a:r>
            <a:endParaRPr lang="en-GB" dirty="0"/>
          </a:p>
          <a:p>
            <a:pPr lvl="1"/>
            <a:r>
              <a:rPr lang="en-GB" dirty="0"/>
              <a:t>Второй уровень структуры</a:t>
            </a:r>
            <a:endParaRPr lang="en-GB" dirty="0"/>
          </a:p>
          <a:p>
            <a:pPr lvl="2"/>
            <a:r>
              <a:rPr lang="en-GB" dirty="0"/>
              <a:t>Третий уровень структуры</a:t>
            </a:r>
            <a:endParaRPr lang="en-GB" dirty="0"/>
          </a:p>
          <a:p>
            <a:pPr lvl="3"/>
            <a:r>
              <a:rPr lang="en-GB" dirty="0"/>
              <a:t>Четвёртый уровень структуры</a:t>
            </a:r>
            <a:endParaRPr lang="en-GB" dirty="0"/>
          </a:p>
          <a:p>
            <a:pPr lvl="4"/>
            <a:r>
              <a:rPr lang="en-GB" dirty="0"/>
              <a:t>Пятый уровень структуры</a:t>
            </a:r>
            <a:endParaRPr lang="en-GB" dirty="0"/>
          </a:p>
          <a:p>
            <a:pPr lvl="4"/>
            <a:r>
              <a:rPr lang="en-GB" dirty="0"/>
              <a:t>Шестой уровень структуры</a:t>
            </a:r>
            <a:endParaRPr lang="en-GB" dirty="0"/>
          </a:p>
          <a:p>
            <a:pPr lvl="4"/>
            <a:r>
              <a:rPr lang="en-GB" dirty="0"/>
              <a:t>Седьмой уровень структуры</a:t>
            </a:r>
            <a:endParaRPr lang="en-GB" dirty="0"/>
          </a:p>
          <a:p>
            <a:pPr lvl="4"/>
            <a:r>
              <a:rPr lang="en-GB" dirty="0"/>
              <a:t>Восьмой уровень структуры</a:t>
            </a:r>
            <a:endParaRPr lang="en-GB" dirty="0"/>
          </a:p>
          <a:p>
            <a:pPr lvl="4"/>
            <a:r>
              <a:rPr lang="en-GB" dirty="0"/>
              <a:t>Девятый уровень структуры</a:t>
            </a:r>
            <a:endParaRPr lang="en-GB" dirty="0"/>
          </a:p>
        </p:txBody>
      </p:sp>
      <p:sp>
        <p:nvSpPr>
          <p:cNvPr id="1032" name="Text Box 1030"/>
          <p:cNvSpPr txBox="1"/>
          <p:nvPr/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1033" name="Text Box 1031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" name="Slide Number Placeholder 1032"/>
          <p:cNvSpPr>
            <a:spLocks noGrp="1"/>
          </p:cNvSpPr>
          <p:nvPr>
            <p:ph type="sldNum"/>
          </p:nvPr>
        </p:nvSpPr>
        <p:spPr>
          <a:xfrm>
            <a:off x="6553200" y="6248400"/>
            <a:ext cx="21304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lstStyle>
            <a:lvl1pPr>
              <a:buFontTx/>
              <a:defRPr/>
            </a:lvl1pPr>
          </a:lstStyle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marL="0" lvl="0" indent="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+mj-lt"/>
          <a:ea typeface="+mj-ea"/>
          <a:cs typeface="+mj-cs"/>
        </a:defRPr>
      </a:lvl1pPr>
      <a:lvl2pPr marL="742950" lvl="1" indent="-28575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2pPr>
      <a:lvl3pPr marL="1143000" lvl="2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3pPr>
      <a:lvl4pPr marL="1600200" lvl="3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4pPr>
      <a:lvl5pPr marL="2057400" lvl="4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5pPr>
    </p:titleStyle>
    <p:bodyStyle>
      <a:lvl1pPr marL="342900" lvl="0" indent="-342900" algn="l" defTabSz="457200" rtl="0" eaLnBrk="0" fontAlgn="base" latinLnBrk="0" hangingPunct="0">
        <a:lnSpc>
          <a:spcPct val="100000"/>
        </a:lnSpc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32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57200" rtl="0" eaLnBrk="0" fontAlgn="base" latinLnBrk="0" hangingPunct="0">
        <a:lnSpc>
          <a:spcPct val="100000"/>
        </a:lnSpc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457200" rtl="0" eaLnBrk="0" fontAlgn="base" latinLnBrk="0" hangingPunct="0">
        <a:lnSpc>
          <a:spcPct val="100000"/>
        </a:lnSpc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4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514600" lvl="5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971800" lvl="6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429000" lvl="7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886200" lvl="8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bodyStyle>
    <p:otherStyle>
      <a:lvl1pPr marL="0" lvl="0" indent="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286000" lvl="5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743200" lvl="6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200400" lvl="7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657600" lvl="8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050" name="Group 2048"/>
          <p:cNvGrpSpPr/>
          <p:nvPr/>
        </p:nvGrpSpPr>
        <p:grpSpPr>
          <a:xfrm>
            <a:off x="0" y="927100"/>
            <a:ext cx="8988425" cy="4492625"/>
            <a:chOff x="0" y="584"/>
            <a:chExt cx="5662" cy="2830"/>
          </a:xfrm>
        </p:grpSpPr>
        <p:sp>
          <p:nvSpPr>
            <p:cNvPr id="2051" name="Rounded Rectangle 2049"/>
            <p:cNvSpPr/>
            <p:nvPr/>
          </p:nvSpPr>
          <p:spPr>
            <a:xfrm>
              <a:off x="432" y="1304"/>
              <a:ext cx="4654" cy="2110"/>
            </a:xfrm>
            <a:prstGeom prst="roundRect">
              <a:avLst>
                <a:gd name="adj" fmla="val 16667"/>
              </a:avLst>
            </a:prstGeom>
            <a:noFill/>
            <a:ln w="50760" cap="sq" cmpd="sng">
              <a:solidFill>
                <a:srgbClr val="6699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lvl="0"/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2052" name="Rectangles 2050"/>
            <p:cNvSpPr/>
            <p:nvPr/>
          </p:nvSpPr>
          <p:spPr>
            <a:xfrm>
              <a:off x="144" y="584"/>
              <a:ext cx="4510" cy="622"/>
            </a:xfrm>
            <a:prstGeom prst="rect">
              <a:avLst/>
            </a:prstGeom>
            <a:solidFill>
              <a:srgbClr val="FFFFFF"/>
            </a:solidFill>
            <a:ln w="57240" cap="sq" cmpd="sng">
              <a:solidFill>
                <a:srgbClr val="6699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lvl="0"/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2053" name="Freeform 2051"/>
            <p:cNvSpPr/>
            <p:nvPr/>
          </p:nvSpPr>
          <p:spPr>
            <a:xfrm>
              <a:off x="0" y="872"/>
              <a:ext cx="5662" cy="115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78537909" y="0"/>
                </a:cxn>
                <a:cxn ang="0">
                  <a:pos x="198785821" y="20342807"/>
                </a:cxn>
                <a:cxn ang="0">
                  <a:pos x="178577890" y="40617799"/>
                </a:cxn>
                <a:cxn ang="0">
                  <a:pos x="0" y="40617799"/>
                </a:cxn>
              </a:cxnLst>
              <a:pathLst>
                <a:path w="4917" h="1000">
                  <a:moveTo>
                    <a:pt x="0" y="0"/>
                  </a:moveTo>
                  <a:lnTo>
                    <a:pt x="4416" y="0"/>
                  </a:lnTo>
                  <a:cubicBezTo>
                    <a:pt x="4693" y="0"/>
                    <a:pt x="4917" y="223"/>
                    <a:pt x="4917" y="500"/>
                  </a:cubicBezTo>
                  <a:cubicBezTo>
                    <a:pt x="4917" y="776"/>
                    <a:pt x="4693" y="999"/>
                    <a:pt x="4417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66CC"/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54" name="Straight Connector 2052"/>
            <p:cNvSpPr/>
            <p:nvPr/>
          </p:nvSpPr>
          <p:spPr>
            <a:xfrm>
              <a:off x="0" y="1928"/>
              <a:ext cx="5230" cy="0"/>
            </a:xfrm>
            <a:prstGeom prst="line">
              <a:avLst/>
            </a:prstGeom>
            <a:ln w="50760" cap="sq" cmpd="sng">
              <a:solidFill>
                <a:srgbClr val="FFFFFF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sp>
        <p:nvSpPr>
          <p:cNvPr id="2055" name="Title 2053"/>
          <p:cNvSpPr>
            <a:spLocks noGrp="1"/>
          </p:cNvSpPr>
          <p:nvPr>
            <p:ph type="title"/>
          </p:nvPr>
        </p:nvSpPr>
        <p:spPr>
          <a:xfrm>
            <a:off x="195263" y="228600"/>
            <a:ext cx="8012112" cy="9112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ctr" anchorCtr="0"/>
          <a:p>
            <a:pPr lvl="0"/>
            <a:r>
              <a:rPr lang="en-GB" dirty="0"/>
              <a:t>Для правки текста заголовка щелкните мышью</a:t>
            </a:r>
            <a:endParaRPr lang="en-GB" dirty="0"/>
          </a:p>
        </p:txBody>
      </p:sp>
      <p:sp>
        <p:nvSpPr>
          <p:cNvPr id="2056" name="Text Placeholder 2054"/>
          <p:cNvSpPr>
            <a:spLocks noGrp="1"/>
          </p:cNvSpPr>
          <p:nvPr>
            <p:ph type="body"/>
          </p:nvPr>
        </p:nvSpPr>
        <p:spPr>
          <a:xfrm>
            <a:off x="609600" y="1600200"/>
            <a:ext cx="7921625" cy="44164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t" anchorCtr="0"/>
          <a:p>
            <a:pPr lvl="0"/>
            <a:r>
              <a:rPr lang="en-GB" dirty="0"/>
              <a:t>Для правки структуры щелкните мышью</a:t>
            </a:r>
            <a:endParaRPr lang="en-GB" dirty="0"/>
          </a:p>
          <a:p>
            <a:pPr lvl="1"/>
            <a:r>
              <a:rPr lang="en-GB" dirty="0"/>
              <a:t>Второй уровень структуры</a:t>
            </a:r>
            <a:endParaRPr lang="en-GB" dirty="0"/>
          </a:p>
          <a:p>
            <a:pPr lvl="2"/>
            <a:r>
              <a:rPr lang="en-GB" dirty="0"/>
              <a:t>Третий уровень структуры</a:t>
            </a:r>
            <a:endParaRPr lang="en-GB" dirty="0"/>
          </a:p>
          <a:p>
            <a:pPr lvl="3"/>
            <a:r>
              <a:rPr lang="en-GB" dirty="0"/>
              <a:t>Четвёртый уровень структуры</a:t>
            </a:r>
            <a:endParaRPr lang="en-GB" dirty="0"/>
          </a:p>
          <a:p>
            <a:pPr lvl="4"/>
            <a:r>
              <a:rPr lang="en-GB" dirty="0"/>
              <a:t>Пятый уровень структуры</a:t>
            </a:r>
            <a:endParaRPr lang="en-GB" dirty="0"/>
          </a:p>
          <a:p>
            <a:pPr lvl="4"/>
            <a:r>
              <a:rPr lang="en-GB" dirty="0"/>
              <a:t>Шестой уровень структуры</a:t>
            </a:r>
            <a:endParaRPr lang="en-GB" dirty="0"/>
          </a:p>
          <a:p>
            <a:pPr lvl="4"/>
            <a:r>
              <a:rPr lang="en-GB" dirty="0"/>
              <a:t>Седьмой уровень структуры</a:t>
            </a:r>
            <a:endParaRPr lang="en-GB" dirty="0"/>
          </a:p>
          <a:p>
            <a:pPr lvl="4"/>
            <a:r>
              <a:rPr lang="en-GB" dirty="0"/>
              <a:t>Восьмой уровень структуры</a:t>
            </a:r>
            <a:endParaRPr lang="en-GB" dirty="0"/>
          </a:p>
          <a:p>
            <a:pPr lvl="4"/>
            <a:r>
              <a:rPr lang="en-GB" dirty="0"/>
              <a:t>Девятый уровень структуры</a:t>
            </a:r>
            <a:endParaRPr lang="en-GB" dirty="0"/>
          </a:p>
        </p:txBody>
      </p:sp>
      <p:sp>
        <p:nvSpPr>
          <p:cNvPr id="2057" name="Text Box 2055"/>
          <p:cNvSpPr txBox="1"/>
          <p:nvPr/>
        </p:nvSpPr>
        <p:spPr>
          <a:xfrm>
            <a:off x="457200" y="6248400"/>
            <a:ext cx="2133600" cy="47148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058" name="Text Box 2056"/>
          <p:cNvSpPr txBox="1"/>
          <p:nvPr/>
        </p:nvSpPr>
        <p:spPr>
          <a:xfrm>
            <a:off x="3124200" y="6253163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" name="Slide Number Placeholder 2057"/>
          <p:cNvSpPr>
            <a:spLocks noGrp="1"/>
          </p:cNvSpPr>
          <p:nvPr>
            <p:ph type="sldNum"/>
          </p:nvPr>
        </p:nvSpPr>
        <p:spPr>
          <a:xfrm>
            <a:off x="6553200" y="6248400"/>
            <a:ext cx="2130425" cy="468313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lstStyle>
            <a:lvl1pPr algn="r">
              <a:buFontTx/>
              <a:defRPr sz="1200">
                <a:latin typeface="Arial Black" panose="020B0A04020102020204" pitchFamily="32" charset="0"/>
                <a:ea typeface="Arial Unicode MS" charset="-122"/>
              </a:defRPr>
            </a:lvl1pPr>
          </a:lstStyle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sldNum="0" hdr="0" ftr="0" dt="0"/>
  <p:txStyles>
    <p:titleStyle>
      <a:lvl1pPr marL="0" lvl="0" indent="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+mj-lt"/>
          <a:ea typeface="+mj-ea"/>
          <a:cs typeface="+mj-cs"/>
        </a:defRPr>
      </a:lvl1pPr>
      <a:lvl2pPr marL="742950" lvl="1" indent="-28575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2pPr>
      <a:lvl3pPr marL="1143000" lvl="2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3pPr>
      <a:lvl4pPr marL="1600200" lvl="3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4pPr>
      <a:lvl5pPr marL="2057400" lvl="4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5pPr>
    </p:titleStyle>
    <p:bodyStyle>
      <a:lvl1pPr marL="342900" lvl="0" indent="-342900" algn="l" defTabSz="457200" rtl="0" eaLnBrk="0" fontAlgn="base" latinLnBrk="0" hangingPunct="0">
        <a:lnSpc>
          <a:spcPct val="100000"/>
        </a:lnSpc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32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57200" rtl="0" eaLnBrk="0" fontAlgn="base" latinLnBrk="0" hangingPunct="0">
        <a:lnSpc>
          <a:spcPct val="100000"/>
        </a:lnSpc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457200" rtl="0" eaLnBrk="0" fontAlgn="base" latinLnBrk="0" hangingPunct="0">
        <a:lnSpc>
          <a:spcPct val="100000"/>
        </a:lnSpc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4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514600" lvl="5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971800" lvl="6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429000" lvl="7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886200" lvl="8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bodyStyle>
    <p:otherStyle>
      <a:lvl1pPr marL="0" lvl="0" indent="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286000" lvl="5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743200" lvl="6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200400" lvl="7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657600" lvl="8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7.xml"/><Relationship Id="rId2" Type="http://schemas.openxmlformats.org/officeDocument/2006/relationships/hyperlink" Target="https://teletype.in/@cursor.education/p3vQsTxs" TargetMode="External"/><Relationship Id="rId1" Type="http://schemas.openxmlformats.org/officeDocument/2006/relationships/hyperlink" Target="https://dou.ua/forums/topic/47081/&#13;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xunit.net/?tabs=cs" TargetMode="Externa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7.xml"/><Relationship Id="rId2" Type="http://schemas.openxmlformats.org/officeDocument/2006/relationships/hyperlink" Target="https://www.w3.org/WAI/standards-guidelines/aria/&#13;" TargetMode="External"/><Relationship Id="rId1" Type="http://schemas.openxmlformats.org/officeDocument/2006/relationships/hyperlink" Target="https://www.w3.org/WAI/standards-guidelines/wcag/" TargetMode="Externa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4.xml"/><Relationship Id="rId6" Type="http://schemas.openxmlformats.org/officeDocument/2006/relationships/slideLayout" Target="../slideLayouts/slideLayout7.xml"/><Relationship Id="rId5" Type="http://schemas.openxmlformats.org/officeDocument/2006/relationships/hyperlink" Target="https://testengineer.ru/mocks-and-stubs/&#13;" TargetMode="External"/><Relationship Id="rId4" Type="http://schemas.openxmlformats.org/officeDocument/2006/relationships/hyperlink" Target="https://doka.guide/tools/testing-and-fake-objects/&#13;" TargetMode="External"/><Relationship Id="rId3" Type="http://schemas.openxmlformats.org/officeDocument/2006/relationships/hyperlink" Target="https://habr.com/ru/articles/134836/&#13;" TargetMode="External"/><Relationship Id="rId2" Type="http://schemas.openxmlformats.org/officeDocument/2006/relationships/hyperlink" Target="https://habr.com/ru/articles/899788/&#13;" TargetMode="External"/><Relationship Id="rId1" Type="http://schemas.openxmlformats.org/officeDocument/2006/relationships/hyperlink" Target="https://habr.com/ru/articles/577424/&#13;" TargetMode="Externa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firebase.google.com/docs/emulator-suite" TargetMode="External"/></Relationships>
</file>

<file path=ppt/slides/_rels/slide5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jpeg"/><Relationship Id="rId1" Type="http://schemas.openxmlformats.org/officeDocument/2006/relationships/image" Target="../media/image8.jpe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github.com/sunmeat/aspnetcore_firebase_clean" TargetMode="Externa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5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7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1" Type="http://schemas.openxmlformats.org/officeDocument/2006/relationships/hyperlink" Target="https://github.com/sunmeat/aspnetcore_testing/tree/master/Soccer.UnitTests" TargetMode="Externa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6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9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1" Type="http://schemas.openxmlformats.org/officeDocument/2006/relationships/hyperlink" Target="https://github.com/sunmeat/aspnetcore_testing" TargetMode="Externa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gist.github.com/sunmeat/d57a0a96701ed1a395e9aac78af77f0b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122" name="Text Box 4096"/>
          <p:cNvSpPr txBox="1"/>
          <p:nvPr/>
        </p:nvSpPr>
        <p:spPr>
          <a:xfrm>
            <a:off x="228600" y="1427480"/>
            <a:ext cx="8395335" cy="1609725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x-none" sz="5200" dirty="0" err="1">
                <a:solidFill>
                  <a:srgbClr val="FFFFFF"/>
                </a:solidFill>
                <a:latin typeface="Arial" panose="020B0604020202020204" pitchFamily="34" charset="0"/>
              </a:rPr>
              <a:t>Testing</a:t>
            </a:r>
            <a:endParaRPr lang="ru-RU" altLang="en-US" sz="5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5123" name="Rectangles 4097"/>
          <p:cNvSpPr/>
          <p:nvPr/>
        </p:nvSpPr>
        <p:spPr>
          <a:xfrm>
            <a:off x="5867400" y="44450"/>
            <a:ext cx="3280410" cy="36957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t" anchorCtr="0">
            <a:spAutoFit/>
          </a:bodyPr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dirty="0" err="1">
                <a:solidFill>
                  <a:srgbClr val="F7F7F7"/>
                </a:solidFill>
                <a:latin typeface="Arial" panose="020B0604020202020204" pitchFamily="34" charset="0"/>
              </a:rPr>
              <a:t>О</a:t>
            </a:r>
            <a:r>
              <a:rPr lang="ru-RU" altLang="x-none" dirty="0" err="1">
                <a:solidFill>
                  <a:srgbClr val="F7F7F7"/>
                </a:solidFill>
                <a:latin typeface="Arial" panose="020B0604020202020204" pitchFamily="34" charset="0"/>
              </a:rPr>
              <a:t>лександр Загоруйко © 20</a:t>
            </a:r>
            <a:r>
              <a:rPr lang="en-US" altLang="x-none" dirty="0" err="1">
                <a:solidFill>
                  <a:srgbClr val="F7F7F7"/>
                </a:solidFill>
                <a:latin typeface="Arial" panose="020B0604020202020204" pitchFamily="34" charset="0"/>
              </a:rPr>
              <a:t>2</a:t>
            </a:r>
            <a:r>
              <a:rPr lang="uk-UA" altLang="ru-RU" dirty="0" err="1">
                <a:solidFill>
                  <a:srgbClr val="F7F7F7"/>
                </a:solidFill>
                <a:latin typeface="Arial" panose="020B0604020202020204" pitchFamily="34" charset="0"/>
              </a:rPr>
              <a:t>6</a:t>
            </a:r>
            <a:endParaRPr lang="uk-UA" altLang="ru-RU" dirty="0" err="1">
              <a:solidFill>
                <a:srgbClr val="F7F7F7"/>
              </a:solidFill>
              <a:latin typeface="Arial" panose="020B0604020202020204" pitchFamily="34" charset="0"/>
            </a:endParaRPr>
          </a:p>
        </p:txBody>
      </p:sp>
      <p:pic>
        <p:nvPicPr>
          <p:cNvPr id="4" name="Picture 3" descr="ASP.NET-Core-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665" y="3361690"/>
            <a:ext cx="6657975" cy="338201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Тестування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611505" y="1386205"/>
            <a:ext cx="791337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600"/>
              </a:spcBef>
              <a:buClrTx/>
              <a:buSzPct val="80000"/>
              <a:buFontTx/>
              <a:buNone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2100" b="1" dirty="0" err="1">
                <a:solidFill>
                  <a:srgbClr val="000000"/>
                </a:solidFill>
                <a:ea typeface="Microsoft YaHei" panose="020B0503020204020204" charset="-122"/>
              </a:rPr>
              <a:t>Тестування 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– це процес перевірки та оцінки системи, продукту чи процесу з метою виявлення дефектів, помилок 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та невідповідностей вимогам. Основна мета тестування – переконатися, що продукт працює так, як очікується, 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            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та задовольняє заданим вимогам. Основні аспекти:</a:t>
            </a:r>
            <a:endParaRPr lang="en-US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600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2100" b="1" dirty="0" err="1">
                <a:solidFill>
                  <a:srgbClr val="000000"/>
                </a:solidFill>
                <a:ea typeface="Microsoft YaHei" panose="020B0503020204020204" charset="-122"/>
              </a:rPr>
              <a:t>Виявлення дефектів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: Знаходження помилок та проблем, які можуть вплинути на функціонування продукту 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             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чи системи</a:t>
            </a:r>
            <a:endParaRPr lang="en-US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600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Переконатись у </a:t>
            </a:r>
            <a:r>
              <a:rPr lang="en-US" altLang="en-US" sz="2100" b="1" dirty="0" err="1">
                <a:solidFill>
                  <a:srgbClr val="000000"/>
                </a:solidFill>
                <a:ea typeface="Microsoft YaHei" panose="020B0503020204020204" charset="-122"/>
              </a:rPr>
              <a:t>відповідності до вимог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: Перевірка того, що продукт відповідає встановленим вимогам 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                  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та специфікаціям</a:t>
            </a:r>
            <a:endParaRPr lang="en-US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600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2100" b="1" dirty="0" err="1">
                <a:solidFill>
                  <a:srgbClr val="000000"/>
                </a:solidFill>
                <a:ea typeface="Microsoft YaHei" panose="020B0503020204020204" charset="-122"/>
              </a:rPr>
              <a:t>Поліпшення якості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: Підтримка та підвищення загальної якості продукту за рахунок усунення знайдених помилок 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та покращення його функціональності</a:t>
            </a:r>
            <a:endParaRPr lang="en-US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ru-RU" altLang="en-US" dirty="0"/>
              <a:t>:)</a:t>
            </a:r>
            <a:endParaRPr lang="en-US" altLang="en-US" dirty="0"/>
          </a:p>
        </p:txBody>
      </p:sp>
      <p:pic>
        <p:nvPicPr>
          <p:cNvPr id="2" name="Content Placeholder 1"/>
          <p:cNvPicPr>
            <a:picLocks noChangeAspect="1"/>
          </p:cNvPicPr>
          <p:nvPr>
            <p:ph idx="1"/>
          </p:nvPr>
        </p:nvPicPr>
        <p:blipFill>
          <a:blip r:embed="rId1"/>
          <a:srcRect t="3212" b="3212"/>
          <a:stretch>
            <a:fillRect/>
          </a:stretch>
        </p:blipFill>
        <p:spPr>
          <a:xfrm>
            <a:off x="1147445" y="1630045"/>
            <a:ext cx="6603365" cy="3681730"/>
          </a:xfrm>
        </p:spPr>
      </p:pic>
      <p:pic>
        <p:nvPicPr>
          <p:cNvPr id="3" name="Picture 2" descr="Снимок экрана 2025-09-02 1244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935" y="5363845"/>
            <a:ext cx="6076950" cy="15716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uk-UA" altLang="ru-RU" dirty="0"/>
              <a:t>Якість ПЗ</a:t>
            </a:r>
            <a:endParaRPr lang="uk-UA" alt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368425"/>
            <a:ext cx="7924800" cy="46069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en-US" sz="27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Якість програмного забезпечення можна визначити як сукупну характеристику досліджуваного ПЗ з урахуванням таких складових:</a:t>
            </a:r>
            <a:endParaRPr kumimoji="0" lang="en-US" altLang="en-US" sz="27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0" lang="en-US" altLang="en-US" sz="27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надійність</a:t>
            </a:r>
            <a:endParaRPr kumimoji="0" lang="en-US" altLang="en-US" sz="27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0" lang="en-US" altLang="en-US" sz="27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супроводжуваність</a:t>
            </a:r>
            <a:endParaRPr kumimoji="0" lang="en-US" altLang="en-US" sz="27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0" lang="en-US" altLang="en-US" sz="27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практичність</a:t>
            </a:r>
            <a:endParaRPr kumimoji="0" lang="en-US" altLang="en-US" sz="27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0" lang="en-US" altLang="en-US" sz="27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ефективність</a:t>
            </a:r>
            <a:endParaRPr kumimoji="0" lang="en-US" altLang="en-US" sz="27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0" lang="en-US" altLang="en-US" sz="27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мобільність</a:t>
            </a:r>
            <a:endParaRPr kumimoji="0" lang="en-US" altLang="en-US" sz="27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0" lang="en-US" altLang="en-US" sz="27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функціональність</a:t>
            </a:r>
            <a:endParaRPr kumimoji="0" lang="en-US" altLang="en-US" sz="27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uk-UA" altLang="ru-RU" dirty="0"/>
              <a:t>Класифікація видів тестування</a:t>
            </a:r>
            <a:endParaRPr lang="uk-UA" alt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30338"/>
            <a:ext cx="7924800" cy="46783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en-US" sz="19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По об'єкту тестування:</a:t>
            </a:r>
            <a:endParaRPr kumimoji="0" lang="en-US" altLang="en-US" sz="19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0" lang="en-US" altLang="en-US" sz="19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Функціональне тестування</a:t>
            </a:r>
            <a:endParaRPr kumimoji="0" lang="en-US" altLang="en-US" sz="19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0" lang="en-US" altLang="en-US" sz="19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Тестування продуктивності</a:t>
            </a:r>
            <a:endParaRPr kumimoji="0" lang="en-US" altLang="en-US" sz="19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1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0" lang="en-US" altLang="en-US" sz="19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Навантажувальне тестування (очікуване робоче навантаження)</a:t>
            </a:r>
            <a:endParaRPr kumimoji="0" lang="en-US" altLang="en-US" sz="19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1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0" lang="en-US" altLang="en-US" sz="19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Стрес-тестування (екстремальне робоче навантаження)</a:t>
            </a:r>
            <a:endParaRPr kumimoji="0" lang="en-US" altLang="en-US" sz="19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1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0" lang="en-US" altLang="en-US" sz="19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Тестування стабільності (тривалий час без збоїв та витоків)</a:t>
            </a:r>
            <a:endParaRPr kumimoji="0" lang="en-US" altLang="en-US" sz="19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0" lang="en-US" altLang="en-US" sz="19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Конфігураційне тестування</a:t>
            </a:r>
            <a:endParaRPr kumimoji="0" lang="en-US" altLang="en-US" sz="19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0" lang="en-US" altLang="en-US" sz="19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Юзабіліті-тестування (наскільки зручний інтерфейс)</a:t>
            </a:r>
            <a:endParaRPr kumimoji="0" lang="en-US" altLang="en-US" sz="19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0" lang="en-US" altLang="en-US" sz="19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Тестування інтерфейсу користувача (кнопки працюють)</a:t>
            </a:r>
            <a:endParaRPr kumimoji="0" lang="en-US" altLang="en-US" sz="19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0" lang="en-US" altLang="en-US" sz="19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Тестування безпеки</a:t>
            </a:r>
            <a:endParaRPr kumimoji="0" lang="en-US" altLang="en-US" sz="19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0" lang="en-US" altLang="en-US" sz="19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Тестування локалізації</a:t>
            </a:r>
            <a:endParaRPr kumimoji="0" lang="en-US" altLang="en-US" sz="19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0" lang="en-US" altLang="en-US" sz="19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Тестування сумісності</a:t>
            </a:r>
            <a:endParaRPr kumimoji="0" lang="en-US" altLang="en-US" sz="19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uk-UA" altLang="ru-RU" dirty="0">
                <a:sym typeface="+mn-ea"/>
              </a:rPr>
              <a:t>Класифікація видів тестування</a:t>
            </a:r>
            <a:endParaRPr lang="en-US" alt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0700" y="1422400"/>
            <a:ext cx="7921625" cy="44164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За знанням системи:</a:t>
            </a:r>
            <a:endParaRPr kumimoji="0" lang="en-US" altLang="en-US" sz="2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0" lang="en-US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Тестування чорно</a:t>
            </a:r>
            <a:r>
              <a:rPr kumimoji="0" lang="uk-UA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ї</a:t>
            </a:r>
            <a:r>
              <a:rPr kumimoji="0" lang="en-US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lang="en-US" altLang="en-US" sz="2200" b="1" kern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sym typeface="+mn-ea"/>
              </a:rPr>
              <a:t>скриньки</a:t>
            </a:r>
            <a:r>
              <a:rPr lang="en-US" altLang="en-US" sz="2200" kern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sym typeface="+mn-ea"/>
              </a:rPr>
              <a:t> </a:t>
            </a: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(black box, оцінюється функціональність системи без урахування                       її внутрішнього устрою та структури, тестуються </a:t>
            </a:r>
            <a:r>
              <a:rPr kumimoji="0" lang="uk-UA" altLang="en-US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</a:t>
            </a: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за фактом лише вхідні дані та результати)</a:t>
            </a:r>
            <a:endParaRPr kumimoji="0" lang="en-US" altLang="en-US" sz="2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0" lang="en-US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Тестування білої скриньки</a:t>
            </a: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(white box, оцінюється      на 100% внутрішня структура, логіка та робота системи, </a:t>
            </a:r>
            <a:r>
              <a:rPr kumimoji="0" lang="ru-RU" altLang="en-US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</a:t>
            </a:r>
            <a:r>
              <a:rPr kumimoji="0" lang="uk-UA" altLang="en-US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всі </a:t>
            </a: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шляхи та умови)</a:t>
            </a:r>
            <a:endParaRPr kumimoji="0" lang="en-US" altLang="en-US" sz="2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0" lang="en-US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Тестування сірої скриньки </a:t>
            </a: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(grey box, змішаний підхід, при якому використовується неповна, часткова інформація - схеми БД, діаграми класів, інші архітектурні документи та часткове представлення коду - про внутрішній </a:t>
            </a:r>
            <a:r>
              <a:rPr kumimoji="0" lang="ru-RU" altLang="en-US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у</a:t>
            </a: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стрій для створення тестів)</a:t>
            </a:r>
            <a:endParaRPr kumimoji="0" lang="en-US" altLang="en-US" sz="2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uk-UA" altLang="ru-RU" dirty="0">
                <a:sym typeface="+mn-ea"/>
              </a:rPr>
              <a:t>Класифікація видів тестування</a:t>
            </a:r>
            <a:endParaRPr lang="en-US" alt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22400"/>
            <a:ext cx="7921625" cy="44164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За ступенем автоматизації:</a:t>
            </a:r>
            <a:endParaRPr kumimoji="0" lang="en-US" altLang="en-US" sz="2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0" lang="en-US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Ручне тестування</a:t>
            </a: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(наприклад, тестувальник вручну перевіряє, чи веб-форма працює, чи коректно відображається інформація на сторінках </a:t>
            </a:r>
            <a:r>
              <a:rPr kumimoji="0" lang="ru-RU" altLang="en-US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          </a:t>
            </a: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і</a:t>
            </a:r>
            <a:r>
              <a:rPr kumimoji="0" lang="ru-RU" altLang="en-US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чи виконуються очікувані дії)</a:t>
            </a:r>
            <a:endParaRPr kumimoji="0" lang="en-US" altLang="en-US" sz="2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0" lang="en-US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Автоматизоване тестування </a:t>
            </a: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(наприклад, пишуться автоматизовані тести для перевірки коректності роботи функціональності програми, таких як перевірка логіки реєстрації користувачів та обробка форм)</a:t>
            </a:r>
            <a:endParaRPr kumimoji="0" lang="en-US" altLang="en-US" sz="2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0" lang="en-US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Напівавтоматизоване тестування</a:t>
            </a: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(наприклад, використовуються автоматизовані тести для перевірки базової функціональності програми, а ручне тестування - для перевірки інтерфейсу користувача та юзабіліті)</a:t>
            </a:r>
            <a:endParaRPr kumimoji="0" lang="en-US" altLang="en-US" sz="2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uk-UA" altLang="ru-RU" dirty="0">
                <a:sym typeface="+mn-ea"/>
              </a:rPr>
              <a:t>Класифікація видів тестування</a:t>
            </a:r>
            <a:endParaRPr lang="en-US" alt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5150" y="1369695"/>
            <a:ext cx="7924800" cy="4516755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За часом проведення тестування:</a:t>
            </a:r>
            <a:endParaRPr kumimoji="0" lang="en-US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0" lang="en-US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Альфа-тестування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(проводиться внутрішніми тестувальниками на пізніх етапах розробки)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1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0" lang="en-US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Димове тестування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(smoke testing) - перевіряє базову функціональність після </a:t>
            </a:r>
            <a:r>
              <a:rPr kumimoji="0" lang="ru-RU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збирання 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або розгортання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1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0" lang="en-US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Тестування нової функції 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(new feature testing)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1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0" lang="en-US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Підтвердж</a:t>
            </a:r>
            <a:r>
              <a:rPr kumimoji="0" lang="ru-RU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увальне</a:t>
            </a:r>
            <a:r>
              <a:rPr kumimoji="0" lang="en-US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тестування 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 перевіряє виправлення раніше знайдених дефектів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1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0" lang="en-US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Регресійне тестування 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– перевіряє, що зміни                  не порушили існуючу функціональність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1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0" lang="en-US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Приймальне тестування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– підтверджує відповідність системи вимогам замовника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0" lang="en-US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Бета-тестування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(залучає зовнішніх користувачів </a:t>
            </a:r>
            <a:r>
              <a:rPr kumimoji="0" lang="ru-RU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  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до перевірки системи перед офіційним релізом)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uk-UA" altLang="ru-RU" dirty="0">
                <a:sym typeface="+mn-ea"/>
              </a:rPr>
              <a:t>Класифікація видів тестування</a:t>
            </a:r>
            <a:endParaRPr lang="en-US" alt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03045"/>
            <a:ext cx="7924800" cy="4516755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en-US" sz="3000" b="1" noProof="0" dirty="0">
                <a:ln>
                  <a:noFill/>
                </a:ln>
                <a:effectLst/>
                <a:uLnTx/>
                <a:uFillTx/>
                <a:sym typeface="+mn-ea"/>
              </a:rPr>
              <a:t>За ознакою позитивності сценаріїв:</a:t>
            </a:r>
            <a:endParaRPr lang="en-US" altLang="en-US" sz="3000" b="1" noProof="0" dirty="0">
              <a:ln>
                <a:noFill/>
              </a:ln>
              <a:effectLst/>
              <a:uLnTx/>
              <a:uFillTx/>
              <a:sym typeface="+mn-ea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en-US" sz="3000" b="1" noProof="0" dirty="0">
                <a:ln>
                  <a:noFill/>
                </a:ln>
                <a:effectLst/>
                <a:uLnTx/>
                <a:uFillTx/>
                <a:sym typeface="+mn-ea"/>
              </a:rPr>
              <a:t>Позитивне тестування</a:t>
            </a:r>
            <a:r>
              <a:rPr lang="en-US" altLang="en-US" sz="3000" noProof="0" dirty="0">
                <a:ln>
                  <a:noFill/>
                </a:ln>
                <a:effectLst/>
                <a:uLnTx/>
                <a:uFillTx/>
                <a:sym typeface="+mn-ea"/>
              </a:rPr>
              <a:t> (перевіряється, що система функціонує правильно </a:t>
            </a:r>
            <a:r>
              <a:rPr lang="uk-UA" altLang="en-US" sz="3000" noProof="0" dirty="0">
                <a:ln>
                  <a:noFill/>
                </a:ln>
                <a:effectLst/>
                <a:uLnTx/>
                <a:uFillTx/>
                <a:sym typeface="+mn-ea"/>
              </a:rPr>
              <a:t>        </a:t>
            </a:r>
            <a:r>
              <a:rPr lang="en-US" altLang="en-US" sz="3000" noProof="0" dirty="0">
                <a:ln>
                  <a:noFill/>
                </a:ln>
                <a:effectLst/>
                <a:uLnTx/>
                <a:uFillTx/>
                <a:sym typeface="+mn-ea"/>
              </a:rPr>
              <a:t>та відповідає вимогам при подачі коректних та очікуваних вхідних даних)</a:t>
            </a:r>
            <a:endParaRPr lang="en-US" altLang="en-US" sz="3000" noProof="0" dirty="0">
              <a:ln>
                <a:noFill/>
              </a:ln>
              <a:effectLst/>
              <a:uLnTx/>
              <a:uFillTx/>
              <a:sym typeface="+mn-ea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en-US" sz="3000" b="1" noProof="0" dirty="0">
                <a:ln>
                  <a:noFill/>
                </a:ln>
                <a:effectLst/>
                <a:uLnTx/>
                <a:uFillTx/>
                <a:sym typeface="+mn-ea"/>
              </a:rPr>
              <a:t>Негативне тестування</a:t>
            </a:r>
            <a:r>
              <a:rPr lang="en-US" altLang="en-US" sz="3000" noProof="0" dirty="0">
                <a:ln>
                  <a:noFill/>
                </a:ln>
                <a:effectLst/>
                <a:uLnTx/>
                <a:uFillTx/>
                <a:sym typeface="+mn-ea"/>
              </a:rPr>
              <a:t> (перевіряється, </a:t>
            </a:r>
            <a:r>
              <a:rPr lang="ru-RU" altLang="en-US" sz="3000" noProof="0" dirty="0">
                <a:ln>
                  <a:noFill/>
                </a:ln>
                <a:effectLst/>
                <a:uLnTx/>
                <a:uFillTx/>
                <a:sym typeface="+mn-ea"/>
              </a:rPr>
              <a:t>  </a:t>
            </a:r>
            <a:r>
              <a:rPr lang="en-US" altLang="en-US" sz="3000" noProof="0" dirty="0">
                <a:ln>
                  <a:noFill/>
                </a:ln>
                <a:effectLst/>
                <a:uLnTx/>
                <a:uFillTx/>
                <a:sym typeface="+mn-ea"/>
              </a:rPr>
              <a:t>як система реагує на некоректні, несподівані чи помилкові вхідні дані </a:t>
            </a:r>
            <a:r>
              <a:rPr lang="ru-RU" altLang="en-US" sz="3000" noProof="0" dirty="0">
                <a:ln>
                  <a:noFill/>
                </a:ln>
                <a:effectLst/>
                <a:uLnTx/>
                <a:uFillTx/>
                <a:sym typeface="+mn-ea"/>
              </a:rPr>
              <a:t>      </a:t>
            </a:r>
            <a:r>
              <a:rPr lang="en-US" altLang="en-US" sz="3000" noProof="0" dirty="0">
                <a:ln>
                  <a:noFill/>
                </a:ln>
                <a:effectLst/>
                <a:uLnTx/>
                <a:uFillTx/>
                <a:sym typeface="+mn-ea"/>
              </a:rPr>
              <a:t>та умови)</a:t>
            </a:r>
            <a:endParaRPr lang="en-US" altLang="en-US" sz="3000" noProof="0" dirty="0">
              <a:ln>
                <a:noFill/>
              </a:ln>
              <a:effectLst/>
              <a:uLnTx/>
              <a:uFillTx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uk-UA" altLang="ru-RU" dirty="0">
                <a:sym typeface="+mn-ea"/>
              </a:rPr>
              <a:t>Класифікація видів тестування</a:t>
            </a:r>
            <a:endParaRPr lang="en-US" alt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22400"/>
            <a:ext cx="7921625" cy="44164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За ступенем ізольованості компонентів:</a:t>
            </a:r>
            <a:endParaRPr kumimoji="0" lang="en-US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Модульне (юніт) тестування 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(перевіряється коректність роботи окремих модулів чи компонентів системи - методів, класів - у повній ізоляції </a:t>
            </a:r>
            <a:r>
              <a:rPr kumimoji="0" lang="uk-UA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від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інших частин)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Інтеграційне тестування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(перевіряється взаємодія між різними модулями чи компонентами системи, наприклад модуль Замовлення Товарів та Оплати)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Системне тестування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(перевіряється система </a:t>
            </a:r>
            <a:r>
              <a:rPr kumimoji="0" lang="uk-UA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в цілому як єдине ціле, щоб переконатися, </a:t>
            </a:r>
            <a:r>
              <a:rPr kumimoji="0" lang="uk-UA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що всі компоненти та модулі працюють разом відповідно до вимог)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altLang="x-none" sz="4200" dirty="0" err="1">
                <a:solidFill>
                  <a:srgbClr val="FFFFFF"/>
                </a:solidFill>
                <a:ea typeface="Microsoft YaHei" panose="020B0503020204020204" charset="-122"/>
              </a:rPr>
              <a:t>:)</a:t>
            </a:r>
            <a:endParaRPr lang="ru-RU" altLang="x-none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611505" y="1386205"/>
            <a:ext cx="791337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600"/>
              </a:spcBef>
              <a:buClrTx/>
              <a:buSzPct val="80000"/>
              <a:buFontTx/>
              <a:buNone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endParaRPr lang="ru-RU" altLang="x-none" sz="32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  <p:pic>
        <p:nvPicPr>
          <p:cNvPr id="2" name="Picture 1" descr="145311164818571117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315" y="1556385"/>
            <a:ext cx="8867140" cy="498094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altLang="x-none" sz="4200" dirty="0" err="1">
                <a:solidFill>
                  <a:srgbClr val="FFFFFF"/>
                </a:solidFill>
                <a:ea typeface="Microsoft YaHei" panose="020B0503020204020204" charset="-122"/>
              </a:rPr>
              <a:t>Модульне тест</a:t>
            </a: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ування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611505" y="1475105"/>
            <a:ext cx="791337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600"/>
              </a:spcBef>
              <a:buClrTx/>
              <a:buSzPct val="80000"/>
              <a:buFontTx/>
              <a:buNone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3200" b="1" dirty="0" err="1">
                <a:solidFill>
                  <a:srgbClr val="000000"/>
                </a:solidFill>
                <a:ea typeface="Microsoft YaHei" panose="020B0503020204020204" charset="-122"/>
              </a:rPr>
              <a:t>Модульне тестування (unit testing)</a:t>
            </a:r>
            <a:r>
              <a:rPr lang="en-US" altLang="en-US" sz="3200" dirty="0" err="1">
                <a:solidFill>
                  <a:srgbClr val="000000"/>
                </a:solidFill>
                <a:ea typeface="Microsoft YaHei" panose="020B0503020204020204" charset="-122"/>
              </a:rPr>
              <a:t> - це процес перевірки окремих компонентів (модулів) програми</a:t>
            </a:r>
            <a:r>
              <a:rPr lang="uk-UA" altLang="en-US" sz="3200" dirty="0" err="1">
                <a:solidFill>
                  <a:srgbClr val="000000"/>
                </a:solidFill>
                <a:ea typeface="Microsoft YaHei" panose="020B0503020204020204" charset="-122"/>
              </a:rPr>
              <a:t>           </a:t>
            </a:r>
            <a:r>
              <a:rPr lang="en-US" altLang="en-US" sz="3200" dirty="0" err="1">
                <a:solidFill>
                  <a:srgbClr val="000000"/>
                </a:solidFill>
                <a:ea typeface="Microsoft YaHei" panose="020B0503020204020204" charset="-122"/>
              </a:rPr>
              <a:t> на коректність їх роботи.</a:t>
            </a:r>
            <a:endParaRPr lang="en-US" altLang="en-US" sz="32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600"/>
              </a:spcBef>
              <a:buClrTx/>
              <a:buSzPct val="80000"/>
              <a:buFontTx/>
              <a:buNone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endParaRPr lang="en-US" altLang="en-US" sz="32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600"/>
              </a:spcBef>
              <a:buClrTx/>
              <a:buSzPct val="80000"/>
              <a:buFontTx/>
              <a:buNone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3200" dirty="0" err="1">
                <a:solidFill>
                  <a:srgbClr val="000000"/>
                </a:solidFill>
                <a:ea typeface="Microsoft YaHei" panose="020B0503020204020204" charset="-122"/>
              </a:rPr>
              <a:t>Мета МТ - переконатися, кожен модуль працює правильно в ізоляції від інших частин системи.</a:t>
            </a:r>
            <a:endParaRPr lang="en-US" altLang="en-US" sz="32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altLang="x-none" sz="4200" dirty="0" err="1">
                <a:solidFill>
                  <a:srgbClr val="FFFFFF"/>
                </a:solidFill>
                <a:ea typeface="Microsoft YaHei" panose="020B0503020204020204" charset="-122"/>
              </a:rPr>
              <a:t>Ц</a:t>
            </a: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і</a:t>
            </a:r>
            <a:r>
              <a:rPr lang="ru-RU" altLang="x-none" sz="4200" dirty="0" err="1">
                <a:solidFill>
                  <a:srgbClr val="FFFFFF"/>
                </a:solidFill>
                <a:ea typeface="Microsoft YaHei" panose="020B0503020204020204" charset="-122"/>
              </a:rPr>
              <a:t>л</a:t>
            </a: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і</a:t>
            </a:r>
            <a:r>
              <a:rPr lang="ru-RU" altLang="x-none" sz="4200" dirty="0" err="1">
                <a:solidFill>
                  <a:srgbClr val="FFFFFF"/>
                </a:solidFill>
                <a:ea typeface="Microsoft YaHei" panose="020B0503020204020204" charset="-122"/>
              </a:rPr>
              <a:t> </a:t>
            </a: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та завдання</a:t>
            </a:r>
            <a:r>
              <a:rPr lang="ru-RU" altLang="x-none" sz="4200" dirty="0" err="1">
                <a:solidFill>
                  <a:srgbClr val="FFFFFF"/>
                </a:solidFill>
                <a:ea typeface="Microsoft YaHei" panose="020B0503020204020204" charset="-122"/>
              </a:rPr>
              <a:t> МТ</a:t>
            </a:r>
            <a:endParaRPr lang="ru-RU" altLang="x-none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611505" y="1430655"/>
            <a:ext cx="791337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600"/>
              </a:spcBef>
              <a:buClrTx/>
              <a:buSzPct val="80000"/>
              <a:buFontTx/>
              <a:buNone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Цілі:</a:t>
            </a:r>
            <a:endParaRPr lang="en-US" altLang="en-US" sz="23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600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Виявлення та виправлення помилок на ранніх етапах розробки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600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Забезпечення надійності та стабільності коду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600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Спрощення інтеграції модулів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600"/>
              </a:spcBef>
              <a:buClrTx/>
              <a:buSzPct val="80000"/>
              <a:buFontTx/>
              <a:buNone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600"/>
              </a:spcBef>
              <a:buClrTx/>
              <a:buSzPct val="80000"/>
              <a:buFontTx/>
              <a:buNone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Завдання:</a:t>
            </a:r>
            <a:endParaRPr lang="en-US" altLang="en-US" sz="23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600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Перевірка функціональності кожного модуля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600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Підтвердження відповідності коду вимогам специфікації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600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Підтримка якості коду під час внесення змін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altLang="x-none" sz="4200" dirty="0" err="1">
                <a:solidFill>
                  <a:srgbClr val="FFFFFF"/>
                </a:solidFill>
                <a:ea typeface="Microsoft YaHei" panose="020B0503020204020204" charset="-122"/>
              </a:rPr>
              <a:t>Необ</a:t>
            </a: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хідність</a:t>
            </a:r>
            <a:r>
              <a:rPr lang="ru-RU" altLang="x-none" sz="4200" dirty="0" err="1">
                <a:solidFill>
                  <a:srgbClr val="FFFFFF"/>
                </a:solidFill>
                <a:ea typeface="Microsoft YaHei" panose="020B0503020204020204" charset="-122"/>
              </a:rPr>
              <a:t> МТ</a:t>
            </a:r>
            <a:endParaRPr lang="ru-RU" altLang="x-none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611505" y="1386205"/>
            <a:ext cx="791337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600"/>
              </a:spcBef>
              <a:buClrTx/>
              <a:buSzPct val="80000"/>
              <a:buFontTx/>
              <a:buNone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Переваги: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600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Виявлення помилок до їхнього потрапляння </a:t>
            </a: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               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в робоче середовище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600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Прискорення процесу налагодження та виправлення помилок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600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Підвищення впевненості у правильності коду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600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Спрощення рефакторингу та модифікацій коду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600"/>
              </a:spcBef>
              <a:buClrTx/>
              <a:buSzPct val="80000"/>
              <a:buFontTx/>
              <a:buNone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600"/>
              </a:spcBef>
              <a:buClrTx/>
              <a:buSzPct val="80000"/>
              <a:buFontTx/>
              <a:buNone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Помилки, виявлені при модульному тестуванні, можуть бути виправлені швидше та дешевше, ніж ті, що виявляються пізніше!</a:t>
            </a:r>
            <a:endParaRPr lang="en-US" altLang="en-US" sz="2300" b="1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uk-UA" sz="4100" dirty="0"/>
              <a:t>Розробка через тестування</a:t>
            </a:r>
            <a:endParaRPr lang="uk-UA" sz="4100" dirty="0"/>
          </a:p>
        </p:txBody>
      </p:sp>
      <p:sp>
        <p:nvSpPr>
          <p:cNvPr id="12291" name="Content Placeholder 2"/>
          <p:cNvSpPr>
            <a:spLocks noGrp="1"/>
          </p:cNvSpPr>
          <p:nvPr>
            <p:ph idx="1"/>
          </p:nvPr>
        </p:nvSpPr>
        <p:spPr>
          <a:xfrm>
            <a:off x="609600" y="1401445"/>
            <a:ext cx="7924800" cy="4618355"/>
          </a:xfrm>
        </p:spPr>
        <p:txBody>
          <a:bodyPr vert="horz" wrap="square" lIns="91440" tIns="45720" rIns="91440" bIns="45720" anchor="t" anchorCtr="0"/>
          <a:p>
            <a:pPr marL="0" indent="0">
              <a:buNone/>
            </a:pPr>
            <a:r>
              <a:rPr lang="en-US" altLang="en-US" b="1" dirty="0"/>
              <a:t>Розробка через тестування</a:t>
            </a:r>
            <a:r>
              <a:rPr lang="uk-UA" altLang="en-US" b="1" dirty="0"/>
              <a:t>            </a:t>
            </a:r>
            <a:r>
              <a:rPr lang="en-US" altLang="en-US" dirty="0"/>
              <a:t>(test-driven development, TDD)</a:t>
            </a:r>
            <a:r>
              <a:rPr lang="en-US" altLang="en-US" dirty="0"/>
              <a:t> — техніка</a:t>
            </a:r>
            <a:r>
              <a:rPr lang="en-US" altLang="en-US" dirty="0"/>
              <a:t> розробки програмного забезпечення, яка ґрунтується </a:t>
            </a:r>
            <a:r>
              <a:rPr lang="uk-UA" altLang="en-US" dirty="0"/>
              <a:t>             </a:t>
            </a:r>
            <a:r>
              <a:rPr lang="en-US" altLang="en-US" dirty="0"/>
              <a:t>на повторенні дуже коротких циклів розробки: спочатку пишеться тест, </a:t>
            </a:r>
            <a:r>
              <a:rPr lang="uk-UA" altLang="en-US" dirty="0"/>
              <a:t>      </a:t>
            </a:r>
            <a:r>
              <a:rPr lang="en-US" altLang="en-US" dirty="0"/>
              <a:t>що покриває бажану зміну, </a:t>
            </a:r>
            <a:r>
              <a:rPr lang="uk-UA" altLang="en-US" dirty="0"/>
              <a:t>               </a:t>
            </a:r>
            <a:r>
              <a:rPr lang="en-US" altLang="en-US" dirty="0"/>
              <a:t>потім пишеться код, який дозволить пройти тест.</a:t>
            </a:r>
            <a:endParaRPr lang="en-US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uk-UA" sz="4100" dirty="0">
                <a:sym typeface="+mn-ea"/>
              </a:rPr>
              <a:t>Розробка через тестування</a:t>
            </a:r>
            <a:endParaRPr lang="en-US" altLang="en-US" sz="4100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marL="0" indent="0">
              <a:buNone/>
            </a:pPr>
            <a:r>
              <a:rPr lang="en-US" altLang="en-US" sz="2800" dirty="0"/>
              <a:t>Розробка через тестування вимагає </a:t>
            </a:r>
            <a:r>
              <a:rPr lang="uk-UA" altLang="en-US" sz="2800" dirty="0"/>
              <a:t>             </a:t>
            </a:r>
            <a:r>
              <a:rPr lang="en-US" altLang="en-US" sz="2800" dirty="0"/>
              <a:t>від розробника створення автоматизованих модульних тестів, що визначають вимоги </a:t>
            </a:r>
            <a:r>
              <a:rPr lang="uk-UA" altLang="en-US" sz="2800" dirty="0"/>
              <a:t>     </a:t>
            </a:r>
            <a:r>
              <a:rPr lang="en-US" altLang="en-US" sz="2800" dirty="0"/>
              <a:t>до коду перед написанням самого коду. </a:t>
            </a:r>
            <a:r>
              <a:rPr lang="uk-UA" altLang="en-US" sz="2800" dirty="0"/>
              <a:t>    </a:t>
            </a:r>
            <a:r>
              <a:rPr lang="en-US" altLang="en-US" sz="2800" dirty="0"/>
              <a:t>Тест містить перевірки умов, які можуть виконуватися, або ні. Коли вони виконуються, кажуть, що </a:t>
            </a:r>
            <a:r>
              <a:rPr lang="en-US" altLang="en-US" sz="2800" dirty="0">
                <a:solidFill>
                  <a:srgbClr val="00B050"/>
                </a:solidFill>
              </a:rPr>
              <a:t>тест пройдено</a:t>
            </a:r>
            <a:r>
              <a:rPr lang="en-US" altLang="en-US" sz="2800" dirty="0"/>
              <a:t>. Проходження тесту підтверджує поведінку, яку передбачає програміст.</a:t>
            </a:r>
            <a:endParaRPr lang="en-US" altLang="en-US" sz="2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ru-RU" sz="4100" dirty="0"/>
              <a:t>Тестування </a:t>
            </a:r>
            <a:r>
              <a:rPr lang="uk-UA" sz="4100" dirty="0"/>
              <a:t>додатків</a:t>
            </a:r>
            <a:endParaRPr lang="uk-UA" sz="4100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marL="0" indent="0">
              <a:buNone/>
            </a:pPr>
            <a:r>
              <a:rPr lang="en-US" altLang="en-US" dirty="0"/>
              <a:t>Тестування додатків є важливим етапом розробки, оскільки дозволяє гарантувати коректну роботу компонентів, стану та взаємодії</a:t>
            </a:r>
            <a:r>
              <a:rPr lang="ru-RU" altLang="en-US" dirty="0"/>
              <a:t> </a:t>
            </a:r>
            <a:r>
              <a:rPr lang="en-US" altLang="en-US" dirty="0"/>
              <a:t>із серверними API. Важливо тестувати як бізнес-логіку на стороні клієнта, так і інтеграцію з сервером, особливо якщо програма активно працює з даними.</a:t>
            </a:r>
            <a:endParaRPr lang="en-US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uk-UA" sz="4100" dirty="0"/>
              <a:t>Навіщо тестувати?</a:t>
            </a:r>
            <a:endParaRPr lang="uk-UA" sz="4100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490220" y="1348740"/>
            <a:ext cx="8041005" cy="4578985"/>
          </a:xfrm>
        </p:spPr>
        <p:txBody>
          <a:bodyPr vert="horz" wrap="square" lIns="91440" tIns="45720" rIns="91440" bIns="45720" anchor="t" anchorCtr="0"/>
          <a:p>
            <a:pPr>
              <a:buFont typeface="Arial" panose="020B0604020202020204" pitchFamily="34" charset="0"/>
              <a:buChar char="•"/>
            </a:pPr>
            <a:r>
              <a:rPr lang="en-US" altLang="en-US" sz="1500" b="1" dirty="0"/>
              <a:t>Коректність обробки запитів</a:t>
            </a:r>
            <a:r>
              <a:rPr lang="ru-RU" altLang="en-US" sz="1500" dirty="0"/>
              <a:t> - </a:t>
            </a:r>
            <a:r>
              <a:rPr lang="en-US" altLang="en-US" sz="1500" dirty="0"/>
              <a:t>Тестування клієнт-серверних додатків      передбачає перевірку коректної обробки запитів між клієнтом і сервером. Наприклад, за допомогою бібліотек, таких як xUnit, можна переконатися,                 що клієнтські запити правильно обробляються сервером залежно від вхідних даних</a:t>
            </a:r>
            <a:endParaRPr lang="en-US" altLang="en-US" sz="15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1500" b="1" dirty="0"/>
              <a:t>Перевірка бізнес-логіки</a:t>
            </a:r>
            <a:r>
              <a:rPr lang="ru-RU" altLang="en-US" sz="1500" dirty="0"/>
              <a:t> - </a:t>
            </a:r>
            <a:r>
              <a:rPr lang="en-US" altLang="en-US" sz="1500" dirty="0"/>
              <a:t>Клієнт-серверні додатки часто містять складну       бізнес-логіку, пов’язану з обробкою даних. Тестування гарантує,</a:t>
            </a:r>
            <a:r>
              <a:rPr lang="uk-UA" altLang="en-US" sz="1500" dirty="0"/>
              <a:t> </a:t>
            </a:r>
            <a:r>
              <a:rPr lang="en-US" altLang="en-US" sz="1500" dirty="0"/>
              <a:t>що логіка працює коректно, наприклад, чи правильно оновлюються дані</a:t>
            </a:r>
            <a:r>
              <a:rPr lang="uk-UA" altLang="en-US" sz="1500" dirty="0"/>
              <a:t> </a:t>
            </a:r>
            <a:r>
              <a:rPr lang="en-US" altLang="en-US" sz="1500" dirty="0"/>
              <a:t>при взаємодії клієнта              з сервером</a:t>
            </a:r>
            <a:endParaRPr lang="en-US" altLang="en-US" sz="15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1500" b="1" dirty="0"/>
              <a:t>Запобігання регресі</a:t>
            </a:r>
            <a:r>
              <a:rPr lang="uk-UA" altLang="en-US" sz="1500" b="1" dirty="0"/>
              <a:t>ї</a:t>
            </a:r>
            <a:r>
              <a:rPr lang="ru-RU" altLang="en-US" sz="1500" b="1" dirty="0"/>
              <a:t> </a:t>
            </a:r>
            <a:r>
              <a:rPr lang="ru-RU" altLang="en-US" sz="1500" dirty="0"/>
              <a:t>- </a:t>
            </a:r>
            <a:r>
              <a:rPr lang="en-US" altLang="en-US" sz="1500" dirty="0"/>
              <a:t>Автоматизовані тести (юніт-тести, інтеграційні тести) дозволяють переконатися, що нові зміни в коді не порушують існуючу функціональність, включаючи обробку запитів і взаємодію між клієнтом </a:t>
            </a:r>
            <a:r>
              <a:rPr lang="uk-UA" altLang="en-US" sz="1500" dirty="0"/>
              <a:t>                    </a:t>
            </a:r>
            <a:r>
              <a:rPr lang="en-US" altLang="en-US" sz="1500" dirty="0"/>
              <a:t>та сервером</a:t>
            </a:r>
            <a:endParaRPr lang="en-US" altLang="en-US" sz="15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1500" b="1" dirty="0"/>
              <a:t>Оптимізаці</a:t>
            </a:r>
            <a:r>
              <a:rPr lang="ru-RU" altLang="en-US" sz="1500" b="1" dirty="0"/>
              <a:t>я </a:t>
            </a:r>
            <a:r>
              <a:rPr lang="ru-RU" altLang="en-US" sz="1500" dirty="0"/>
              <a:t>- </a:t>
            </a:r>
            <a:r>
              <a:rPr lang="en-US" altLang="en-US" sz="1500" dirty="0"/>
              <a:t>Тестування допомагає виявити вузькі місця в продуктивності </a:t>
            </a:r>
            <a:r>
              <a:rPr lang="uk-UA" altLang="en-US" sz="1500" dirty="0"/>
              <a:t>                </a:t>
            </a:r>
            <a:r>
              <a:rPr lang="en-US" altLang="en-US" sz="1500" dirty="0"/>
              <a:t>додатків, такі як неефективне використання ресурсів або повільна обробка запитів.</a:t>
            </a:r>
            <a:r>
              <a:rPr lang="uk-UA" altLang="en-US" sz="1500" dirty="0"/>
              <a:t> </a:t>
            </a:r>
            <a:r>
              <a:rPr lang="en-US" altLang="en-US" sz="1500" dirty="0"/>
              <a:t>Це дозволяє оптимізувати сервер для швидшої роботи та покращення користувацького досвіду</a:t>
            </a:r>
            <a:endParaRPr lang="en-US" altLang="en-US" sz="15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1500" b="1" dirty="0"/>
              <a:t>Надійність</a:t>
            </a:r>
            <a:r>
              <a:rPr lang="ru-RU" altLang="en-US" sz="1500" b="1" dirty="0"/>
              <a:t> </a:t>
            </a:r>
            <a:r>
              <a:rPr lang="ru-RU" altLang="en-US" sz="1500" dirty="0"/>
              <a:t>- </a:t>
            </a:r>
            <a:r>
              <a:rPr lang="en-US" altLang="en-US" sz="1500" dirty="0"/>
              <a:t>Добре протестований додаток стійкий до помилок, пов’язаних </a:t>
            </a:r>
            <a:r>
              <a:rPr lang="uk-UA" altLang="en-US" sz="1500" dirty="0"/>
              <a:t>               </a:t>
            </a:r>
            <a:r>
              <a:rPr lang="en-US" altLang="en-US" sz="1500" dirty="0"/>
              <a:t>з некоректною обробкою запитів, асинхронними операціями або взаємодією з API. Тестування мережевих взаємодій забезпечує стабільність роботи програми</a:t>
            </a:r>
            <a:endParaRPr lang="en-US" alt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sz="4200" dirty="0">
                <a:solidFill>
                  <a:schemeClr val="bg1"/>
                </a:solidFill>
                <a:sym typeface="+mn-ea"/>
              </a:rPr>
              <a:t>Навіщо тестувати?</a:t>
            </a:r>
            <a:endParaRPr lang="uk-UA" altLang="en-US" sz="4200" dirty="0">
              <a:solidFill>
                <a:schemeClr val="bg1"/>
              </a:solidFill>
              <a:ea typeface="Microsoft YaHei" panose="020B0503020204020204" charset="-122"/>
              <a:sym typeface="+mn-ea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437515" y="147510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b="1" dirty="0" err="1">
                <a:solidFill>
                  <a:schemeClr val="tx1"/>
                </a:solidFill>
                <a:ea typeface="Microsoft YaHei" panose="020B0503020204020204" charset="-122"/>
              </a:rPr>
              <a:t>Забезпечення якості коду:</a:t>
            </a:r>
            <a:endParaRPr lang="en-US" altLang="en-US" sz="17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742950" lvl="1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Тести допомагають виявляти помилки на ранніх стадіях розробки, запобігаючи їх появі у продакшені. Це знижує витрати на виправлення багів, тому що їхнє усунення на етапі розробки обходиться дешевше</a:t>
            </a:r>
            <a:endParaRPr lang="en-US" altLang="en-US" sz="17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742950" lvl="1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Автоматизовані тести гарантують, що нові зміни не ламають існуючу функціональність (т.зв. регресійне тестування)</a:t>
            </a:r>
            <a:endParaRPr lang="en-US" altLang="en-US" sz="17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b="1" dirty="0" err="1">
                <a:solidFill>
                  <a:schemeClr val="tx1"/>
                </a:solidFill>
                <a:ea typeface="Microsoft YaHei" panose="020B0503020204020204" charset="-122"/>
              </a:rPr>
              <a:t>Спрощення рефакторингу:</a:t>
            </a:r>
            <a:endParaRPr lang="en-US" altLang="en-US" sz="17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742950" lvl="1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Добре написані тести дозволяють впевнено змінювати код, знаючи,</a:t>
            </a:r>
            <a:r>
              <a:rPr lang="ru-RU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        </a:t>
            </a: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що тести перевірять коректність роботи програми після рефакторингу</a:t>
            </a:r>
            <a:endParaRPr lang="en-US" altLang="en-US" sz="17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742950" lvl="1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  <a:sym typeface="+mn-ea"/>
              </a:rPr>
              <a:t>Тести є документацією, яка описує, як повинен працювати код. </a:t>
            </a:r>
            <a:r>
              <a:rPr lang="uk-UA" altLang="en-US" sz="1700" dirty="0" err="1">
                <a:solidFill>
                  <a:schemeClr val="tx1"/>
                </a:solidFill>
                <a:ea typeface="Microsoft YaHei" panose="020B0503020204020204" charset="-122"/>
                <a:sym typeface="+mn-ea"/>
              </a:rPr>
              <a:t>        </a:t>
            </a: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  <a:sym typeface="+mn-ea"/>
              </a:rPr>
              <a:t>Це особливо корисно для нових розробників, що вливаються у про</a:t>
            </a:r>
            <a:r>
              <a:rPr lang="uk-UA" altLang="en-US" sz="1700" dirty="0" err="1">
                <a:solidFill>
                  <a:schemeClr val="tx1"/>
                </a:solidFill>
                <a:ea typeface="Microsoft YaHei" panose="020B0503020204020204" charset="-122"/>
                <a:sym typeface="+mn-ea"/>
              </a:rPr>
              <a:t>є</a:t>
            </a: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  <a:sym typeface="+mn-ea"/>
              </a:rPr>
              <a:t>кт</a:t>
            </a:r>
            <a:endParaRPr lang="en-US" altLang="en-US" sz="17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742950" lvl="1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  <a:sym typeface="+mn-ea"/>
              </a:rPr>
              <a:t>Вони забезпечують узгодженість поведінки програми під час роботи кількох розробників над одним про</a:t>
            </a:r>
            <a:r>
              <a:rPr lang="uk-UA" altLang="en-US" sz="1700" dirty="0" err="1">
                <a:solidFill>
                  <a:schemeClr val="tx1"/>
                </a:solidFill>
                <a:ea typeface="Microsoft YaHei" panose="020B0503020204020204" charset="-122"/>
                <a:sym typeface="+mn-ea"/>
              </a:rPr>
              <a:t>є</a:t>
            </a: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  <a:sym typeface="+mn-ea"/>
              </a:rPr>
              <a:t>ктом</a:t>
            </a:r>
            <a:endParaRPr lang="en-US" altLang="en-US" sz="17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742950" lvl="1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17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742950" lvl="1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17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sz="4200" dirty="0">
                <a:solidFill>
                  <a:schemeClr val="bg1"/>
                </a:solidFill>
                <a:sym typeface="+mn-ea"/>
              </a:rPr>
              <a:t>Навіщо тестувати?</a:t>
            </a:r>
            <a:endParaRPr lang="uk-UA" altLang="en-US" sz="4200" dirty="0">
              <a:solidFill>
                <a:schemeClr val="bg1"/>
              </a:solidFill>
              <a:ea typeface="Microsoft YaHei" panose="020B0503020204020204" charset="-122"/>
              <a:sym typeface="+mn-ea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4375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b="1" dirty="0" err="1">
                <a:solidFill>
                  <a:schemeClr val="tx1"/>
                </a:solidFill>
                <a:ea typeface="Microsoft YaHei" panose="020B0503020204020204" charset="-122"/>
              </a:rPr>
              <a:t>Прискорення розробки:</a:t>
            </a:r>
            <a:endParaRPr lang="en-US" altLang="en-US" sz="16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742950" lvl="1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dirty="0" err="1">
                <a:solidFill>
                  <a:schemeClr val="tx1"/>
                </a:solidFill>
                <a:ea typeface="Microsoft YaHei" panose="020B0503020204020204" charset="-122"/>
              </a:rPr>
              <a:t>Використання підходу Test-Driven Development (TDD) дозволяє спочатку писати тести, а потім код, що допомагає чітко формулювати вимоги</a:t>
            </a:r>
            <a:r>
              <a:rPr lang="ru-RU" altLang="en-US" sz="1600" dirty="0" err="1">
                <a:solidFill>
                  <a:schemeClr val="tx1"/>
                </a:solidFill>
                <a:ea typeface="Microsoft YaHei" panose="020B0503020204020204" charset="-122"/>
              </a:rPr>
              <a:t>        </a:t>
            </a:r>
            <a:r>
              <a:rPr lang="en-US" altLang="en-US" sz="1600" dirty="0" err="1">
                <a:solidFill>
                  <a:schemeClr val="tx1"/>
                </a:solidFill>
                <a:ea typeface="Microsoft YaHei" panose="020B0503020204020204" charset="-122"/>
              </a:rPr>
              <a:t> та уникати надмірної функціональності</a:t>
            </a:r>
            <a:endParaRPr lang="en-US" altLang="en-US" sz="16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742950" lvl="1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dirty="0" err="1">
                <a:solidFill>
                  <a:schemeClr val="tx1"/>
                </a:solidFill>
                <a:ea typeface="Microsoft YaHei" panose="020B0503020204020204" charset="-122"/>
              </a:rPr>
              <a:t>Автоматизовані тести скорочують час, що витрачається на ручне тестування</a:t>
            </a:r>
            <a:endParaRPr lang="en-US" altLang="en-US" sz="16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b="1" dirty="0" err="1">
                <a:solidFill>
                  <a:schemeClr val="tx1"/>
                </a:solidFill>
                <a:ea typeface="Microsoft YaHei" panose="020B0503020204020204" charset="-122"/>
              </a:rPr>
              <a:t>Інтеграція з CI/CD:</a:t>
            </a:r>
            <a:r>
              <a:rPr lang="en-US" altLang="en-US" sz="1600" b="1" dirty="0" err="1">
                <a:solidFill>
                  <a:srgbClr val="0070C0"/>
                </a:solidFill>
                <a:ea typeface="Microsoft YaHei" panose="020B0503020204020204" charset="-122"/>
              </a:rPr>
              <a:t> </a:t>
            </a:r>
            <a:r>
              <a:rPr lang="en-US" altLang="en-US" sz="1600" b="1" dirty="0" err="1">
                <a:solidFill>
                  <a:srgbClr val="0070C0"/>
                </a:solidFill>
                <a:ea typeface="Microsoft YaHei" panose="020B0503020204020204" charset="-122"/>
                <a:hlinkClick r:id="rId1" action="ppaction://hlinkfile"/>
              </a:rPr>
              <a:t>https://dou.ua/forums/topic/47081/</a:t>
            </a:r>
            <a:endParaRPr lang="en-US" altLang="en-US" sz="16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742950" lvl="1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dirty="0" err="1">
                <a:solidFill>
                  <a:schemeClr val="tx1"/>
                </a:solidFill>
                <a:ea typeface="Microsoft YaHei" panose="020B0503020204020204" charset="-122"/>
              </a:rPr>
              <a:t>Тести інтегруються у процеси безперервної інтеграції та доставки (CI/CD), автоматично перевіряючи код перед депло</a:t>
            </a:r>
            <a:r>
              <a:rPr lang="uk-UA" altLang="en-US" sz="1600" dirty="0" err="1">
                <a:solidFill>
                  <a:schemeClr val="tx1"/>
                </a:solidFill>
                <a:ea typeface="Microsoft YaHei" panose="020B0503020204020204" charset="-122"/>
              </a:rPr>
              <a:t>є</a:t>
            </a:r>
            <a:r>
              <a:rPr lang="en-US" altLang="en-US" sz="1600" dirty="0" err="1">
                <a:solidFill>
                  <a:schemeClr val="tx1"/>
                </a:solidFill>
                <a:ea typeface="Microsoft YaHei" panose="020B0503020204020204" charset="-122"/>
              </a:rPr>
              <a:t>м. Це знижує ймовірність помилок у продакшені</a:t>
            </a:r>
            <a:endParaRPr lang="en-US" altLang="en-US" sz="16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b="1" dirty="0" err="1">
                <a:solidFill>
                  <a:schemeClr val="tx1"/>
                </a:solidFill>
                <a:ea typeface="Microsoft YaHei" panose="020B0503020204020204" charset="-122"/>
              </a:rPr>
              <a:t>Підвищення впевненості у продукті:</a:t>
            </a:r>
            <a:endParaRPr lang="en-US" altLang="en-US" sz="16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742950" lvl="1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dirty="0" err="1">
                <a:solidFill>
                  <a:schemeClr val="tx1"/>
                </a:solidFill>
                <a:ea typeface="Microsoft YaHei" panose="020B0503020204020204" charset="-122"/>
              </a:rPr>
              <a:t>Тести дають впевненість, що програма працює коректно в різних сценаріях, включаючи крайні випадки (edge ​​cases)</a:t>
            </a:r>
            <a:endParaRPr lang="en-US" altLang="en-US" sz="16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742950" lvl="1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dirty="0" err="1">
                <a:solidFill>
                  <a:schemeClr val="tx1"/>
                </a:solidFill>
                <a:ea typeface="Microsoft YaHei" panose="020B0503020204020204" charset="-122"/>
              </a:rPr>
              <a:t>Це особливо важливо для додатків з високим навантаженням </a:t>
            </a:r>
            <a:r>
              <a:rPr lang="uk-UA" altLang="en-US" sz="1600" dirty="0" err="1">
                <a:solidFill>
                  <a:schemeClr val="tx1"/>
                </a:solidFill>
                <a:ea typeface="Microsoft YaHei" panose="020B0503020204020204" charset="-122"/>
              </a:rPr>
              <a:t>                </a:t>
            </a:r>
            <a:r>
              <a:rPr lang="en-US" altLang="en-US" sz="1600" dirty="0" err="1">
                <a:solidFill>
                  <a:schemeClr val="tx1"/>
                </a:solidFill>
                <a:ea typeface="Microsoft YaHei" panose="020B0503020204020204" charset="-122"/>
              </a:rPr>
              <a:t>або критично важливих систем, де помилки можуть призвести </a:t>
            </a:r>
            <a:r>
              <a:rPr lang="uk-UA" altLang="en-US" sz="1600" dirty="0" err="1">
                <a:solidFill>
                  <a:schemeClr val="tx1"/>
                </a:solidFill>
                <a:ea typeface="Microsoft YaHei" panose="020B0503020204020204" charset="-122"/>
              </a:rPr>
              <a:t>                 </a:t>
            </a:r>
            <a:r>
              <a:rPr lang="en-US" altLang="en-US" sz="1600" dirty="0" err="1">
                <a:solidFill>
                  <a:schemeClr val="tx1"/>
                </a:solidFill>
                <a:ea typeface="Microsoft YaHei" panose="020B0503020204020204" charset="-122"/>
              </a:rPr>
              <a:t>до серйозних наслідків</a:t>
            </a:r>
            <a:endParaRPr lang="en-US" altLang="en-US" sz="16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60325" y="6395720"/>
            <a:ext cx="895604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b="1">
                <a:solidFill>
                  <a:srgbClr val="0070C0"/>
                </a:solidFill>
                <a:hlinkClick r:id="rId2" action="ppaction://hlinkfile"/>
              </a:rPr>
              <a:t>https://teletype.in/@cursor.education/p3vQsTxs</a:t>
            </a:r>
            <a:r>
              <a:rPr lang="ru-RU" altLang="en-US" b="1">
                <a:solidFill>
                  <a:srgbClr val="0070C0"/>
                </a:solidFill>
              </a:rPr>
              <a:t> </a:t>
            </a:r>
            <a:r>
              <a:rPr lang="en-US" altLang="en-US" b="1">
                <a:solidFill>
                  <a:schemeClr val="tx1"/>
                </a:solidFill>
              </a:rPr>
              <a:t>edge cases</a:t>
            </a:r>
            <a:endParaRPr lang="en-US" altLang="en-US" b="1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Модульн</a:t>
            </a:r>
            <a:r>
              <a:rPr lang="uk-UA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і тести</a:t>
            </a:r>
            <a:endParaRPr lang="uk-UA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481965" y="138620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Для перевірки клієнт-серверних додатків використовуються різні типи тестів, кожен з яких фокусується на певних аспектах програми                             та виконує специфічні завдання.</a:t>
            </a:r>
            <a:r>
              <a:rPr lang="ru-RU" altLang="en-US" sz="1800" b="1" dirty="0" err="1">
                <a:solidFill>
                  <a:schemeClr val="tx1"/>
                </a:solidFill>
                <a:ea typeface="Microsoft YaHei" panose="020B0503020204020204" charset="-122"/>
              </a:rPr>
              <a:t> </a:t>
            </a:r>
            <a:r>
              <a:rPr lang="en-US" altLang="en-US" sz="1800" b="1" dirty="0" err="1">
                <a:solidFill>
                  <a:schemeClr val="tx1"/>
                </a:solidFill>
                <a:ea typeface="Microsoft YaHei" panose="020B0503020204020204" charset="-122"/>
              </a:rPr>
              <a:t>Модульні тести (Unit Tests):</a:t>
            </a:r>
            <a:endParaRPr lang="en-US" altLang="en-US" sz="18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chemeClr val="tx1"/>
                </a:solidFill>
                <a:ea typeface="Microsoft YaHei" panose="020B0503020204020204" charset="-122"/>
              </a:rPr>
              <a:t>Опис</a:t>
            </a: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: Перевіряють окремі компоненти чи методи в ізоляції, наприклад, логіку обробки запитів на сервері або функціональність клієнтських утиліт</a:t>
            </a:r>
            <a:endParaRPr lang="en-US" altLang="en-US" sz="18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chemeClr val="tx1"/>
                </a:solidFill>
                <a:ea typeface="Microsoft YaHei" panose="020B0503020204020204" charset="-122"/>
              </a:rPr>
              <a:t>Мета</a:t>
            </a: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: Переконатися, що кожна частина коду працює коректно незалежно від інших</a:t>
            </a:r>
            <a:endParaRPr lang="en-US" altLang="en-US" sz="18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chemeClr val="tx1"/>
                </a:solidFill>
                <a:ea typeface="Microsoft YaHei" panose="020B0503020204020204" charset="-122"/>
              </a:rPr>
              <a:t>Приклад</a:t>
            </a: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: Перевірка, що метод ProcessRequest() повертає правильну відповідь або функція CalculateTotal() обчислює правильну суму</a:t>
            </a:r>
            <a:endParaRPr lang="en-US" altLang="en-US" sz="18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chemeClr val="tx1"/>
                </a:solidFill>
                <a:ea typeface="Microsoft YaHei" panose="020B0503020204020204" charset="-122"/>
              </a:rPr>
              <a:t>Інструменти</a:t>
            </a: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: </a:t>
            </a: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  <a:hlinkClick r:id="rId1" tooltip="" action="ppaction://hlinkfile"/>
              </a:rPr>
              <a:t>xUnit</a:t>
            </a: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, NUnit, FluentAssertions, NSubstitute</a:t>
            </a:r>
            <a:endParaRPr lang="en-US" altLang="en-US" sz="18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chemeClr val="tx1"/>
                </a:solidFill>
                <a:ea typeface="Microsoft YaHei" panose="020B0503020204020204" charset="-122"/>
              </a:rPr>
              <a:t>Переваги</a:t>
            </a: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: Швидкі, прості у написанні, допомагають виявляти помилки в окремих модулях</a:t>
            </a:r>
            <a:endParaRPr lang="en-US" altLang="en-US" sz="18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chemeClr val="tx1"/>
                </a:solidFill>
                <a:ea typeface="Microsoft YaHei" panose="020B0503020204020204" charset="-122"/>
              </a:rPr>
              <a:t>Недоліки</a:t>
            </a: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: Не перевіряють взаємодію між клієнтом і сервером</a:t>
            </a:r>
            <a:endParaRPr lang="en-US" altLang="en-US" sz="18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Інтеграційні тести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481965" y="1457960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b="1" dirty="0" err="1">
                <a:solidFill>
                  <a:schemeClr val="tx1"/>
                </a:solidFill>
                <a:ea typeface="Microsoft YaHei" panose="020B0503020204020204" charset="-122"/>
              </a:rPr>
              <a:t>Опис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: Перевіряють взаємодію кількох компонентів або модулів у клієнт-серверних додатках, наприклад, </a:t>
            </a:r>
            <a:r>
              <a:rPr lang="ru-RU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 </a:t>
            </a:r>
            <a:r>
              <a:rPr lang="en-US" altLang="ru-RU" sz="2100" dirty="0" err="1">
                <a:solidFill>
                  <a:schemeClr val="tx1"/>
                </a:solidFill>
                <a:ea typeface="Microsoft YaHei" panose="020B0503020204020204" charset="-122"/>
              </a:rPr>
              <a:t>             </a:t>
            </a:r>
            <a:r>
              <a:rPr lang="ru-RU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 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як клієнтський запит обробляється сервером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b="1" dirty="0" err="1">
                <a:solidFill>
                  <a:schemeClr val="tx1"/>
                </a:solidFill>
                <a:ea typeface="Microsoft YaHei" panose="020B0503020204020204" charset="-122"/>
              </a:rPr>
              <a:t>Мета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: Переконатися, що компоненти працюють разом </a:t>
            </a:r>
            <a:r>
              <a:rPr lang="ru-RU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      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як очікувано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b="1" dirty="0" err="1">
                <a:solidFill>
                  <a:schemeClr val="tx1"/>
                </a:solidFill>
                <a:ea typeface="Microsoft YaHei" panose="020B0503020204020204" charset="-122"/>
              </a:rPr>
              <a:t>Приклад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: Перевірка, що клієнтський запит надсилає дані до сервера і сервер оновлює стан системи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b="1" dirty="0" err="1">
                <a:solidFill>
                  <a:schemeClr val="tx1"/>
                </a:solidFill>
                <a:ea typeface="Microsoft YaHei" panose="020B0503020204020204" charset="-122"/>
              </a:rPr>
              <a:t>Інструменти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: xUnit, NUnit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b="1" dirty="0" err="1">
                <a:solidFill>
                  <a:schemeClr val="tx1"/>
                </a:solidFill>
                <a:ea typeface="Microsoft YaHei" panose="020B0503020204020204" charset="-122"/>
              </a:rPr>
              <a:t>Переваги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: Ближче до реальних сценаріїв, перевіряють сумісність між клієнтом і сервером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b="1" dirty="0" err="1">
                <a:solidFill>
                  <a:schemeClr val="tx1"/>
                </a:solidFill>
                <a:ea typeface="Microsoft YaHei" panose="020B0503020204020204" charset="-122"/>
              </a:rPr>
              <a:t>Недоліки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: Складніші у написанні та повільніші, </a:t>
            </a:r>
            <a:r>
              <a:rPr lang="ru-RU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                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ніж модульні тести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sym typeface="+mn-ea"/>
              </a:rPr>
              <a:t>Скрізні тести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  <a:sym typeface="+mn-ea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358900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chemeClr val="tx1"/>
                </a:solidFill>
                <a:ea typeface="Microsoft YaHei" panose="020B0503020204020204" charset="-122"/>
              </a:rPr>
              <a:t>Опис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: Емулюють дії користувача в реальному клієнт-серверному середовищі, перевіряючи весь стек програми </a:t>
            </a:r>
            <a:r>
              <a:rPr lang="ru-RU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    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від клієнтського інтерфейсу до серверної логіки</a:t>
            </a: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chemeClr val="tx1"/>
                </a:solidFill>
                <a:ea typeface="Microsoft YaHei" panose="020B0503020204020204" charset="-122"/>
              </a:rPr>
              <a:t>Мета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: Гарантувати коректну роботу програми в реальних сценаріях</a:t>
            </a: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chemeClr val="tx1"/>
                </a:solidFill>
                <a:ea typeface="Microsoft YaHei" panose="020B0503020204020204" charset="-122"/>
              </a:rPr>
              <a:t>Приклад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: Тестування процесу авторизації користувача, включаючи введення даних, відправку запиту та отримання відповіді від сервера</a:t>
            </a: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chemeClr val="tx1"/>
                </a:solidFill>
                <a:ea typeface="Microsoft YaHei" panose="020B0503020204020204" charset="-122"/>
              </a:rPr>
              <a:t>Інструменти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: Selenium, RestAssured</a:t>
            </a: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chemeClr val="tx1"/>
                </a:solidFill>
                <a:ea typeface="Microsoft YaHei" panose="020B0503020204020204" charset="-122"/>
              </a:rPr>
              <a:t>Переваги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: Максимально наближені до реального використання програми</a:t>
            </a: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chemeClr val="tx1"/>
                </a:solidFill>
                <a:ea typeface="Microsoft YaHei" panose="020B0503020204020204" charset="-122"/>
              </a:rPr>
              <a:t>Недоліки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: Повільні, складні в налаштуванні та підтримці, вимагають реального або емульованого серверного середовища</a:t>
            </a: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sym typeface="+mn-ea"/>
              </a:rPr>
              <a:t>Тести доступності 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  <a:sym typeface="+mn-ea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437515" y="138620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b="1" dirty="0" err="1">
                <a:solidFill>
                  <a:schemeClr val="tx1"/>
                </a:solidFill>
                <a:ea typeface="Microsoft YaHei" panose="020B0503020204020204" charset="-122"/>
              </a:rPr>
              <a:t>Опис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: Перевіряють, чи клієнт-серверний додаток на C# відповідає стандартам доступності (наприклад, WCAG або WAI-ARIA)</a:t>
            </a:r>
            <a:r>
              <a:rPr lang="ru-RU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 </a:t>
            </a:r>
            <a:r>
              <a:rPr lang="en-US" altLang="en-US" sz="2100" dirty="0" err="1">
                <a:solidFill>
                  <a:srgbClr val="0070C0"/>
                </a:solidFill>
                <a:ea typeface="Microsoft YaHei" panose="020B0503020204020204" charset="-122"/>
                <a:hlinkClick r:id="rId1" action="ppaction://hlinkfile"/>
              </a:rPr>
              <a:t>https://www.w3.org/WAI/standards-guidelines/wcag/</a:t>
            </a:r>
            <a:endParaRPr lang="en-US" altLang="en-US" sz="2100" dirty="0" err="1">
              <a:solidFill>
                <a:srgbClr val="0070C0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b="1" dirty="0" err="1">
                <a:solidFill>
                  <a:schemeClr val="tx1"/>
                </a:solidFill>
                <a:ea typeface="Microsoft YaHei" panose="020B0503020204020204" charset="-122"/>
              </a:rPr>
              <a:t>Мета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: Гарантувати, що програма доступна для користувачів з обмеженими можливостями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b="1" dirty="0" err="1">
                <a:solidFill>
                  <a:schemeClr val="tx1"/>
                </a:solidFill>
                <a:ea typeface="Microsoft YaHei" panose="020B0503020204020204" charset="-122"/>
              </a:rPr>
              <a:t>Приклад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: Перевірка, що всі елементи клієнтського інтерфейсу мають правильні атрибути доступності, наприклад, відповідні HTTP-відповіді для скрінрідерів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b="1" dirty="0" err="1">
                <a:solidFill>
                  <a:schemeClr val="tx1"/>
                </a:solidFill>
                <a:ea typeface="Microsoft YaHei" panose="020B0503020204020204" charset="-122"/>
              </a:rPr>
              <a:t>Інструменти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: Axe-core, Pa11y, NUnit з бібліотеками </a:t>
            </a:r>
            <a:r>
              <a:rPr lang="ru-RU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            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для тестування API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b="1" dirty="0" err="1">
                <a:solidFill>
                  <a:schemeClr val="tx1"/>
                </a:solidFill>
                <a:ea typeface="Microsoft YaHei" panose="020B0503020204020204" charset="-122"/>
              </a:rPr>
              <a:t>Переваги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: Покращують інклюзивність додатків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b="1" dirty="0" err="1">
                <a:solidFill>
                  <a:schemeClr val="tx1"/>
                </a:solidFill>
                <a:ea typeface="Microsoft YaHei" panose="020B0503020204020204" charset="-122"/>
              </a:rPr>
              <a:t>Недоліки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: Вимагають знання стандартів доступності           та додаткового налаштування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58420" y="6335395"/>
            <a:ext cx="895604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b="1">
                <a:solidFill>
                  <a:srgbClr val="0070C0"/>
                </a:solidFill>
                <a:hlinkClick r:id="rId2" action="ppaction://hlinkfile"/>
              </a:rPr>
              <a:t>https://www.w3.org/WAI/standards-guidelines/aria/</a:t>
            </a:r>
            <a:endParaRPr lang="en-US" altLang="en-US" b="1">
              <a:solidFill>
                <a:srgbClr val="0070C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sym typeface="+mn-ea"/>
              </a:rPr>
              <a:t>Тести продуктивності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  <a:sym typeface="+mn-ea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47800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b="1" dirty="0" err="1">
                <a:solidFill>
                  <a:schemeClr val="tx1"/>
                </a:solidFill>
                <a:ea typeface="Microsoft YaHei" panose="020B0503020204020204" charset="-122"/>
              </a:rPr>
              <a:t>Опис</a:t>
            </a:r>
            <a:r>
              <a:rPr lang="en-US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: Перевіряють, як клієнт-серверний додаток </a:t>
            </a:r>
            <a:r>
              <a:rPr lang="ru-RU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      </a:t>
            </a:r>
            <a:r>
              <a:rPr lang="en-US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на C# поводиться при високому навантаженні або </a:t>
            </a:r>
            <a:r>
              <a:rPr lang="ru-RU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  </a:t>
            </a:r>
            <a:r>
              <a:rPr lang="en-US" altLang="ru-RU" sz="2300" dirty="0" err="1">
                <a:solidFill>
                  <a:schemeClr val="tx1"/>
                </a:solidFill>
                <a:ea typeface="Microsoft YaHei" panose="020B0503020204020204" charset="-122"/>
              </a:rPr>
              <a:t>   </a:t>
            </a:r>
            <a:r>
              <a:rPr lang="ru-RU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 </a:t>
            </a:r>
            <a:r>
              <a:rPr lang="en-US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в складних умовах</a:t>
            </a:r>
            <a:endParaRPr lang="en-US" altLang="en-US" sz="23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b="1" dirty="0" err="1">
                <a:solidFill>
                  <a:schemeClr val="tx1"/>
                </a:solidFill>
                <a:ea typeface="Microsoft YaHei" panose="020B0503020204020204" charset="-122"/>
              </a:rPr>
              <a:t>Мета</a:t>
            </a:r>
            <a:r>
              <a:rPr lang="en-US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: Гарантувати, що програма залишається швидкою та стабільною.</a:t>
            </a:r>
            <a:endParaRPr lang="en-US" altLang="en-US" sz="23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b="1" dirty="0" err="1">
                <a:solidFill>
                  <a:schemeClr val="tx1"/>
                </a:solidFill>
                <a:ea typeface="Microsoft YaHei" panose="020B0503020204020204" charset="-122"/>
              </a:rPr>
              <a:t>Приклад</a:t>
            </a:r>
            <a:r>
              <a:rPr lang="en-US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: Перевірка часу обробки великої кількості запитів до сервера або виконання складних операцій</a:t>
            </a:r>
            <a:endParaRPr lang="en-US" altLang="en-US" sz="23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b="1" dirty="0" err="1">
                <a:solidFill>
                  <a:schemeClr val="tx1"/>
                </a:solidFill>
                <a:ea typeface="Microsoft YaHei" panose="020B0503020204020204" charset="-122"/>
              </a:rPr>
              <a:t>Переваги</a:t>
            </a:r>
            <a:r>
              <a:rPr lang="en-US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: Допомагають оптимізувати продуктивність системи</a:t>
            </a:r>
            <a:endParaRPr lang="en-US" altLang="en-US" sz="23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b="1" dirty="0" err="1">
                <a:solidFill>
                  <a:schemeClr val="tx1"/>
                </a:solidFill>
                <a:ea typeface="Microsoft YaHei" panose="020B0503020204020204" charset="-122"/>
              </a:rPr>
              <a:t>Недоліки</a:t>
            </a:r>
            <a:r>
              <a:rPr lang="en-US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: Складні у реалізації та вимагають спеціалізованих інструментів</a:t>
            </a:r>
            <a:endParaRPr lang="en-US" altLang="en-US" sz="23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uk-UA" altLang="en-US" dirty="0">
                <a:sym typeface="+mn-ea"/>
              </a:rPr>
              <a:t>Рефакторинг</a:t>
            </a:r>
            <a:endParaRPr lang="uk-UA" altLang="en-US" dirty="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66850"/>
            <a:ext cx="7921625" cy="44164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Головний інструмент адаптивної розробки – </a:t>
            </a:r>
            <a:r>
              <a:rPr kumimoji="0" lang="uk-UA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це рефакторинг.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Рефакторинг 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– це процес покращення коду </a:t>
            </a:r>
            <a:r>
              <a:rPr kumimoji="0" lang="uk-UA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без додавання нової функціональності.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Вносячи зміни до коду, легко поламати те, </a:t>
            </a:r>
            <a:r>
              <a:rPr kumimoji="0" lang="uk-UA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що працювало, і навіть не помітити цього.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Добре було б </a:t>
            </a:r>
            <a:r>
              <a:rPr kumimoji="0" lang="en-US" altLang="en-US" sz="2400" b="0" i="0" u="sng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зафіксувати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правильну поведінку,</a:t>
            </a:r>
            <a:r>
              <a:rPr kumimoji="0" lang="uk-UA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і регулярно перевіряти, чи код </a:t>
            </a:r>
            <a:r>
              <a:rPr kumimoji="0" lang="uk-UA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їй 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відповідає.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Тести - це і є спосіб зафіксувати правильну поведінку коду.</a:t>
            </a:r>
            <a:endParaRPr kumimoji="0" lang="en-US" altLang="en-US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uk-UA" altLang="ru-RU" dirty="0">
                <a:sym typeface="+mn-ea"/>
              </a:rPr>
              <a:t>Модульність</a:t>
            </a:r>
            <a:endParaRPr lang="en-US" alt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66850"/>
            <a:ext cx="7921625" cy="44164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Модуль </a:t>
            </a:r>
            <a:r>
              <a:rPr kumimoji="0" lang="en-US" altLang="en-US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– це функція, метод чи маленький утилітарний клас.</a:t>
            </a:r>
            <a:endParaRPr kumimoji="0" lang="en-US" altLang="en-US" sz="2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en-US" sz="2600" b="0" i="0" u="sng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Один модульний тест перевіряє одну функцію   чи метод.</a:t>
            </a:r>
            <a:endParaRPr kumimoji="0" lang="en-US" altLang="en-US" sz="2600" b="0" i="0" u="sng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uk-UA" altLang="en-US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Під м</a:t>
            </a:r>
            <a:r>
              <a:rPr kumimoji="0" lang="en-US" altLang="en-US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одульн</a:t>
            </a:r>
            <a:r>
              <a:rPr kumimoji="0" lang="uk-UA" altLang="en-US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им</a:t>
            </a:r>
            <a:r>
              <a:rPr kumimoji="0" lang="en-US" altLang="en-US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тест</a:t>
            </a:r>
            <a:r>
              <a:rPr kumimoji="0" lang="uk-UA" altLang="en-US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ом</a:t>
            </a:r>
            <a:r>
              <a:rPr kumimoji="0" lang="en-US" altLang="en-US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має</a:t>
            </a:r>
            <a:r>
              <a:rPr kumimoji="0" lang="uk-UA" altLang="en-US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ться</a:t>
            </a:r>
            <a:r>
              <a:rPr kumimoji="0" lang="en-US" altLang="en-US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на увазі </a:t>
            </a:r>
            <a:r>
              <a:rPr kumimoji="0" lang="en-US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ізольоване тестування методу</a:t>
            </a:r>
            <a:r>
              <a:rPr kumimoji="0" lang="en-US" altLang="en-US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endParaRPr kumimoji="0" lang="en-US" altLang="en-US" sz="2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en-US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Тести не повинні </a:t>
            </a:r>
            <a:r>
              <a:rPr kumimoji="0" lang="uk-UA" altLang="en-US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захаращувати </a:t>
            </a:r>
            <a:r>
              <a:rPr kumimoji="0" lang="en-US" altLang="en-US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про</a:t>
            </a:r>
            <a:r>
              <a:rPr kumimoji="0" lang="uk-UA" altLang="en-US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є</a:t>
            </a:r>
            <a:r>
              <a:rPr kumimoji="0" lang="en-US" altLang="en-US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кт              або обтяжувати його додатковим кодом.</a:t>
            </a:r>
            <a:endParaRPr kumimoji="0" lang="en-US" altLang="en-US" sz="2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en-US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Тести повинні запускатися в IDE і там </a:t>
            </a:r>
            <a:r>
              <a:rPr kumimoji="0" lang="uk-UA" altLang="en-US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же </a:t>
            </a:r>
            <a:r>
              <a:rPr kumimoji="0" lang="en-US" altLang="en-US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повинні показуватися результати їх виконання.</a:t>
            </a:r>
            <a:endParaRPr kumimoji="0" lang="en-US" altLang="en-US" sz="2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en-US" dirty="0">
                <a:sym typeface="+mn-ea"/>
              </a:rPr>
              <a:t>Підходи та прийоми</a:t>
            </a:r>
            <a:endParaRPr lang="en-US" altLang="en-US" dirty="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66850"/>
            <a:ext cx="7921625" cy="44164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0" lang="en-US" altLang="en-US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Швидкість</a:t>
            </a:r>
            <a:endParaRPr kumimoji="0" lang="en-US" altLang="en-US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0" lang="en-US" altLang="en-US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Ізольованість</a:t>
            </a:r>
            <a:endParaRPr kumimoji="0" lang="en-US" altLang="en-US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0" lang="en-US" altLang="en-US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Тестування приватних методів</a:t>
            </a:r>
            <a:endParaRPr kumimoji="0" lang="en-US" altLang="en-US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0" lang="en-US" altLang="en-US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TDD (Test-Driven-Development)</a:t>
            </a:r>
            <a:endParaRPr kumimoji="0" lang="en-US" altLang="en-US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uk-UA" altLang="uk-UA" dirty="0">
                <a:sym typeface="+mn-ea"/>
              </a:rPr>
              <a:t>Швидкість</a:t>
            </a:r>
            <a:endParaRPr lang="uk-UA" altLang="uk-UA" dirty="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66850"/>
            <a:ext cx="7921625" cy="44164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en-US" sz="27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Модульні тести мають бути простими, а головне – швидкими. Інакше - будемо </a:t>
            </a:r>
            <a:r>
              <a:rPr kumimoji="0" lang="uk-UA" altLang="en-US" sz="27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відверті </a:t>
            </a:r>
            <a:r>
              <a:rPr kumimoji="0" lang="en-US" altLang="en-US" sz="27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 ви запускатимете їх у кращому випадку раз </a:t>
            </a:r>
            <a:r>
              <a:rPr kumimoji="0" lang="uk-UA" altLang="en-US" sz="27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</a:t>
            </a:r>
            <a:r>
              <a:rPr kumimoji="0" lang="en-US" altLang="en-US" sz="27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на тиждень. А це дискредитує ідею модульного тестування: </a:t>
            </a:r>
            <a:r>
              <a:rPr kumimoji="0" lang="en-US" altLang="en-US" sz="27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якщо щось зламали, необхідно відразу ж дізнатися про це</a:t>
            </a:r>
            <a:r>
              <a:rPr kumimoji="0" lang="en-US" altLang="en-US" sz="27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 Якщо у вас вийшов складний та повільний тест – значить, щось пішло не так. Або ви щось </a:t>
            </a:r>
            <a:r>
              <a:rPr kumimoji="0" lang="uk-UA" altLang="en-US" sz="27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не те </a:t>
            </a:r>
            <a:r>
              <a:rPr kumimoji="0" lang="en-US" altLang="en-US" sz="27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тестуєте, або це не модульний тест, а інтеграційний,   або у вас проблеми з архітектурою.</a:t>
            </a:r>
            <a:endParaRPr kumimoji="0" lang="en-US" altLang="en-US" sz="27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en-US" dirty="0">
                <a:sym typeface="+mn-ea"/>
              </a:rPr>
              <a:t>Ізольованість</a:t>
            </a:r>
            <a:endParaRPr lang="en-US" altLang="en-US" dirty="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66850"/>
            <a:ext cx="7921625" cy="44164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Класи зазвичай мають залежн</a:t>
            </a:r>
            <a:r>
              <a:rPr kumimoji="0" lang="uk-UA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о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ст</a:t>
            </a:r>
            <a:r>
              <a:rPr kumimoji="0" lang="uk-UA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і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 Якщо тест методу не проходить, то не завжди зрозуміло хто винен: сам метод, або використані в ньому залежності.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Тому 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ключова властивість модульного тесту – ізольованість тестованого методу чи класу загалом </a:t>
            </a:r>
            <a:r>
              <a:rPr kumimoji="0" lang="uk-UA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від 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впливу його залежностей.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На час тестування методу потрібно позбавитися цього впливу. Рішення – на час тесту підмінити залежність на </a:t>
            </a:r>
            <a:r>
              <a:rPr kumimoji="0" lang="en-US" altLang="en-US" sz="2400" b="0" i="0" u="sng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підроб</a:t>
            </a:r>
            <a:r>
              <a:rPr kumimoji="0" lang="uk-UA" altLang="en-US" sz="2400" b="0" i="0" u="sng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ку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яка точно працює правильно.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Але ж не робити дві версії методу - для продакшена   і для тестування?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uk-UA" altLang="uk-UA" dirty="0">
                <a:sym typeface="+mn-ea"/>
              </a:rPr>
              <a:t>Абстрагуйся або помри</a:t>
            </a:r>
            <a:endParaRPr lang="uk-UA" altLang="uk-UA" dirty="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66850"/>
            <a:ext cx="7921625" cy="44164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en-US" sz="2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Простіше в тестованому класі абстрагуватися </a:t>
            </a:r>
            <a:r>
              <a:rPr kumimoji="0" lang="uk-UA" altLang="en-US" sz="2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</a:t>
            </a:r>
            <a:r>
              <a:rPr kumimoji="0" lang="en-US" altLang="en-US" sz="2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від конкретної реалізації залежності і замість посилань на конкретні реалізації використовувати інтерфейсні посилання. А конкретну реалізацію (справжню чи підроблену) – впроваджувати під час створення об'єкта. Це </a:t>
            </a:r>
            <a:r>
              <a:rPr kumimoji="0" lang="uk-UA" altLang="en-US" sz="2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доречі </a:t>
            </a:r>
            <a:r>
              <a:rPr kumimoji="0" lang="en-US" altLang="en-US" sz="2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про п'ятий принцип SOLID – принцип інверсії залежності. Програмуємо абстракції, а не реалізаці</a:t>
            </a:r>
            <a:r>
              <a:rPr kumimoji="0" lang="uk-UA" altLang="en-US" sz="2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ї</a:t>
            </a:r>
            <a:r>
              <a:rPr kumimoji="0" lang="en-US" altLang="en-US" sz="2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і конкретну реалізацію </a:t>
            </a:r>
            <a:r>
              <a:rPr kumimoji="0" lang="uk-UA" altLang="en-US" sz="2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kumimoji="0" lang="en-US" altLang="en-US" sz="2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в клас впроваджуємо за допомогою патерна Dependency Injection. Залишилося </a:t>
            </a:r>
            <a:r>
              <a:rPr kumimoji="0" lang="en-US" altLang="en-US" sz="25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зробити підробку </a:t>
            </a:r>
            <a:r>
              <a:rPr kumimoji="0" lang="en-US" altLang="en-US" sz="2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і підсунути її класу при тестуванні.</a:t>
            </a:r>
            <a:endParaRPr kumimoji="0" lang="en-US" altLang="en-US" sz="2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uk-UA" altLang="ru-RU" dirty="0">
                <a:sym typeface="+mn-ea"/>
              </a:rPr>
              <a:t>Види підробок</a:t>
            </a:r>
            <a:endParaRPr lang="uk-UA" altLang="ru-RU" dirty="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2600" y="1466850"/>
            <a:ext cx="8048625" cy="44164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en-US" sz="23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Стаби імітують стан деякого об'єкта, а моки – </a:t>
            </a:r>
            <a:r>
              <a:rPr kumimoji="0" lang="uk-UA" altLang="en-US" sz="23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</a:t>
            </a:r>
            <a:r>
              <a:rPr kumimoji="0" lang="en-US" altLang="en-US" sz="23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його поведінк</a:t>
            </a:r>
            <a:r>
              <a:rPr kumimoji="0" lang="uk-UA" altLang="en-US" sz="23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у</a:t>
            </a:r>
            <a:r>
              <a:rPr kumimoji="0" lang="en-US" altLang="en-US" sz="23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endParaRPr kumimoji="0" lang="en-US" altLang="en-US" sz="23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0" lang="en-US" altLang="en-US" sz="23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Стаб (заглушка) </a:t>
            </a:r>
            <a:r>
              <a:rPr kumimoji="0" lang="en-US" altLang="en-US" sz="23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нічого корисного робить, а просто імітує заданий стан, повертаючи певні значення </a:t>
            </a:r>
            <a:r>
              <a:rPr kumimoji="0" lang="uk-UA" altLang="en-US" sz="23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    </a:t>
            </a:r>
            <a:r>
              <a:rPr kumimoji="0" lang="en-US" altLang="en-US" sz="23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у відповідь </a:t>
            </a:r>
            <a:r>
              <a:rPr kumimoji="0" lang="uk-UA" altLang="en-US" sz="23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на </a:t>
            </a:r>
            <a:r>
              <a:rPr kumimoji="0" lang="en-US" altLang="en-US" sz="23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виклики його методів. Завдання стаба – моделювання зовнішнього оточення тестового класу.</a:t>
            </a:r>
            <a:endParaRPr kumimoji="0" lang="en-US" altLang="en-US" sz="23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0" lang="en-US" altLang="en-US" sz="23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Мок </a:t>
            </a:r>
            <a:r>
              <a:rPr kumimoji="0" lang="en-US" altLang="en-US" sz="23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 це об'єкт, який має </a:t>
            </a:r>
            <a:r>
              <a:rPr kumimoji="0" lang="uk-UA" altLang="en-US" sz="23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певні </a:t>
            </a:r>
            <a:r>
              <a:rPr kumimoji="0" lang="en-US" altLang="en-US" sz="23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очікування.</a:t>
            </a:r>
            <a:r>
              <a:rPr kumimoji="0" lang="uk-UA" altLang="en-US" sz="23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</a:t>
            </a:r>
            <a:r>
              <a:rPr kumimoji="0" lang="en-US" altLang="en-US" sz="23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Моки підсовуються деякому об'єкту, щоб потім можна було перевірити, чи він виконав необхідні дії. Мок </a:t>
            </a:r>
            <a:r>
              <a:rPr kumimoji="0" lang="uk-UA" altLang="en-US" sz="23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якби </a:t>
            </a:r>
            <a:r>
              <a:rPr kumimoji="0" lang="en-US" altLang="en-US" sz="23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записує дії тестованого методу, щоб потім перевірити, чи відповідають очікування мока поведінці тестованого класу.</a:t>
            </a:r>
            <a:endParaRPr kumimoji="0" lang="en-US" altLang="en-US" sz="23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580" y="228600"/>
            <a:ext cx="9086215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sz="4000" dirty="0" err="1">
                <a:solidFill>
                  <a:srgbClr val="FFFFFF"/>
                </a:solidFill>
                <a:ea typeface="Microsoft YaHei" panose="020B0503020204020204" charset="-122"/>
              </a:rPr>
              <a:t>Моки </a:t>
            </a:r>
            <a:r>
              <a:rPr lang="uk-UA" altLang="ru-RU" sz="4000" dirty="0" err="1">
                <a:solidFill>
                  <a:srgbClr val="FFFFFF"/>
                </a:solidFill>
                <a:ea typeface="Microsoft YaHei" panose="020B0503020204020204" charset="-122"/>
              </a:rPr>
              <a:t>та</a:t>
            </a:r>
            <a:r>
              <a:rPr lang="ru-RU" sz="4000" dirty="0" err="1">
                <a:solidFill>
                  <a:srgbClr val="FFFFFF"/>
                </a:solidFill>
                <a:ea typeface="Microsoft YaHei" panose="020B0503020204020204" charset="-122"/>
              </a:rPr>
              <a:t> стаб</a:t>
            </a:r>
            <a:r>
              <a:rPr lang="uk-UA" altLang="ru-RU" sz="4000" dirty="0" err="1">
                <a:solidFill>
                  <a:srgbClr val="FFFFFF"/>
                </a:solidFill>
                <a:ea typeface="Microsoft YaHei" panose="020B0503020204020204" charset="-122"/>
              </a:rPr>
              <a:t>и</a:t>
            </a:r>
            <a:endParaRPr lang="uk-UA" altLang="ru-RU" sz="40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67690" y="1430655"/>
            <a:ext cx="799211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 err="1">
                <a:solidFill>
                  <a:schemeClr val="tx1"/>
                </a:solidFill>
                <a:ea typeface="Microsoft YaHei" panose="020B0503020204020204" charset="-122"/>
              </a:rPr>
              <a:t>Моки </a:t>
            </a:r>
            <a:r>
              <a:rPr lang="en-US" altLang="en-US" sz="2400" dirty="0" err="1">
                <a:solidFill>
                  <a:schemeClr val="tx1"/>
                </a:solidFill>
                <a:ea typeface="Microsoft YaHei" panose="020B0503020204020204" charset="-122"/>
              </a:rPr>
              <a:t>(mocks) та </a:t>
            </a:r>
            <a:r>
              <a:rPr lang="en-US" altLang="en-US" sz="2400" b="1" dirty="0" err="1">
                <a:solidFill>
                  <a:schemeClr val="tx1"/>
                </a:solidFill>
                <a:ea typeface="Microsoft YaHei" panose="020B0503020204020204" charset="-122"/>
              </a:rPr>
              <a:t>стаби </a:t>
            </a:r>
            <a:r>
              <a:rPr lang="en-US" altLang="en-US" sz="2400" dirty="0" err="1">
                <a:solidFill>
                  <a:schemeClr val="tx1"/>
                </a:solidFill>
                <a:ea typeface="Microsoft YaHei" panose="020B0503020204020204" charset="-122"/>
              </a:rPr>
              <a:t>(stubs) – це інструменти,</a:t>
            </a:r>
            <a:r>
              <a:rPr lang="uk-UA" altLang="en-US" sz="2400" dirty="0" err="1">
                <a:solidFill>
                  <a:schemeClr val="tx1"/>
                </a:solidFill>
                <a:ea typeface="Microsoft YaHei" panose="020B0503020204020204" charset="-122"/>
              </a:rPr>
              <a:t>      </a:t>
            </a:r>
            <a:r>
              <a:rPr lang="en-US" altLang="en-US" sz="2400" dirty="0" err="1">
                <a:solidFill>
                  <a:schemeClr val="tx1"/>
                </a:solidFill>
                <a:ea typeface="Microsoft YaHei" panose="020B0503020204020204" charset="-122"/>
              </a:rPr>
              <a:t> що використовуються у тестуванні програмного забезпечення для імітації поведінки залежностей. Вони допомагають ізолювати код, що тестується, замінюючи реальні компоненти (наприклад, бази даних, API, сервіси) на їх "підроблені" версії.</a:t>
            </a:r>
            <a:endParaRPr lang="en-US" altLang="en-US" sz="24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 err="1">
                <a:solidFill>
                  <a:srgbClr val="0070C0"/>
                </a:solidFill>
                <a:ea typeface="Microsoft YaHei" panose="020B0503020204020204" charset="-122"/>
                <a:hlinkClick r:id="rId1" action="ppaction://hlinkfile"/>
              </a:rPr>
              <a:t>https://habr.com/ru/articles/577424/</a:t>
            </a:r>
            <a:endParaRPr lang="en-US" altLang="en-US" sz="2400" b="1" dirty="0" err="1">
              <a:solidFill>
                <a:srgbClr val="0070C0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 err="1">
                <a:solidFill>
                  <a:srgbClr val="0070C0"/>
                </a:solidFill>
                <a:ea typeface="Microsoft YaHei" panose="020B0503020204020204" charset="-122"/>
                <a:hlinkClick r:id="rId2" action="ppaction://hlinkfile"/>
              </a:rPr>
              <a:t>https://habr.com/ru/articles/899788/</a:t>
            </a:r>
            <a:endParaRPr lang="en-US" altLang="en-US" sz="2400" b="1" dirty="0" err="1">
              <a:solidFill>
                <a:srgbClr val="0070C0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 err="1">
                <a:solidFill>
                  <a:srgbClr val="0070C0"/>
                </a:solidFill>
                <a:ea typeface="Microsoft YaHei" panose="020B0503020204020204" charset="-122"/>
                <a:hlinkClick r:id="rId3" action="ppaction://hlinkfile"/>
              </a:rPr>
              <a:t>https://habr.com/ru/articles/134836/</a:t>
            </a:r>
            <a:endParaRPr lang="en-US" altLang="en-US" sz="2400" b="1" dirty="0" err="1">
              <a:solidFill>
                <a:srgbClr val="0070C0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 err="1">
                <a:solidFill>
                  <a:srgbClr val="0070C0"/>
                </a:solidFill>
                <a:ea typeface="Microsoft YaHei" panose="020B0503020204020204" charset="-122"/>
                <a:hlinkClick r:id="rId4" action="ppaction://hlinkfile"/>
              </a:rPr>
              <a:t>https://doka.guide/tools/testing-and-fake-objects/</a:t>
            </a:r>
            <a:endParaRPr lang="en-US" altLang="en-US" sz="2400" b="1" dirty="0" err="1">
              <a:solidFill>
                <a:srgbClr val="0070C0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 err="1">
                <a:solidFill>
                  <a:srgbClr val="0070C0"/>
                </a:solidFill>
                <a:ea typeface="Microsoft YaHei" panose="020B0503020204020204" charset="-122"/>
                <a:hlinkClick r:id="rId5" action="ppaction://hlinkfile"/>
              </a:rPr>
              <a:t>https://testengineer.ru/mocks-and-stubs/</a:t>
            </a:r>
            <a:endParaRPr lang="en-US" altLang="en-US" sz="2400" b="1" dirty="0" err="1">
              <a:solidFill>
                <a:srgbClr val="0070C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580" y="228600"/>
            <a:ext cx="9086215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sz="4000" dirty="0" err="1">
                <a:solidFill>
                  <a:srgbClr val="FFFFFF"/>
                </a:solidFill>
                <a:ea typeface="Microsoft YaHei" panose="020B0503020204020204" charset="-122"/>
              </a:rPr>
              <a:t>Моки </a:t>
            </a:r>
            <a:r>
              <a:rPr lang="uk-UA" altLang="ru-RU" sz="4000" dirty="0" err="1">
                <a:solidFill>
                  <a:srgbClr val="FFFFFF"/>
                </a:solidFill>
                <a:ea typeface="Microsoft YaHei" panose="020B0503020204020204" charset="-122"/>
              </a:rPr>
              <a:t>та</a:t>
            </a:r>
            <a:r>
              <a:rPr lang="ru-RU" sz="4000" dirty="0" err="1">
                <a:solidFill>
                  <a:srgbClr val="FFFFFF"/>
                </a:solidFill>
                <a:ea typeface="Microsoft YaHei" panose="020B0503020204020204" charset="-122"/>
              </a:rPr>
              <a:t> стаб</a:t>
            </a:r>
            <a:r>
              <a:rPr lang="uk-UA" altLang="ru-RU" sz="4000" dirty="0" err="1">
                <a:solidFill>
                  <a:srgbClr val="FFFFFF"/>
                </a:solidFill>
                <a:ea typeface="Microsoft YaHei" panose="020B0503020204020204" charset="-122"/>
              </a:rPr>
              <a:t>и</a:t>
            </a:r>
            <a:r>
              <a:rPr lang="ru-RU" sz="4000" dirty="0" err="1">
                <a:solidFill>
                  <a:srgbClr val="FFFFFF"/>
                </a:solidFill>
                <a:ea typeface="Microsoft YaHei" panose="020B0503020204020204" charset="-122"/>
              </a:rPr>
              <a:t>: в </a:t>
            </a:r>
            <a:r>
              <a:rPr lang="uk-UA" altLang="ru-RU" sz="4000" dirty="0" err="1">
                <a:solidFill>
                  <a:srgbClr val="FFFFFF"/>
                </a:solidFill>
                <a:ea typeface="Microsoft YaHei" panose="020B0503020204020204" charset="-122"/>
              </a:rPr>
              <a:t>чому різниця</a:t>
            </a:r>
            <a:endParaRPr lang="uk-UA" altLang="ru-RU" sz="40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67690" y="1430655"/>
            <a:ext cx="799211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rgbClr val="0070C0"/>
                </a:solidFill>
                <a:ea typeface="Microsoft YaHei" panose="020B0503020204020204" charset="-122"/>
              </a:rPr>
              <a:t>Моки (Mocks)</a:t>
            </a: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 – </a:t>
            </a:r>
            <a:r>
              <a:rPr lang="en-US" altLang="en-US" sz="1800" b="1" dirty="0" err="1">
                <a:solidFill>
                  <a:schemeClr val="tx1"/>
                </a:solidFill>
                <a:ea typeface="Microsoft YaHei" panose="020B0503020204020204" charset="-122"/>
              </a:rPr>
              <a:t>перевіряють поведінку</a:t>
            </a: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 (behavior verification). Моки не тільки імітують відповіді, а й перевіряють, як тестований код взаємодіє із залежністю (наприклад, які методи викликаються, з якими параметрами та в якому порядку)</a:t>
            </a:r>
            <a:endParaRPr lang="en-US" altLang="en-US" sz="18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Очікують певні </a:t>
            </a:r>
            <a:r>
              <a:rPr lang="uk-UA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виклики та</a:t>
            </a: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 можуть "впасти", якщо очікування </a:t>
            </a:r>
            <a:r>
              <a:rPr lang="uk-UA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             </a:t>
            </a: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не виконуються (наприклад, метод викликаний не так, як очікувалося)</a:t>
            </a:r>
            <a:endParaRPr lang="en-US" altLang="en-US" sz="18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Підходять для тестів, де важливо перевірити коректність взаємодії між компонентами</a:t>
            </a:r>
            <a:endParaRPr lang="en-US" altLang="en-US" sz="18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rgbClr val="0070C0"/>
                </a:solidFill>
                <a:ea typeface="Microsoft YaHei" panose="020B0503020204020204" charset="-122"/>
              </a:rPr>
              <a:t>Стаби (Stubs) </a:t>
            </a: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– </a:t>
            </a:r>
            <a:r>
              <a:rPr lang="en-US" altLang="en-US" sz="1800" b="1" dirty="0" err="1">
                <a:solidFill>
                  <a:schemeClr val="tx1"/>
                </a:solidFill>
                <a:ea typeface="Microsoft YaHei" panose="020B0503020204020204" charset="-122"/>
              </a:rPr>
              <a:t>надають заздалегідь задані дані </a:t>
            </a: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(state verification). Стаби повертають фіксовані відповіді на запити, але не перевіряють, як саме викликаються методи</a:t>
            </a:r>
            <a:endParaRPr lang="en-US" altLang="en-US" sz="18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Не дбають про порядок або кількість викликів, їх завдання — просто повернути дані для коду, що тестується.</a:t>
            </a:r>
            <a:endParaRPr lang="en-US" altLang="en-US" sz="18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Підходять для тестів, де важливо перевірити стан системи після виконання, а чи не процес взаємодії</a:t>
            </a:r>
            <a:endParaRPr lang="en-US" altLang="en-US" sz="18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580" y="228600"/>
            <a:ext cx="9086215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000" dirty="0" err="1">
                <a:solidFill>
                  <a:schemeClr val="bg1"/>
                </a:solidFill>
                <a:sym typeface="+mn-ea"/>
              </a:rPr>
              <a:t>Dummy</a:t>
            </a:r>
            <a:endParaRPr lang="en-US" altLang="en-US" sz="4000" dirty="0" err="1">
              <a:solidFill>
                <a:schemeClr val="bg1"/>
              </a:solidFill>
              <a:ea typeface="Microsoft YaHei" panose="020B0503020204020204" charset="-122"/>
              <a:sym typeface="+mn-ea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83565" y="1386205"/>
            <a:ext cx="806513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У літературі та практиці (наприклад, за книгою Мартіна Фаулера) виділяють п'ять основних типів тестових двійників (test doubles), які включають моки, стаби та інші підвиди. </a:t>
            </a:r>
            <a:r>
              <a:rPr lang="uk-UA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    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Ось вони: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b="1" dirty="0" err="1">
                <a:solidFill>
                  <a:schemeClr val="tx1"/>
                </a:solidFill>
                <a:ea typeface="Microsoft YaHei" panose="020B0503020204020204" charset="-122"/>
              </a:rPr>
              <a:t>Dummy 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– це найпростіший тип двійника. Це об'єкт, </a:t>
            </a:r>
            <a:r>
              <a:rPr lang="uk-UA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             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який передається в код, що тестується, але фактично </a:t>
            </a:r>
            <a:r>
              <a:rPr lang="uk-UA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            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не використовується. Він потрібний лише для заповнення параметрів методу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Приклад: Передача null-об'єкта або порожнього об'єкта метод, який вимагає аргумент, але не використовує його</a:t>
            </a:r>
            <a:r>
              <a:rPr lang="uk-UA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     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 в тесті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Підвиди: Не має підвидів, оскільки це найпростіший тип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580" y="228600"/>
            <a:ext cx="9086215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000" dirty="0" err="1">
                <a:solidFill>
                  <a:schemeClr val="bg1"/>
                </a:solidFill>
                <a:sym typeface="+mn-ea"/>
              </a:rPr>
              <a:t>Stub</a:t>
            </a:r>
            <a:endParaRPr lang="en-US" altLang="en-US" sz="4000" dirty="0" err="1">
              <a:solidFill>
                <a:schemeClr val="bg1"/>
              </a:solidFill>
              <a:ea typeface="Microsoft YaHei" panose="020B0503020204020204" charset="-122"/>
              <a:sym typeface="+mn-ea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494665" y="1430655"/>
            <a:ext cx="806513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b="1" dirty="0" err="1">
                <a:solidFill>
                  <a:schemeClr val="tx1"/>
                </a:solidFill>
                <a:ea typeface="Microsoft YaHei" panose="020B0503020204020204" charset="-122"/>
              </a:rPr>
              <a:t>Stub 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повертає заздалегідь задані дані для </a:t>
            </a:r>
            <a:r>
              <a:rPr lang="uk-UA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викликів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. Використовується для емуляції відповідей зовнішніх залежностей, щоб код, що тестується, міг продовжити роботу.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Підвиди: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b="1" dirty="0" err="1">
                <a:solidFill>
                  <a:schemeClr val="tx1"/>
                </a:solidFill>
                <a:ea typeface="Microsoft YaHei" panose="020B0503020204020204" charset="-122"/>
              </a:rPr>
              <a:t>Hard-coded stub 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- повертає фіксований результат (наприклад, завжди повертає true або 42)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b="1" dirty="0" err="1">
                <a:solidFill>
                  <a:schemeClr val="tx1"/>
                </a:solidFill>
                <a:ea typeface="Microsoft YaHei" panose="020B0503020204020204" charset="-122"/>
              </a:rPr>
              <a:t>Configurable stub 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- дозволяє задавати різні відповіді залежно від вхідних даних (наприклад, "поверни true, якщо вхід = 1, інакше false")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Приклад: Стаб API, який завжди повертає { "status": "success" }.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580" y="228600"/>
            <a:ext cx="9086215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000" dirty="0" err="1">
                <a:solidFill>
                  <a:schemeClr val="bg1"/>
                </a:solidFill>
                <a:sym typeface="+mn-ea"/>
              </a:rPr>
              <a:t>Mock</a:t>
            </a:r>
            <a:endParaRPr lang="en-US" altLang="en-US" sz="4000" dirty="0" err="1">
              <a:solidFill>
                <a:schemeClr val="bg1"/>
              </a:solidFill>
              <a:ea typeface="Microsoft YaHei" panose="020B0503020204020204" charset="-122"/>
              <a:sym typeface="+mn-ea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494665" y="1430655"/>
            <a:ext cx="806513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Mock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перевіряє, як тестований код взаємодіє із залежністю. </a:t>
            </a:r>
            <a:r>
              <a:rPr lang="uk-UA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     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Очікує певні </a:t>
            </a:r>
            <a:r>
              <a:rPr lang="uk-UA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виклики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методів із конкретними параметрами.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Підвиди: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Strict mock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 – вимагає точної відповідності </a:t>
            </a:r>
            <a:r>
              <a:rPr lang="uk-UA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викликів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(порядок, кількість, параметри). Якщо очікування порушено, тест падає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Lenient mock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– менш суворий, ігнорує неочікувані виклики, </a:t>
            </a:r>
            <a:r>
              <a:rPr lang="uk-UA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   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якщо вони не критичні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Partial mock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- замінює лише частину методів об'єкта, залишаючи решту реальних (часто використовується для тестування </a:t>
            </a:r>
            <a:r>
              <a:rPr lang="uk-UA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   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legacy-коду)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Приклад: Мок для сервісу надсилання повідомлень, який перевіряє, що метод sendMessage("Hello") був викликаний один раз.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580" y="228600"/>
            <a:ext cx="9086215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000" dirty="0" err="1">
                <a:solidFill>
                  <a:schemeClr val="bg1"/>
                </a:solidFill>
                <a:sym typeface="+mn-ea"/>
              </a:rPr>
              <a:t>Spy</a:t>
            </a:r>
            <a:endParaRPr lang="en-US" altLang="en-US" sz="4000" dirty="0" err="1">
              <a:solidFill>
                <a:schemeClr val="bg1"/>
              </a:solidFill>
              <a:ea typeface="Microsoft YaHei" panose="020B0503020204020204" charset="-122"/>
              <a:sym typeface="+mn-ea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494665" y="1430655"/>
            <a:ext cx="806513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b="1" dirty="0" err="1">
                <a:solidFill>
                  <a:schemeClr val="tx1"/>
                </a:solidFill>
                <a:ea typeface="Microsoft YaHei" panose="020B0503020204020204" charset="-122"/>
              </a:rPr>
              <a:t>Spy </a:t>
            </a: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- це гібрид мока та стаба. Спай записує інформацію про виклики (наприклад, які методи викликалися і з якими аргументами), але може повертати заздалегідь задані дані, як стаб. Основна відмінність від мок</a:t>
            </a:r>
            <a:r>
              <a:rPr lang="uk-UA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ів</a:t>
            </a: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 - спай не ставить очікувань заздалегідь, а аналізує виклики після виконання.</a:t>
            </a:r>
            <a:endParaRPr lang="en-US" altLang="en-US" sz="22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Підвиди:</a:t>
            </a:r>
            <a:endParaRPr lang="en-US" altLang="en-US" sz="22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b="1" dirty="0" err="1">
                <a:solidFill>
                  <a:schemeClr val="tx1"/>
                </a:solidFill>
                <a:ea typeface="Microsoft YaHei" panose="020B0503020204020204" charset="-122"/>
              </a:rPr>
              <a:t>Recording spy </a:t>
            </a: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- тільки записує </a:t>
            </a:r>
            <a:r>
              <a:rPr lang="uk-UA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виклики</a:t>
            </a: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, не повертає дані</a:t>
            </a:r>
            <a:endParaRPr lang="en-US" altLang="en-US" sz="22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b="1" dirty="0" err="1">
                <a:solidFill>
                  <a:schemeClr val="tx1"/>
                </a:solidFill>
                <a:ea typeface="Microsoft YaHei" panose="020B0503020204020204" charset="-122"/>
              </a:rPr>
              <a:t>Stubbed spy</a:t>
            </a: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 - записує виклики та повертає задані дані, як стаб</a:t>
            </a:r>
            <a:endParaRPr lang="en-US" altLang="en-US" sz="22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Приклад: Спай для логера, який записує, які повідомлення було залоговано, і дозволяє перевірити їх після тесту</a:t>
            </a:r>
            <a:endParaRPr lang="en-US" altLang="en-US" sz="22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580" y="228600"/>
            <a:ext cx="9086215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000" dirty="0" err="1">
                <a:solidFill>
                  <a:schemeClr val="bg1"/>
                </a:solidFill>
                <a:sym typeface="+mn-ea"/>
              </a:rPr>
              <a:t>Fake</a:t>
            </a:r>
            <a:endParaRPr lang="en-US" altLang="en-US" sz="4000" dirty="0" err="1">
              <a:solidFill>
                <a:schemeClr val="bg1"/>
              </a:solidFill>
              <a:ea typeface="Microsoft YaHei" panose="020B0503020204020204" charset="-122"/>
              <a:sym typeface="+mn-ea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494665" y="1430655"/>
            <a:ext cx="806513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b="1" dirty="0" err="1">
                <a:solidFill>
                  <a:schemeClr val="tx1"/>
                </a:solidFill>
                <a:ea typeface="Microsoft YaHei" panose="020B0503020204020204" charset="-122"/>
              </a:rPr>
              <a:t>Fake </a:t>
            </a: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- це спрощена реалізація залежності, яка працює </a:t>
            </a:r>
            <a:r>
              <a:rPr lang="uk-UA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      </a:t>
            </a: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як справжня, але зі спрощеною логікою. Використовується, коли потрібно емулювати складн</a:t>
            </a:r>
            <a:r>
              <a:rPr lang="uk-UA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у</a:t>
            </a: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 поведінк</a:t>
            </a:r>
            <a:r>
              <a:rPr lang="uk-UA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у</a:t>
            </a: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, </a:t>
            </a:r>
            <a:r>
              <a:rPr lang="uk-UA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                    </a:t>
            </a: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але</a:t>
            </a:r>
            <a:r>
              <a:rPr lang="uk-UA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 без</a:t>
            </a: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 реальних ресурсів (наприклад, бази даних).</a:t>
            </a:r>
            <a:endParaRPr lang="en-US" altLang="en-US" sz="22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Підвиди:</a:t>
            </a:r>
            <a:endParaRPr lang="en-US" altLang="en-US" sz="22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b="1" dirty="0" err="1">
                <a:solidFill>
                  <a:schemeClr val="tx1"/>
                </a:solidFill>
                <a:ea typeface="Microsoft YaHei" panose="020B0503020204020204" charset="-122"/>
              </a:rPr>
              <a:t>In-memory fake</a:t>
            </a: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 - імітує поведінку в пам'яті (наприклад, in-memory база даних)</a:t>
            </a:r>
            <a:endParaRPr lang="en-US" altLang="en-US" sz="22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b="1" dirty="0" err="1">
                <a:solidFill>
                  <a:schemeClr val="tx1"/>
                </a:solidFill>
                <a:ea typeface="Microsoft YaHei" panose="020B0503020204020204" charset="-122"/>
              </a:rPr>
              <a:t>Simplified fake</a:t>
            </a: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 – спрощена версія сервісу з мінімальною логікою</a:t>
            </a:r>
            <a:endParaRPr lang="en-US" altLang="en-US" sz="22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Приклад: Fake-репозиторій, який зберігає дані у списку замість реальної бази даних.</a:t>
            </a:r>
            <a:endParaRPr lang="en-US" altLang="en-US" sz="22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580" y="228600"/>
            <a:ext cx="9086215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000" dirty="0" err="1">
                <a:solidFill>
                  <a:schemeClr val="bg1"/>
                </a:solidFill>
                <a:sym typeface="+mn-ea"/>
              </a:rPr>
              <a:t>Порівняльна таблиця</a:t>
            </a:r>
            <a:endParaRPr lang="uk-UA" altLang="ru-RU" sz="4000" dirty="0" err="1">
              <a:solidFill>
                <a:schemeClr val="bg1"/>
              </a:solidFill>
              <a:ea typeface="Microsoft YaHei" panose="020B0503020204020204" charset="-122"/>
              <a:sym typeface="+mn-ea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078990"/>
            <a:ext cx="9290685" cy="298069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5020" y="2259330"/>
            <a:ext cx="866775" cy="333375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580" y="228600"/>
            <a:ext cx="9086215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000" dirty="0" err="1">
                <a:solidFill>
                  <a:srgbClr val="FFFFFF"/>
                </a:solidFill>
                <a:ea typeface="Microsoft YaHei" panose="020B0503020204020204" charset="-122"/>
              </a:rPr>
              <a:t>Що коли використовувати</a:t>
            </a:r>
            <a:endParaRPr lang="uk-UA" altLang="ru-RU" sz="40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67690" y="1430655"/>
            <a:ext cx="799211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chemeClr val="tx1"/>
                </a:solidFill>
                <a:ea typeface="Microsoft YaHei" panose="020B0503020204020204" charset="-122"/>
              </a:rPr>
              <a:t>Dummy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: Коли метод вимагає об'єкт, але він не впливає </a:t>
            </a:r>
            <a:r>
              <a:rPr lang="uk-UA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          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на логіку (наприклад, заглушка для аргументу, </a:t>
            </a:r>
            <a:r>
              <a:rPr lang="uk-UA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                        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що не використовується)</a:t>
            </a: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chemeClr val="tx1"/>
                </a:solidFill>
                <a:ea typeface="Microsoft YaHei" panose="020B0503020204020204" charset="-122"/>
              </a:rPr>
              <a:t>Stub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: Коли потрібно протестувати реакцію коду на різні вхідні дані (наприклад, тестування обробки відповіді API)</a:t>
            </a: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chemeClr val="tx1"/>
                </a:solidFill>
                <a:ea typeface="Microsoft YaHei" panose="020B0503020204020204" charset="-122"/>
              </a:rPr>
              <a:t>Mock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: Коли важливо перевірити, що код, що тестується, правильно викликає залежності (наприклад, відправлення повідомлення в потрібний момент)</a:t>
            </a: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chemeClr val="tx1"/>
                </a:solidFill>
                <a:ea typeface="Microsoft YaHei" panose="020B0503020204020204" charset="-122"/>
              </a:rPr>
              <a:t>Spy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: Коли потрібно зібрати інформацію про виклики, але не задавати строгих очікувань заздалегідь (наприклад, логування)</a:t>
            </a: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chemeClr val="tx1"/>
                </a:solidFill>
                <a:ea typeface="Microsoft YaHei" panose="020B0503020204020204" charset="-122"/>
              </a:rPr>
              <a:t>Fake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: Коли потрібна повноцінна імітація складної залежності </a:t>
            </a:r>
            <a:r>
              <a:rPr lang="uk-UA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  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зі спрощеною логікою (наприклад, тестування взаємодії </a:t>
            </a:r>
            <a:r>
              <a:rPr lang="uk-UA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           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з базою даних)</a:t>
            </a: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ru-RU" altLang="uk-UA" dirty="0">
                <a:sym typeface="+mn-ea"/>
              </a:rPr>
              <a:t>Тест</a:t>
            </a:r>
            <a:r>
              <a:rPr lang="uk-UA" altLang="ru-RU" dirty="0">
                <a:sym typeface="+mn-ea"/>
              </a:rPr>
              <a:t>ування</a:t>
            </a:r>
            <a:r>
              <a:rPr lang="ru-RU" altLang="uk-UA" dirty="0">
                <a:sym typeface="+mn-ea"/>
              </a:rPr>
              <a:t> </a:t>
            </a:r>
            <a:r>
              <a:rPr lang="en-US" altLang="ru-RU" dirty="0">
                <a:sym typeface="+mn-ea"/>
              </a:rPr>
              <a:t>private</a:t>
            </a:r>
            <a:r>
              <a:rPr lang="uk-UA" altLang="en-US" dirty="0">
                <a:sym typeface="+mn-ea"/>
              </a:rPr>
              <a:t>-</a:t>
            </a:r>
            <a:r>
              <a:rPr lang="ru-RU" altLang="uk-UA" dirty="0">
                <a:sym typeface="+mn-ea"/>
              </a:rPr>
              <a:t>метод</a:t>
            </a:r>
            <a:r>
              <a:rPr lang="uk-UA" altLang="ru-RU" dirty="0">
                <a:sym typeface="+mn-ea"/>
              </a:rPr>
              <a:t>і</a:t>
            </a:r>
            <a:r>
              <a:rPr lang="ru-RU" altLang="uk-UA" dirty="0">
                <a:sym typeface="+mn-ea"/>
              </a:rPr>
              <a:t>в</a:t>
            </a:r>
            <a:endParaRPr lang="ru-RU" altLang="uk-UA" dirty="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66850"/>
            <a:ext cx="7921625" cy="44164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Black-Box</a:t>
            </a:r>
            <a:r>
              <a:rPr kumimoji="0" lang="en-US" altLang="en-US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тестує лише інтерфейс класу. </a:t>
            </a:r>
            <a:r>
              <a:rPr kumimoji="0" lang="uk-UA" altLang="en-US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en-US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White</a:t>
            </a:r>
            <a:r>
              <a:rPr kumimoji="0" lang="uk-UA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</a:t>
            </a:r>
            <a:r>
              <a:rPr kumimoji="0" lang="en-US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Box </a:t>
            </a:r>
            <a:r>
              <a:rPr kumimoji="0" lang="en-US" altLang="en-US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передбачає тестування </a:t>
            </a:r>
            <a:r>
              <a:rPr kumimoji="0" lang="uk-UA" altLang="en-US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й </a:t>
            </a:r>
            <a:r>
              <a:rPr kumimoji="0" lang="en-US" altLang="en-US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деталей реалізації теж. Формально</a:t>
            </a:r>
            <a:r>
              <a:rPr kumimoji="0" lang="uk-UA" altLang="en-US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-то,</a:t>
            </a:r>
            <a:r>
              <a:rPr kumimoji="0" lang="en-US" altLang="en-US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можна викликати приватний метод за допомогою рефлексії. Однак </a:t>
            </a:r>
            <a:r>
              <a:rPr kumimoji="0" lang="en-US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краще не тестувати приватні методи взагалі</a:t>
            </a:r>
            <a:r>
              <a:rPr kumimoji="0" lang="en-US" altLang="en-US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 Причина в тому, що </a:t>
            </a:r>
            <a:r>
              <a:rPr kumimoji="0" lang="en-US" altLang="en-US" sz="2600" b="0" i="0" u="sng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інкапсуляція приховує деталі </a:t>
            </a:r>
            <a:r>
              <a:rPr kumimoji="0" lang="uk-UA" altLang="en-US" sz="2600" b="0" i="0" u="sng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реалізації</a:t>
            </a:r>
            <a:r>
              <a:rPr kumimoji="0" lang="en-US" altLang="en-US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щоб потім можна було її змінити, </a:t>
            </a:r>
            <a:r>
              <a:rPr kumimoji="0" lang="uk-UA" altLang="en-US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</a:t>
            </a:r>
            <a:r>
              <a:rPr kumimoji="0" lang="en-US" altLang="en-US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а зовні при цьому нічого не зміни</a:t>
            </a:r>
            <a:r>
              <a:rPr kumimoji="0" lang="uk-UA" altLang="en-US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лося.</a:t>
            </a:r>
            <a:r>
              <a:rPr kumimoji="0" lang="en-US" altLang="en-US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Проблема тестування приватних методів (всупереч ідеї інкапсуляції) у тому, що зміна деталей реалізації може поламати тест.</a:t>
            </a:r>
            <a:endParaRPr kumimoji="0" lang="en-US" altLang="en-US" sz="2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ru-RU" altLang="uk-UA" dirty="0">
                <a:sym typeface="+mn-ea"/>
              </a:rPr>
              <a:t>Тест</a:t>
            </a:r>
            <a:r>
              <a:rPr lang="uk-UA" altLang="ru-RU" dirty="0">
                <a:sym typeface="+mn-ea"/>
              </a:rPr>
              <a:t>ування</a:t>
            </a:r>
            <a:r>
              <a:rPr lang="ru-RU" altLang="uk-UA" dirty="0">
                <a:sym typeface="+mn-ea"/>
              </a:rPr>
              <a:t> </a:t>
            </a:r>
            <a:r>
              <a:rPr lang="en-US" altLang="ru-RU" dirty="0">
                <a:sym typeface="+mn-ea"/>
              </a:rPr>
              <a:t>private</a:t>
            </a:r>
            <a:r>
              <a:rPr lang="uk-UA" altLang="en-US" dirty="0">
                <a:sym typeface="+mn-ea"/>
              </a:rPr>
              <a:t>-</a:t>
            </a:r>
            <a:r>
              <a:rPr lang="ru-RU" altLang="uk-UA" dirty="0">
                <a:sym typeface="+mn-ea"/>
              </a:rPr>
              <a:t>метод</a:t>
            </a:r>
            <a:r>
              <a:rPr lang="uk-UA" altLang="ru-RU" dirty="0">
                <a:sym typeface="+mn-ea"/>
              </a:rPr>
              <a:t>і</a:t>
            </a:r>
            <a:r>
              <a:rPr lang="ru-RU" altLang="uk-UA" dirty="0">
                <a:sym typeface="+mn-ea"/>
              </a:rPr>
              <a:t>в</a:t>
            </a:r>
            <a:endParaRPr lang="ru-RU" altLang="uk-UA" dirty="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66850"/>
            <a:ext cx="7921625" cy="44164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Хороший тест не повинен ламатися </a:t>
            </a:r>
            <a:r>
              <a:rPr kumimoji="0" lang="uk-UA" alt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при</a:t>
            </a:r>
            <a:r>
              <a:rPr kumimoji="0" lang="en-US" alt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змін</a:t>
            </a:r>
            <a:r>
              <a:rPr kumimoji="0" lang="uk-UA" alt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і</a:t>
            </a:r>
            <a:r>
              <a:rPr kumimoji="0" lang="en-US" alt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деталей реалізації. Оскільки приватні методи </a:t>
            </a:r>
            <a:r>
              <a:rPr kumimoji="0" lang="uk-UA" alt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як раз і являють собою</a:t>
            </a:r>
            <a:r>
              <a:rPr kumimoji="0" lang="en-US" alt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деталі реалізації, їх пряме тестування зробить тести </a:t>
            </a:r>
            <a:r>
              <a:rPr kumimoji="0" lang="en-US" altLang="en-US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крихкими</a:t>
            </a:r>
            <a:r>
              <a:rPr kumimoji="0" lang="en-US" alt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 Тому </a:t>
            </a:r>
            <a:r>
              <a:rPr kumimoji="0" lang="en-US" altLang="en-US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тестувати треба не приватні методи, а публічні - тобто інтерфейс, </a:t>
            </a:r>
            <a:r>
              <a:rPr kumimoji="0" lang="uk-UA" altLang="en-US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</a:t>
            </a:r>
            <a:r>
              <a:rPr kumimoji="0" lang="en-US" altLang="en-US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а не його реалізацію</a:t>
            </a:r>
            <a:r>
              <a:rPr kumimoji="0" lang="en-US" alt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endParaRPr kumimoji="0" lang="en-US" altLang="en-US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ru-RU" dirty="0">
                <a:sym typeface="+mn-ea"/>
              </a:rPr>
              <a:t>Хороша арх</a:t>
            </a:r>
            <a:r>
              <a:rPr lang="uk-UA" altLang="ru-RU" dirty="0">
                <a:sym typeface="+mn-ea"/>
              </a:rPr>
              <a:t>і</a:t>
            </a:r>
            <a:r>
              <a:rPr lang="ru-RU" dirty="0">
                <a:sym typeface="+mn-ea"/>
              </a:rPr>
              <a:t>тектура </a:t>
            </a:r>
            <a:r>
              <a:rPr lang="uk-UA" altLang="ru-RU" dirty="0">
                <a:sym typeface="+mn-ea"/>
              </a:rPr>
              <a:t>та</a:t>
            </a:r>
            <a:r>
              <a:rPr lang="ru-RU" dirty="0">
                <a:sym typeface="+mn-ea"/>
              </a:rPr>
              <a:t> ООД</a:t>
            </a:r>
            <a:endParaRPr lang="ru-RU" dirty="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66850"/>
            <a:ext cx="7921625" cy="44164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Фундаментальні принципи проектування:</a:t>
            </a:r>
            <a:endParaRPr kumimoji="0" lang="en-US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0" lang="en-US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Low Coupling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(низька пов'язаність) – мінімізація (ослаблення) зв'язків </a:t>
            </a:r>
            <a:r>
              <a:rPr kumimoji="0" lang="uk-UA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між класами</a:t>
            </a:r>
            <a:endParaRPr kumimoji="0" lang="en-US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0" lang="en-US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High Cohesion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(високе зчеплення) – максимізація зв'язків усередині класів</a:t>
            </a:r>
            <a:endParaRPr kumimoji="0" lang="en-US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en-US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Модульні тести - це, перш за все, лакмусовий папірець </a:t>
            </a:r>
            <a:r>
              <a:rPr kumimoji="0" lang="uk-UA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хорошого </a:t>
            </a:r>
            <a:r>
              <a:rPr kumimoji="0" lang="en-US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дизайну.</a:t>
            </a:r>
            <a:endParaRPr kumimoji="0" lang="en-US" altLang="en-US" sz="28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uk-UA" altLang="ru-RU" dirty="0">
                <a:sym typeface="+mn-ea"/>
              </a:rPr>
              <a:t>Користь від тестів</a:t>
            </a:r>
            <a:endParaRPr lang="uk-UA" altLang="ru-RU" dirty="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66850"/>
            <a:ext cx="7921625" cy="44164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Написати тест неможливо чи він виходить </a:t>
            </a:r>
            <a:r>
              <a:rPr kumimoji="0" lang="uk-UA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великим та складним?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Це зазвичай говорить про проблеми в дизайні коду, що тестується.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З чим допомагають </a:t>
            </a:r>
            <a:r>
              <a:rPr kumimoji="0" lang="uk-UA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тести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  <a:endParaRPr kumimoji="0" lang="en-US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Модульність та дизайн системи</a:t>
            </a:r>
            <a:endParaRPr kumimoji="0" lang="en-US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Специфікація системи</a:t>
            </a:r>
            <a:endParaRPr kumimoji="0" lang="en-US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Супровід системи</a:t>
            </a:r>
            <a:endParaRPr kumimoji="0" lang="en-US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uk-UA" altLang="ru-RU" dirty="0">
                <a:sym typeface="+mn-ea"/>
              </a:rPr>
              <a:t>Придивіться уважніше до коду</a:t>
            </a:r>
            <a:endParaRPr lang="uk-UA" altLang="ru-RU" dirty="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66850"/>
            <a:ext cx="7921625" cy="4416425"/>
          </a:xfrm>
        </p:spPr>
        <p:txBody>
          <a:bodyPr vert="horz" wrap="square" lIns="91440" tIns="45720" rIns="91440" bIns="45720" numCol="1" anchor="t" anchorCtr="0" compatLnSpc="1"/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0" lang="en-US" altLang="en-US" sz="23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Клас бере на себе дуже багато відповідальност</a:t>
            </a:r>
            <a:r>
              <a:rPr kumimoji="0" lang="uk-UA" altLang="en-US" sz="23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ей</a:t>
            </a:r>
            <a:r>
              <a:rPr kumimoji="0" lang="en-US" altLang="en-US" sz="23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?</a:t>
            </a:r>
            <a:endParaRPr kumimoji="0" lang="en-US" altLang="en-US" sz="23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0" lang="en-US" altLang="en-US" sz="23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Методи класу мають багато побічних ефектів?</a:t>
            </a:r>
            <a:endParaRPr kumimoji="0" lang="en-US" altLang="en-US" sz="23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0" lang="en-US" altLang="en-US" sz="23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Методи класу залежать не лише від параметрів, </a:t>
            </a:r>
            <a:r>
              <a:rPr kumimoji="0" lang="uk-UA" altLang="en-US" sz="23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</a:t>
            </a:r>
            <a:r>
              <a:rPr kumimoji="0" lang="en-US" altLang="en-US" sz="23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а ще й від купи зовнішніх залежностей?</a:t>
            </a:r>
            <a:endParaRPr kumimoji="0" lang="en-US" altLang="en-US" sz="23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0" lang="en-US" altLang="en-US" sz="23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Клас взагалі залежить від дикої кількості інших класів?</a:t>
            </a:r>
            <a:endParaRPr kumimoji="0" lang="en-US" altLang="en-US" sz="23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0" lang="en-US" altLang="en-US" sz="23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У класі </a:t>
            </a:r>
            <a:r>
              <a:rPr kumimoji="0" lang="uk-UA" altLang="en-US" sz="23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безліч </a:t>
            </a:r>
            <a:r>
              <a:rPr kumimoji="0" lang="en-US" altLang="en-US" sz="23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порожніх методів, які вам не потрібні, але їх вимагають інтерфейси, що реалізуються?</a:t>
            </a:r>
            <a:endParaRPr kumimoji="0" lang="en-US" altLang="en-US" sz="23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•"/>
              <a:defRPr/>
            </a:pPr>
            <a:endParaRPr kumimoji="0" lang="en-US" altLang="en-US" sz="23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0" lang="en-US" altLang="en-US" sz="23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І ви не звернули увагу на всі ці проблеми під час про</a:t>
            </a:r>
            <a:r>
              <a:rPr kumimoji="0" lang="uk-UA" altLang="en-US" sz="23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є</a:t>
            </a:r>
            <a:r>
              <a:rPr kumimoji="0" lang="en-US" altLang="en-US" sz="23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ктування?</a:t>
            </a:r>
            <a:endParaRPr kumimoji="0" lang="en-US" altLang="en-US" sz="23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endParaRPr lang="ru-RU" dirty="0">
              <a:sym typeface="+mn-ea"/>
            </a:endParaRPr>
          </a:p>
        </p:txBody>
      </p:sp>
      <p:pic>
        <p:nvPicPr>
          <p:cNvPr id="2" name="Content Placeholder 1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-36195" y="-99695"/>
            <a:ext cx="9258300" cy="7142480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4356100" y="2276475"/>
            <a:ext cx="4885055" cy="783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ru-RU" sz="4500" b="1" kern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sym typeface="+mn-ea"/>
              </a:rPr>
              <a:t>ТАК (((((</a:t>
            </a:r>
            <a:endParaRPr lang="ru-RU" sz="4500" b="1" kern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sym typeface="+mn-ea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uk-UA" altLang="ru-RU" dirty="0">
                <a:sym typeface="+mn-ea"/>
              </a:rPr>
              <a:t>Ну тоді що ж,</a:t>
            </a:r>
            <a:endParaRPr lang="uk-UA" altLang="ru-RU" dirty="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66850"/>
            <a:ext cx="7921625" cy="44164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Тестувати такий клас буде дуже складно.</a:t>
            </a:r>
            <a:endParaRPr kumimoji="0" lang="en-US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Ось і зверніть увагу на всі ці проблеми заздалегідь, </a:t>
            </a:r>
            <a:r>
              <a:rPr kumimoji="0" lang="uk-UA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все одно 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нікуди не подінетесь. 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Лакмусовий папірець спрацював.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en-US" sz="23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Що ж робити, щоб дизайн був хорошим та тестованим? Та все те ж: </a:t>
            </a:r>
            <a:r>
              <a:rPr kumimoji="0" lang="en-US" altLang="en-US" sz="23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дотримуватись принципів проектування </a:t>
            </a:r>
            <a:r>
              <a:rPr kumimoji="0" lang="uk-UA" altLang="en-US" sz="23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kumimoji="0" lang="en-US" altLang="en-US" sz="23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low coupling, high cohesion, SOLID.</a:t>
            </a:r>
            <a:endParaRPr kumimoji="0" lang="en-US" altLang="en-US" sz="23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en-US" sz="23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Дотримання принципів SOLID вже зробить клас тестованим. Дизайн, що вийшов, буде досить слабозв'язковим, щоб його можна було покрити тестами.</a:t>
            </a:r>
            <a:endParaRPr kumimoji="0" lang="en-US" altLang="en-US" sz="23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uk-UA" altLang="ru-RU" dirty="0">
                <a:sym typeface="+mn-ea"/>
              </a:rPr>
              <a:t>Хороший дизайн</a:t>
            </a:r>
            <a:endParaRPr lang="uk-UA" altLang="ru-RU" dirty="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66850"/>
            <a:ext cx="7921625" cy="44164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en-US" sz="27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Якщо ваш дизайн покрити тестами не виходить, це поганий дизайн.</a:t>
            </a:r>
            <a:endParaRPr kumimoji="0" lang="en-US" altLang="en-US" sz="27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en-US" sz="27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Хороший дизайн - це завжди тестований дизайн.</a:t>
            </a:r>
            <a:endParaRPr kumimoji="0" lang="en-US" altLang="en-US" sz="27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en-US" sz="27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Однак зворотне неправильно: тестований дизайн - це ще не означає </a:t>
            </a:r>
            <a:r>
              <a:rPr kumimoji="0" lang="uk-UA" altLang="en-US" sz="27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хороший </a:t>
            </a:r>
            <a:r>
              <a:rPr kumimoji="0" lang="en-US" altLang="en-US" sz="27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дизайн.</a:t>
            </a:r>
            <a:endParaRPr kumimoji="0" lang="en-US" altLang="en-US" sz="27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en-US" altLang="en-US" sz="27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en-US" sz="27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При про’ктуванні ставте собі питання: </a:t>
            </a:r>
            <a:r>
              <a:rPr kumimoji="0" lang="uk-UA" altLang="en-US" sz="27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</a:t>
            </a:r>
            <a:r>
              <a:rPr kumimoji="0" lang="en-US" altLang="en-US" sz="27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«</a:t>
            </a:r>
            <a:r>
              <a:rPr kumimoji="0" lang="en-US" altLang="en-US" sz="27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Ок, це чудова ідея, але як я це тестуватиму?</a:t>
            </a:r>
            <a:r>
              <a:rPr kumimoji="0" lang="en-US" altLang="en-US" sz="27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»</a:t>
            </a:r>
            <a:endParaRPr kumimoji="0" lang="en-US" altLang="en-US" sz="27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uk-UA" altLang="ru-RU" dirty="0">
                <a:sym typeface="+mn-ea"/>
              </a:rPr>
              <a:t>Тести - краща документація</a:t>
            </a:r>
            <a:endParaRPr lang="uk-UA" altLang="ru-RU" dirty="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395095"/>
            <a:ext cx="7921625" cy="44164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en-US" sz="23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Кент Бек казав, що кожен тест повинен розповідати історію про клас, що тестується.</a:t>
            </a:r>
            <a:endParaRPr kumimoji="0" lang="en-US" altLang="en-US" sz="23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en-US" sz="23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Модульні тести - це, по суті, документація до коду.</a:t>
            </a:r>
            <a:endParaRPr kumimoji="0" lang="en-US" altLang="en-US" sz="23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en-US" sz="23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Для нас, програмістів, вони набагато кращі за звичайну документацію. Програмісти не люблять писати звичайну документацію, бо це </a:t>
            </a:r>
            <a:r>
              <a:rPr kumimoji="0" lang="en-US" altLang="en-US" sz="23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нудно</a:t>
            </a:r>
            <a:r>
              <a:rPr kumimoji="0" lang="en-US" altLang="en-US" sz="23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endParaRPr kumimoji="0" lang="en-US" altLang="en-US" sz="23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en-US" sz="23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Модульні тести – це програмування, а це завжди </a:t>
            </a:r>
            <a:r>
              <a:rPr kumimoji="0" lang="en-US" altLang="en-US" sz="23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цікаво</a:t>
            </a:r>
            <a:r>
              <a:rPr kumimoji="0" lang="en-US" altLang="en-US" sz="23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endParaRPr kumimoji="0" lang="en-US" altLang="en-US" sz="23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en-US" sz="23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Документація </a:t>
            </a:r>
            <a:r>
              <a:rPr kumimoji="0" lang="uk-UA" altLang="en-US" sz="23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застаріває</a:t>
            </a:r>
            <a:r>
              <a:rPr kumimoji="0" lang="en-US" altLang="en-US" sz="23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 </a:t>
            </a:r>
            <a:r>
              <a:rPr kumimoji="0" lang="uk-UA" altLang="en-US" sz="23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А </a:t>
            </a:r>
            <a:r>
              <a:rPr kumimoji="0" lang="uk-UA" altLang="en-US" sz="23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т</a:t>
            </a:r>
            <a:r>
              <a:rPr kumimoji="0" lang="en-US" altLang="en-US" sz="23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ести не старіють, </a:t>
            </a:r>
            <a:r>
              <a:rPr kumimoji="0" lang="uk-UA" altLang="en-US" sz="23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</a:t>
            </a:r>
            <a:r>
              <a:rPr kumimoji="0" lang="en-US" altLang="en-US" sz="23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якщо стежити, щоб вони проходили.</a:t>
            </a:r>
            <a:endParaRPr kumimoji="0" lang="en-US" altLang="en-US" sz="23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en-US" sz="23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Тести описують код як приклади його використання</a:t>
            </a:r>
            <a:r>
              <a:rPr kumimoji="0" lang="en-US" altLang="en-US" sz="23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а це найкраща документація для програміста.</a:t>
            </a:r>
            <a:endParaRPr kumimoji="0" lang="en-US" altLang="en-US" sz="23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uk-UA" altLang="ru-RU" dirty="0">
                <a:sym typeface="+mn-ea"/>
              </a:rPr>
              <a:t>Специфікація до коду</a:t>
            </a:r>
            <a:endParaRPr lang="uk-UA" altLang="ru-RU" dirty="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66850"/>
            <a:ext cx="7921625" cy="44164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uk-UA" altLang="en-US" sz="23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По тестам о</a:t>
            </a:r>
            <a:r>
              <a:rPr kumimoji="0" lang="en-US" altLang="en-US" sz="23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дразу зрозуміло, як потрібно користуватися кодом, що тестується. Виходить, що </a:t>
            </a:r>
            <a:r>
              <a:rPr kumimoji="0" lang="en-US" altLang="en-US" sz="23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модульні </a:t>
            </a:r>
            <a:r>
              <a:rPr kumimoji="0" lang="uk-UA" altLang="en-US" sz="23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тести </a:t>
            </a:r>
            <a:r>
              <a:rPr kumimoji="0" lang="en-US" altLang="en-US" sz="23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описують </a:t>
            </a:r>
            <a:r>
              <a:rPr kumimoji="0" lang="en-US" altLang="en-US" sz="2300" b="1" i="0" u="sng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специфікацію</a:t>
            </a:r>
            <a:r>
              <a:rPr kumimoji="0" lang="en-US" altLang="en-US" sz="23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до нашого коду</a:t>
            </a:r>
            <a:r>
              <a:rPr kumimoji="0" lang="en-US" altLang="en-US" sz="23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endParaRPr kumimoji="0" lang="en-US" altLang="en-US" sz="23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en-US" sz="23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Говорять, що </a:t>
            </a:r>
            <a:r>
              <a:rPr kumimoji="0" lang="en-US" altLang="en-US" sz="23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модульні тести фіксують API, </a:t>
            </a:r>
            <a:r>
              <a:rPr kumimoji="0" lang="uk-UA" altLang="en-US" sz="23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</a:t>
            </a:r>
            <a:r>
              <a:rPr kumimoji="0" lang="en-US" altLang="en-US" sz="23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який описує наші класи.</a:t>
            </a:r>
            <a:endParaRPr kumimoji="0" lang="en-US" altLang="en-US" sz="23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en-US" altLang="en-US" sz="23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en-US" sz="23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Від поганих тестів більше шкоди, ніж користі. Якості тестів потрібно приділяти не менше уваги, ніж продакшн коду. Це означає, що тест повинен легко читатись і бути простим у супроводі. Ніхто не буде використовувати тести як специфікацію, якщо розібратися в них складніше, ніж у самому коді.</a:t>
            </a:r>
            <a:endParaRPr kumimoji="0" lang="en-US" altLang="en-US" sz="23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altLang="x-none" sz="4200" dirty="0" err="1">
                <a:solidFill>
                  <a:srgbClr val="FFFFFF"/>
                </a:solidFill>
                <a:sym typeface="+mn-ea"/>
              </a:rPr>
              <a:t>Огляд </a:t>
            </a:r>
            <a:r>
              <a:rPr lang="uk-UA" altLang="x-none" sz="4200" dirty="0" err="1">
                <a:solidFill>
                  <a:srgbClr val="FFFFFF"/>
                </a:solidFill>
                <a:sym typeface="+mn-ea"/>
              </a:rPr>
              <a:t>інструментів для МТ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412115" y="1389380"/>
            <a:ext cx="8163560" cy="4327525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600"/>
              </a:spcBef>
              <a:buClrTx/>
              <a:buSzPct val="80000"/>
              <a:buFont typeface="Arial" panose="020B0604020202020204" pitchFamily="34" charset="0"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1400" dirty="0" err="1">
                <a:solidFill>
                  <a:schemeClr val="tx1"/>
                </a:solidFill>
                <a:ea typeface="Microsoft YaHei" panose="020B0503020204020204" charset="-122"/>
              </a:rPr>
              <a:t>Основні тестові фреймворки (Test Frameworks)</a:t>
            </a:r>
            <a:endParaRPr lang="en-US" altLang="en-US" sz="14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600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1400" b="1" dirty="0" err="1">
                <a:solidFill>
                  <a:schemeClr val="tx1"/>
                </a:solidFill>
                <a:ea typeface="Microsoft YaHei" panose="020B0503020204020204" charset="-122"/>
              </a:rPr>
              <a:t>xUnit.net </a:t>
            </a:r>
            <a:r>
              <a:rPr lang="en-US" altLang="en-US" sz="1400" dirty="0" err="1">
                <a:solidFill>
                  <a:schemeClr val="tx1"/>
                </a:solidFill>
                <a:ea typeface="Microsoft YaHei" panose="020B0503020204020204" charset="-122"/>
              </a:rPr>
              <a:t>— де-факто сучасний стандарт для .NET. Створений автором NUnit v2 </a:t>
            </a:r>
            <a:r>
              <a:rPr lang="uk-UA" altLang="en-US" sz="1400" dirty="0" err="1">
                <a:solidFill>
                  <a:schemeClr val="tx1"/>
                </a:solidFill>
                <a:ea typeface="Microsoft YaHei" panose="020B0503020204020204" charset="-122"/>
              </a:rPr>
              <a:t>                         </a:t>
            </a:r>
            <a:r>
              <a:rPr lang="en-US" altLang="en-US" sz="1400" dirty="0" err="1">
                <a:solidFill>
                  <a:schemeClr val="tx1"/>
                </a:solidFill>
                <a:ea typeface="Microsoft YaHei" panose="020B0503020204020204" charset="-122"/>
              </a:rPr>
              <a:t>з урахуванням усіх недоліків попередників. Відрізняється ізоляцією тестів (створює новий екземпляр тестового класу для кожного тесту) та відсутністю застарілих атрибутів </a:t>
            </a:r>
            <a:r>
              <a:rPr lang="uk-UA" altLang="en-US" sz="1400" dirty="0" err="1">
                <a:solidFill>
                  <a:schemeClr val="tx1"/>
                </a:solidFill>
                <a:ea typeface="Microsoft YaHei" panose="020B0503020204020204" charset="-122"/>
              </a:rPr>
              <a:t>                  </a:t>
            </a:r>
            <a:r>
              <a:rPr lang="en-US" altLang="en-US" sz="1400" dirty="0" err="1">
                <a:solidFill>
                  <a:schemeClr val="tx1"/>
                </a:solidFill>
                <a:ea typeface="Microsoft YaHei" panose="020B0503020204020204" charset="-122"/>
              </a:rPr>
              <a:t>на кшталт [SetUp]/[TearDown], замінюючи їх стандартним конструктором та IDisposable</a:t>
            </a:r>
            <a:endParaRPr lang="en-US" altLang="en-US" sz="14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600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1400" b="1" dirty="0" err="1">
                <a:solidFill>
                  <a:schemeClr val="tx1"/>
                </a:solidFill>
                <a:ea typeface="Microsoft YaHei" panose="020B0503020204020204" charset="-122"/>
              </a:rPr>
              <a:t>NUnit </a:t>
            </a:r>
            <a:r>
              <a:rPr lang="en-US" altLang="en-US" sz="1400" dirty="0" err="1">
                <a:solidFill>
                  <a:schemeClr val="tx1"/>
                </a:solidFill>
                <a:ea typeface="Microsoft YaHei" panose="020B0503020204020204" charset="-122"/>
              </a:rPr>
              <a:t>— один із найпопулярніших і найстаріших інструментів для модульного тестування додатків .NET. Належить до родини фреймворків xUnit для різних мов програмування,</a:t>
            </a:r>
            <a:r>
              <a:rPr lang="uk-UA" altLang="en-US" sz="1400" dirty="0" err="1">
                <a:solidFill>
                  <a:schemeClr val="tx1"/>
                </a:solidFill>
                <a:ea typeface="Microsoft YaHei" panose="020B0503020204020204" charset="-122"/>
              </a:rPr>
              <a:t>      </a:t>
            </a:r>
            <a:r>
              <a:rPr lang="en-US" altLang="en-US" sz="1400" dirty="0" err="1">
                <a:solidFill>
                  <a:schemeClr val="tx1"/>
                </a:solidFill>
                <a:ea typeface="Microsoft YaHei" panose="020B0503020204020204" charset="-122"/>
              </a:rPr>
              <a:t> що бере початок у SUnit Кента Бека для Smalltalk. Має багатий набір атрибутів (наприклад, [TestCase], [SetUp]) та гнучку систему тверджень (assertions)</a:t>
            </a:r>
            <a:endParaRPr lang="en-US" altLang="en-US" sz="14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600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1400" b="1" dirty="0" err="1">
                <a:solidFill>
                  <a:schemeClr val="tx1"/>
                </a:solidFill>
                <a:ea typeface="Microsoft YaHei" panose="020B0503020204020204" charset="-122"/>
              </a:rPr>
              <a:t>MSTest </a:t>
            </a:r>
            <a:r>
              <a:rPr lang="en-US" altLang="en-US" sz="1400" dirty="0" err="1">
                <a:solidFill>
                  <a:schemeClr val="tx1"/>
                </a:solidFill>
                <a:ea typeface="Microsoft YaHei" panose="020B0503020204020204" charset="-122"/>
              </a:rPr>
              <a:t>(MSTest V2) — офіційний тестовий фреймворк від Microsoft, який постачається</a:t>
            </a:r>
            <a:r>
              <a:rPr lang="uk-UA" altLang="en-US" sz="1400" dirty="0" err="1">
                <a:solidFill>
                  <a:schemeClr val="tx1"/>
                </a:solidFill>
                <a:ea typeface="Microsoft YaHei" panose="020B0503020204020204" charset="-122"/>
              </a:rPr>
              <a:t>          </a:t>
            </a:r>
            <a:r>
              <a:rPr lang="en-US" altLang="en-US" sz="1400" dirty="0" err="1">
                <a:solidFill>
                  <a:schemeClr val="tx1"/>
                </a:solidFill>
                <a:ea typeface="Microsoft YaHei" panose="020B0503020204020204" charset="-122"/>
              </a:rPr>
              <a:t> «з коробки» разом із Visual Studio. Раніше вважався заважким, але версія V2 стала кросплатформеною, швидкою та підтримує розширення</a:t>
            </a:r>
            <a:endParaRPr lang="en-US" altLang="en-US" sz="14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600"/>
              </a:spcBef>
              <a:buClrTx/>
              <a:buSzPct val="80000"/>
              <a:buFont typeface="Arial" panose="020B0604020202020204" pitchFamily="34" charset="0"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1400" dirty="0" err="1">
                <a:solidFill>
                  <a:schemeClr val="tx1"/>
                </a:solidFill>
                <a:ea typeface="Microsoft YaHei" panose="020B0503020204020204" charset="-122"/>
              </a:rPr>
              <a:t>Мок-фреймворки (Mocking Frameworks)</a:t>
            </a:r>
            <a:endParaRPr lang="en-US" altLang="en-US" sz="14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600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1400" b="1" dirty="0" err="1">
                <a:solidFill>
                  <a:schemeClr val="tx1"/>
                </a:solidFill>
                <a:ea typeface="Microsoft YaHei" panose="020B0503020204020204" charset="-122"/>
              </a:rPr>
              <a:t>Moq </a:t>
            </a:r>
            <a:r>
              <a:rPr lang="en-US" altLang="en-US" sz="1400" dirty="0" err="1">
                <a:solidFill>
                  <a:schemeClr val="tx1"/>
                </a:solidFill>
                <a:ea typeface="Microsoft YaHei" panose="020B0503020204020204" charset="-122"/>
              </a:rPr>
              <a:t>— найвідоміший фреймворк для створення мок-об'єктів у .NET</a:t>
            </a:r>
            <a:endParaRPr lang="en-US" altLang="en-US" sz="14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600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1400" b="1" dirty="0" err="1">
                <a:solidFill>
                  <a:schemeClr val="tx1"/>
                </a:solidFill>
                <a:ea typeface="Microsoft YaHei" panose="020B0503020204020204" charset="-122"/>
              </a:rPr>
              <a:t>NSubstitute </a:t>
            </a:r>
            <a:r>
              <a:rPr lang="en-US" altLang="en-US" sz="1400" dirty="0" err="1">
                <a:solidFill>
                  <a:schemeClr val="tx1"/>
                </a:solidFill>
                <a:ea typeface="Microsoft YaHei" panose="020B0503020204020204" charset="-122"/>
              </a:rPr>
              <a:t>— популярна альтернатива Moq із більш простим, лаконічним та читабельним синтаксисом</a:t>
            </a:r>
            <a:endParaRPr lang="en-US" altLang="en-US" sz="14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600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1400" b="1" dirty="0" err="1">
                <a:solidFill>
                  <a:schemeClr val="tx1"/>
                </a:solidFill>
                <a:ea typeface="Microsoft YaHei" panose="020B0503020204020204" charset="-122"/>
              </a:rPr>
              <a:t>FakeItEasy </a:t>
            </a:r>
            <a:r>
              <a:rPr lang="en-US" altLang="en-US" sz="1400" dirty="0" err="1">
                <a:solidFill>
                  <a:schemeClr val="tx1"/>
                </a:solidFill>
                <a:ea typeface="Microsoft YaHei" panose="020B0503020204020204" charset="-122"/>
              </a:rPr>
              <a:t>— ще один зручний інструмент для ізоляції, який використовує концепцію «усі підставні об'єкти — це fakes»</a:t>
            </a:r>
            <a:endParaRPr lang="en-US" altLang="en-US" sz="14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600"/>
              </a:spcBef>
              <a:buClrTx/>
              <a:buSzPct val="80000"/>
              <a:buFont typeface="Arial" panose="020B0604020202020204" pitchFamily="34" charset="0"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endParaRPr lang="en-US" altLang="en-US" sz="14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195580" y="228600"/>
            <a:ext cx="8535670" cy="911225"/>
          </a:xfrm>
        </p:spPr>
        <p:txBody>
          <a:bodyPr vert="horz" wrap="square" lIns="91440" tIns="45720" rIns="91440" bIns="45720" anchor="ctr" anchorCtr="0"/>
          <a:p>
            <a:r>
              <a:rPr lang="uk-UA" sz="4100" dirty="0"/>
              <a:t>Що потрібно тестувати</a:t>
            </a:r>
            <a:endParaRPr lang="uk-UA" sz="4100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490220" y="1437640"/>
            <a:ext cx="8041005" cy="4578985"/>
          </a:xfrm>
        </p:spPr>
        <p:txBody>
          <a:bodyPr vert="horz" wrap="square" lIns="91440" tIns="45720" rIns="91440" bIns="45720" anchor="t" anchorCtr="0"/>
          <a:p>
            <a:pPr>
              <a:buFont typeface="Arial" panose="020B0604020202020204" pitchFamily="34" charset="0"/>
              <a:buChar char="•"/>
            </a:pPr>
            <a:r>
              <a:rPr lang="en-US" altLang="en-US" sz="1700" b="1" dirty="0"/>
              <a:t>Domain </a:t>
            </a:r>
            <a:r>
              <a:rPr lang="en-US" altLang="en-US" sz="1700" dirty="0"/>
              <a:t>— окреме тестування </a:t>
            </a:r>
            <a:r>
              <a:rPr lang="uk-UA" altLang="en-US" sz="1700" dirty="0"/>
              <a:t>зазвичай </a:t>
            </a:r>
            <a:r>
              <a:rPr lang="en-US" altLang="en-US" sz="1700" dirty="0"/>
              <a:t>не потрібне, оскільки моделі </a:t>
            </a:r>
            <a:r>
              <a:rPr lang="uk-UA" altLang="en-US" sz="1700" dirty="0"/>
              <a:t>можуть бути</a:t>
            </a:r>
            <a:r>
              <a:rPr lang="en-US" altLang="en-US" sz="1700" dirty="0"/>
              <a:t> анемічні та не містять бізнес-логіки</a:t>
            </a:r>
            <a:endParaRPr lang="en-US" altLang="en-US" sz="17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1700" b="1" dirty="0"/>
              <a:t>Application </a:t>
            </a:r>
            <a:r>
              <a:rPr lang="en-US" altLang="en-US" sz="1700" dirty="0"/>
              <a:t>—</a:t>
            </a:r>
            <a:r>
              <a:rPr lang="uk-UA" altLang="en-US" sz="1700" dirty="0"/>
              <a:t> сервіси</a:t>
            </a:r>
            <a:r>
              <a:rPr lang="en-US" altLang="en-US" sz="1700" dirty="0"/>
              <a:t>, м</a:t>
            </a:r>
            <a:r>
              <a:rPr lang="uk-UA" altLang="en-US" sz="1700" dirty="0"/>
              <a:t>е</a:t>
            </a:r>
            <a:r>
              <a:rPr lang="en-US" altLang="en-US" sz="1700" dirty="0"/>
              <a:t>пінг DTO, винятки та робот</a:t>
            </a:r>
            <a:r>
              <a:rPr lang="uk-UA" altLang="en-US" sz="1700" dirty="0"/>
              <a:t>у </a:t>
            </a:r>
            <a:r>
              <a:rPr lang="en-US" altLang="en-US" sz="1700" dirty="0"/>
              <a:t>з репозиторіями</a:t>
            </a:r>
            <a:endParaRPr lang="en-US" altLang="en-US" sz="17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1700" b="1" dirty="0"/>
              <a:t>Infrastructure </a:t>
            </a:r>
            <a:r>
              <a:rPr lang="en-US" altLang="en-US" sz="1700" dirty="0"/>
              <a:t>— репозиторії, збереження, оновлення, видалення, пошук</a:t>
            </a:r>
            <a:r>
              <a:rPr lang="uk-UA" altLang="en-US" sz="1700" dirty="0"/>
              <a:t>   </a:t>
            </a:r>
            <a:r>
              <a:rPr lang="en-US" altLang="en-US" sz="1700" dirty="0"/>
              <a:t> і м</a:t>
            </a:r>
            <a:r>
              <a:rPr lang="uk-UA" altLang="en-US" sz="1700" dirty="0"/>
              <a:t>е</a:t>
            </a:r>
            <a:r>
              <a:rPr lang="en-US" altLang="en-US" sz="1700" dirty="0"/>
              <a:t>пінг документів</a:t>
            </a:r>
            <a:endParaRPr lang="en-US" altLang="en-US" sz="17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1700" b="1" dirty="0">
                <a:sym typeface="+mn-ea"/>
              </a:rPr>
              <a:t>WebAPI </a:t>
            </a:r>
            <a:r>
              <a:rPr lang="en-US" altLang="en-US" sz="1700" dirty="0">
                <a:sym typeface="+mn-ea"/>
              </a:rPr>
              <a:t>— контролери, HTTP-методи, статус-коди, валідацію та обробку винятків</a:t>
            </a:r>
            <a:endParaRPr lang="en-US" altLang="en-US" sz="1700" dirty="0">
              <a:sym typeface="+mn-ea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1700" b="1" dirty="0">
                <a:sym typeface="+mn-ea"/>
              </a:rPr>
              <a:t>DI та конфігурація</a:t>
            </a:r>
            <a:r>
              <a:rPr lang="en-US" altLang="en-US" sz="1700" dirty="0">
                <a:sym typeface="+mn-ea"/>
              </a:rPr>
              <a:t> — реєстрацію сервісів, репозиторіїв і </a:t>
            </a:r>
            <a:r>
              <a:rPr lang="uk-UA" altLang="en-US" sz="1700" dirty="0">
                <a:sym typeface="+mn-ea"/>
              </a:rPr>
              <a:t>БД-</a:t>
            </a:r>
            <a:r>
              <a:rPr lang="en-US" altLang="en-US" sz="1700" dirty="0">
                <a:sym typeface="+mn-ea"/>
              </a:rPr>
              <a:t>залежностей</a:t>
            </a:r>
            <a:endParaRPr lang="en-US" altLang="en-US" sz="17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1700" b="1" dirty="0"/>
              <a:t>Integration </a:t>
            </a:r>
            <a:r>
              <a:rPr lang="en-US" altLang="en-US" sz="1700" dirty="0"/>
              <a:t>— взаємодію Application, Infrastructure та </a:t>
            </a:r>
            <a:r>
              <a:rPr lang="uk-UA" altLang="en-US" sz="1700" dirty="0"/>
              <a:t>БД</a:t>
            </a:r>
            <a:endParaRPr lang="en-US" altLang="en-US" sz="17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1700" b="1" dirty="0">
                <a:hlinkClick r:id="rId1" action="ppaction://hlinkfile"/>
              </a:rPr>
              <a:t>Firebase Emulator</a:t>
            </a:r>
            <a:r>
              <a:rPr lang="en-US" altLang="en-US" sz="1700" dirty="0"/>
              <a:t> — роботу з колекціями, генерацію ID та структуру документів</a:t>
            </a:r>
            <a:r>
              <a:rPr lang="uk-UA" altLang="en-US" sz="1700" dirty="0"/>
              <a:t>, </a:t>
            </a:r>
            <a:r>
              <a:rPr lang="en-US" altLang="en-US" sz="1700" dirty="0">
                <a:sym typeface="+mn-ea"/>
              </a:rPr>
              <a:t>Security Rules</a:t>
            </a:r>
            <a:endParaRPr lang="en-US" altLang="en-US" sz="17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1700" b="1" dirty="0"/>
              <a:t>React </a:t>
            </a:r>
            <a:r>
              <a:rPr lang="en-US" altLang="en-US" sz="1700" dirty="0"/>
              <a:t>— API-запити, відображення даних, форми, помилки та взаємодію користувача</a:t>
            </a:r>
            <a:r>
              <a:rPr lang="uk-UA" altLang="en-US" sz="1700" dirty="0"/>
              <a:t> (ПРЕЗЕНТАЦІЮ НАДАТИ ОКРЕМО)</a:t>
            </a:r>
            <a:endParaRPr lang="en-US" altLang="en-US" sz="1700" dirty="0"/>
          </a:p>
          <a:p>
            <a:pPr marL="0" indent="0">
              <a:buFont typeface="Arial" panose="020B0604020202020204" pitchFamily="34" charset="0"/>
            </a:pPr>
            <a:endParaRPr lang="en-US" altLang="en-US" sz="17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sz="4200" dirty="0">
                <a:sym typeface="+mn-ea"/>
              </a:rPr>
              <a:t>Навіщо тестувати?</a:t>
            </a:r>
            <a:endParaRPr lang="en-US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4375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  <p:pic>
        <p:nvPicPr>
          <p:cNvPr id="2" name="Picture 1" descr="photo_2026-07-21_20-05-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295" y="1089025"/>
            <a:ext cx="2735580" cy="5925820"/>
          </a:xfrm>
          <a:prstGeom prst="rect">
            <a:avLst/>
          </a:prstGeom>
        </p:spPr>
      </p:pic>
      <p:pic>
        <p:nvPicPr>
          <p:cNvPr id="3" name="Picture 2" descr="photo_2026-07-21_20-05-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9075" y="1089025"/>
            <a:ext cx="2735580" cy="592582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Рекомендації та поради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460375" y="1386205"/>
            <a:ext cx="806450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spcBef>
                <a:spcPts val="600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1800" b="1" dirty="0" err="1">
                <a:solidFill>
                  <a:srgbClr val="000000"/>
                </a:solidFill>
                <a:ea typeface="Microsoft YaHei" panose="020B0503020204020204" charset="-122"/>
              </a:rPr>
              <a:t>Забезпечуйте ізоляцію тестів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: створюйте всі необхідні об’єкти 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        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та залежності перед кожним тестом. Це гарантує, що тести повністю незалежні один від одного і не впливають на стан попередніх запусків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600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1800" b="1" dirty="0" err="1">
                <a:solidFill>
                  <a:srgbClr val="000000"/>
                </a:solidFill>
                <a:ea typeface="Microsoft YaHei" panose="020B0503020204020204" charset="-122"/>
              </a:rPr>
              <a:t>Максимізуйте покриття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: тестуйте всі публічні методи класу — 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        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від простих геттерів і сеттерів до складної бізнес-логіки, обробки даних, обчислень та винятків. Перевіряйте як успішні сценарії, 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        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так і помилкові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600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1800" b="1" dirty="0" err="1">
                <a:solidFill>
                  <a:srgbClr val="000000"/>
                </a:solidFill>
                <a:ea typeface="Microsoft YaHei" panose="020B0503020204020204" charset="-122"/>
              </a:rPr>
              <a:t>Перевіряйте граничні випадки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: обов’язково тестуйте некоректні, крайні або неочікувані вхідні дані — нульові значення, порожні колекції, максимальні/мінімальні значення, невалідні формати. Переконайтеся, що код коректно реагує на них (викидає виняток, повертає правильний результат або ігнорує без помилки)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600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1800" b="1" dirty="0" err="1">
                <a:solidFill>
                  <a:srgbClr val="000000"/>
                </a:solidFill>
                <a:ea typeface="Microsoft YaHei" panose="020B0503020204020204" charset="-122"/>
              </a:rPr>
              <a:t>Використовуйте зрозумілі імена тестів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: називайте методи так, 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   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щоб з назви було одразу зрозуміло, що саме перевіряється і за яких умов. Наприклад: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en-US" altLang="en-US" sz="1500" dirty="0" err="1">
                <a:solidFill>
                  <a:srgbClr val="000000"/>
                </a:solidFill>
                <a:ea typeface="Microsoft YaHei" panose="020B0503020204020204" charset="-122"/>
              </a:rPr>
              <a:t>ShouldAddValidExamGrade_WhenGradeIsBetween1And12, ShouldThrowException_WhenHomeworkGradeIsNegative</a:t>
            </a:r>
            <a:endParaRPr lang="en-US" altLang="en-US" sz="15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uk-UA" sz="4100" dirty="0"/>
              <a:t>Початковий приклад</a:t>
            </a:r>
            <a:endParaRPr lang="uk-UA" sz="4100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490220" y="1437640"/>
            <a:ext cx="8041005" cy="4578985"/>
          </a:xfrm>
        </p:spPr>
        <p:txBody>
          <a:bodyPr vert="horz" wrap="square" lIns="91440" tIns="45720" rIns="91440" bIns="45720" anchor="t" anchorCtr="0"/>
          <a:p>
            <a:pPr marL="0" indent="0" algn="ctr">
              <a:buFont typeface="Arial" panose="020B0604020202020204" pitchFamily="34" charset="0"/>
            </a:pPr>
            <a:endParaRPr lang="en-US" altLang="en-US" b="1" dirty="0">
              <a:hlinkClick r:id="rId1" action="ppaction://hlinkfile"/>
            </a:endParaRPr>
          </a:p>
          <a:p>
            <a:pPr marL="0" indent="0" algn="ctr">
              <a:buFont typeface="Arial" panose="020B0604020202020204" pitchFamily="34" charset="0"/>
            </a:pPr>
            <a:endParaRPr lang="en-US" altLang="en-US" b="1" dirty="0">
              <a:hlinkClick r:id="rId1" action="ppaction://hlinkfile"/>
            </a:endParaRPr>
          </a:p>
          <a:p>
            <a:pPr marL="0" indent="0" algn="ctr">
              <a:buFont typeface="Arial" panose="020B0604020202020204" pitchFamily="34" charset="0"/>
            </a:pPr>
            <a:endParaRPr lang="en-US" altLang="en-US" b="1" dirty="0">
              <a:hlinkClick r:id="rId1" action="ppaction://hlinkfile"/>
            </a:endParaRPr>
          </a:p>
          <a:p>
            <a:pPr marL="0" indent="0" algn="ctr">
              <a:buFont typeface="Arial" panose="020B0604020202020204" pitchFamily="34" charset="0"/>
            </a:pPr>
            <a:r>
              <a:rPr lang="en-US" altLang="en-US" b="1" dirty="0">
                <a:hlinkClick r:id="rId1" action="ppaction://hlinkfile"/>
              </a:rPr>
              <a:t>https://github.com/sunmeat/aspnetcore_firebase_clean</a:t>
            </a:r>
            <a:endParaRPr lang="en-US" altLang="en-US" b="1" dirty="0">
              <a:hlinkClick r:id="rId1" action="ppaction://hlinkfile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580" y="228600"/>
            <a:ext cx="8612505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Окремий проєкт для юніт-тестів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460375" y="1386205"/>
            <a:ext cx="806450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285750" indent="-285750" defTabSz="457200">
              <a:spcBef>
                <a:spcPts val="600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uk-UA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додати новий окремий проєкт, 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Soccer.UnitTests</a:t>
            </a:r>
            <a:endParaRPr lang="en-US" altLang="en-US" sz="22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600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endParaRPr lang="en-US" altLang="en-US" sz="22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6280" y="1943100"/>
            <a:ext cx="7711440" cy="457200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altLang="uk-UA" sz="4200" dirty="0" err="1">
                <a:solidFill>
                  <a:srgbClr val="FFFFFF"/>
                </a:solidFill>
                <a:sym typeface="+mn-ea"/>
              </a:rPr>
              <a:t>Як</a:t>
            </a:r>
            <a:r>
              <a:rPr lang="uk-UA" altLang="uk-UA" sz="4200" dirty="0" err="1">
                <a:solidFill>
                  <a:srgbClr val="FFFFFF"/>
                </a:solidFill>
                <a:sym typeface="+mn-ea"/>
              </a:rPr>
              <a:t>і файли треба створити</a:t>
            </a:r>
            <a:endParaRPr lang="uk-UA" altLang="uk-UA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460375" y="1386205"/>
            <a:ext cx="806450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285750" indent="-285750" defTabSz="457200">
              <a:spcBef>
                <a:spcPts val="600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uk-UA" altLang="uk-UA" sz="2100" dirty="0" err="1">
                <a:solidFill>
                  <a:srgbClr val="000000"/>
                </a:solidFill>
                <a:ea typeface="Microsoft YaHei" panose="020B0503020204020204" charset="-122"/>
              </a:rPr>
              <a:t>додати папки та файли для тестів </a:t>
            </a:r>
            <a:r>
              <a:rPr lang="en-US" altLang="uk-UA" sz="2100" dirty="0" err="1">
                <a:solidFill>
                  <a:srgbClr val="000000"/>
                </a:solidFill>
                <a:ea typeface="Microsoft YaHei" panose="020B0503020204020204" charset="-122"/>
              </a:rPr>
              <a:t>&gt;&gt;&gt;</a:t>
            </a:r>
            <a:endParaRPr lang="uk-UA" altLang="uk-UA" sz="21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600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додати залежність від проєкту</a:t>
            </a:r>
            <a:r>
              <a:rPr lang="ru-RU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                                       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b API (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інші проєкти - 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Application / 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                                                        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Common / Domain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 - підтягнуться                                            транзитивно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 (Add &gt; Project Reference)</a:t>
            </a:r>
            <a:endParaRPr lang="en-US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600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код тестів для сервісів та                                                    контролерів доступний за                                                 посиланням:                                                                             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  <a:hlinkClick r:id="rId1" action="ppaction://hlinkfile"/>
              </a:rPr>
              <a:t>https://github.com/sunmeat/aspnetcore_testing/tree/master/Soccer.UnitTests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endParaRPr lang="en-US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600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endParaRPr lang="uk-UA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600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Запуск тестів: </a:t>
            </a:r>
            <a:r>
              <a:rPr lang="en-US" altLang="uk-UA" sz="2100" b="1" dirty="0" err="1">
                <a:solidFill>
                  <a:srgbClr val="000000"/>
                </a:solidFill>
                <a:ea typeface="Microsoft YaHei" panose="020B0503020204020204" charset="-122"/>
              </a:rPr>
              <a:t>Test &gt; Test Explorer</a:t>
            </a:r>
            <a:br>
              <a:rPr lang="en-US" altLang="uk-UA" sz="2100" b="1" dirty="0" err="1">
                <a:solidFill>
                  <a:srgbClr val="000000"/>
                </a:solidFill>
                <a:ea typeface="Microsoft YaHei" panose="020B0503020204020204" charset="-122"/>
              </a:rPr>
            </a:br>
            <a:r>
              <a:rPr lang="en-US" altLang="uk-UA" sz="2100" b="1" dirty="0" err="1">
                <a:solidFill>
                  <a:srgbClr val="000000"/>
                </a:solidFill>
                <a:ea typeface="Microsoft YaHei" panose="020B0503020204020204" charset="-122"/>
              </a:rPr>
              <a:t>dotnet test</a:t>
            </a:r>
            <a:endParaRPr lang="en-US" altLang="uk-UA" sz="2100" b="1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2135" y="1043940"/>
            <a:ext cx="3409315" cy="278638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Text Box 7169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Результати</a:t>
            </a:r>
            <a:endParaRPr lang="uk-UA" altLang="ru-RU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0243" name="Text Box 7170"/>
          <p:cNvSpPr txBox="1"/>
          <p:nvPr/>
        </p:nvSpPr>
        <p:spPr>
          <a:xfrm>
            <a:off x="471805" y="1412875"/>
            <a:ext cx="804672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775"/>
              </a:spcBef>
              <a:buClr>
                <a:srgbClr val="996666"/>
              </a:buClr>
              <a:buSzPct val="80000"/>
              <a:buFont typeface="Arial" panose="020B0604020202020204" pitchFamily="34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endParaRPr lang="en-US" altLang="en-US" sz="2500" dirty="0" err="1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290" y="1088390"/>
            <a:ext cx="8776970" cy="570547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uk-UA" sz="4200" dirty="0" err="1">
                <a:solidFill>
                  <a:srgbClr val="FFFFFF"/>
                </a:solidFill>
                <a:sym typeface="+mn-ea"/>
              </a:rPr>
              <a:t>Інтеграційні тести</a:t>
            </a:r>
            <a:endParaRPr lang="uk-UA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460375" y="1519555"/>
            <a:ext cx="806450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algn="ctr" defTabSz="457200">
              <a:spcBef>
                <a:spcPts val="600"/>
              </a:spcBef>
              <a:buClrTx/>
              <a:buSzPct val="80000"/>
              <a:buFont typeface="Arial" panose="020B0604020202020204" pitchFamily="34" charset="0"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3200" b="1" dirty="0" err="1">
                <a:solidFill>
                  <a:srgbClr val="000000"/>
                </a:solidFill>
                <a:ea typeface="Microsoft YaHei" panose="020B0503020204020204" charset="-122"/>
                <a:hlinkClick r:id="rId1" action="ppaction://hlinkfile"/>
              </a:rPr>
              <a:t>https://github.com/sunmeat/aspnetcore_testing</a:t>
            </a:r>
            <a:endParaRPr lang="en-US" altLang="en-US" sz="32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algn="ctr" defTabSz="457200">
              <a:spcBef>
                <a:spcPts val="600"/>
              </a:spcBef>
              <a:buClrTx/>
              <a:buSzPct val="80000"/>
              <a:buFont typeface="Arial" panose="020B0604020202020204" pitchFamily="34" charset="0"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endParaRPr lang="en-US" altLang="en-US" sz="3200" b="1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62555"/>
            <a:ext cx="9144000" cy="491109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Text Box 7169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uk-UA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Практика</a:t>
            </a:r>
            <a:endParaRPr lang="uk-UA" altLang="uk-UA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0243" name="Text Box 7170"/>
          <p:cNvSpPr txBox="1"/>
          <p:nvPr/>
        </p:nvSpPr>
        <p:spPr>
          <a:xfrm>
            <a:off x="471805" y="1412875"/>
            <a:ext cx="804672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775"/>
              </a:spcBef>
              <a:buClr>
                <a:srgbClr val="996666"/>
              </a:buClr>
              <a:buSzPct val="80000"/>
              <a:buFont typeface="Arial" panose="020B0604020202020204" pitchFamily="34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uk-UA" altLang="en-US" sz="2500" dirty="0" err="1">
                <a:solidFill>
                  <a:schemeClr val="tx1"/>
                </a:solidFill>
                <a:latin typeface="Arial" panose="020B0604020202020204" pitchFamily="34" charset="0"/>
              </a:rPr>
              <a:t>Зробити 2-3 модульні тести в проєкті Кінопошук.</a:t>
            </a:r>
            <a:br>
              <a:rPr lang="uk-UA" altLang="en-US" sz="2500" dirty="0" err="1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uk-UA" altLang="en-US" sz="2500" dirty="0" err="1">
                <a:solidFill>
                  <a:schemeClr val="tx1"/>
                </a:solidFill>
                <a:latin typeface="Arial" panose="020B0604020202020204" pitchFamily="34" charset="0"/>
              </a:rPr>
              <a:t>Відправити в пп тг код тестів та скріни роботи.</a:t>
            </a:r>
            <a:endParaRPr lang="uk-UA" altLang="en-US" sz="2500" dirty="0" err="1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Text Box 7169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uk-UA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ДЗ</a:t>
            </a:r>
            <a:endParaRPr lang="uk-UA" altLang="uk-UA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0243" name="Text Box 7170"/>
          <p:cNvSpPr txBox="1"/>
          <p:nvPr/>
        </p:nvSpPr>
        <p:spPr>
          <a:xfrm>
            <a:off x="471805" y="1412875"/>
            <a:ext cx="804672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775"/>
              </a:spcBef>
              <a:buClr>
                <a:srgbClr val="996666"/>
              </a:buClr>
              <a:buSzPct val="80000"/>
              <a:buFont typeface="Arial" panose="020B0604020202020204" pitchFamily="34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uk-UA" altLang="en-US" sz="2500" dirty="0" err="1">
                <a:solidFill>
                  <a:schemeClr val="tx1"/>
                </a:solidFill>
                <a:latin typeface="Arial" panose="020B0604020202020204" pitchFamily="34" charset="0"/>
              </a:rPr>
              <a:t>Додати використання тестів для курсового проєкту.</a:t>
            </a:r>
            <a:endParaRPr lang="uk-UA" altLang="en-US" sz="25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775"/>
              </a:spcBef>
              <a:buClr>
                <a:srgbClr val="996666"/>
              </a:buClr>
              <a:buSzPct val="80000"/>
              <a:buFont typeface="Arial" panose="020B0604020202020204" pitchFamily="34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uk-UA" altLang="en-US" sz="2500" dirty="0" err="1">
                <a:solidFill>
                  <a:schemeClr val="tx1"/>
                </a:solidFill>
                <a:latin typeface="Arial" panose="020B0604020202020204" pitchFamily="34" charset="0"/>
              </a:rPr>
              <a:t>Відправити посилання на оновлений репозиторій з окремими проєктами для модульних та інтеграційних тестів  + скріншоти того, як вони відпрацювали.</a:t>
            </a:r>
            <a:endParaRPr lang="uk-UA" altLang="en-US" sz="25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775"/>
              </a:spcBef>
              <a:buClr>
                <a:srgbClr val="996666"/>
              </a:buClr>
              <a:buSzPct val="80000"/>
              <a:buFont typeface="Arial" panose="020B0604020202020204" pitchFamily="34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endParaRPr lang="uk-UA" altLang="en-US" sz="25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775"/>
              </a:spcBef>
              <a:buClr>
                <a:srgbClr val="996666"/>
              </a:buClr>
              <a:buSzPct val="80000"/>
              <a:buFont typeface="Arial" panose="020B0604020202020204" pitchFamily="34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uk-UA" altLang="en-US" sz="2500" dirty="0" err="1">
                <a:solidFill>
                  <a:schemeClr val="tx1"/>
                </a:solidFill>
                <a:latin typeface="Arial" panose="020B0604020202020204" pitchFamily="34" charset="0"/>
              </a:rPr>
              <a:t>Очікується приблизно така кількість тестів: </a:t>
            </a:r>
            <a:r>
              <a:rPr lang="en-US" altLang="en-US" sz="2500" dirty="0" err="1">
                <a:solidFill>
                  <a:schemeClr val="tx1"/>
                </a:solidFill>
                <a:latin typeface="Arial" panose="020B0604020202020204" pitchFamily="34" charset="0"/>
                <a:hlinkClick r:id="rId1" action="ppaction://hlinkfile"/>
              </a:rPr>
              <a:t>https://gist.github.com/sunmeat/d57a0a96701ed1a395e9aac78af77f0b</a:t>
            </a:r>
            <a:r>
              <a:rPr lang="uk-UA" altLang="en-US" sz="2500" dirty="0" err="1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endParaRPr lang="uk-UA" altLang="en-US" sz="2500" dirty="0" err="1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CB973167729B9844A7328B341F515C98" ma:contentTypeVersion="12" ma:contentTypeDescription="Создание документа." ma:contentTypeScope="" ma:versionID="d6ee7b10c34e512e5b0e393e1ebaa933">
  <xsd:schema xmlns:xsd="http://www.w3.org/2001/XMLSchema" xmlns:xs="http://www.w3.org/2001/XMLSchema" xmlns:p="http://schemas.microsoft.com/office/2006/metadata/properties" xmlns:ns2="d6ce6581-db8d-4dc6-8601-0a8e8076c593" xmlns:ns3="bbbe7e71-a692-48df-be9d-e5dc64190325" targetNamespace="http://schemas.microsoft.com/office/2006/metadata/properties" ma:root="true" ma:fieldsID="0b92462fc06dbb24bfa1325724e44fec" ns2:_="" ns3:_="">
    <xsd:import namespace="d6ce6581-db8d-4dc6-8601-0a8e8076c593"/>
    <xsd:import namespace="bbbe7e71-a692-48df-be9d-e5dc6419032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ce6581-db8d-4dc6-8601-0a8e8076c5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Теги изображений" ma:readOnly="false" ma:fieldId="{5cf76f15-5ced-4ddc-b409-7134ff3c332f}" ma:taxonomyMulti="true" ma:sspId="168b2bcd-3960-4df8-afb5-1b38f073375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be7e71-a692-48df-be9d-e5dc64190325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92df2618-9916-4c02-9aa1-42dcc332f6bf}" ma:internalName="TaxCatchAll" ma:showField="CatchAllData" ma:web="bbbe7e71-a692-48df-be9d-e5dc6419032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bbe7e71-a692-48df-be9d-e5dc64190325" xsi:nil="true"/>
    <lcf76f155ced4ddcb4097134ff3c332f xmlns="d6ce6581-db8d-4dc6-8601-0a8e8076c593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3AD6DE94-45F5-4CEB-98DD-CA11239E27DF}"/>
</file>

<file path=customXml/itemProps2.xml><?xml version="1.0" encoding="utf-8"?>
<ds:datastoreItem xmlns:ds="http://schemas.openxmlformats.org/officeDocument/2006/customXml" ds:itemID="{BDEA45A3-8B4D-4CA8-AE49-A0B2D549D0F3}"/>
</file>

<file path=customXml/itemProps3.xml><?xml version="1.0" encoding="utf-8"?>
<ds:datastoreItem xmlns:ds="http://schemas.openxmlformats.org/officeDocument/2006/customXml" ds:itemID="{BB192177-55CA-4FC3-BE53-79DE1939E3EB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27558</Words>
  <Application>WPS Presentation</Application>
  <PresentationFormat/>
  <Paragraphs>453</Paragraphs>
  <Slides>62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62</vt:i4>
      </vt:variant>
    </vt:vector>
  </HeadingPairs>
  <TitlesOfParts>
    <vt:vector size="72" baseType="lpstr">
      <vt:lpstr>Arial</vt:lpstr>
      <vt:lpstr>SimSun</vt:lpstr>
      <vt:lpstr>Wingdings</vt:lpstr>
      <vt:lpstr>Times New Roman</vt:lpstr>
      <vt:lpstr>Microsoft YaHei</vt:lpstr>
      <vt:lpstr>Arial Black</vt:lpstr>
      <vt:lpstr>Arial Unicode MS</vt:lpstr>
      <vt:lpstr>Arial Unicode MS</vt:lpstr>
      <vt:lpstr/>
      <vt:lpstr/>
      <vt:lpstr>PowerPoint 演示文稿</vt:lpstr>
      <vt:lpstr>PowerPoint 演示文稿</vt:lpstr>
      <vt:lpstr>:)</vt:lpstr>
      <vt:lpstr>Якість ПЗ</vt:lpstr>
      <vt:lpstr>Класифікація видів тестування</vt:lpstr>
      <vt:lpstr>Класифікація видів тестування</vt:lpstr>
      <vt:lpstr>Класифікація видів тестування</vt:lpstr>
      <vt:lpstr>Класифікація видів тестування</vt:lpstr>
      <vt:lpstr>Класифікація видів тестування</vt:lpstr>
      <vt:lpstr>Класифікація видів тестування</vt:lpstr>
      <vt:lpstr>PowerPoint 演示文稿</vt:lpstr>
      <vt:lpstr>PowerPoint 演示文稿</vt:lpstr>
      <vt:lpstr>PowerPoint 演示文稿</vt:lpstr>
      <vt:lpstr>PowerPoint 演示文稿</vt:lpstr>
      <vt:lpstr>Розробка через тестування</vt:lpstr>
      <vt:lpstr>Розробка через тестування</vt:lpstr>
      <vt:lpstr>Тестування C#-додатків</vt:lpstr>
      <vt:lpstr>Навіщо тестувати?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Рефакторинг</vt:lpstr>
      <vt:lpstr>Модульність</vt:lpstr>
      <vt:lpstr>Підходи та прийоми</vt:lpstr>
      <vt:lpstr>Швидкість</vt:lpstr>
      <vt:lpstr>Ізольованість</vt:lpstr>
      <vt:lpstr>Абстрагуйся або помри</vt:lpstr>
      <vt:lpstr>Види підробок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Тестування private-методів</vt:lpstr>
      <vt:lpstr>Тестування private-методів</vt:lpstr>
      <vt:lpstr>Хороша архітектура та ООД</vt:lpstr>
      <vt:lpstr>Користь від тестів</vt:lpstr>
      <vt:lpstr>Придивіться уважніше до коду</vt:lpstr>
      <vt:lpstr>PowerPoint 演示文稿</vt:lpstr>
      <vt:lpstr>Ну тоді що ж,</vt:lpstr>
      <vt:lpstr>Хороший дизайн</vt:lpstr>
      <vt:lpstr>Тести - краща документація</vt:lpstr>
      <vt:lpstr>Специфікація до коду</vt:lpstr>
      <vt:lpstr>PowerPoint 演示文稿</vt:lpstr>
      <vt:lpstr>Що потрібно тестувати</vt:lpstr>
      <vt:lpstr>PowerPoint 演示文稿</vt:lpstr>
      <vt:lpstr>PowerPoint 演示文稿</vt:lpstr>
      <vt:lpstr>Початковий приклад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Александр Загор�</cp:lastModifiedBy>
  <cp:revision>103</cp:revision>
  <dcterms:created xsi:type="dcterms:W3CDTF">2005-09-22T16:26:00Z</dcterms:created>
  <dcterms:modified xsi:type="dcterms:W3CDTF">2026-09-23T09:07:37Z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88202296253F431A9DC5B73F9C110873_12</vt:lpwstr>
  </property>
  <property fmtid="{D5CDD505-2E9C-101B-9397-08002B2CF9AE}" pid="3" name="KSOProductBuildVer">
    <vt:lpwstr>1033-12.1.0.28485</vt:lpwstr>
  </property>
  <property fmtid="{D5CDD505-2E9C-101B-9397-08002B2CF9AE}" pid="4" name="ContentTypeId">
    <vt:lpwstr>0x010100CB973167729B9844A7328B341F515C98</vt:lpwstr>
  </property>
</Properties>
</file>