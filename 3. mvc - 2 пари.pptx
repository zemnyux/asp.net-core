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16" r:id="rId7"/>
    <p:sldId id="717" r:id="rId8"/>
    <p:sldId id="768" r:id="rId9"/>
    <p:sldId id="769" r:id="rId10"/>
    <p:sldId id="770" r:id="rId11"/>
    <p:sldId id="718" r:id="rId12"/>
    <p:sldId id="719" r:id="rId13"/>
    <p:sldId id="767" r:id="rId14"/>
    <p:sldId id="626" r:id="rId15"/>
    <p:sldId id="688" r:id="rId16"/>
    <p:sldId id="689" r:id="rId17"/>
    <p:sldId id="771" r:id="rId18"/>
    <p:sldId id="763" r:id="rId19"/>
    <p:sldId id="690" r:id="rId20"/>
    <p:sldId id="725" r:id="rId21"/>
    <p:sldId id="726" r:id="rId22"/>
    <p:sldId id="737" r:id="rId23"/>
    <p:sldId id="758" r:id="rId24"/>
    <p:sldId id="759" r:id="rId25"/>
    <p:sldId id="760" r:id="rId26"/>
    <p:sldId id="720" r:id="rId27"/>
    <p:sldId id="721" r:id="rId28"/>
    <p:sldId id="722" r:id="rId29"/>
    <p:sldId id="706" r:id="rId30"/>
    <p:sldId id="765" r:id="rId31"/>
    <p:sldId id="766" r:id="rId32"/>
    <p:sldId id="715" r:id="rId33"/>
    <p:sldId id="764" r:id="rId34"/>
    <p:sldId id="666" r:id="rId35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7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304"/>
        <p:guide pos="278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commentAuthors" Target="commentAuthors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42" Type="http://schemas.openxmlformats.org/officeDocument/2006/relationships/customXml" Target="../customXml/item3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1" Type="http://schemas.openxmlformats.org/officeDocument/2006/relationships/customXml" Target="../customXml/item2.xml"/><Relationship Id="rId6" Type="http://schemas.openxmlformats.org/officeDocument/2006/relationships/slide" Target="slides/slide2.xml"/><Relationship Id="rId37" Type="http://schemas.openxmlformats.org/officeDocument/2006/relationships/viewProps" Target="viewProps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40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tableStyles" Target="tableStyles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36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36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741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741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4813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4813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04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704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704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909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909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909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1139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1140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mvc/blob/master/models.docx" TargetMode="Externa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mvc/blob/master/views.docx" TargetMode="Externa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mvc/blob/master/controllers.docx" TargetMode="Externa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abr.com/ru/articles/215605/&#13;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hyperlink" Target="https://gist.github.com/sunmeat/9f6e1e122b1a03d80092daa232342641" TargetMode="External"/><Relationship Id="rId1" Type="http://schemas.openxmlformats.org/officeDocument/2006/relationships/hyperlink" Target="https://gist.github.com/sunmeat/0907547f404ef41dfe1c617a71ae90cb&#13;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sunmeat/aspnetcore_mvc/blob/master/tag%20helpers.docx" TargetMode="Externa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hyperlink" Target="https://github.com/sunmeat/aspnetcore_mvc/blob/master/Program.cs&#13;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youtube.com/watch?v=ph6IIeGTmmw&#13;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medium.com/@virendraparade01/understanding-inversion-of-control-ioc-in-net-core-a5523207fac7&#13;" TargetMode="External"/><Relationship Id="rId3" Type="http://schemas.openxmlformats.org/officeDocument/2006/relationships/hyperlink" Target="https://metanit.com/sharp/aspnet6/4.1.php&#13;" TargetMode="External"/><Relationship Id="rId2" Type="http://schemas.openxmlformats.org/officeDocument/2006/relationships/hyperlink" Target="https://habr.com/ru/articles/437002/&#13;" TargetMode="External"/><Relationship Id="rId1" Type="http://schemas.openxmlformats.org/officeDocument/2006/relationships/hyperlink" Target="https://learn.microsoft.com/en-us/aspnet/core/fundamentals/dependency-injection?view=aspnetcore-10.0&#13;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bfbc36a5c60b8bd8cbf52dbcb4477b3&#13;" TargetMode="Externa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hyperlink" Target="https://github.com/sunmeat/aspnetcore_multimedia/blob/master/Images_In_ASP.NET_Core_MVC/Views/Home/Index.cshtml&#13;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hyperlink" Target="https://github.com/sunmeat/aspnetcore_styles/blob/master/Styles%20In%20ASP.NET%20Core%20MVC/Views/Home/Index.cshtml&#13;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hyperlink" Target="https://gist.github.com/sunmeat/9c68872ee7184a20753dc51e25639f7a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ASP.NET Core MVC</a:t>
            </a:r>
            <a:endParaRPr lang="ru-RU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440" y="3211830"/>
            <a:ext cx="3510915" cy="3669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Патерн </a:t>
            </a:r>
            <a:r>
              <a:rPr lang="en-US" altLang="ru-RU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MVC</a:t>
            </a:r>
            <a:endParaRPr lang="en-US" altLang="ru-RU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Учасники патерну</a:t>
            </a:r>
            <a:endParaRPr lang="en-US" altLang="ru-RU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Чому саме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MVC?</a:t>
            </a:r>
            <a:endParaRPr lang="en-US" altLang="ru-RU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Створення та структура проєкта </a:t>
            </a:r>
            <a:r>
              <a:rPr lang="en-US" altLang="en-US" sz="2400" dirty="0" err="1">
                <a:solidFill>
                  <a:schemeClr val="tx1"/>
                </a:solidFill>
                <a:sym typeface="+mn-ea"/>
              </a:rPr>
              <a:t>ASP.NET Core MVC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Low coupling, Dependency Inversion Principle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Dependency Injection, Inversion of Control-</a:t>
            </a: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контейнер</a:t>
            </a:r>
            <a:endParaRPr lang="uk-UA" altLang="en-US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Мультімедіа та стилі</a:t>
            </a:r>
            <a:endParaRPr lang="uk-UA" altLang="en-US" sz="24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ASP.NET Core MVC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Core MVC представляє модель розробки додатків на основі патерну MVC - Model (модель), View (подання) та Controller (контролер)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Модель відповідає за роботу з даними, контролер представляє логіку обробки запитів, а подання визначає візуальну складову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455" y="4193540"/>
            <a:ext cx="5299075" cy="25603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Учасники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MVC (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для початку)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Controller (Контролер)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Ловить кліки й запити з браузера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Нічого розумного сам не робить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(логіка переноситься в сервіси)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Тільки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бере дані з форми &gt; віддає їх далі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отримує результат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показує сторінку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View (представлення</a:t>
            </a:r>
            <a:r>
              <a:rPr lang="uk-UA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, подання </a:t>
            </a: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.cshtml)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Просто гарно малює HTML</a:t>
            </a:r>
            <a:r>
              <a:rPr lang="ru-RU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ru-RU" altLang="en-US" sz="1400" dirty="0" err="1">
                <a:solidFill>
                  <a:srgbClr val="FF0000"/>
                </a:solidFill>
                <a:ea typeface="Microsoft YaHei" panose="020B0503020204020204" charset="-122"/>
              </a:rPr>
              <a:t>Важливо: це теж сторона сервера! </a:t>
            </a:r>
            <a:r>
              <a:rPr lang="ru-RU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Вона форму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є сторінки.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Отримує від контролера готову модель і показує її користувачу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Жодної логіки і жодних запитів до бази!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Model / Entity (Модель / Сутність)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Звичайний клас із даними (Id, Name, Price тощо)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Сам по собі ніколи не лізе в базу і не знає, що таке EF Core чи SQL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Це просто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розумний шматок даних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із правилами (наприклад, ціна не може бути від’ємною)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Repository (Репозиторій) або Service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Х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одить у базу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просить у нього дані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р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епозиторій лізе в БД через EF Core і віддає готові моделі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DbContext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Це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міст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між кодом і базою даних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Знає, як перетворити клас Product на рядок у таблиці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Живе тільки в одному місці і більше ніде напряму не використовується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160" y="4726305"/>
            <a:ext cx="2237740" cy="2150745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Модель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Модель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набір класів, які описують сутності предметної області додатка та, залежно від підходу, можуть містити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тільки дані,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або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ще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й поведінку.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Анемічна модель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— найпоширеніший у ASP.NET-проєктах стиль,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коли класи-моделі є простими контейнерами даних (властивості + геттери/сеттери), без жодної бізнес-логіки. Вся логіка винесена в сервіси, контролери чи окремі класи. Такий підхід простий, ідеально працює з Entity Framework Core і зручний для звичайних CRUD-додатків.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Н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асичена модель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— підхід, характерний для Domain-Driven Design, коли сутність містить не тільки дані, а й усю важливу бізнес-логіку та правила. Змінити стан об’єкта можна лише через його власні методи, що гарантує консистентність. Цей стиль складніший у реалізації з EF Core, але значно краще масштабується в великих і складних системах.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87060" y="5269865"/>
            <a:ext cx="29711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hlinkClick r:id="rId2" action="ppaction://hlinkfile"/>
              </a:rPr>
              <a:t>https://github.com/sunmeat/aspnetcore_mvc/blob/master/models.docx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Подання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Подання (View)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— це компонент, який відповідає виключно за те, як дані виглядають для користувача і як користувач з ними взаємодіє. Воно не знає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про базу даних, не містить бізнес-логіки і працює тільки з тими даними, які йому передав контролер або PageModel.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У всіх традиційних моделях (MVC, Razor Pages, Blazor Server, Minimal API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з шаблонами) </a:t>
            </a: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подання повністю формується на сервері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. Сервер виконує Razor-файл .cshtml (або .razor у Blazor Server), підставляє дані, генерує готовий HTML і відправляє його браузеру. Клієнт отримує вже готовий документ,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як у класичних веб-сайтах 2000-х, тільки з сучасними можливостями часткового оновлення через AJAX чи SignalR.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Єдиний виняток — Blazor WebAssembly: тут подання (компоненти .razor) компілюються в .NET-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збірці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завантажуються в браузер і рендеряться повністю на стороні клієнта за допомогою WebAssembly. Сервер у цьому випадку подання не формує взагалі — він лише роздає статичні файли і, за потреби, надає API. 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7595" y="4914265"/>
            <a:ext cx="1838325" cy="1866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607050" y="5271770"/>
            <a:ext cx="29622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hlinkClick r:id="rId2" action="ppaction://hlinkfile"/>
              </a:rPr>
              <a:t>https://github.com/sunmeat/aspnetcore_mvc/blob/master/views.docx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0895" y="4815205"/>
            <a:ext cx="2482215" cy="2131695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Контролер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клас, який приймає HTTP-запити, координує роботу між моделлю та поданням і повертає відповідь клієнту. Він є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диригентом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: визначає, які дані потрібно взяти або змінити, викликає сервіси чи репозиторії та вирішує, що саме віддати користувачу — HTML-сторінку, JSON, редирект чи файл.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У класичному MVC і найпоширенішому сценарії (MVC та Razor Pages) контролер отримує запит, звертається до моделі (або сервісів), заповнює ViewModel або ViewData потрібними даними і передає управління поданню. Після цього сервер рендерить HTML і відправляє його клієнту. У Web API та Minimal API ті ж контролери (або ендпоінти) зазвичай просто повертають серіалізований JSON, без будь-якого подання.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не містить бізнес-логіки — лише логіку маршрутизації та підготовки відповіді. У великих проєктах його роблять максимально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тонким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: він викликає сервіси Application Layer і повертає результат. Таким чином, контролер залишається точкою входу запиту і майже завжди виконується на сервері (виняток — Blazor WebAssembly, де контролерів взагалі немає, а їхню роль грають компоненти).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78170" y="5274945"/>
            <a:ext cx="29743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hlinkClick r:id="rId2" action="ppaction://hlinkfile"/>
              </a:rPr>
              <a:t>https://github.com/sunmeat/aspnetcore_mvc/blob/master/controllers.docx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Хто кого бачить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може розмовляти тільки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з Repository/Service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View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може розмовляти тільки з Контролером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, ні в якому разі не змінює модель, хоча може читати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Model взагалі ні з ким напряму не розмовляє (його просто таскають за собою інші)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Repository єдиний, хто має право чіпати DbContext і базу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Сімейство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MV...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751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https://habr.com/ru/articles/215605/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Чому в ASP.NET MVC саме класичний MVC, а не MVVM чи MVP,                      як у десктопних технологіях?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веб-застосунках на базі ASP.NET MVC неможливо технічно реалізувати справжній MVP або MVVM так, як це робиться в WinForms/WPF, тому що: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Немає постійного живого об’єкта View на стороні сервера.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У десктопі (WinForms, WPF) 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“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живий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”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об’єкт форми, який постійно існує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 пам’яті, і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можна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тримати посилання на нього (в Presenter чи ViewModel).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веб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після віддачі HTML сторінки зв’язок із сервером розривається. View (сторінка) існує тільки на клієнті, і сервер не може на нього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посилатися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і викликати методи типу view.ShowError() чи оновлювати його через INotifyPropertyChanged у реальному часі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без додаткових технологій (WebSockets, SignalR тощо)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саме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MVC?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Немає двостороннього data binding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з коробки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uk-UA" sz="18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WPF є потужний binding + INotifyPropertyChanged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автоматичне оновлення UI.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класичному ASP.NET MVC (до появи Blazor) такого немає. Тому MVVM технічно неможливий без JS-фреймворків (Knockout, Angular, Vue тощо)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HTTP — stateless, request-response модель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Кожен клік користувача — це новий HTTP-запит. Контролер отримує запит, вирішує, яку модель завантажити, яку View відрендерити — і віддає HTML. Немає постійного Presenter-а, який би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жив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між запитами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і тримав стан View.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Тому в ASP.NET MVC реалізовано саме класичний MVC (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розроблений Трюгве Ре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нскау</a:t>
            </a:r>
            <a:r>
              <a:rPr lang="uk-UA" altLang="ru-RU" sz="1800" dirty="0" err="1">
                <a:solidFill>
                  <a:srgbClr val="000000"/>
                </a:solidFill>
                <a:ea typeface="Microsoft YaHei" panose="020B0503020204020204" charset="-122"/>
              </a:rPr>
              <a:t>г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ом</a:t>
            </a:r>
            <a:r>
              <a:rPr lang="uk-UA" altLang="ru-RU" sz="1800" dirty="0" err="1">
                <a:solidFill>
                  <a:srgbClr val="000000"/>
                </a:solidFill>
                <a:ea typeface="Microsoft YaHei" panose="020B0503020204020204" charset="-122"/>
              </a:rPr>
              <a:t>, співробітником компанії </a:t>
            </a:r>
            <a:r>
              <a:rPr lang="en-US" altLang="ru-RU" sz="1800" dirty="0" err="1">
                <a:solidFill>
                  <a:srgbClr val="000000"/>
                </a:solidFill>
                <a:ea typeface="Microsoft YaHei" panose="020B0503020204020204" charset="-122"/>
              </a:rPr>
              <a:t>Xerox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uk-UA" altLang="ru-RU" sz="1800" dirty="0" err="1">
                <a:solidFill>
                  <a:srgbClr val="000000"/>
                </a:solidFill>
                <a:ea typeface="Microsoft YaHei" panose="020B0503020204020204" charset="-122"/>
              </a:rPr>
              <a:t> ще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в 197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8</a:t>
            </a:r>
            <a:r>
              <a:rPr lang="uk-UA" altLang="ru-RU" sz="1800" dirty="0" err="1">
                <a:solidFill>
                  <a:srgbClr val="000000"/>
                </a:solidFill>
                <a:ea typeface="Microsoft YaHei" panose="020B0503020204020204" charset="-122"/>
              </a:rPr>
              <a:t> році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для мови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Smalltalk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і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потім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адаптований для вебу Rails, а потім Microsoft):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Model — бізнес-логіка + дані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View — Razor-шаблони (.cshtml), які просто рендерять HTML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Controller — отримує HTTP-запит, працює з моделлю, вибирає,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яку View віддати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проєкта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MVC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ось таку структуру отримуємо :)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зовсім інша справа :)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1449070"/>
            <a:ext cx="9005570" cy="24428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670" y="1430655"/>
            <a:ext cx="2722880" cy="53524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Структура проєкту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000" dirty="0" err="1">
                <a:solidFill>
                  <a:srgbClr val="000000"/>
                </a:solidFill>
                <a:ea typeface="Microsoft YaHei" panose="020B0503020204020204" charset="-122"/>
              </a:rPr>
              <a:t>на кожен контролер буде по окремій папці в розділі </a:t>
            </a:r>
            <a:r>
              <a:rPr lang="en-US" altLang="ru-RU" sz="2000" dirty="0" err="1">
                <a:solidFill>
                  <a:srgbClr val="000000"/>
                </a:solidFill>
                <a:ea typeface="Microsoft YaHei" panose="020B0503020204020204" charset="-122"/>
              </a:rPr>
              <a:t>Views </a:t>
            </a:r>
            <a:r>
              <a:rPr lang="uk-UA" altLang="ru-RU" sz="2000" dirty="0" err="1">
                <a:solidFill>
                  <a:srgbClr val="000000"/>
                </a:solidFill>
                <a:ea typeface="Microsoft YaHei" panose="020B0503020204020204" charset="-122"/>
              </a:rPr>
              <a:t>структури проєкту</a:t>
            </a:r>
            <a:endParaRPr lang="uk-UA" altLang="ru-RU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2000" dirty="0" err="1">
                <a:solidFill>
                  <a:srgbClr val="000000"/>
                </a:solidFill>
                <a:ea typeface="Microsoft YaHei" panose="020B0503020204020204" charset="-122"/>
              </a:rPr>
              <a:t>папка </a:t>
            </a:r>
            <a:r>
              <a:rPr lang="en-US" altLang="uk-UA" sz="2000" dirty="0" err="1">
                <a:solidFill>
                  <a:srgbClr val="000000"/>
                </a:solidFill>
                <a:ea typeface="Microsoft YaHei" panose="020B0503020204020204" charset="-122"/>
              </a:rPr>
              <a:t>Shared </a:t>
            </a:r>
            <a:r>
              <a:rPr lang="uk-UA" altLang="uk-UA" sz="2000" dirty="0" err="1">
                <a:solidFill>
                  <a:srgbClr val="000000"/>
                </a:solidFill>
                <a:ea typeface="Microsoft YaHei" panose="020B0503020204020204" charset="-122"/>
              </a:rPr>
              <a:t>містить загальні корисні вью:</a:t>
            </a:r>
            <a:endParaRPr lang="uk-UA" altLang="uk-UA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_Layout.cshtml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це г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оловний шаблон (layout) для всіх сторінок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м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істить спільну розмітку сайту: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257300" lvl="2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&lt;header&gt;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257300" lvl="2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меню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257300" lvl="2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підключення стилів/скриптів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257300" lvl="2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@RenderBody() — сюди вставляється вміст конкретної сторінки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_ValidationScriptsPartial.cshtml</a:t>
            </a:r>
            <a:r>
              <a:rPr lang="ru-RU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підключає JavaScript 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для валідації форм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jQuery Validate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Error.cshtml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відображається під час помилок (наприклад, 500).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Використовується системою обробки помилок:</a:t>
            </a:r>
            <a:r>
              <a:rPr lang="ru-RU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app.UseExceptionHandler("/Home/Error");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Структура проєкту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Коментарі по </a:t>
            </a:r>
            <a:r>
              <a:rPr lang="en-US" altLang="ru-RU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HomeController.cs:</a:t>
            </a:r>
            <a:endParaRPr lang="en-US" altLang="ru-RU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https://gist.github.com/sunmeat/0907547f404ef41dfe1c617a71ae90cb</a:t>
            </a:r>
            <a:endParaRPr lang="en-US" altLang="en-US" sz="2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Program.cs: </a:t>
            </a: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https://gist.github.com/sunmeat/9f6e1e122b1a03d80092daa232342641</a:t>
            </a:r>
            <a:endParaRPr lang="en-US" altLang="en-US" sz="2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Таке можна побачити, якщо не надати 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.cshtml</a:t>
            </a: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-файл</a:t>
            </a:r>
            <a:endParaRPr lang="uk-UA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1770"/>
            <a:ext cx="9144000" cy="28549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IActionResult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uk-UA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1896110"/>
            <a:ext cx="7145655" cy="48901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94665" y="1424940"/>
            <a:ext cx="8100060" cy="2326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olidFill>
                  <a:schemeClr val="tx1"/>
                </a:solidFill>
              </a:rPr>
              <a:t>IActionResult - визначає контракт, що представляє результат роботи методу дії.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Додавання компонентів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 MVC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4" name="Picture 3" descr="Screenshot 2025-12-08 144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780" y="4799965"/>
            <a:ext cx="5615305" cy="885190"/>
          </a:xfrm>
          <a:prstGeom prst="rect">
            <a:avLst/>
          </a:prstGeom>
        </p:spPr>
      </p:pic>
      <p:pic>
        <p:nvPicPr>
          <p:cNvPr id="5" name="Picture 4" descr="Screenshot 2025-12-08 1448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415" y="5769610"/>
            <a:ext cx="5614670" cy="10026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300345" y="1494155"/>
            <a:ext cx="3843655" cy="221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300" b="1" dirty="0" err="1">
                <a:solidFill>
                  <a:srgbClr val="000000"/>
                </a:solidFill>
                <a:sym typeface="+mn-ea"/>
              </a:rPr>
              <a:t>&lt;&lt; </a:t>
            </a:r>
            <a:r>
              <a:rPr lang="uk-UA" sz="2300" b="1" dirty="0" err="1">
                <a:solidFill>
                  <a:srgbClr val="000000"/>
                </a:solidFill>
                <a:sym typeface="+mn-ea"/>
              </a:rPr>
              <a:t>додавання моделі</a:t>
            </a:r>
            <a:endParaRPr lang="uk-UA" sz="2300" b="1" dirty="0" err="1">
              <a:solidFill>
                <a:srgbClr val="000000"/>
              </a:solidFill>
              <a:sym typeface="+mn-ea"/>
            </a:endParaRPr>
          </a:p>
          <a:p>
            <a:endParaRPr lang="uk-UA" sz="2300" b="1" dirty="0" err="1">
              <a:solidFill>
                <a:srgbClr val="000000"/>
              </a:solidFill>
              <a:sym typeface="+mn-ea"/>
            </a:endParaRPr>
          </a:p>
          <a:p>
            <a:endParaRPr lang="uk-UA" sz="2300" b="1" dirty="0" err="1">
              <a:solidFill>
                <a:srgbClr val="000000"/>
              </a:solidFill>
              <a:sym typeface="+mn-ea"/>
            </a:endParaRPr>
          </a:p>
          <a:p>
            <a:endParaRPr lang="uk-UA" sz="2300" b="1" dirty="0" err="1">
              <a:solidFill>
                <a:srgbClr val="000000"/>
              </a:solidFill>
              <a:sym typeface="+mn-ea"/>
            </a:endParaRPr>
          </a:p>
          <a:p>
            <a:endParaRPr lang="uk-UA" sz="2300" b="1" dirty="0" err="1">
              <a:solidFill>
                <a:srgbClr val="000000"/>
              </a:solidFill>
              <a:sym typeface="+mn-ea"/>
            </a:endParaRPr>
          </a:p>
          <a:p>
            <a:r>
              <a:rPr lang="uk-UA" altLang="uk-UA" sz="2300" b="1" dirty="0" err="1">
                <a:solidFill>
                  <a:srgbClr val="000000"/>
                </a:solidFill>
                <a:sym typeface="+mn-ea"/>
              </a:rPr>
              <a:t>про тег-хелпери:</a:t>
            </a:r>
            <a:endParaRPr lang="uk-UA" altLang="uk-UA" sz="2300" b="1" dirty="0" err="1">
              <a:solidFill>
                <a:srgbClr val="000000"/>
              </a:solidFill>
              <a:sym typeface="+mn-ea"/>
            </a:endParaRPr>
          </a:p>
        </p:txBody>
      </p:sp>
      <p:pic>
        <p:nvPicPr>
          <p:cNvPr id="3" name="Picture 2" descr="Screenshot 2025-12-08 1450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" y="1494155"/>
            <a:ext cx="5126355" cy="37953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55895" y="3618230"/>
            <a:ext cx="33788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>
                <a:hlinkClick r:id="rId4" action="ppaction://hlinkfile"/>
              </a:rPr>
              <a:t>https://github.com/sunmeat/aspnetcore_mvc/blob/master/tag%20helpers.docx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додатку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MVC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https://github.com/sunmeat/aspnetcore_mvc/blob/master/Program.cs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2529205"/>
            <a:ext cx="5852160" cy="415988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Об'єктна декомпозиція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7948613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Основне завдання проектування під час об'єктної декомпозиції - це виконання двох умов.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Умови декомпозиції: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Високе зчеплення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(high cohesion): максимізація зв'язків усередині класів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Низька зв'язаність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(low coupling): </a:t>
            </a:r>
            <a:r>
              <a:rPr lang="uk-UA"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мінімізація зв'язків між класами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  <p:sp>
        <p:nvSpPr>
          <p:cNvPr id="12292" name="Text Box 1"/>
          <p:cNvSpPr txBox="1"/>
          <p:nvPr/>
        </p:nvSpPr>
        <p:spPr>
          <a:xfrm>
            <a:off x="15875" y="6346825"/>
            <a:ext cx="91249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>
                <a:highlight>
                  <a:srgbClr val="FFFF00"/>
                </a:highlight>
                <a:latin typeface="Arial" panose="020B0604020202020204" pitchFamily="34" charset="0"/>
                <a:hlinkClick r:id="rId1" action="ppaction://hlinkfile"/>
              </a:rPr>
              <a:t>https://www.youtube.com/watch?v=ph6IIeGTmmw</a:t>
            </a:r>
            <a:endParaRPr lang="en-US" altLang="zh-CN">
              <a:highlight>
                <a:srgbClr val="FFFF00"/>
              </a:highlight>
              <a:latin typeface="Arial" panose="020B0604020202020204" pitchFamily="34" charset="0"/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Два головні принципи ООП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Text Box 5121"/>
          <p:cNvSpPr txBox="1"/>
          <p:nvPr/>
        </p:nvSpPr>
        <p:spPr>
          <a:xfrm>
            <a:off x="611188" y="1412875"/>
            <a:ext cx="788828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 не означає відмову від зв'язків узагалі - у цьому немає сенсу, зв'язки так чи інакше будуть.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означає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не відмову від них, а їх послаблення.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Сильне зчеплення та слабка зв'язаність - 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це два головні принципи ООП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роектування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Принципи S.O.L.I.D.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47107" name="Text Box 5121"/>
          <p:cNvSpPr txBox="1"/>
          <p:nvPr/>
        </p:nvSpPr>
        <p:spPr>
          <a:xfrm>
            <a:off x="611188" y="1412875"/>
            <a:ext cx="72453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S.O.L.I.D?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Це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принципи про</a:t>
            </a:r>
            <a:r>
              <a:rPr lang="uk-UA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є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ктування клас</a:t>
            </a:r>
            <a:r>
              <a:rPr lang="en-US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в</a:t>
            </a:r>
            <a:r>
              <a:rPr lang="en-US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Усього разом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їх 5 штук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Основні ідеї</a:t>
            </a:r>
            <a:r>
              <a:rPr lang="ru-RU" altLang="en-GB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1. Збільшення рівня абстракції: інтерфейси, </a:t>
            </a:r>
            <a:r>
              <a:rPr lang="ru-RU" altLang="en-GB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а не реалізації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2. Посилення зв'язків усередині класів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3. Послаблення зв'язків між класами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4. Добре спроектований клас не потрібно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			буде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змінювати в майбутньому!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 - 5 принцип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505" y="1412875"/>
            <a:ext cx="784415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Inversion Principle (DIP)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- принцип інверсії залежностей, який говорить, що: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Модулі верхніх рівнів не повинні залежати від модулів нижніх рівнів. Обидва типи модулів повинні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Абстракції не повинні залежати від деталей. Деталі мають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Ознаки занадто високої залежності архітектури: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Жорсткість. Змінюємо в одному місці - змушені змінювати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Крихкість. Змінюємо в одному місці - починаються помилки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Нерухомість. Складно винести код в інший проєкт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Причина цих проблем у тому, що між класами виникає занадто багато жорстко прописаних залежностей.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88067" name="Text Box 5121"/>
          <p:cNvSpPr txBox="1"/>
          <p:nvPr/>
        </p:nvSpPr>
        <p:spPr>
          <a:xfrm>
            <a:off x="611505" y="1412875"/>
            <a:ext cx="79051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b="1" dirty="0" err="1">
                <a:solidFill>
                  <a:srgbClr val="0070C0"/>
                </a:solidFill>
                <a:latin typeface="Arial" panose="020B0604020202020204" pitchFamily="34" charset="0"/>
              </a:rPr>
              <a:t>Інверсія залежностей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пропонує позбутися жорстко прописаних залежностей між класами, інвертувавши їх у залежності</a:t>
            </a:r>
            <a:r>
              <a:rPr lang="uk-UA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    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від абстракцій.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Суть тут в інверсії сильних залежностей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від реалізацій у слабкі залежності від абстракцій. Трохи спрощена, але дієва інтерпретація принципу DIP виражається евристичним правилом "залежати треба від абстракції". Це означає,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що не повинно бути залежностей від конкретних класів. Замість цього типи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посилань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на залежності мають бути інтерфейсами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абстрактними класами.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Головним плюсом інвертування залежностей є інвертування володіння: не ми володіємо об'єктом - не ми за нього відповідаємо. Ми на цей об'єкт просто вказуємо. А отже, залежність від нього (зв'язок із ним) - слабка, як того й вимагає умова "низька пов'язаність".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81375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Патерни реалізації принципу інверсії залежності, в даному випадку патерни проєктування: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Factory Method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Service Locator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Injection</a:t>
            </a:r>
            <a:endParaRPr b="1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Паттерн Dependency Injection (впровадження залежності) - не просто інвертує сильні залежності від реалізацій в слабкі залежності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від абстракцій, а й виносить їх з класу, пропонуючи впроваджувати їх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клас ззовні.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Класичний варіант впровадження залежності в наш клас - через конструктор. У результаті, ми замінюємо композицію агрегацією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і перекладаємо частину проблем з поточного класу кудись вище.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Саме паттерн Dependency Injection є реалізацією умови "Слабка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зовнішня пов'язаність". Він якраз і займається ослабленням зв'язків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між класами. Програму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ємо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на основі абстракцій (інтерфейс, абстрактний клас тощо), а не реалізацій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!</a:t>
            </a:r>
            <a:endParaRPr lang="uk-UA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 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40815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IoC-контейнер (Inversion of Control) в ASP.NET Core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— це вбудований сервіс-контейнер (він же IServiceProvider), який є центральним механізмом впровадження залежностей (Dependency Injection) у всіх сучасних додатках .NET 6+.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Він повністю відповідає за: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об’єктів (сервісів)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управління їхнім життєвим циклом (Singleton, Scoped, Transient)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автоматичне впровадження залежностей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знищення об’єктів, коли вони більше не потрібні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IoC-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Інверсія управління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принцип об'єктно-орієнтованого програмування, який служить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зменшення пов'язаності шарів складних додатків (low coupling). Принцип полягає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тому, що кожен шар програми працює з нижчим шаром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безпосередньо, а опосередковано (через шар абстракцій). В результаті, це дозволяє легко і безболісно замінити реалізацію кожного з шарів на нову, при цьому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торкнувшись роботи вищестоя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их шарів.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https://learn.microsoft.com/en-us/aspnet/core/fundamentals/dependency-injection?view=aspnetcore-10.0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https://habr.com/ru/articles/437002/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https://metanit.com/sharp/aspnet6/4.1.php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https://medium.com/@virendraparade01/understanding-inversion-of-control-ioc-in-net-core-a5523207fac7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Dependency Injection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9900" y="1386205"/>
            <a:ext cx="79622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2004 році Мартін Фаулер запропонував уник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ти терміна Inversion of Control (IoC) на користь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Dependency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(DI), мотивуючи це тим, що термін IoC занадто загальний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і викликає проблеми в усвідомленні того, що відбувається. Dependency Injection (DI) – це шаблон проектування, що дозволяє розробникам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розв'язати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(decouple) компоненти їхньої програми, тим самим послабивши зв'язок між ними.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Варіанти: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Constructor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конструктор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Setter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сеттери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Method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— використання через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параметр методів</a:t>
            </a:r>
            <a:endParaRPr lang="uk-UA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// </a:t>
            </a:r>
            <a:r>
              <a:rPr lang="uk-UA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р</a:t>
            </a: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еєстрація в IoC-контейнері (Program.cs)</a:t>
            </a:r>
            <a:endParaRPr lang="en-US" altLang="en-US" sz="24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builder.Services.AddDbContext&lt;StudentContext&gt;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(options =&gt; options.UseSqlServer(connection));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Цей рядок говорить IoC-контейнеру: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Коли будь-який клас (наприклад, StudentController) попросить у конструкторі об’єкт типу StudentContext — створи його сам, налаштуй підключення до SQL Server і віддай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 А в контролері 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ми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«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попросили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залежність</a:t>
            </a:r>
            <a:endParaRPr lang="en-US" altLang="en-US" sz="18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public class StudentController : Controller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private readonly StudentContext _context;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public StudentController(StudentContext context) </a:t>
            </a:r>
            <a:r>
              <a:rPr lang="en-US" altLang="en-US" sz="1800" b="1" dirty="0" err="1">
                <a:solidFill>
                  <a:srgbClr val="000000"/>
                </a:solidFill>
                <a:sym typeface="+mn-ea"/>
              </a:rPr>
              <a:t>{</a:t>
            </a:r>
            <a:r>
              <a:rPr lang="uk-UA" altLang="en-US" sz="1800" b="1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о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сь тут інверсія!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_context = 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}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Принцип інверсії управління в дії: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традиційному підході (старий ASP.NET, чи просто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ручний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код)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писали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var context = new StudentContext(connectionString);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т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обто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програміст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 контролював створення об’єкта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контроль перевернуто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(inverted):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більше не треба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створю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вати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об’єкти вручну. Контейнер сам вирішує, коли і як їх створити, і автоматично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впорскує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(inject) їх туди, де вони потрібні 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через конструктор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дає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IoC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слабк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зв’язаність між класами (контролер не знає,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саме створюється StudentContext)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легке тестування (можна передати Mock-об’єкт замість справжньої бази)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чистий, короткий код без </a:t>
            </a:r>
            <a:r>
              <a:rPr lang="uk-UA" sz="2400" dirty="0" err="1">
                <a:solidFill>
                  <a:srgbClr val="000000"/>
                </a:solidFill>
                <a:ea typeface="Microsoft YaHei" panose="020B0503020204020204" charset="-122"/>
              </a:rPr>
              <a:t>десятків зайвих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new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один раз зареєструва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використовуємо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скрізь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його побачити, цей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IoC-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контейнер?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https://gist.github.com/sunmeat/0bfbc36a5c60b8bd8cbf52dbcb4477b3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Мультімедіа в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ASP.Net Core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https://github.com/sunmeat/aspnetcore_multimedia/blob/master/Images_In_ASP.NET_Core_MVC/Views/Home/Index.cshtml</a:t>
            </a:r>
            <a:endParaRPr lang="en-US" altLang="en-US" sz="31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475" y="3023870"/>
            <a:ext cx="4043045" cy="38258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Стилі в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ASP.Net Core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</a:t>
            </a:r>
            <a:r>
              <a:rPr lang="uk-UA" altLang="en-US" sz="29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_</a:t>
            </a:r>
            <a:r>
              <a:rPr lang="en-US" altLang="en-US" sz="29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styles/blob/master/Styles%20In%20ASP.NET%20Core%20MVC/Views/Home/Index.cshtml</a:t>
            </a:r>
            <a:endParaRPr lang="en-US" altLang="en-US" sz="29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2978785"/>
            <a:ext cx="6734175" cy="37160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https://gist.github.com/sunmeat/9c68872ee7184a20753dc51e25639f7a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3" name="Picture 2" descr="Screenshot 2025-12-08 204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2529840"/>
            <a:ext cx="8388350" cy="43522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6073DC-6253-4D2E-B512-8D91C29F11B0}"/>
</file>

<file path=customXml/itemProps2.xml><?xml version="1.0" encoding="utf-8"?>
<ds:datastoreItem xmlns:ds="http://schemas.openxmlformats.org/officeDocument/2006/customXml" ds:itemID="{F3D7BE54-955F-4EF2-A70C-B279E0BFA5C8}"/>
</file>

<file path=customXml/itemProps3.xml><?xml version="1.0" encoding="utf-8"?>
<ds:datastoreItem xmlns:ds="http://schemas.openxmlformats.org/officeDocument/2006/customXml" ds:itemID="{56753CDE-42B9-4588-BE90-A84C3C63167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14724</Words>
  <Application>WPS Presentation</Application>
  <PresentationFormat/>
  <Paragraphs>266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97</cp:revision>
  <dcterms:created xsi:type="dcterms:W3CDTF">2005-09-22T16:26:00Z</dcterms:created>
  <dcterms:modified xsi:type="dcterms:W3CDTF">2026-02-01T13:41:16Z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