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16" r:id="rId7"/>
    <p:sldId id="718" r:id="rId8"/>
    <p:sldId id="717" r:id="rId9"/>
    <p:sldId id="626" r:id="rId10"/>
    <p:sldId id="688" r:id="rId11"/>
    <p:sldId id="689" r:id="rId12"/>
    <p:sldId id="690" r:id="rId13"/>
    <p:sldId id="691" r:id="rId14"/>
    <p:sldId id="692" r:id="rId15"/>
    <p:sldId id="694" r:id="rId16"/>
    <p:sldId id="695" r:id="rId17"/>
    <p:sldId id="696" r:id="rId18"/>
    <p:sldId id="697" r:id="rId19"/>
    <p:sldId id="698" r:id="rId20"/>
    <p:sldId id="699" r:id="rId21"/>
    <p:sldId id="700" r:id="rId22"/>
    <p:sldId id="701" r:id="rId23"/>
    <p:sldId id="702" r:id="rId24"/>
    <p:sldId id="666" r:id="rId25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2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76"/>
        <p:guide pos="2825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26" Type="http://schemas.openxmlformats.org/officeDocument/2006/relationships/presProps" Target="presProps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29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31" Type="http://schemas.openxmlformats.org/officeDocument/2006/relationships/customXml" Target="../customXml/item3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27" Type="http://schemas.openxmlformats.org/officeDocument/2006/relationships/viewProps" Target="viewProps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hyperlink" Target="https://github.com/sunmeat/aspnetcore_musicportal_v0.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rokipedia.com/page/Luhn_algorithm&#13;" TargetMode="External"/><Relationship Id="rId1" Type="http://schemas.openxmlformats.org/officeDocument/2006/relationships/hyperlink" Target="https://grokipedia.com/page/E.164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FluentValidation/FluentValidation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hyperlink" Target="https://github.com/sunmeat/aspnetcore_validation&#13;" TargetMode="Externa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hyperlink" Target="https://github.com/sunmeat/aspnetcore_onetomany&#13;" TargetMode="Externa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hyperlink" Target="https://gist.github.com/sunmeat/d0ffaed061a358032db05f8d84d3c227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Метадані та валідація</a:t>
            </a:r>
            <a:endParaRPr lang="uk-UA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Поняття валідації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Рівні валідації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Атрибути валідації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Анти-форгері токен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Приклад на валідацію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Зв’язок один до багатьох в БД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l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ДЗ студентів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8" name="Picture 7" descr="Screenshot 2025-12-10 1251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340" y="3429000"/>
            <a:ext cx="4359275" cy="3375025"/>
          </a:xfrm>
          <a:prstGeom prst="rect">
            <a:avLst/>
          </a:prstGeom>
        </p:spPr>
      </p:pic>
      <p:pic>
        <p:nvPicPr>
          <p:cNvPr id="6" name="Picture 5" descr="Screenshot 2025-12-10 124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1089025"/>
            <a:ext cx="4986655" cy="34696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ДЗ студентів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 descr="Screenshot 2025-12-10 1244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1089025"/>
            <a:ext cx="6157595" cy="3863340"/>
          </a:xfrm>
          <a:prstGeom prst="rect">
            <a:avLst/>
          </a:prstGeom>
        </p:spPr>
      </p:pic>
      <p:pic>
        <p:nvPicPr>
          <p:cNvPr id="2" name="Picture 1" descr="Screenshot 2025-12-10 1244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945" y="3744595"/>
            <a:ext cx="6157595" cy="30467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Демо ваших результатів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:)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https://github.com/sunmeat/aspnetcore_musicportal_v0.1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7385"/>
            <a:ext cx="9144000" cy="48501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таке валідація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Валідація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— це процес перевірки, чи коректні дані, які прийшли від користувача (зазвичай з форми), перед тим як їх обробляти або зберігати в базі даних.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0000"/>
                </a:solidFill>
                <a:ea typeface="Microsoft YaHei" panose="020B0503020204020204" charset="-122"/>
              </a:rPr>
              <a:t>Навіщо потрібна валідація у веб-додатках?</a:t>
            </a:r>
            <a:endParaRPr lang="en-US" altLang="en-US" sz="20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Валідація — це захист додатку та даних від: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помилок користувача (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випадки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введення некоректних даних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зловмисних дій (ін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’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єкції, підбір паролів, переповнення тощо)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неконсистентного стану бази даних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порушення бізнес-правил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Без валідації навіть маленька помилка на клієнті може призвести до винятків, пошкодження даних або вразливостей безпеки.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Історичний контекст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5195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C++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роблять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ручні перевірки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іфами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 сеттерах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та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конструкторах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C# (до 2010)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- робили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перевірки в сет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-секції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властивостей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C# 202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6 року - в тренді автовластивості, явного поля нема, тому перевірки перекладаються на спеціальні атрибути               в класі моделі</a:t>
            </a:r>
            <a:endParaRPr lang="uk-UA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Два обов’язкові рівні валідації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751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Серверна (server-side)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з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авжди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100%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обов’язкова,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надійн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а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працює навіть без JS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 Із мінусів -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затримка для користувача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Клієнтська (client-side)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бажано робити,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миттєвий зворотний зв’язок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для користувача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, економія трафіку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 Але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легко обійти, залежить від jQuery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(або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інших бібліотек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Правило: довіряй клієнту, але завжди перевіряй 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на сервері.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580" y="228600"/>
            <a:ext cx="908812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100" dirty="0" err="1">
                <a:solidFill>
                  <a:srgbClr val="FFFFFF"/>
                </a:solidFill>
                <a:ea typeface="Microsoft YaHei" panose="020B0503020204020204" charset="-122"/>
              </a:rPr>
              <a:t>Як працює валідація </a:t>
            </a:r>
            <a:r>
              <a:rPr lang="en-US" altLang="en-US" sz="4100" dirty="0" err="1">
                <a:solidFill>
                  <a:srgbClr val="FFFFFF"/>
                </a:solidFill>
                <a:ea typeface="Microsoft YaHei" panose="020B0503020204020204" charset="-122"/>
              </a:rPr>
              <a:t>«з коробки</a:t>
            </a:r>
            <a:r>
              <a:rPr lang="en-US" altLang="en-US" sz="4100" dirty="0" err="1">
                <a:solidFill>
                  <a:srgbClr val="FFFFFF"/>
                </a:solidFill>
                <a:ea typeface="Microsoft YaHei" panose="020B0503020204020204" charset="-122"/>
              </a:rPr>
              <a:t>»</a:t>
            </a:r>
            <a:endParaRPr lang="en-US" altLang="en-US" sz="41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Модель розмічується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атрибутами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з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пакету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System.ComponentModel.DataAnnotations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Tag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-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Helpers автоматично додають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data-val-*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атрибути </a:t>
            </a:r>
            <a:r>
              <a:rPr lang="uk-UA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в HTML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При завантаженні сторінки підключаються скрипти: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jquery.validate.js</a:t>
            </a:r>
            <a:endParaRPr lang="en-US" altLang="en-US" sz="2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jquery.validate.unobtrusive.js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(або сучасніший microsoft.aspnetcore.components.webassembly.validation для Blazor-стилю)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При submit форма перевіряється на клієнті → якщо ОК → відправляється на сервер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На сервері завжди виконується </a:t>
            </a:r>
            <a:r>
              <a:rPr lang="en-US" altLang="en-US" sz="2300" b="1" dirty="0" err="1">
                <a:solidFill>
                  <a:srgbClr val="000000"/>
                </a:solidFill>
                <a:ea typeface="Microsoft YaHei" panose="020B0503020204020204" charset="-122"/>
              </a:rPr>
              <a:t>ModelState.IsValid</a:t>
            </a:r>
            <a:r>
              <a:rPr lang="en-US" altLang="en-US" sz="2300" dirty="0" err="1">
                <a:solidFill>
                  <a:srgbClr val="000000"/>
                </a:solidFill>
                <a:ea typeface="Microsoft YaHei" panose="020B0503020204020204" charset="-122"/>
              </a:rPr>
              <a:t> — навіть якщо клієнт вимкнув JavaScript</a:t>
            </a:r>
            <a:endParaRPr lang="en-US" altLang="en-US" sz="23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Remote-валідація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[Remote] — атрибут, який дозволяє виконувати перевірку на сервері, </a:t>
            </a:r>
            <a:r>
              <a:rPr lang="uk-UA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</a:t>
            </a: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але результат кешується і використовується на клієнті через AJAX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Приклад сценарію: перевірка унікальності логіна чи email без повно</a:t>
            </a:r>
            <a:r>
              <a:rPr lang="uk-UA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ї відправки </a:t>
            </a: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форми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З виходом </a:t>
            </a:r>
            <a:r>
              <a:rPr lang="en-US" altLang="en-US" sz="2800" dirty="0" err="1">
                <a:solidFill>
                  <a:srgbClr val="000000"/>
                </a:solidFill>
                <a:ea typeface="Microsoft YaHei" panose="020B0503020204020204" charset="-122"/>
              </a:rPr>
              <a:t>.NET 10 remote-валідація стала ще швидшою завдяки вбудованій підтримці HTTP/3 та гарячого кешування результатів    у jquery.validate</a:t>
            </a:r>
            <a:endParaRPr lang="en-US" altLang="en-US" sz="2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будовані атрибути валідації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[Required]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Поле обов’язкове (не null та не пусте)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[StringLength(max)]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Максимальна довжина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рядка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[MinLength]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Мінімальна довжина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[Range(min, max)]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Числовий діапазон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[RegularExpression]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Регулярний вираз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[Compare]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Два поля мають співпадати (пароль/підтвердження)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[EmailAddress]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Формат e-mail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[Phone]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Формат телефону (E.164)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https://grokipedia.com/page/E.164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[Url]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- Коректний URL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[CreditCard]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- Формат номера кредитної картки (Luhn) </a:t>
            </a:r>
            <a:r>
              <a:rPr lang="en-US" altLang="en-US" sz="1800" dirty="0" err="1">
                <a:solidFill>
                  <a:srgbClr val="0070C0"/>
                </a:solidFill>
                <a:ea typeface="Microsoft YaHei" panose="020B0503020204020204" charset="-122"/>
                <a:hlinkClick r:id="rId2" action="ppaction://hlinkfile"/>
              </a:rPr>
              <a:t>https://grokipedia.com/page/Luhn_algorithm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[Remote] </a:t>
            </a: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Асинхронна перевірка на сервері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[ValidateNever] </a:t>
            </a: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Виключити властивість з валідації (корисн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           для </a:t>
            </a:r>
            <a:r>
              <a:rPr lang="uk-UA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реалізації патерна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DTO)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[AllowedExtensions] </a:t>
            </a: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перевірка розширення файлу при завантаженні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[MaxFileSize] </a:t>
            </a:r>
            <a:r>
              <a:rPr lang="en-US" altLang="en-US" sz="1800" dirty="0" err="1">
                <a:solidFill>
                  <a:srgbClr val="000000"/>
                </a:solidFill>
                <a:sym typeface="+mn-ea"/>
              </a:rPr>
              <a:t>- </a:t>
            </a:r>
            <a:r>
              <a:rPr lang="en-US" altLang="en-US" sz="1800" dirty="0" err="1">
                <a:solidFill>
                  <a:srgbClr val="000000"/>
                </a:solidFill>
                <a:ea typeface="Microsoft YaHei" panose="020B0503020204020204" charset="-122"/>
              </a:rPr>
              <a:t>обмеження розміру файлу</a:t>
            </a:r>
            <a:endParaRPr lang="en-US" altLang="en-US" sz="18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Кастомні атрибути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Можна зробити </a:t>
            </a:r>
            <a:r>
              <a:rPr lang="uk-UA" altLang="en-US" sz="2600" b="1" dirty="0" err="1">
                <a:solidFill>
                  <a:srgbClr val="000000"/>
                </a:solidFill>
                <a:ea typeface="Microsoft YaHei" panose="020B0503020204020204" charset="-122"/>
              </a:rPr>
              <a:t>к</a:t>
            </a:r>
            <a:r>
              <a:rPr lang="en-US" altLang="en-US" sz="2600" b="1" dirty="0" err="1">
                <a:solidFill>
                  <a:srgbClr val="000000"/>
                </a:solidFill>
                <a:ea typeface="Microsoft YaHei" panose="020B0503020204020204" charset="-122"/>
              </a:rPr>
              <a:t>астомні атрибути</a:t>
            </a:r>
            <a:r>
              <a:rPr lang="en-US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, </a:t>
            </a:r>
            <a:r>
              <a:rPr lang="uk-UA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успадковані від ValidationAttribute + перевизначення IsValid (і за потреби IsValidAsync для асинхронної логіки)</a:t>
            </a:r>
            <a:endParaRPr lang="en-US" altLang="en-US" sz="2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6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600" b="1" dirty="0" err="1">
                <a:solidFill>
                  <a:srgbClr val="000000"/>
                </a:solidFill>
                <a:ea typeface="Microsoft YaHei" panose="020B0503020204020204" charset="-122"/>
              </a:rPr>
              <a:t>FluentValidation </a:t>
            </a:r>
            <a:r>
              <a:rPr lang="en-US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— зовнішня бібліотека, </a:t>
            </a:r>
            <a:r>
              <a:rPr lang="uk-UA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яка повністю заміняє Data Annotations</a:t>
            </a:r>
            <a:r>
              <a:rPr lang="uk-UA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у великих проєктах (підтримка .NET 10 </a:t>
            </a:r>
            <a:r>
              <a:rPr lang="uk-UA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вже вийшла</a:t>
            </a:r>
            <a:r>
              <a:rPr lang="en-US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r>
              <a:rPr lang="uk-UA" altLang="en-US" sz="26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600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https://github.com/FluentValidation/FluentValidation</a:t>
            </a:r>
            <a:endParaRPr lang="en-US" altLang="en-US" sz="2600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Самовалідація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dirty="0" err="1">
                <a:solidFill>
                  <a:srgbClr val="000000"/>
                </a:solidFill>
                <a:ea typeface="Microsoft YaHei" panose="020B0503020204020204" charset="-122"/>
              </a:rPr>
              <a:t>Якщо потрібно валідувати кілька полів одночасно (наприклад, «StartDate &lt; EndDate» або «Age ≥ 18 якщо Role = Adult»), </a:t>
            </a:r>
            <a:r>
              <a:rPr lang="uk-UA" altLang="en-US" sz="2700" dirty="0" err="1">
                <a:solidFill>
                  <a:srgbClr val="000000"/>
                </a:solidFill>
                <a:ea typeface="Microsoft YaHei" panose="020B0503020204020204" charset="-122"/>
              </a:rPr>
              <a:t>можна реалізувати інтерфейс </a:t>
            </a:r>
            <a:r>
              <a:rPr lang="en-US" altLang="en-US" sz="2700" b="1" dirty="0" err="1">
                <a:solidFill>
                  <a:srgbClr val="000000"/>
                </a:solidFill>
                <a:ea typeface="Microsoft YaHei" panose="020B0503020204020204" charset="-122"/>
              </a:rPr>
              <a:t>IValidatableObject.Validate()</a:t>
            </a:r>
            <a:r>
              <a:rPr lang="en-US" altLang="en-US" sz="2700" dirty="0" err="1">
                <a:solidFill>
                  <a:srgbClr val="000000"/>
                </a:solidFill>
                <a:ea typeface="Microsoft YaHei" panose="020B0503020204020204" charset="-122"/>
              </a:rPr>
              <a:t> у самій моделі</a:t>
            </a:r>
            <a:endParaRPr lang="en-US" altLang="en-US" sz="2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7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dirty="0" err="1">
                <a:solidFill>
                  <a:srgbClr val="000000"/>
                </a:solidFill>
                <a:ea typeface="Microsoft YaHei" panose="020B0503020204020204" charset="-122"/>
              </a:rPr>
              <a:t>У .NET 10 з’явилася можливість повертати IAsyncEnumerable&lt;ValidationResult&gt; </a:t>
            </a:r>
            <a:r>
              <a:rPr lang="uk-UA" altLang="en-US" sz="27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700" dirty="0" err="1">
                <a:solidFill>
                  <a:srgbClr val="000000"/>
                </a:solidFill>
                <a:ea typeface="Microsoft YaHei" panose="020B0503020204020204" charset="-122"/>
              </a:rPr>
              <a:t>для асинхронної самовалідації</a:t>
            </a:r>
            <a:endParaRPr lang="en-US" altLang="en-US" sz="27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Тег-хелпери показу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помилок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&lt;span asp-validation-for="Name"&gt;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Повідомлення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про помилку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під конкретним полем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&lt;div asp-validation-summary="All"&gt;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Всі помилки зверху форми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&lt;div asp-validation-summary="ModelOnly"&gt;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-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Тільки помилки моделі, без помилок окремих полів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&lt;div asp-validation-summary="None"&gt;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-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Нічого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не показувати (рідко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використовується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Підключення скриптів 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b="1" dirty="0" err="1">
                <a:solidFill>
                  <a:srgbClr val="000000"/>
                </a:solidFill>
                <a:ea typeface="Microsoft YaHei" panose="020B0503020204020204" charset="-122"/>
              </a:rPr>
              <a:t>Найсучасніший і рекомендований спосіб:</a:t>
            </a:r>
            <a:endParaRPr lang="en-US" altLang="en-US" sz="27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b="1" dirty="0" err="1">
                <a:solidFill>
                  <a:srgbClr val="0070C0"/>
                </a:solidFill>
                <a:ea typeface="Microsoft YaHei" panose="020B0503020204020204" charset="-122"/>
              </a:rPr>
              <a:t>@section Scripts {</a:t>
            </a:r>
            <a:endParaRPr lang="en-US" altLang="en-US" sz="2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b="1" dirty="0" err="1">
                <a:solidFill>
                  <a:srgbClr val="0070C0"/>
                </a:solidFill>
                <a:ea typeface="Microsoft YaHei" panose="020B0503020204020204" charset="-122"/>
              </a:rPr>
              <a:t>    &lt;partial name="_ValidationScriptsPartial" /&gt;</a:t>
            </a:r>
            <a:endParaRPr lang="en-US" altLang="en-US" sz="2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b="1" dirty="0" err="1">
                <a:solidFill>
                  <a:srgbClr val="0070C0"/>
                </a:solidFill>
                <a:ea typeface="Microsoft YaHei" panose="020B0503020204020204" charset="-122"/>
              </a:rPr>
              <a:t>}</a:t>
            </a:r>
            <a:endParaRPr lang="en-US" altLang="en-US" sz="27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7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700" b="1" dirty="0" err="1">
                <a:solidFill>
                  <a:srgbClr val="000000"/>
                </a:solidFill>
                <a:ea typeface="Microsoft YaHei" panose="020B0503020204020204" charset="-122"/>
              </a:rPr>
              <a:t>Файл </a:t>
            </a:r>
            <a:r>
              <a:rPr lang="en-US" altLang="en-US" sz="2700" b="1" dirty="0" err="1">
                <a:solidFill>
                  <a:srgbClr val="0070C0"/>
                </a:solidFill>
                <a:ea typeface="Microsoft YaHei" panose="020B0503020204020204" charset="-122"/>
              </a:rPr>
              <a:t>_ValidationScriptsPartial.cshtml </a:t>
            </a:r>
            <a:r>
              <a:rPr lang="en-US" altLang="en-US" sz="2700" b="1" dirty="0" err="1">
                <a:solidFill>
                  <a:srgbClr val="000000"/>
                </a:solidFill>
                <a:ea typeface="Microsoft YaHei" panose="020B0503020204020204" charset="-122"/>
              </a:rPr>
              <a:t>вже лежить у проєкті і автоматично підтягує актуальні версії скриптів (jquery.validate 1.21 + unobtrusive 4.0 з підтримкою</a:t>
            </a:r>
            <a:r>
              <a:rPr lang="uk-UA" altLang="en-US" sz="27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700" b="1" dirty="0" err="1">
                <a:solidFill>
                  <a:srgbClr val="000000"/>
                </a:solidFill>
                <a:ea typeface="Microsoft YaHei" panose="020B0503020204020204" charset="-122"/>
              </a:rPr>
              <a:t>модулів</a:t>
            </a:r>
            <a:r>
              <a:rPr lang="uk-UA" altLang="en-US" sz="27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700" b="1" dirty="0" err="1">
                <a:solidFill>
                  <a:srgbClr val="000000"/>
                </a:solidFill>
                <a:ea typeface="Microsoft YaHei" panose="020B0503020204020204" charset="-122"/>
              </a:rPr>
              <a:t>javascript)</a:t>
            </a:r>
            <a:endParaRPr lang="en-US" altLang="en-US" sz="27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Стилізація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тексту помилок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ASP.NET Core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надає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класи: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input-validation-error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— до невалідного поля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field-validation-error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— до &lt;span&gt;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 повідомленням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validation-summary-errors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— до summary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Достатньо додати свої CSS-правила під ці класи —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і помилки виглядатимуть так, як потрібно в дизайні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Висновки та найкращі практики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Завжди залишайте серверну валідацію — це єдиний надійний бар’єр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Додавайте клієнтську валідацію для з _ValidationScriptsPartial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Використовуйте [ValidateNever] на властивостях, які приходять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з клієнта, але не повинні валідуватися (Id, Timestamp тощо)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Для складних правил переходьте на FluentValidation або кастомні атрибути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Для великих форм розгляньте прогресивну валідацію в</a:t>
            </a:r>
            <a:r>
              <a:rPr lang="uk-UA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     </a:t>
            </a: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 реальному часі (через additional-methods.js або власні правила)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Не забувайте про анти-форгері токен (&lt;form asp-antiforgery="true"&gt;) — він теж частина захисту введення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0000"/>
                </a:solidFill>
                <a:ea typeface="Microsoft YaHei" panose="020B0503020204020204" charset="-122"/>
              </a:rPr>
              <a:t>Валідація в ASP.NET Core 10 — це потужний, гнучкий і дуже зрілий механізм, який при мінімальних зусиллях дає максимальний рівень захисту та зручність для користувача.</a:t>
            </a:r>
            <a:endParaRPr lang="en-US" altLang="en-US" sz="18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Анти-форгері (підробка) токен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Без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такого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токена зловмисник може зробити свій сайт із прихованою формою, яка відправляється на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наш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сайт (наприклад,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видалити акаунт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або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опублікувати спам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). Якщо адмін/користувач, будучи залогіненим на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нашому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сайті, випадково відкриє сторінку зловмисника (або його підманять клікнути), браузер автоматично відправить цю форму з куками авторизації жертви. В результаті дія виконається від імені жертви (CSRF-атака).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CSRF-токен захищає від цього, бо: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він унікальний (прив’язаний до сесії чи запиту)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зловмисник не може його знати чи підробити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форма без правильного токена просто не приймається сервером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Якщо зловмисник може вкрасти токен із сторінки жертви — це вже інша, серйозніша атака (наприклад, XSS), і CSRF-токен тут уже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 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не врятує.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валідацію 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https://github.com/sunmeat/aspnetcore_validation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2 1625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5" y="2393950"/>
            <a:ext cx="8408035" cy="2551430"/>
          </a:xfrm>
          <a:prstGeom prst="rect">
            <a:avLst/>
          </a:prstGeom>
        </p:spPr>
      </p:pic>
      <p:pic>
        <p:nvPicPr>
          <p:cNvPr id="3" name="Picture 2" descr="Screenshot 2025-12-12 1625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465" y="4473575"/>
            <a:ext cx="2971800" cy="2573020"/>
          </a:xfrm>
          <a:prstGeom prst="rect">
            <a:avLst/>
          </a:prstGeom>
        </p:spPr>
      </p:pic>
      <p:pic>
        <p:nvPicPr>
          <p:cNvPr id="4" name="Picture 3" descr="Screenshot 2025-12-12 1625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045" y="4617085"/>
            <a:ext cx="2917190" cy="22409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Зв’язок один-до-багатьох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https://github.com/sunmeat/aspnetcore_onetomany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12 1702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2065"/>
            <a:ext cx="9143365" cy="468757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https://gist.github.com/sunmeat/d0ffaed061a358032db05f8d84d3c227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6840"/>
            <a:ext cx="9144000" cy="31445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FB34BE3-64D6-4FC7-99F9-9662385EE630}"/>
</file>

<file path=customXml/itemProps2.xml><?xml version="1.0" encoding="utf-8"?>
<ds:datastoreItem xmlns:ds="http://schemas.openxmlformats.org/officeDocument/2006/customXml" ds:itemID="{F51982B1-03D1-402B-8207-EC0079BD11FB}"/>
</file>

<file path=customXml/itemProps3.xml><?xml version="1.0" encoding="utf-8"?>
<ds:datastoreItem xmlns:ds="http://schemas.openxmlformats.org/officeDocument/2006/customXml" ds:itemID="{EFCB7BC7-366A-4FF7-A84D-125F521FA37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6541</Words>
  <Application>WPS Presentation</Application>
  <PresentationFormat/>
  <Paragraphs>158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86</cp:revision>
  <dcterms:created xsi:type="dcterms:W3CDTF">2005-09-22T16:26:00Z</dcterms:created>
  <dcterms:modified xsi:type="dcterms:W3CDTF">2026-01-27T13:51:27Z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