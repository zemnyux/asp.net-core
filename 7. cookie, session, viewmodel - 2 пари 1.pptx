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19" r:id="rId7"/>
    <p:sldId id="720" r:id="rId8"/>
    <p:sldId id="721" r:id="rId9"/>
    <p:sldId id="722" r:id="rId10"/>
    <p:sldId id="723" r:id="rId11"/>
    <p:sldId id="724" r:id="rId12"/>
    <p:sldId id="725" r:id="rId13"/>
    <p:sldId id="726" r:id="rId14"/>
    <p:sldId id="727" r:id="rId15"/>
    <p:sldId id="728" r:id="rId16"/>
    <p:sldId id="729" r:id="rId17"/>
    <p:sldId id="730" r:id="rId18"/>
    <p:sldId id="731" r:id="rId19"/>
    <p:sldId id="732" r:id="rId20"/>
    <p:sldId id="733" r:id="rId21"/>
    <p:sldId id="716" r:id="rId22"/>
    <p:sldId id="717" r:id="rId23"/>
    <p:sldId id="718" r:id="rId24"/>
    <p:sldId id="626" r:id="rId25"/>
    <p:sldId id="734" r:id="rId26"/>
    <p:sldId id="688" r:id="rId27"/>
    <p:sldId id="735" r:id="rId28"/>
    <p:sldId id="689" r:id="rId29"/>
    <p:sldId id="690" r:id="rId30"/>
    <p:sldId id="691" r:id="rId31"/>
    <p:sldId id="692" r:id="rId32"/>
    <p:sldId id="693" r:id="rId33"/>
    <p:sldId id="694" r:id="rId34"/>
    <p:sldId id="695" r:id="rId35"/>
    <p:sldId id="696" r:id="rId36"/>
    <p:sldId id="697" r:id="rId37"/>
    <p:sldId id="698" r:id="rId38"/>
    <p:sldId id="699" r:id="rId39"/>
    <p:sldId id="737" r:id="rId40"/>
    <p:sldId id="700" r:id="rId41"/>
    <p:sldId id="736" r:id="rId42"/>
    <p:sldId id="701" r:id="rId43"/>
    <p:sldId id="702" r:id="rId44"/>
    <p:sldId id="703" r:id="rId45"/>
    <p:sldId id="666" r:id="rId46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5.xml"/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50" Type="http://schemas.openxmlformats.org/officeDocument/2006/relationships/commentAuthors" Target="commentAuthors.xml"/><Relationship Id="rId47" Type="http://schemas.openxmlformats.org/officeDocument/2006/relationships/presProps" Target="presProps.xml"/><Relationship Id="rId42" Type="http://schemas.openxmlformats.org/officeDocument/2006/relationships/slide" Target="slides/slide38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45" Type="http://schemas.openxmlformats.org/officeDocument/2006/relationships/slide" Target="slides/slide41.xml"/><Relationship Id="rId40" Type="http://schemas.openxmlformats.org/officeDocument/2006/relationships/slide" Target="slides/slide36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53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44" Type="http://schemas.openxmlformats.org/officeDocument/2006/relationships/slide" Target="slides/slide40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52" Type="http://schemas.openxmlformats.org/officeDocument/2006/relationships/customXml" Target="../customXml/item2.xml"/><Relationship Id="rId9" Type="http://schemas.openxmlformats.org/officeDocument/2006/relationships/slide" Target="slides/slide5.xml"/><Relationship Id="rId48" Type="http://schemas.openxmlformats.org/officeDocument/2006/relationships/viewProps" Target="viewProps.xml"/><Relationship Id="rId43" Type="http://schemas.openxmlformats.org/officeDocument/2006/relationships/slide" Target="slides/slide39.xml"/><Relationship Id="rId4" Type="http://schemas.openxmlformats.org/officeDocument/2006/relationships/slide" Target="slides/slide1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51" Type="http://schemas.openxmlformats.org/officeDocument/2006/relationships/customXml" Target="../customXml/item1.xml"/><Relationship Id="rId3" Type="http://schemas.openxmlformats.org/officeDocument/2006/relationships/slideMaster" Target="slideMasters/slideMaster2.xml"/><Relationship Id="rId46" Type="http://schemas.openxmlformats.org/officeDocument/2006/relationships/slide" Target="slides/slide42.xml"/><Relationship Id="rId38" Type="http://schemas.openxmlformats.org/officeDocument/2006/relationships/slide" Target="slides/slide34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41" Type="http://schemas.openxmlformats.org/officeDocument/2006/relationships/slide" Target="slides/slide37.xml"/><Relationship Id="rId20" Type="http://schemas.openxmlformats.org/officeDocument/2006/relationships/slide" Target="slides/slide16.xml"/><Relationship Id="rId6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49" Type="http://schemas.openxmlformats.org/officeDocument/2006/relationships/tableStyles" Target="tableStyles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2291" name="Slide Image Placeholder 5017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2292" name="Text Placeholder 5017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4339" name="Slide Image Placeholder 5120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4340" name="Text Placeholder 5120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730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73731" name="Slide Image Placeholder 7987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73732" name="Text Placeholder 7987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730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73731" name="Slide Image Placeholder 7987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73732" name="Text Placeholder 7987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730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73731" name="Slide Image Placeholder 7987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73732" name="Text Placeholder 7987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00025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41985" name="Slide Image Placeholder 41984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6" name="Text Placeholder 41985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00025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41985" name="Slide Image Placeholder 41984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6" name="Text Placeholder 41985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00025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41985" name="Slide Image Placeholder 41984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6" name="Text Placeholder 41985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00025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41985" name="Slide Image Placeholder 41984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6" name="Text Placeholder 41985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00025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41985" name="Slide Image Placeholder 41984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6" name="Text Placeholder 41985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00025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41985" name="Slide Image Placeholder 41984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6" name="Text Placeholder 41985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whatismybrowser.com/&#13;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chrome://version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hyperlink" Target="https://github.com/sunmeat/aspnetcore_cookie&#13;" TargetMode="Externa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hyperlink" Target="https://github.com/sunmeat/aspnetcore_session&#13;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hyperlink" Target="https://github.com/sunmeat/aspnetcore_viewmodel&#13;" TargetMode="Externa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35133c160015f87154f073588a4d701d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Кукі, сесія, вью-модель</a:t>
            </a:r>
            <a:endParaRPr lang="uk-UA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Особливості протоколу </a:t>
            </a:r>
            <a:r>
              <a:rPr lang="en-US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HTTP</a:t>
            </a:r>
            <a:endParaRPr 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Кук</a:t>
            </a:r>
            <a:r>
              <a:rPr lang="uk-UA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і</a:t>
            </a:r>
            <a:endParaRPr lang="uk-UA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Сесія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Поняття вью-моделі</a:t>
            </a:r>
            <a:endParaRPr lang="uk-UA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Збереження паролів у БД</a:t>
            </a:r>
            <a:endParaRPr lang="uk-UA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l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Взаємодія з сервером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1287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Взаємодія з сервером дозволяє веб-додаткам обмінюватися даними між клієнтом (браузером) і сервером. Це необхідно для: 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Отримання даних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завантаження контенту (наприклад, пости в соціальних мережах, товари в інтернет-магазині)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Відправлення даних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реєстрація користувачів, відправлення форм, завантаження файлів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Оновлення даних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зміна інформації (наприклад, редагування профілю)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Динамічного контенту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створення інтерактивних додатків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перезавантаження сторінки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Синхронізації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підтримання актуальності даних між клієнтом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і сервером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взаємодії з сервером веб-додатки були б статичними і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суттєво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обмеженими у функціональності.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Запити</a:t>
            </a:r>
            <a:endParaRPr 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Запити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повідомлення, що надсилаються клієнтом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(браузером)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серверу, щоб отримати або надіслати дані. Вони поділяються на два типи: 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Синхронні запити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— виконуються послідовно, блокуючи виконання інших операцій у браузері, доки запит не завершиться.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У веб-розробці вже                          не використовуються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, оскільки уповільнюють роботу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Асинхронні запити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— виконуються у фоновому режимі, не блокуючи інтерфейс. Дозволяють продовжувати взаємодію з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сайтом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, поки запит обробляється. Використовуються в сучасних веб-програмах (наприклад, з fetch або XMLHttpRequest в асинхронному режимі)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716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Протокол HTTP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Text Box 7169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НТТР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— протокол прикладного рівня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над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ТСР/IР, що використовується для передачі гіпертексту в WWW і локальних мережах. Крім передачі вмісту веб-сторінок, протокол використовується додатками для обміну інформацією. В основі протоколу лежать запити, заголовки і коди результатів.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У протоколі завжди виражені 2 сторони — сервер і клієнт.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Клієнт передає запит у вигляді: — початковий рядок, заголовок (або заголовки), тіло повідомлення.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Сервер повертає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відповідь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у вигляді: — початковий рядок з кодом результату (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 т.ч.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помилки), заголовок (або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декілька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заголовк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ів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), тіло повідомлення.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HTTP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та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HTTPS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Text Box 8193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HTTP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(HyperText Transfer Protocol — протокол передачі гіпертексту) — це прикладний протокол передачі даних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у мережі. Протокол HTTP заснований на використанні технології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клієнт-сервер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: клієнт, що відправляє запит,               є ініціатором з'єднання; сервер, який отримує запит, виконує його і відправляє клієнту результат.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HTTPS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(HyperText Transfer Protocol 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Secure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— безпечний протокол передачі гіпертексту) — це розширення протоколу HTTP, що підтримує шифрування за допомогою криптографічних протоколів SSL і TLS.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Request</a:t>
            </a:r>
            <a:endParaRPr lang="en-US" altLang="en-US" sz="4200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36842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uk-UA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 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(Request)</a:t>
            </a:r>
            <a:endParaRPr lang="en-US" altLang="en-US" sz="18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Кл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іє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відправляє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HTTP-зап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ит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 сервер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. Зап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ит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складається з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Метод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у</a:t>
            </a: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(Method):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Дія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котру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кл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іє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планує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виконати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. Основн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метод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GET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х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 серверу</a:t>
            </a:r>
            <a:endParaRPr lang="uk-UA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POST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відправка даних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 сервер (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при заповненні форми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PUT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оновлення даних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 сервер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DELETE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видалення даних на боці серверу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ym typeface="+mn-ea"/>
              </a:rPr>
              <a:t>PATCH</a:t>
            </a:r>
            <a:r>
              <a:rPr lang="uk-UA" altLang="en-US" sz="1800" dirty="0" err="1">
                <a:sym typeface="+mn-ea"/>
              </a:rPr>
              <a:t> </a:t>
            </a:r>
            <a:r>
              <a:rPr lang="en-US" altLang="en-US" sz="1800" dirty="0" err="1">
                <a:sym typeface="+mn-ea"/>
              </a:rPr>
              <a:t>— </a:t>
            </a:r>
            <a:r>
              <a:rPr lang="uk-UA" altLang="en-US" sz="1800" dirty="0" err="1">
                <a:sym typeface="+mn-ea"/>
              </a:rPr>
              <a:t>часткове </a:t>
            </a:r>
            <a:r>
              <a:rPr lang="uk-UA" sz="1800" dirty="0" err="1">
                <a:sym typeface="+mn-ea"/>
              </a:rPr>
              <a:t>оновлення </a:t>
            </a:r>
            <a:r>
              <a:rPr lang="uk-UA" altLang="en-US" sz="1800" dirty="0" err="1">
                <a:sym typeface="+mn-ea"/>
              </a:rPr>
              <a:t>даних </a:t>
            </a:r>
            <a:r>
              <a:rPr lang="en-US" altLang="en-US" sz="1800" dirty="0" err="1">
                <a:sym typeface="+mn-ea"/>
              </a:rPr>
              <a:t>на сервер</a:t>
            </a:r>
            <a:r>
              <a:rPr lang="uk-UA" altLang="en-US" sz="1800" dirty="0" err="1">
                <a:sym typeface="+mn-ea"/>
              </a:rPr>
              <a:t>і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URI/URL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Вказує на ресурс, до якого звертається запит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Заголовк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ів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(Headers): Метадан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Content-Type, User-Agent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тощо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Т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л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а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(Body): 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що відправляються разом із запитом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якщо це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POST)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Response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51276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uk-UA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Відповідь 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(Response)</a:t>
            </a:r>
            <a:endParaRPr lang="en-US" altLang="en-US" sz="18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Сервер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повертає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HTTP-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відповідь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кл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іє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нту.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Складається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Код</a:t>
            </a:r>
            <a:r>
              <a:rPr lang="uk-UA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у 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стану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(Status Code): Числов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й код,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що показує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результат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запиту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200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OK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 завершено успішно </a:t>
            </a:r>
            <a:r>
              <a:rPr lang="en-US" altLang="en-US" sz="1800" b="1" dirty="0" err="1">
                <a:solidFill>
                  <a:srgbClr val="0070C0"/>
                </a:solidFill>
                <a:latin typeface="Arial" panose="020B0604020202020204" pitchFamily="34" charset="0"/>
              </a:rPr>
              <a:t>https://http.cat/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301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Moved Permanently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ru-RU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ресурс </a:t>
            </a:r>
            <a:r>
              <a:rPr lang="uk-UA" altLang="ru-RU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було переміщено</a:t>
            </a:r>
            <a:endParaRPr lang="ru-RU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400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Bad Request - </a:t>
            </a:r>
            <a:r>
              <a:rPr lang="uk-UA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 складено невірно</a:t>
            </a:r>
            <a:endParaRPr lang="uk-UA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b="1" dirty="0" err="1">
                <a:sym typeface="+mn-ea"/>
              </a:rPr>
              <a:t>403 </a:t>
            </a:r>
            <a:r>
              <a:rPr lang="en-US" altLang="en-US" dirty="0" err="1">
                <a:sym typeface="+mn-ea"/>
              </a:rPr>
              <a:t>Forbidden — доступ </a:t>
            </a:r>
            <a:r>
              <a:rPr lang="uk-UA" altLang="en-US" dirty="0" err="1">
                <a:sym typeface="+mn-ea"/>
              </a:rPr>
              <a:t>заборонено	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404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Not Found — ресурс не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було з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найден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о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500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Internal Server Error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помилка на боці сервера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Заголов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ків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(Headers): Метадан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відповіді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Content-Length, Server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тощо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Т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л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а</a:t>
            </a: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(Body): 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і, які повернув сервер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(HTML-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сторінка</a:t>
            </a:r>
            <a:r>
              <a:rPr lang="ru-RU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JSON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тощо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якщо було що повертати :)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REST API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513080" y="1412875"/>
            <a:ext cx="806894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REST API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(Representational State Transfer API) — це архітектурний стиль для проектування веб-сервісів, заснований на принципах HTTP. У REST API клієнт і сервер взаємодіють через стандартні HTTP-методи, такі як GET, POST та інші, для виконання операцій з ресурсами.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Основні принципи REST API: 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Stateless — кожен запит від клієнта до сервера повинен містити всю інформацію для обробки запиту, сервер не повинен зберігати стан між запитами </a:t>
            </a:r>
            <a:endParaRPr lang="en-US" altLang="en-US" sz="1800" b="1" dirty="0" err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Використання HTTP-методів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— методи GET, POST, PUT, DELETE використовуються для виконання операцій з ресурсами (наприклад, отримання даних, створення, оновлення або видалення) 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Ресурси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- в REST кожен ресурс (наприклад, дані користувача, товари) доступний за унікальним URL, і взаємодія з ними здійснюється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через HTTP-запити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 запиту до REST API: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GET http://localhost:8080/store/product/123</a:t>
            </a:r>
            <a:endParaRPr lang="en-US" altLang="en-US" sz="18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Типова структура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HTTP-</a:t>
            </a: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запиту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GET /index.html HTTP/1.1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300" dirty="0" err="1">
                <a:solidFill>
                  <a:srgbClr val="00B050"/>
                </a:solidFill>
                <a:latin typeface="Arial" panose="020B0604020202020204" pitchFamily="34" charset="0"/>
              </a:rPr>
              <a:t>// (Request Line)</a:t>
            </a:r>
            <a:endParaRPr lang="en-US" altLang="en-US" sz="2300" dirty="0" err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Host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: www.google.com        </a:t>
            </a:r>
            <a:r>
              <a:rPr lang="en-US" altLang="en-US" sz="2300" dirty="0" err="1">
                <a:solidFill>
                  <a:srgbClr val="00B050"/>
                </a:solidFill>
                <a:latin typeface="Arial" panose="020B0604020202020204" pitchFamily="34" charset="0"/>
              </a:rPr>
              <a:t>// (Headers)</a:t>
            </a:r>
            <a:endParaRPr lang="en-US" altLang="en-US" sz="2300" dirty="0" err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User-Agent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: Mozilla/5.0 (Windows NT 10.0; Win64; x64) AppleWebKit/537.36 (KHTML, like Gecko) Chrome/142.0.0.0 Safari/537.36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Accept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: text/html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Authorization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: Alex password1234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https://www.whatismybrowser.com/</a:t>
            </a:r>
            <a:endParaRPr lang="en-US" altLang="en-US" sz="23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Структура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HTTP-</a:t>
            </a: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відповіді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HTTP/1.1 200 OK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Content-Type: text/html; charset=UTF-8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Content-Length: 1234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Date: Sat, 07 Feb 2026 16:40:00 GMT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&lt;html&gt;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  &lt;head&gt;&lt;title&gt;Google&lt;/title&gt;&lt;/head&gt;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  &lt;body&gt;&lt;h1&gt;Welcome to Google&lt;/h1&gt;&lt;/body&gt;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&lt;/html&gt;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420" y="4104005"/>
            <a:ext cx="3439160" cy="27793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spcBef>
                <a:spcPts val="450"/>
              </a:spcBef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GET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та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POST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Text Box 36865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GET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HTTP-метод, який використовується  для запиту даних з сервера. Все, що передається за допомогою GET, </a:t>
            </a:r>
            <a:r>
              <a:rPr lang="en-US" altLang="en-US" sz="25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відображається в URL запиту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. Цей метод підходить для отримання інформації без зміни стану сервера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POST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HTTP-метод, який використовується для відправки даних на сервер, наприклад,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створення нових ресурсів або оновлення існуючих. Дані, що передаються через POST,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5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не відображаються в URL і знаходяться в тілі запиту</a:t>
            </a:r>
            <a:endParaRPr lang="en-US" altLang="en-US" sz="2500" u="sng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spcBef>
                <a:spcPts val="450"/>
              </a:spcBef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Відмінності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GET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та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POST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Text Box 36865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GET використовується для отримання даних з сервера, POST — для відправки даних на сервер (наприклад, для створення або оновлення ресурсів)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GET передає дані в URL, що обмежує їх обсяг (зазвичай до 2048 символів), а також робить їх видимими в адресному рядку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POST передає дані в тілі запиту, що дозволяє передавати набагато більше інформації і не відображати її в URL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GET менш безпечний, оскільки дані відображаються в адресному рядку і можуть зберігатися в браузерах або логах сервера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POST більш безпечний, оскільки дані приховані в тілі запиту 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Повторні запити GET не змінюють стан сервера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POST може змінювати стан сервер</a:t>
            </a:r>
            <a:r>
              <a:rPr lang="uk-UA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а (а може й не змінювати)</a:t>
            </a:r>
            <a:endParaRPr lang="uk-UA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GET-запити можуть кешуватис</a:t>
            </a:r>
            <a:r>
              <a:rPr lang="uk-UA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я,</a:t>
            </a: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POST-запити не кешуються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spcBef>
                <a:spcPts val="450"/>
              </a:spcBef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PUT, DELETE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та</a:t>
            </a: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PATCH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Text Box 36865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Tx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PUT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Використовується для оновлення існуючого ресурсу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Дані передаються в тілі запиту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Замінює весь ресурс новими даними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Приклад: оновлення профілю користувач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а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Tx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DELETE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Використовується для видалення ресурсу на сервері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Приклад: видалення поста в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будь-якій соцмережі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Tx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PATCH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Використовується для часткового оновлення ресурсу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Передає тільки змінені дані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Приклад: зміна одного поля в профілі користувача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0480"/>
          <p:cNvSpPr txBox="1"/>
          <p:nvPr/>
        </p:nvSpPr>
        <p:spPr>
          <a:xfrm>
            <a:off x="195580" y="228600"/>
            <a:ext cx="877316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47675" algn="l"/>
                <a:tab pos="897255" algn="l"/>
                <a:tab pos="1346200" algn="l"/>
                <a:tab pos="1795780" algn="l"/>
                <a:tab pos="2244725" algn="l"/>
                <a:tab pos="2694305" algn="l"/>
                <a:tab pos="3143250" algn="l"/>
                <a:tab pos="3592830" algn="l"/>
                <a:tab pos="4041775" algn="l"/>
                <a:tab pos="4491355" algn="l"/>
                <a:tab pos="4940300" algn="l"/>
                <a:tab pos="5389880" algn="l"/>
                <a:tab pos="5838825" algn="l"/>
                <a:tab pos="6288405" algn="l"/>
                <a:tab pos="6737350" algn="l"/>
                <a:tab pos="7186930" algn="l"/>
                <a:tab pos="7635875" algn="l"/>
                <a:tab pos="8085455" algn="l"/>
                <a:tab pos="8534400" algn="l"/>
                <a:tab pos="898398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Треба якось запам’ятати клієнта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20482" name="Text Box 20481"/>
          <p:cNvSpPr txBox="1"/>
          <p:nvPr/>
        </p:nvSpPr>
        <p:spPr>
          <a:xfrm>
            <a:off x="609600" y="1312863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3" name="Text Box 20482"/>
          <p:cNvSpPr txBox="1"/>
          <p:nvPr/>
        </p:nvSpPr>
        <p:spPr>
          <a:xfrm>
            <a:off x="41275" y="1089025"/>
            <a:ext cx="8015288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4" name="Text Box 20483"/>
          <p:cNvSpPr txBox="1"/>
          <p:nvPr/>
        </p:nvSpPr>
        <p:spPr>
          <a:xfrm>
            <a:off x="455613" y="246062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1970" y="1403985"/>
            <a:ext cx="801306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rgbClr val="FF0000"/>
                </a:solidFill>
              </a:rPr>
              <a:t>Протокол HTTP — безстанний (stateless)</a:t>
            </a:r>
            <a:r>
              <a:rPr lang="uk-UA" altLang="en-US" sz="2000" b="1">
                <a:solidFill>
                  <a:srgbClr val="FF0000"/>
                </a:solidFill>
              </a:rPr>
              <a:t>.</a:t>
            </a:r>
            <a:endParaRPr lang="en-US" altLang="en-US" sz="2000" b="1">
              <a:solidFill>
                <a:srgbClr val="FF0000"/>
              </a:solidFill>
            </a:endParaRPr>
          </a:p>
          <a:p>
            <a:pPr algn="l"/>
            <a:r>
              <a:rPr lang="en-US" altLang="en-US" sz="2000">
                <a:solidFill>
                  <a:schemeClr val="tx1"/>
                </a:solidFill>
              </a:rPr>
              <a:t>Кожен HTT</a:t>
            </a:r>
            <a:r>
              <a:rPr lang="uk-UA" altLang="en-US" sz="2000">
                <a:solidFill>
                  <a:schemeClr val="tx1"/>
                </a:solidFill>
              </a:rPr>
              <a:t>Р-</a:t>
            </a:r>
            <a:r>
              <a:rPr lang="en-US" altLang="en-US" sz="2000">
                <a:solidFill>
                  <a:schemeClr val="tx1"/>
                </a:solidFill>
              </a:rPr>
              <a:t>запит від клієнта до сервера</a:t>
            </a:r>
            <a:r>
              <a:rPr lang="uk-UA" altLang="en-US" sz="2000">
                <a:solidFill>
                  <a:schemeClr val="tx1"/>
                </a:solidFill>
              </a:rPr>
              <a:t>,</a:t>
            </a:r>
            <a:r>
              <a:rPr lang="en-US" altLang="en-US" sz="2000">
                <a:solidFill>
                  <a:schemeClr val="tx1"/>
                </a:solidFill>
              </a:rPr>
              <a:t> і відповідь від сервера є повністю незалежними. Сервер після відправлення відповіді нічого не пам’ятає про цей запит. Він не знає, хто саме робив попередні запити, чи був користувач авторизований тощо.</a:t>
            </a:r>
            <a:r>
              <a:rPr lang="uk-UA" altLang="en-US" sz="2000">
                <a:solidFill>
                  <a:schemeClr val="tx1"/>
                </a:solidFill>
              </a:rPr>
              <a:t> Уявіть, ви обрали улюблену піццу, перейшли до замовлення, а сервер уже забув про це :)</a:t>
            </a:r>
            <a:endParaRPr lang="en-US" altLang="en-US" sz="2000">
              <a:solidFill>
                <a:schemeClr val="tx1"/>
              </a:solidFill>
            </a:endParaRPr>
          </a:p>
          <a:p>
            <a:pPr algn="l"/>
            <a:r>
              <a:rPr lang="uk-UA" altLang="en-US" sz="2000">
                <a:solidFill>
                  <a:schemeClr val="tx1"/>
                </a:solidFill>
              </a:rPr>
              <a:t>Вирішити цю проблему допомагають кукі.</a:t>
            </a:r>
            <a:endParaRPr lang="uk-UA" altLang="en-US" sz="2000">
              <a:solidFill>
                <a:schemeClr val="tx1"/>
              </a:solidFill>
            </a:endParaRPr>
          </a:p>
          <a:p>
            <a:pPr algn="l"/>
            <a:r>
              <a:rPr lang="en-US" altLang="en-US" sz="2000">
                <a:solidFill>
                  <a:schemeClr val="tx1"/>
                </a:solidFill>
              </a:rPr>
              <a:t>Cookie — це рядок (зазвичай невеликий), який: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сервер у відповіді каже браузеру зберегти (через заголовок Set-Cookie)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браузер автоматично додає цей рядок у кожен наступний запит до того ж домену (через заголовок Cookie)</a:t>
            </a:r>
            <a:endParaRPr lang="en-US" altLang="en-US" sz="2000">
              <a:solidFill>
                <a:schemeClr val="tx1"/>
              </a:solidFill>
            </a:endParaRPr>
          </a:p>
          <a:p>
            <a:pPr algn="l"/>
            <a:r>
              <a:rPr lang="en-US" altLang="en-US" sz="2000">
                <a:solidFill>
                  <a:schemeClr val="tx1"/>
                </a:solidFill>
              </a:rPr>
              <a:t>Тобто вся інформація, що </a:t>
            </a:r>
            <a:r>
              <a:rPr lang="en-US" altLang="en-US" sz="2000">
                <a:solidFill>
                  <a:schemeClr val="tx1"/>
                </a:solidFill>
              </a:rPr>
              <a:t>«</a:t>
            </a:r>
            <a:r>
              <a:rPr lang="en-US" altLang="en-US" sz="2000">
                <a:solidFill>
                  <a:schemeClr val="tx1"/>
                </a:solidFill>
              </a:rPr>
              <a:t>запам’ятовується</a:t>
            </a:r>
            <a:r>
              <a:rPr lang="en-US" altLang="en-US" sz="2000">
                <a:solidFill>
                  <a:schemeClr val="tx1"/>
                </a:solidFill>
              </a:rPr>
              <a:t>»</a:t>
            </a:r>
            <a:r>
              <a:rPr lang="en-US" altLang="en-US" sz="2000">
                <a:solidFill>
                  <a:schemeClr val="tx1"/>
                </a:solidFill>
              </a:rPr>
              <a:t>, фізично </a:t>
            </a:r>
            <a:r>
              <a:rPr lang="uk-UA" altLang="en-US" sz="2000">
                <a:solidFill>
                  <a:schemeClr val="tx1"/>
                </a:solidFill>
              </a:rPr>
              <a:t>	</a:t>
            </a:r>
            <a:r>
              <a:rPr lang="en-US" altLang="en-US" sz="2000">
                <a:solidFill>
                  <a:schemeClr val="tx1"/>
                </a:solidFill>
              </a:rPr>
              <a:t>зберігається у браузері користувача, а не на сервері.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048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47675" algn="l"/>
                <a:tab pos="897255" algn="l"/>
                <a:tab pos="1346200" algn="l"/>
                <a:tab pos="1795780" algn="l"/>
                <a:tab pos="2244725" algn="l"/>
                <a:tab pos="2694305" algn="l"/>
                <a:tab pos="3143250" algn="l"/>
                <a:tab pos="3592830" algn="l"/>
                <a:tab pos="4041775" algn="l"/>
                <a:tab pos="4491355" algn="l"/>
                <a:tab pos="4940300" algn="l"/>
                <a:tab pos="5389880" algn="l"/>
                <a:tab pos="5838825" algn="l"/>
                <a:tab pos="6288405" algn="l"/>
                <a:tab pos="6737350" algn="l"/>
                <a:tab pos="7186930" algn="l"/>
                <a:tab pos="7635875" algn="l"/>
                <a:tab pos="8085455" algn="l"/>
                <a:tab pos="8534400" algn="l"/>
                <a:tab pos="8983980" algn="l"/>
              </a:tabLst>
            </a:pPr>
            <a:r>
              <a:rPr lang="en-US" altLang="en-US" sz="4100">
                <a:solidFill>
                  <a:schemeClr val="bg1"/>
                </a:solidFill>
                <a:sym typeface="+mn-ea"/>
              </a:rPr>
              <a:t>Чому браузер пересилає cookie</a:t>
            </a:r>
            <a:r>
              <a:rPr lang="uk-UA" altLang="en-US" sz="4100">
                <a:solidFill>
                  <a:schemeClr val="bg1"/>
                </a:solidFill>
                <a:sym typeface="+mn-ea"/>
              </a:rPr>
              <a:t>?</a:t>
            </a:r>
            <a:endParaRPr lang="uk-UA" altLang="en-US" sz="41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20482" name="Text Box 20481"/>
          <p:cNvSpPr txBox="1"/>
          <p:nvPr/>
        </p:nvSpPr>
        <p:spPr>
          <a:xfrm>
            <a:off x="609600" y="1312863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3" name="Text Box 20482"/>
          <p:cNvSpPr txBox="1"/>
          <p:nvPr/>
        </p:nvSpPr>
        <p:spPr>
          <a:xfrm>
            <a:off x="41275" y="1089025"/>
            <a:ext cx="8015288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4" name="Text Box 20483"/>
          <p:cNvSpPr txBox="1"/>
          <p:nvPr/>
        </p:nvSpPr>
        <p:spPr>
          <a:xfrm>
            <a:off x="455613" y="246062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1970" y="1448435"/>
            <a:ext cx="8013065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uk-UA" altLang="en-US" sz="1700" b="1">
                <a:solidFill>
                  <a:schemeClr val="tx1"/>
                </a:solidFill>
              </a:rPr>
              <a:t>Т</a:t>
            </a:r>
            <a:r>
              <a:rPr lang="en-US" altLang="en-US" sz="1700" b="1">
                <a:solidFill>
                  <a:schemeClr val="tx1"/>
                </a:solidFill>
              </a:rPr>
              <a:t>ому що сервер нічого не пам’ятає</a:t>
            </a:r>
            <a:r>
              <a:rPr lang="en-US" altLang="en-US" sz="1700">
                <a:solidFill>
                  <a:schemeClr val="tx1"/>
                </a:solidFill>
              </a:rPr>
              <a:t> сам. Щоб сервер міг </a:t>
            </a:r>
            <a:r>
              <a:rPr lang="en-US" altLang="en-US" sz="1700">
                <a:solidFill>
                  <a:schemeClr val="tx1"/>
                </a:solidFill>
              </a:rPr>
              <a:t>«</a:t>
            </a:r>
            <a:r>
              <a:rPr lang="en-US" altLang="en-US" sz="1700">
                <a:solidFill>
                  <a:schemeClr val="tx1"/>
                </a:solidFill>
              </a:rPr>
              <a:t>дізнатися</a:t>
            </a:r>
            <a:r>
              <a:rPr lang="en-US" altLang="en-US" sz="1700">
                <a:solidFill>
                  <a:schemeClr val="tx1"/>
                </a:solidFill>
              </a:rPr>
              <a:t>»</a:t>
            </a:r>
            <a:r>
              <a:rPr lang="en-US" altLang="en-US" sz="1700">
                <a:solidFill>
                  <a:schemeClr val="tx1"/>
                </a:solidFill>
              </a:rPr>
              <a:t>, що це той самий користувач (наприклад, що він увійшов в акаунт), йому потрібно щоразу отримувати ідентифікатор сесії або іншу інформацію. </a:t>
            </a:r>
            <a:r>
              <a:rPr lang="en-US" altLang="en-US" sz="1700" b="1">
                <a:solidFill>
                  <a:schemeClr val="tx1"/>
                </a:solidFill>
              </a:rPr>
              <a:t>Єдиний спосіб — клієнт (браузер) має надіслати ці дані назад.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Приклад обміну: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Клієнт → Сервер: GET /profile HTTP/1.1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                  Host: itstep.org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                  (без Cookie — перший запит)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Сервер → Клієнт: HTTP/1.1 200 OK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                 </a:t>
            </a:r>
            <a:r>
              <a:rPr lang="en-US" altLang="en-US" sz="1700" b="1">
                <a:solidFill>
                  <a:schemeClr val="tx1"/>
                </a:solidFill>
              </a:rPr>
              <a:t>Set-Cookie: session_id=abc123xyz; </a:t>
            </a:r>
            <a:r>
              <a:rPr lang="en-US" altLang="en-US" sz="1700">
                <a:solidFill>
                  <a:schemeClr val="tx1"/>
                </a:solidFill>
              </a:rPr>
              <a:t>Path=/; HttpOnly; Secure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                 ...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Клієнт → Сервер: GET /dashboard HTTP/1.1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                 Host: </a:t>
            </a:r>
            <a:r>
              <a:rPr lang="en-US" altLang="en-US" sz="1700">
                <a:solidFill>
                  <a:schemeClr val="tx1"/>
                </a:solidFill>
                <a:sym typeface="+mn-ea"/>
              </a:rPr>
              <a:t>itstep.org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                 Cookie: session_id=abc123xyz     ← браузер додав автоматично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Сервер → Клієнт: ... (тепер сервер знає, що це користувач                                   з session_id=abc123xyz)</a:t>
            </a:r>
            <a:endParaRPr lang="en-US" altLang="en-US" sz="17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048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47675" algn="l"/>
                <a:tab pos="897255" algn="l"/>
                <a:tab pos="1346200" algn="l"/>
                <a:tab pos="1795780" algn="l"/>
                <a:tab pos="2244725" algn="l"/>
                <a:tab pos="2694305" algn="l"/>
                <a:tab pos="3143250" algn="l"/>
                <a:tab pos="3592830" algn="l"/>
                <a:tab pos="4041775" algn="l"/>
                <a:tab pos="4491355" algn="l"/>
                <a:tab pos="4940300" algn="l"/>
                <a:tab pos="5389880" algn="l"/>
                <a:tab pos="5838825" algn="l"/>
                <a:tab pos="6288405" algn="l"/>
                <a:tab pos="6737350" algn="l"/>
                <a:tab pos="7186930" algn="l"/>
                <a:tab pos="7635875" algn="l"/>
                <a:tab pos="8085455" algn="l"/>
                <a:tab pos="8534400" algn="l"/>
                <a:tab pos="898398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Пам’ять про стан сесії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20482" name="Text Box 20481"/>
          <p:cNvSpPr txBox="1"/>
          <p:nvPr/>
        </p:nvSpPr>
        <p:spPr>
          <a:xfrm>
            <a:off x="609600" y="1312863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3" name="Text Box 20482"/>
          <p:cNvSpPr txBox="1"/>
          <p:nvPr/>
        </p:nvSpPr>
        <p:spPr>
          <a:xfrm>
            <a:off x="41275" y="1089025"/>
            <a:ext cx="8015288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4" name="Text Box 20483"/>
          <p:cNvSpPr txBox="1"/>
          <p:nvPr/>
        </p:nvSpPr>
        <p:spPr>
          <a:xfrm>
            <a:off x="455613" y="246062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1970" y="1448435"/>
            <a:ext cx="8013065" cy="4538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1700">
                <a:solidFill>
                  <a:schemeClr val="tx1"/>
                </a:solidFill>
              </a:rPr>
              <a:t>Чому це НЕ означає, що сервер </a:t>
            </a:r>
            <a:r>
              <a:rPr lang="en-US" altLang="en-US" sz="1700">
                <a:solidFill>
                  <a:schemeClr val="tx1"/>
                </a:solidFill>
              </a:rPr>
              <a:t>«</a:t>
            </a:r>
            <a:r>
              <a:rPr lang="en-US" altLang="en-US" sz="1700">
                <a:solidFill>
                  <a:schemeClr val="tx1"/>
                </a:solidFill>
              </a:rPr>
              <a:t>запам’ятовує</a:t>
            </a:r>
            <a:r>
              <a:rPr lang="en-US" altLang="en-US" sz="1700">
                <a:solidFill>
                  <a:schemeClr val="tx1"/>
                </a:solidFill>
              </a:rPr>
              <a:t>»</a:t>
            </a:r>
            <a:r>
              <a:rPr lang="en-US" altLang="en-US" sz="1700">
                <a:solidFill>
                  <a:schemeClr val="tx1"/>
                </a:solidFill>
              </a:rPr>
              <a:t> клієнта?</a:t>
            </a:r>
            <a:endParaRPr lang="en-US" altLang="en-US" sz="170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</a:rPr>
              <a:t>Сам по собі HTTP-сервер після завершення запиту знищує всю інформацію про нього</a:t>
            </a:r>
            <a:endParaRPr lang="en-US" altLang="en-US" sz="170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</a:rPr>
              <a:t>Значення cookie (session_id=abc123xyz) — це просто ключ (зазвичай випадковий)</a:t>
            </a:r>
            <a:endParaRPr lang="en-US" altLang="en-US" sz="170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</a:rPr>
              <a:t>Реальна інформація про користувача (логін, роль, кошик тощо) зберігається на сервері окремо (в пам’яті, Redis, базі даних) і прив’язана до цього ключа</a:t>
            </a:r>
            <a:endParaRPr lang="en-US" altLang="en-US" sz="170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</a:rPr>
              <a:t>Без отримання cookie сервер не має жодного способу зв’язати новий запит з попередніми</a:t>
            </a:r>
            <a:endParaRPr lang="en-US" altLang="en-US" sz="1700">
              <a:solidFill>
                <a:schemeClr val="tx1"/>
              </a:solidFill>
            </a:endParaRPr>
          </a:p>
          <a:p>
            <a:pPr algn="l"/>
            <a:endParaRPr lang="en-US" altLang="en-US" sz="1700">
              <a:solidFill>
                <a:schemeClr val="tx1"/>
              </a:solidFill>
            </a:endParaRPr>
          </a:p>
          <a:p>
            <a:pPr algn="l"/>
            <a:r>
              <a:rPr lang="en-US" altLang="en-US" sz="1700">
                <a:solidFill>
                  <a:schemeClr val="tx1"/>
                </a:solidFill>
              </a:rPr>
              <a:t>Cookie не роблять протокол HTTP станним. Вони лише дозволяють клієнту щоразу нагадувати серверу: </a:t>
            </a:r>
            <a:r>
              <a:rPr lang="en-US" altLang="en-US" sz="1700">
                <a:solidFill>
                  <a:schemeClr val="tx1"/>
                </a:solidFill>
              </a:rPr>
              <a:t>«</a:t>
            </a:r>
            <a:r>
              <a:rPr lang="uk-UA" sz="1700">
                <a:solidFill>
                  <a:schemeClr val="tx1"/>
                </a:solidFill>
              </a:rPr>
              <a:t>Так, ц</a:t>
            </a:r>
            <a:r>
              <a:rPr lang="en-US" altLang="en-US" sz="1700">
                <a:solidFill>
                  <a:schemeClr val="tx1"/>
                </a:solidFill>
              </a:rPr>
              <a:t>е я, той самий користувач, ось мій ідентифікатор</a:t>
            </a:r>
            <a:r>
              <a:rPr lang="en-US" altLang="en-US" sz="1700">
                <a:solidFill>
                  <a:schemeClr val="tx1"/>
                </a:solidFill>
              </a:rPr>
              <a:t>»</a:t>
            </a:r>
            <a:r>
              <a:rPr lang="en-US" altLang="en-US" sz="1700">
                <a:solidFill>
                  <a:schemeClr val="tx1"/>
                </a:solidFill>
              </a:rPr>
              <a:t>. Вся </a:t>
            </a:r>
            <a:r>
              <a:rPr lang="en-US" altLang="en-US" sz="1700">
                <a:solidFill>
                  <a:schemeClr val="tx1"/>
                </a:solidFill>
              </a:rPr>
              <a:t>«</a:t>
            </a:r>
            <a:r>
              <a:rPr lang="en-US" altLang="en-US" sz="1700">
                <a:solidFill>
                  <a:schemeClr val="tx1"/>
                </a:solidFill>
              </a:rPr>
              <a:t>пам’ять</a:t>
            </a:r>
            <a:r>
              <a:rPr lang="en-US" altLang="en-US" sz="1700">
                <a:solidFill>
                  <a:schemeClr val="tx1"/>
                </a:solidFill>
              </a:rPr>
              <a:t>»</a:t>
            </a:r>
            <a:r>
              <a:rPr lang="en-US" altLang="en-US" sz="1700">
                <a:solidFill>
                  <a:schemeClr val="tx1"/>
                </a:solidFill>
              </a:rPr>
              <a:t> про стан сесії лежить або в браузері (саме cookie), або на сервері в окремому сховищі, але сам механізм HTTP залишається безстанним. Тому браузер мусить пересилати cookie </a:t>
            </a:r>
            <a:r>
              <a:rPr lang="uk-UA" altLang="en-US" sz="1700">
                <a:solidFill>
                  <a:schemeClr val="tx1"/>
                </a:solidFill>
              </a:rPr>
              <a:t>               </a:t>
            </a:r>
            <a:r>
              <a:rPr lang="en-US" altLang="en-US" sz="1700">
                <a:solidFill>
                  <a:schemeClr val="tx1"/>
                </a:solidFill>
              </a:rPr>
              <a:t>при кожному запиті — інакше сервер просто не знатиме, з ким має справу.</a:t>
            </a:r>
            <a:endParaRPr lang="en-US" altLang="en-US" sz="17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048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47675" algn="l"/>
                <a:tab pos="897255" algn="l"/>
                <a:tab pos="1346200" algn="l"/>
                <a:tab pos="1795780" algn="l"/>
                <a:tab pos="2244725" algn="l"/>
                <a:tab pos="2694305" algn="l"/>
                <a:tab pos="3143250" algn="l"/>
                <a:tab pos="3592830" algn="l"/>
                <a:tab pos="4041775" algn="l"/>
                <a:tab pos="4491355" algn="l"/>
                <a:tab pos="4940300" algn="l"/>
                <a:tab pos="5389880" algn="l"/>
                <a:tab pos="5838825" algn="l"/>
                <a:tab pos="6288405" algn="l"/>
                <a:tab pos="6737350" algn="l"/>
                <a:tab pos="7186930" algn="l"/>
                <a:tab pos="7635875" algn="l"/>
                <a:tab pos="8085455" algn="l"/>
                <a:tab pos="8534400" algn="l"/>
                <a:tab pos="898398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ття</a:t>
            </a: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cookie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20482" name="Text Box 20481"/>
          <p:cNvSpPr txBox="1"/>
          <p:nvPr/>
        </p:nvSpPr>
        <p:spPr>
          <a:xfrm>
            <a:off x="609600" y="1312863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3" name="Text Box 20482"/>
          <p:cNvSpPr txBox="1"/>
          <p:nvPr/>
        </p:nvSpPr>
        <p:spPr>
          <a:xfrm>
            <a:off x="41275" y="1089025"/>
            <a:ext cx="8015288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4" name="Text Box 20483"/>
          <p:cNvSpPr txBox="1"/>
          <p:nvPr/>
        </p:nvSpPr>
        <p:spPr>
          <a:xfrm>
            <a:off x="455613" y="246062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1970" y="1448435"/>
            <a:ext cx="8013065" cy="433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300" b="1">
                <a:solidFill>
                  <a:schemeClr val="tx1"/>
                </a:solidFill>
              </a:rPr>
              <a:t>Кукі </a:t>
            </a:r>
            <a:r>
              <a:rPr lang="en-US" altLang="en-US" sz="2300">
                <a:solidFill>
                  <a:schemeClr val="tx1"/>
                </a:solidFill>
              </a:rPr>
              <a:t>(cookies) — це невеликі текстові файли, які вебсайт зберігає на пристрої користувача (у браузері) </a:t>
            </a:r>
            <a:r>
              <a:rPr lang="uk-UA" altLang="en-US" sz="2300">
                <a:solidFill>
                  <a:schemeClr val="tx1"/>
                </a:solidFill>
              </a:rPr>
              <a:t>              </a:t>
            </a:r>
            <a:r>
              <a:rPr lang="en-US" altLang="en-US" sz="2300">
                <a:solidFill>
                  <a:schemeClr val="tx1"/>
                </a:solidFill>
              </a:rPr>
              <a:t>для зберігання інформації. Вони використовуються </a:t>
            </a:r>
            <a:r>
              <a:rPr lang="uk-UA" altLang="en-US" sz="2300">
                <a:solidFill>
                  <a:schemeClr val="tx1"/>
                </a:solidFill>
              </a:rPr>
              <a:t>    </a:t>
            </a:r>
            <a:r>
              <a:rPr lang="en-US" altLang="en-US" sz="2300">
                <a:solidFill>
                  <a:schemeClr val="tx1"/>
                </a:solidFill>
              </a:rPr>
              <a:t>для запам’ятовування даних про користувача, його вподобан</a:t>
            </a:r>
            <a:r>
              <a:rPr lang="uk-UA" altLang="en-US" sz="2300">
                <a:solidFill>
                  <a:schemeClr val="tx1"/>
                </a:solidFill>
              </a:rPr>
              <a:t>ь</a:t>
            </a:r>
            <a:r>
              <a:rPr lang="en-US" altLang="en-US" sz="2300">
                <a:solidFill>
                  <a:schemeClr val="tx1"/>
                </a:solidFill>
              </a:rPr>
              <a:t> або сесії. Наприклад, кукі можуть зберігати інформацію про логін, вміст кошика в інтернет-магазині або налаштування інтерфейсу.</a:t>
            </a:r>
            <a:endParaRPr lang="en-US" altLang="en-US" sz="2300">
              <a:solidFill>
                <a:schemeClr val="tx1"/>
              </a:solidFill>
            </a:endParaRPr>
          </a:p>
          <a:p>
            <a:pPr algn="l"/>
            <a:r>
              <a:rPr lang="en-US" altLang="en-US" sz="2300">
                <a:solidFill>
                  <a:schemeClr val="tx1"/>
                </a:solidFill>
              </a:rPr>
              <a:t>Кукі складаються з: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Ключа (назва кукі)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Значення (дані, пов’язані з ключем)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Атрибутів (наприклад, термін дії, домен, шлях, прапори безпеки)</a:t>
            </a:r>
            <a:endParaRPr lang="en-US" altLang="en-US" sz="23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048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47675" algn="l"/>
                <a:tab pos="897255" algn="l"/>
                <a:tab pos="1346200" algn="l"/>
                <a:tab pos="1795780" algn="l"/>
                <a:tab pos="2244725" algn="l"/>
                <a:tab pos="2694305" algn="l"/>
                <a:tab pos="3143250" algn="l"/>
                <a:tab pos="3592830" algn="l"/>
                <a:tab pos="4041775" algn="l"/>
                <a:tab pos="4491355" algn="l"/>
                <a:tab pos="4940300" algn="l"/>
                <a:tab pos="5389880" algn="l"/>
                <a:tab pos="5838825" algn="l"/>
                <a:tab pos="6288405" algn="l"/>
                <a:tab pos="6737350" algn="l"/>
                <a:tab pos="7186930" algn="l"/>
                <a:tab pos="7635875" algn="l"/>
                <a:tab pos="8085455" algn="l"/>
                <a:tab pos="8534400" algn="l"/>
                <a:tab pos="898398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Плюси та мінуси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uk-UA" sz="4200" dirty="0" err="1">
                <a:solidFill>
                  <a:srgbClr val="FFFFFF"/>
                </a:solidFill>
                <a:sym typeface="+mn-ea"/>
              </a:rPr>
              <a:t>cookie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20482" name="Text Box 20481"/>
          <p:cNvSpPr txBox="1"/>
          <p:nvPr/>
        </p:nvSpPr>
        <p:spPr>
          <a:xfrm>
            <a:off x="609600" y="1312863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4" name="Text Box 20483"/>
          <p:cNvSpPr txBox="1"/>
          <p:nvPr/>
        </p:nvSpPr>
        <p:spPr>
          <a:xfrm>
            <a:off x="455613" y="246062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1970" y="1403985"/>
            <a:ext cx="801306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000" b="1">
                <a:solidFill>
                  <a:schemeClr val="tx1"/>
                </a:solidFill>
              </a:rPr>
              <a:t>Переваги кукі:</a:t>
            </a:r>
            <a:endParaRPr lang="en-US" altLang="en-US" sz="2000" b="1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Дозволяють зберігати дані між сесіями (наприклад, </a:t>
            </a:r>
            <a:r>
              <a:rPr lang="uk-UA" altLang="en-US" sz="2000">
                <a:solidFill>
                  <a:schemeClr val="tx1"/>
                </a:solidFill>
              </a:rPr>
              <a:t>               для </a:t>
            </a:r>
            <a:r>
              <a:rPr lang="en-US" altLang="en-US" sz="2000">
                <a:solidFill>
                  <a:schemeClr val="tx1"/>
                </a:solidFill>
              </a:rPr>
              <a:t>авторизаці</a:t>
            </a:r>
            <a:r>
              <a:rPr lang="uk-UA" altLang="en-US" sz="2000">
                <a:solidFill>
                  <a:schemeClr val="tx1"/>
                </a:solidFill>
              </a:rPr>
              <a:t>ї</a:t>
            </a:r>
            <a:r>
              <a:rPr lang="en-US" altLang="en-US" sz="2000">
                <a:solidFill>
                  <a:schemeClr val="tx1"/>
                </a:solidFill>
              </a:rPr>
              <a:t>)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Зберігають уподобання користувача (мова, тема сайту)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Їх легко створювати та читати через JavaScript або </a:t>
            </a:r>
            <a:r>
              <a:rPr lang="uk-UA" altLang="en-US" sz="2000">
                <a:solidFill>
                  <a:schemeClr val="tx1"/>
                </a:solidFill>
              </a:rPr>
              <a:t>на сервері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Підтримуються усіма сучасними браузерами</a:t>
            </a:r>
            <a:endParaRPr lang="en-US" altLang="en-US" sz="2000">
              <a:solidFill>
                <a:schemeClr val="tx1"/>
              </a:solidFill>
            </a:endParaRPr>
          </a:p>
          <a:p>
            <a:pPr algn="l"/>
            <a:r>
              <a:rPr lang="en-US" altLang="en-US" sz="2000" b="1">
                <a:solidFill>
                  <a:schemeClr val="tx1"/>
                </a:solidFill>
              </a:rPr>
              <a:t>Недоліки кукі:</a:t>
            </a:r>
            <a:endParaRPr lang="en-US" altLang="en-US" sz="2000" b="1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Зазвичай обмеження до 4 КБ на один кукі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Можуть бути вкрадені або підроблені, якщо </a:t>
            </a:r>
            <a:r>
              <a:rPr lang="uk-UA" altLang="en-US" sz="2000">
                <a:solidFill>
                  <a:schemeClr val="tx1"/>
                </a:solidFill>
              </a:rPr>
              <a:t>                             </a:t>
            </a:r>
            <a:r>
              <a:rPr lang="en-US" altLang="en-US" sz="2000">
                <a:solidFill>
                  <a:schemeClr val="tx1"/>
                </a:solidFill>
              </a:rPr>
              <a:t>не використовувати атрибути HttpOnly або Secure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Користувачі можуть вважати кукі порушенням приватності (відстеження поведінки)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Користувачі можуть блокувати або видаляти кукі</a:t>
            </a:r>
            <a:endParaRPr lang="en-US" altLang="en-US" sz="20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</a:rPr>
              <a:t>Кукі надсилаються з кожним HTTP-запитом, що збільшує трафік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048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47675" algn="l"/>
                <a:tab pos="897255" algn="l"/>
                <a:tab pos="1346200" algn="l"/>
                <a:tab pos="1795780" algn="l"/>
                <a:tab pos="2244725" algn="l"/>
                <a:tab pos="2694305" algn="l"/>
                <a:tab pos="3143250" algn="l"/>
                <a:tab pos="3592830" algn="l"/>
                <a:tab pos="4041775" algn="l"/>
                <a:tab pos="4491355" algn="l"/>
                <a:tab pos="4940300" algn="l"/>
                <a:tab pos="5389880" algn="l"/>
                <a:tab pos="5838825" algn="l"/>
                <a:tab pos="6288405" algn="l"/>
                <a:tab pos="6737350" algn="l"/>
                <a:tab pos="7186930" algn="l"/>
                <a:tab pos="7635875" algn="l"/>
                <a:tab pos="8085455" algn="l"/>
                <a:tab pos="8534400" algn="l"/>
                <a:tab pos="898398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</a:t>
            </a:r>
            <a:r>
              <a:rPr lang="en-US" altLang="uk-UA" sz="4200" dirty="0" err="1">
                <a:solidFill>
                  <a:srgbClr val="FFFFFF"/>
                </a:solidFill>
                <a:sym typeface="+mn-ea"/>
              </a:rPr>
              <a:t>cookie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20482" name="Text Box 20481"/>
          <p:cNvSpPr txBox="1"/>
          <p:nvPr/>
        </p:nvSpPr>
        <p:spPr>
          <a:xfrm>
            <a:off x="609600" y="1312863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484" name="Text Box 20483"/>
          <p:cNvSpPr txBox="1"/>
          <p:nvPr/>
        </p:nvSpPr>
        <p:spPr>
          <a:xfrm>
            <a:off x="455613" y="246062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1970" y="1403985"/>
            <a:ext cx="8013065" cy="433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sz="2300">
                <a:solidFill>
                  <a:schemeClr val="tx1"/>
                </a:solidFill>
              </a:rPr>
              <a:t>Кукі створюються через: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JavaScript (за допомогою document.cookie)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Сервер (через заголовок Set-Cookie в HTTP-відповіді)</a:t>
            </a:r>
            <a:endParaRPr lang="en-US" altLang="en-US" sz="2300">
              <a:solidFill>
                <a:schemeClr val="tx1"/>
              </a:solidFill>
            </a:endParaRPr>
          </a:p>
          <a:p>
            <a:pPr algn="l"/>
            <a:endParaRPr lang="en-US" altLang="en-US" sz="2300">
              <a:solidFill>
                <a:schemeClr val="tx1"/>
              </a:solidFill>
            </a:endParaRPr>
          </a:p>
          <a:p>
            <a:pPr algn="l"/>
            <a:r>
              <a:rPr lang="en-US" altLang="en-US" sz="2300">
                <a:solidFill>
                  <a:schemeClr val="tx1"/>
                </a:solidFill>
              </a:rPr>
              <a:t>Основні атрибути кукі: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Expires або Max-Age — вказує термін дії кукі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Domain — домен, для якого кукі доступні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Path — шлях на сайті, де кукі активні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Secure — кукі надсилається лише через HTTPS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HttpOnly — робить кукі недоступними для JavaScript</a:t>
            </a:r>
            <a:endParaRPr lang="en-US" altLang="en-US" sz="23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schemeClr val="tx1"/>
                </a:solidFill>
              </a:rPr>
              <a:t>SameSite — контролює надсилання кукі при крос-доменних запитах</a:t>
            </a:r>
            <a:endParaRPr lang="en-US" altLang="en-US" sz="230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5090" y="6362065"/>
            <a:ext cx="894143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sz="2100" b="1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Де зберігаються кукі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Кукі зберігаються виключно на стороні клієнта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тобто у вашому браузері. Конкретне місце зберігання залежить від браузера та типу кукі.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Для браузерів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Google Chrome / Microsoft Edge</a:t>
            </a:r>
            <a:r>
              <a:rPr lang="ru-RU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/ Opera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вони лежать: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Windows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r>
              <a:rPr lang="ru-RU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chrome://version/</a:t>
            </a:r>
            <a:r>
              <a:rPr lang="ru-RU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%LocalAppData%\Google\Chrome\User Data\Default\Cookies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C:\Users\Alex\AppData\Local\Google\Chrome\User Data\Profile 1\Network</a:t>
            </a:r>
            <a:r>
              <a:rPr lang="uk-UA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\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Cookies</a:t>
            </a:r>
            <a:r>
              <a:rPr lang="uk-UA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 (</a:t>
            </a:r>
            <a:r>
              <a:rPr lang="ru-RU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файл без розширення)</a:t>
            </a:r>
            <a:endParaRPr lang="en-US" altLang="en-US" sz="18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%LocalAppData%\Microsoft\Edge\User Data\Default\Cookies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macOS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~/Library/Application Support/Google/Chrome/Default/Cookies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~/Library/Application Support/Google/Chrome/Profile 1/Cookies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Linux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~/.config/google-chrome/Default/Cookies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~/.config/google-chrome/Profile 1/Cookies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indent="457200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Файл називається Cookies і є базою даних SQLite.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110" y="4519930"/>
            <a:ext cx="1943100" cy="23552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Що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може 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зберігатися в кукі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ID сесії, токен доступу (access token),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Запам’ятати мене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, мова інтерфейсу, темна/світла тема, валюта, кошик товарів, список бажаного, останні переглянуті товари, рекламні ID, згода на куки, токен CAPTCHA або результат перевірки, ID чату підтримки, статус показу спливаючих вікон і нотифікацій, прогрес онбордингу/туру сайтом, збережені фільтри та сортування в каталозі, розмір екрана / тип пристрою, реферальний код, ID гаманця або платіжного методу (зашифрований), час останнього візиту, кількість відвідувань, статус підписки на розсилку, застосований промокод у кошику, геолокація (країна/місто), часовий пояс, збережені чернетки форм (коментарі, замовлення), баланс бонусів/лояльності, роль користувача (admin, moderator — зашифрована).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Де зберігаються кукі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29410"/>
            <a:ext cx="9144000" cy="47548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Схема роботи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 descr="Screenshot 2025-12-12 1809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78915"/>
            <a:ext cx="9144000" cy="514413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кукі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https://github.com/sunmeat/aspnetcore_cookie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2 1938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2437765"/>
            <a:ext cx="8593455" cy="47364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2 1939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430655"/>
            <a:ext cx="4130675" cy="3381375"/>
          </a:xfrm>
          <a:prstGeom prst="rect">
            <a:avLst/>
          </a:prstGeom>
        </p:spPr>
      </p:pic>
      <p:pic>
        <p:nvPicPr>
          <p:cNvPr id="3" name="Picture 2" descr="Screenshot 2025-12-12 1939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255" y="1430655"/>
            <a:ext cx="4322445" cy="30848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35" y="4732020"/>
            <a:ext cx="7228840" cy="27717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сесії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Сесія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— це послідовність запитів, які надходять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 одного браузера протягом певного часу. Сесія використовується для зберігання тимчасових даних, що мають бути доступні, поки користувач працює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 додатком, але не потребують постійного збереження.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Для зберігання стану сесії на сервері створюється словник (або хеш-таблиця), який зберігається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 розподіленому кеші та існує протягом певного часу для всіх запитів з одного браузера. На стороні клієнта ідентифікатор сесії зберігається в cookie.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Цей ідентифікатор автоматично надсилається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на сервер із кожним запитом.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Поняття сесії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Сервер використовує цей ідентифікатор, щоб отримати потрібні дані з сесії. Cookie сесії видаляються лише після завершення сесії. Якщо сервер отримує cookie,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що належать вже простроченій сесії, для цих cookie автоматично створюється нова сесія.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Сервер зберігає дані сесії протягом обмеженого часу після останнього запиту. За замовчуванням цей час становить 20 хвилин, але його можна змінити в налаштуваннях.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Важливо пам’ятати, що дані сесії прив’язані до конкретного браузера і не переносяться між різними браузерами. Тобто навіть на одному комп’ютері кожен браузер (Chrome, Firefox, Edge тощо) матиме власний незалежний набір даних сесії.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Поняття сесії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Сервер відстежує сеанси користувачів, призначаючи їм унікальні ідентифікатори.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Ідентифікатор сесії генерується сервером у момент відкриття сеансу.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Ідентифікатор сесії має передаватися на сервер щоразу, коли після початку сеансу завантажується нова сторінка.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При роботі із сесіями розрізняють такі етапи: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відкриття сесії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реєстрація змінних сесії та їх використання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закриття сесії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Сеанс, по суті, є групою змінних, які, на відміну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від звичайних змінних, зберігаються і після завершення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			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виконання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серверного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сценарію.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Керування сесією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Об’єкт ISession визначає низку властивостей і методів: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Keys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– властивість, що повертає колекцію всіх доступних ключів у сесії (тип IEnumerable&lt;string&gt;)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Clear()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– повністю очищає сесію (видаляє всі ключі та значення)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Get(string key)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– отримує значення за ключем key у вигляді масиву байтів (byte[]). Повертає null, якщо ключ не знайдено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GetInt32(string key)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– отримує значення за ключем key як ціле число (int?). Повертає null, якщо ключ відсутній або значення не є валідним int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GetString(string key)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– отримує значення за ключем key як рядок (string). Повертає null, якщо ключ не знайдено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Set(string key, byte[] value)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– зберігає в сесії значення у вигляді масиву байтів за вказаним ключем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SetInt32(string key, int value)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– зберігає в сесії цілочисельне значення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за вказаним ключем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SetString(string key, string value)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– зберігає в сесії рядкове значення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за вказаним ключем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Remove(string key)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– видаляє з сесії значення за вказаним ключем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Різниця між кукі та сесією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91945"/>
            <a:ext cx="9144000" cy="45631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790" y="1628775"/>
            <a:ext cx="742950" cy="32131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Коли що використовувати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Коли використовувати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кукі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Збереження вподобань користувача (мова, тема, одиниці вимірювання)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Запам’ятовування входу (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Запам’ятати мене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) – за допомогою зашифрованого аутентифікаційного cookie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Трекінг та аналітика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Невеликі дані, які мають зберігатися між сесіями та навіть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між різними пристроями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Коли використовувати сесію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Тимчасові дані багатоступеневих форм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Кошик покупок у інтернет-магазині (до оформлення замовлення)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Будь-які великі або чутливі дані, які не повинні потрапити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до клієнта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Стан авторизації, якщо не хочете покладатися виключно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 аутентифікаційні cookie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Рекомендації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Ніколи не зберігайте в cookie або сесії конфіденційні дані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у відкритому вигляді (паролі, номери карток, паспортні дані тощо)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Паролі — тільки хешовані в базі даних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Токени доступу — з коротким терміном життя + HttpOnly + Secure + SameSite cookie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Критичні дані — в захищених сховищах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або зашифрованими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Використовуйте той механізм, який найкраще відповідає задачі: cookie — для легких, довготривалих, клієнтських даних; сесію — для великих, тимчасових і безпечних серверних даних. Найчастіше в реальних проєктах вони чудово доповнюють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			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один одного.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Схема роботи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2 2051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7820"/>
            <a:ext cx="9144000" cy="44424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сесію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https://github.com/sunmeat/aspnetcore_session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060" y="2529205"/>
            <a:ext cx="3747770" cy="442785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Способи збереження станів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65325"/>
            <a:ext cx="9144000" cy="34607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вью-модель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https://github.com/sunmeat/aspnetcore_viewmodel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 descr="Screenshot 2025-12-16 1233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" y="2552065"/>
            <a:ext cx="8404860" cy="43230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769360" y="6084570"/>
            <a:ext cx="56426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uk-UA" altLang="en-US" sz="2100" dirty="0" err="1">
                <a:solidFill>
                  <a:srgbClr val="FF0000"/>
                </a:solidFill>
                <a:sym typeface="+mn-ea"/>
              </a:rPr>
              <a:t>розглянути модель </a:t>
            </a:r>
            <a:r>
              <a:rPr lang="en-US" altLang="en-US" sz="2100" dirty="0" err="1">
                <a:solidFill>
                  <a:srgbClr val="FF0000"/>
                </a:solidFill>
                <a:sym typeface="+mn-ea"/>
              </a:rPr>
              <a:t>Users</a:t>
            </a:r>
            <a:r>
              <a:rPr lang="uk-UA" altLang="en-US" sz="2100" dirty="0" err="1">
                <a:solidFill>
                  <a:srgbClr val="FF0000"/>
                </a:solidFill>
                <a:sym typeface="+mn-ea"/>
              </a:rPr>
              <a:t>,</a:t>
            </a:r>
            <a:endParaRPr lang="uk-UA" altLang="en-US" sz="2100" dirty="0" err="1">
              <a:solidFill>
                <a:srgbClr val="FF0000"/>
              </a:solidFill>
              <a:sym typeface="+mn-ea"/>
            </a:endParaRPr>
          </a:p>
          <a:p>
            <a:pPr algn="ctr"/>
            <a:r>
              <a:rPr lang="uk-UA" altLang="en-US" sz="2100" dirty="0" err="1">
                <a:solidFill>
                  <a:srgbClr val="FF0000"/>
                </a:solidFill>
                <a:sym typeface="+mn-ea"/>
              </a:rPr>
              <a:t>а потім форми</a:t>
            </a:r>
            <a:endParaRPr lang="uk-UA" altLang="en-US" sz="2100" dirty="0" err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Проблема форм і моделей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6 1232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045" y="953770"/>
            <a:ext cx="4050030" cy="3958590"/>
          </a:xfrm>
          <a:prstGeom prst="rect">
            <a:avLst/>
          </a:prstGeom>
        </p:spPr>
      </p:pic>
      <p:pic>
        <p:nvPicPr>
          <p:cNvPr id="3" name="Picture 2" descr="Screenshot 2025-12-16 1233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" y="1073785"/>
            <a:ext cx="4440555" cy="4319270"/>
          </a:xfrm>
          <a:prstGeom prst="rect">
            <a:avLst/>
          </a:prstGeom>
        </p:spPr>
      </p:pic>
      <p:pic>
        <p:nvPicPr>
          <p:cNvPr id="5" name="Picture 4" descr="Screenshot 2025-12-16 1233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415" y="5362575"/>
            <a:ext cx="7920355" cy="1444625"/>
          </a:xfrm>
          <a:prstGeom prst="rect">
            <a:avLst/>
          </a:prstGeom>
        </p:spPr>
      </p:pic>
      <p:pic>
        <p:nvPicPr>
          <p:cNvPr id="4" name="Picture 3" descr="Screenshot 2025-12-16 1232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590" y="4286250"/>
            <a:ext cx="3922395" cy="27673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Проблема форм і моделей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ASP.NET Core MVC часто виникає проблема прямого використання доменних моделей у формах і представленнях (views). Основні причини: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Overposting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(надмірна відправка даних)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- к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оли форма дозволяє користувачу надсилати дані для полів, яких не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видно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(наприклад, Id, IsAdmin або інші чутливі властивості). Це може призвести до безпеки вразливостей, коли зловмисник змінює приховані поля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Underposting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 Форма не містить всіх потрібних даних з доменної моделі, або навпаки — потребує даних з кількох моделей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Змішування шарів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 Доменна модель (бізнес-логіка та дані для БД) забруднюється логікою представлення (валідація для UI, dropdown-л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сти тощо)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Складні форми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 Одна форма може вимагати дані з кількох доменних моделей (наприклад, замовлення + клієнт + список товарів)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Рішення цієї проблеми — використання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ViewModel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(моделі представлення), яка виступає посередником між контролером/формою та доменними моделями.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доменної моделі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Доменна модель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це центральна частина бізнес-логіки додатка. Вона описує реальні сутності предметної області (domain), їх властивості та поведінку.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Зазвичай відповідає структурі бази даних (наприклад, через Entity Framework — це класи-сутності)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Містить повні дані: Id, всі поля, навігаційні властивості (зв'язки з іншими сутностями)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Використовується в репозиторіях, сервісах,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для збереження/отримання з БД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Доменна модель повинна бути "чистою" — незалежною від UI, щоб її можна було перевикористовувати в API, мікросервісах тощо.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ViewModel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117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ViewModel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це спеціальна модель, створена виключно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для конкретного представлення (view) або форми.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Містить тільки ті дані, які потрібні для відображення або редагування в UI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Може комбінувати дані з кількох доменних моделей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Додає логику для UI: списки для dropdown (SelectList), додаткові поля (наприклад, підтвердження пароля), атрибути валідації ([Required], [Compare])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Захищає від overposting — у ViewModel просто немає чутливих полів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контролері: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GET: З доменної моделі мапимо в ViewModel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POST: З ViewModel валідуємо, мапимо назад у доменну модель і зберігаємо в БД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Це забезпечує розділення відповідальностей (Separation of Concerns):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			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доменна модель — для бізнесу, ViewModel — для UI.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https://gist.github.com/sunmeat/35133c160015f87154f073588a4d701d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F49D8AC-BE5F-4C5D-8779-BEE918C00D2E}"/>
</file>

<file path=customXml/itemProps2.xml><?xml version="1.0" encoding="utf-8"?>
<ds:datastoreItem xmlns:ds="http://schemas.openxmlformats.org/officeDocument/2006/customXml" ds:itemID="{131CDF35-9814-42BC-9E2E-997260BFAF70}"/>
</file>

<file path=customXml/itemProps3.xml><?xml version="1.0" encoding="utf-8"?>
<ds:datastoreItem xmlns:ds="http://schemas.openxmlformats.org/officeDocument/2006/customXml" ds:itemID="{855A34A1-04E7-40BA-817A-64F335720D6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18792</Words>
  <Application>WPS Presentation</Application>
  <PresentationFormat/>
  <Paragraphs>351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83</cp:revision>
  <dcterms:created xsi:type="dcterms:W3CDTF">2005-09-22T16:26:00Z</dcterms:created>
  <dcterms:modified xsi:type="dcterms:W3CDTF">2026-02-01T13:34:39Z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